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05" r:id="rId5"/>
  </p:sldMasterIdLst>
  <p:notesMasterIdLst>
    <p:notesMasterId r:id="rId34"/>
  </p:notesMasterIdLst>
  <p:handoutMasterIdLst>
    <p:handoutMasterId r:id="rId35"/>
  </p:handoutMasterIdLst>
  <p:sldIdLst>
    <p:sldId id="324" r:id="rId6"/>
    <p:sldId id="354" r:id="rId7"/>
    <p:sldId id="417" r:id="rId29"/>
    <p:sldId id="418" r:id="rId26"/>
    <p:sldId id="419" r:id="rId23"/>
    <p:sldId id="420" r:id="rId22"/>
    <p:sldId id="421" r:id="rId21"/>
    <p:sldId id="422" r:id="rId20"/>
    <p:sldId id="423" r:id="rId19"/>
    <p:sldId id="424" r:id="rId18"/>
    <p:sldId id="425" r:id="rId17"/>
    <p:sldId id="426" r:id="rId16"/>
    <p:sldId id="427" r:id="rId15"/>
    <p:sldId id="339" r:id="rId31"/>
    <p:sldId id="382" r:id="rId32"/>
    <p:sldId id="383" r:id="rId33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F2B7"/>
    <a:srgbClr val="AAAAAA"/>
    <a:srgbClr val="44546A"/>
    <a:srgbClr val="0F4761"/>
    <a:srgbClr val="FEA82D"/>
    <a:srgbClr val="D9F7DC"/>
    <a:srgbClr val="C25EBB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3" autoAdjust="0"/>
    <p:restoredTop sz="81919" autoAdjust="0"/>
  </p:normalViewPr>
  <p:slideViewPr>
    <p:cSldViewPr snapToGrid="0">
      <p:cViewPr varScale="1">
        <p:scale>
          <a:sx n="155" d="100"/>
          <a:sy n="155" d="100"/>
        </p:scale>
        <p:origin x="2592" y="150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15" Type="http://schemas.openxmlformats.org/officeDocument/2006/relationships/slide" Target="slides/slide30.xml"/><Relationship Id="rId16" Type="http://schemas.openxmlformats.org/officeDocument/2006/relationships/slide" Target="slides/slide29.xml"/><Relationship Id="rId17" Type="http://schemas.openxmlformats.org/officeDocument/2006/relationships/slide" Target="slides/slide28.xml"/><Relationship Id="rId18" Type="http://schemas.openxmlformats.org/officeDocument/2006/relationships/slide" Target="slides/slide27.xml"/><Relationship Id="rId19" Type="http://schemas.openxmlformats.org/officeDocument/2006/relationships/slide" Target="slides/slide26.xml"/><Relationship Id="rId20" Type="http://schemas.openxmlformats.org/officeDocument/2006/relationships/slide" Target="slides/slide25.xml"/><Relationship Id="rId21" Type="http://schemas.openxmlformats.org/officeDocument/2006/relationships/slide" Target="slides/slide24.xml"/><Relationship Id="rId22" Type="http://schemas.openxmlformats.org/officeDocument/2006/relationships/slide" Target="slides/slide23.xml"/><Relationship Id="rId23" Type="http://schemas.openxmlformats.org/officeDocument/2006/relationships/slide" Target="slides/slide22.xml"/><Relationship Id="rId26" Type="http://schemas.openxmlformats.org/officeDocument/2006/relationships/slide" Target="slides/slide21.xml"/><Relationship Id="rId29" Type="http://schemas.openxmlformats.org/officeDocument/2006/relationships/slide" Target="slides/slide20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35" Type="http://schemas.openxmlformats.org/officeDocument/2006/relationships/handoutMaster" Target="handoutMasters/handout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491AB1A-C669-4C56-AA7A-D7DE065A4843}" type="datetime1">
              <a:rPr lang="en-GB" smtClean="0"/>
              <a:t>24/09/2026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046ED-6F38-493D-8BA0-9E754A816323}" type="datetime1">
              <a:rPr lang="en-GB" smtClean="0"/>
              <a:pPr/>
              <a:t>24/09/2026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420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GB" alt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76044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4422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414557" y="4493758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4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5606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32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94370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4497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5198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0305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8270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65901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9655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618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7016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4422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414557" y="4493758"/>
            <a:ext cx="3655522" cy="2361018"/>
          </a:xfrm>
          <a:prstGeom prst="rect">
            <a:avLst/>
          </a:prstGeom>
        </p:spPr>
      </p:pic>
      <p:sp>
        <p:nvSpPr>
          <p:cNvPr id="4" name="Hexagon 3">
            <a:extLst>
              <a:ext uri="{FF2B5EF4-FFF2-40B4-BE49-F238E27FC236}">
                <a16:creationId xmlns:a16="http://schemas.microsoft.com/office/drawing/2014/main" id="{02EFDB6D-A908-36D7-35D8-AB8FD9008337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9AE87C3-49B8-1C89-4D2B-8F65D68539B9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D94E2D36-2BEB-9F15-F2E3-84FEAB512991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AA0B740B-2FE0-19FB-9199-41E8FB6371E1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2782235E-6025-12F9-8881-306369DB7C6B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D1A6C30-9E69-C642-8AE1-30A8CEC2A28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11" name="Picture 10">
            <a:hlinkClick r:id="rId2"/>
            <a:extLst>
              <a:ext uri="{FF2B5EF4-FFF2-40B4-BE49-F238E27FC236}">
                <a16:creationId xmlns:a16="http://schemas.microsoft.com/office/drawing/2014/main" id="{F62EE852-B994-CAD3-56BB-7699FA84C3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6202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  <p:sp>
        <p:nvSpPr>
          <p:cNvPr id="5" name="Rectangle 4" descr="Tall office building looking up">
            <a:extLst>
              <a:ext uri="{FF2B5EF4-FFF2-40B4-BE49-F238E27FC236}">
                <a16:creationId xmlns:a16="http://schemas.microsoft.com/office/drawing/2014/main" id="{083ED6C1-B896-0EE1-0EB4-70D463229E1B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2C5E802-5A33-10B1-00C1-FDD2A058D40D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8" name="Picture 7">
            <a:hlinkClick r:id="rId2"/>
            <a:extLst>
              <a:ext uri="{FF2B5EF4-FFF2-40B4-BE49-F238E27FC236}">
                <a16:creationId xmlns:a16="http://schemas.microsoft.com/office/drawing/2014/main" id="{28B9E23B-EC53-A54A-D68B-4DE461EA51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5360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5606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  <p:sp>
        <p:nvSpPr>
          <p:cNvPr id="6" name="Oval 5" descr="Tall office building looking up">
            <a:extLst>
              <a:ext uri="{FF2B5EF4-FFF2-40B4-BE49-F238E27FC236}">
                <a16:creationId xmlns:a16="http://schemas.microsoft.com/office/drawing/2014/main" id="{DD4EA124-ED41-ED8F-A0D9-A44B1A06F87D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1AD970E-C52F-C6BC-9937-32C889405FB4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C0B8C96-B41F-8535-3716-1E878FEDCC6F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2257809-DB42-5B9A-ECAE-338D697DCCDD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2764E1D-14C7-954C-925F-75B8EDD91075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16" name="Picture 15">
            <a:hlinkClick r:id="rId2"/>
            <a:extLst>
              <a:ext uri="{FF2B5EF4-FFF2-40B4-BE49-F238E27FC236}">
                <a16:creationId xmlns:a16="http://schemas.microsoft.com/office/drawing/2014/main" id="{82AD0F96-3697-FF35-4CA4-B06D47CB23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1590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800AAB-297F-072F-EB54-1320773DC342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CC3AD9-AEB3-02EC-1CC1-2AC54487BB35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B94151-B597-BF9E-A282-F052320680B6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17149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504">
          <p15:clr>
            <a:srgbClr val="FBAE40"/>
          </p15:clr>
        </p15:guide>
        <p15:guide id="5" pos="3840">
          <p15:clr>
            <a:srgbClr val="FBAE40"/>
          </p15:clr>
        </p15:guide>
        <p15:guide id="6" orient="horz" pos="141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573ECC6-14C6-5675-355F-F3E33088BECC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658D6F0-8200-47F7-8A3C-8D72A49F60CF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FD7A81C-1120-7827-F9B5-40E3A2932699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039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08475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7ECF9BC1-9710-8066-D8F0-9A364F14DD6E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B101F1A2-2A5D-DAAD-08BC-B70C60C99436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147B027-BA88-EC0D-B295-6CEC0B55EDC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C4C61D9-C668-CF96-8B2A-9C0A54BC0957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93781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5281028A-12C2-5C9C-4B0F-A005E8B5CA0A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B0A491FE-8686-1E36-8F8D-0053ADE3F85F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482B3B29-735C-82BF-92B5-1FD3E5F764DB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7845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893646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927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3F41645-0093-1ABA-9570-1D8070EC9D55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98CF0B3-BFB7-DA61-98B1-3EA565BD04C2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1D4E483-67D5-E854-4960-9CDF1369CAB5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546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272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424ACC82-4D1F-BBEC-8CED-3B78CD4AAFDE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1A6161CF-7ADC-7809-147B-486701FC832E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F9241FBE-9EE0-D6B5-67DF-24381A2423BB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802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FF3E98C-9CC3-2BF7-BAD0-9DDDF7ACAA54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402D312-514B-7332-35D6-F379B3D8075D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54B703C-4A3A-D244-6A9D-A072DBF1B83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46644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5579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6419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8813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5566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25297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23743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75647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79385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80785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90920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211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55842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37034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25428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72522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hyperlink" Target="https://moodle.bolton.ac.uk/course/view.php?id=23108" TargetMode="External"/><Relationship Id="rId17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33.xml"/><Relationship Id="rId20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35.xml"/><Relationship Id="rId22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39.xml"/><Relationship Id="rId26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41.xml"/><Relationship Id="rId28" Type="http://schemas.openxmlformats.org/officeDocument/2006/relationships/slideLayout" Target="../slideLayouts/slideLayout42.xml"/><Relationship Id="rId29" Type="http://schemas.openxmlformats.org/officeDocument/2006/relationships/theme" Target="../theme/theme2.xml"/><Relationship Id="rId30" Type="http://schemas.openxmlformats.org/officeDocument/2006/relationships/hyperlink" Target="https://moodle.bolton.ac.uk/course/view.php?id=23108" TargetMode="External"/><Relationship Id="rId3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COM7411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9A56F2-8AAA-49B3-034C-0A11337F00E3}"/>
              </a:ext>
            </a:extLst>
          </p:cNvPr>
          <p:cNvSpPr txBox="1"/>
          <p:nvPr userDrawn="1"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6" name="Picture 5">
            <a:hlinkClick r:id="rId16"/>
            <a:extLst>
              <a:ext uri="{FF2B5EF4-FFF2-40B4-BE49-F238E27FC236}">
                <a16:creationId xmlns:a16="http://schemas.microsoft.com/office/drawing/2014/main" id="{8E68A7DE-B583-DD36-413D-10F7AA7F38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88" r:id="rId3"/>
    <p:sldLayoutId id="2147483681" r:id="rId4"/>
    <p:sldLayoutId id="2147483680" r:id="rId5"/>
    <p:sldLayoutId id="2147483682" r:id="rId6"/>
    <p:sldLayoutId id="2147483677" r:id="rId7"/>
    <p:sldLayoutId id="2147483654" r:id="rId8"/>
    <p:sldLayoutId id="2147483685" r:id="rId9"/>
    <p:sldLayoutId id="2147483684" r:id="rId10"/>
    <p:sldLayoutId id="2147483686" r:id="rId11"/>
    <p:sldLayoutId id="2147483687" r:id="rId12"/>
    <p:sldLayoutId id="2147483675" r:id="rId13"/>
    <p:sldLayoutId id="214748370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COM7411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9A56F2-8AAA-49B3-034C-0A11337F00E3}"/>
              </a:ext>
            </a:extLst>
          </p:cNvPr>
          <p:cNvSpPr txBox="1"/>
          <p:nvPr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6" name="Picture 5">
            <a:hlinkClick r:id="rId30"/>
            <a:extLst>
              <a:ext uri="{FF2B5EF4-FFF2-40B4-BE49-F238E27FC236}">
                <a16:creationId xmlns:a16="http://schemas.microsoft.com/office/drawing/2014/main" id="{8E68A7DE-B583-DD36-413D-10F7AA7F3877}"/>
              </a:ext>
            </a:extLst>
          </p:cNvPr>
          <p:cNvPicPr>
            <a:picLocks noChangeAspect="1"/>
          </p:cNvPicPr>
          <p:nvPr/>
        </p:nvPicPr>
        <p:blipFill rotWithShape="1">
          <a:blip r:embed="rId31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4CA3EC1-26DA-C60F-3E7B-54795CFBAC85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COM7411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D4755C-F02F-1E14-47EF-91EA16DAF6B6}"/>
              </a:ext>
            </a:extLst>
          </p:cNvPr>
          <p:cNvSpPr txBox="1"/>
          <p:nvPr userDrawn="1"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7" name="Picture 6">
            <a:hlinkClick r:id="rId30"/>
            <a:extLst>
              <a:ext uri="{FF2B5EF4-FFF2-40B4-BE49-F238E27FC236}">
                <a16:creationId xmlns:a16="http://schemas.microsoft.com/office/drawing/2014/main" id="{314EDD93-667C-6B79-9896-AB233E430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1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4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hyperlink" Target="https://www.vecteezy.com/vector-art/11431565-aim-achievement-business-motivation-finance-target-solution-searching-goals-and-objectives-business-grow-business-plan-goal-setting-concept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jpg"/><Relationship Id="rId3" Type="http://schemas.openxmlformats.org/officeDocument/2006/relationships/hyperlink" Target="https://wallpaperaccess.com/funny-science" TargetMode="External"/><Relationship Id="rId4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jpg"/><Relationship Id="rId4" Type="http://schemas.openxmlformats.org/officeDocument/2006/relationships/hyperlink" Target="http://culturefit.com/developing-2016-trends-computer-sciences-bradley-university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xagon 5">
            <a:extLst>
              <a:ext uri="{FF2B5EF4-FFF2-40B4-BE49-F238E27FC236}">
                <a16:creationId xmlns:a16="http://schemas.microsoft.com/office/drawing/2014/main" id="{38AF5374-EA50-4722-BB45-6C182E5A1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13" name="Picture Placeholder 12" descr="Blue glass building">
            <a:extLst>
              <a:ext uri="{FF2B5EF4-FFF2-40B4-BE49-F238E27FC236}">
                <a16:creationId xmlns:a16="http://schemas.microsoft.com/office/drawing/2014/main" id="{E6A5B61D-69C0-4661-AD66-3D72D9A6E8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80000"/>
          </a:blip>
          <a:srcRect t="7802" b="7802"/>
          <a:stretch/>
        </p:blipFill>
        <p:spPr>
          <a:blipFill dpi="0" rotWithShape="1"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6DF5064-7AAC-4887-9BD5-FB6BC40A67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69164" y="5646852"/>
            <a:ext cx="3222836" cy="1168530"/>
          </a:xfrm>
        </p:spPr>
        <p:txBody>
          <a:bodyPr rtlCol="0"/>
          <a:lstStyle/>
          <a:p>
            <a:pPr rtl="0"/>
            <a:r>
              <a:rPr lang="en-GB" dirty="0"/>
              <a:t>Week 4 – Session 1</a:t>
            </a:r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35FAA64B-9D7A-4109-97E0-B0BAA29C4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00A0E61B-8139-47E5-862B-C6D87AF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B06F39E4-24A5-44F2-BD9A-7E8C8AF27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62F7433A-0BB9-4B38-A96F-AB1B77772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837CEB-1A69-4F72-95D4-054D82F09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592" y="2480689"/>
            <a:ext cx="8584027" cy="1695637"/>
          </a:xfrm>
        </p:spPr>
        <p:txBody>
          <a:bodyPr rtlCol="0"/>
          <a:lstStyle/>
          <a:p>
            <a:pPr algn="ctr"/>
            <a:r>
              <a:rPr lang="en-GB" dirty="0"/>
              <a:t>COM7411 Research Methods</a:t>
            </a:r>
            <a:br>
              <a:rPr lang="en-GB" dirty="0"/>
            </a:br>
            <a:br>
              <a:rPr lang="en-GB" dirty="0"/>
            </a:br>
            <a:r>
              <a:rPr lang="en-GB" sz="4800" dirty="0"/>
              <a:t>Quantitative Data Analysis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5993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1CE2008D-DBCE-465F-90DA-B28A4E52513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8439" t="3605" r="12155" b="-3605"/>
          <a:stretch/>
        </p:blipFill>
        <p:spPr>
          <a:xfrm>
            <a:off x="5733416" y="624239"/>
            <a:ext cx="5855754" cy="5631571"/>
          </a:xfrm>
          <a:noFill/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737510" cy="3560763"/>
          </a:xfrm>
        </p:spPr>
        <p:txBody>
          <a:bodyPr rtlCol="0">
            <a:normAutofit/>
          </a:bodyPr>
          <a:lstStyle/>
          <a:p>
            <a:pPr rtl="0">
              <a:lnSpc>
                <a:spcPct val="140000"/>
              </a:lnSpc>
            </a:pPr>
            <a:r>
              <a:rPr lang="en-GB" sz="1800" dirty="0"/>
              <a:t>Explain what data analysis is for and the four ways it is framed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Match a quantitative technique to a research question and a type of data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Name one technique, or a justified shortlist, for your own methodology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Decide your overall analysis route: quantitative, qualitative or mixed</a:t>
            </a:r>
            <a:endParaRPr lang="en-US" sz="17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</p:spPr>
        <p:txBody>
          <a:bodyPr rtlCol="0">
            <a:normAutofit/>
          </a:bodyPr>
          <a:lstStyle/>
          <a:p>
            <a:pPr rtl="0"/>
            <a:r>
              <a:rPr lang="en-GB" sz="2600"/>
              <a:t>By the end of the session, you should be able to…</a:t>
            </a:r>
          </a:p>
        </p:txBody>
      </p:sp>
    </p:spTree>
    <p:extLst>
      <p:ext uri="{BB962C8B-B14F-4D97-AF65-F5344CB8AC3E}">
        <p14:creationId xmlns:p14="http://schemas.microsoft.com/office/powerpoint/2010/main" val="965681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40FB369-654E-689F-059B-8EDE18627CC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0C1D0E0-1A33-E61C-6285-DCE942B4F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291" y="1898030"/>
            <a:ext cx="3924935" cy="1695637"/>
          </a:xfrm>
        </p:spPr>
        <p:txBody>
          <a:bodyPr>
            <a:noAutofit/>
          </a:bodyPr>
          <a:lstStyle/>
          <a:p>
            <a:r>
              <a:rPr lang="en-GB" dirty="0"/>
              <a:t>From this point on…you’re a scientific  researcher!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7336734-6E1B-86C1-1C89-0DF6BC77D0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99124" y="985096"/>
            <a:ext cx="3924934" cy="490538"/>
          </a:xfrm>
        </p:spPr>
        <p:txBody>
          <a:bodyPr/>
          <a:lstStyle/>
          <a:p>
            <a:r>
              <a:rPr lang="en-US" dirty="0"/>
              <a:t>Congratulations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CC0C9F82-91C8-08F9-00DA-6E459334C7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1591" y="4816192"/>
            <a:ext cx="3222836" cy="1168530"/>
          </a:xfrm>
        </p:spPr>
        <p:txBody>
          <a:bodyPr/>
          <a:lstStyle/>
          <a:p>
            <a:r>
              <a:rPr lang="en-US" dirty="0"/>
              <a:t>Mad or otherwise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C5B108-6B9D-49AD-A45B-858019675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592" y="58338"/>
            <a:ext cx="5234966" cy="674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38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14EB77E-0C3E-FCCA-E05D-971D1F9115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29" r="-3" b="1397"/>
          <a:stretch/>
        </p:blipFill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  <a:noFill/>
        </p:spPr>
      </p:pic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5008B246-BC91-8BA6-FD45-2FA834E18C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</p:spPr>
        <p:txBody>
          <a:bodyPr/>
          <a:lstStyle/>
          <a:p>
            <a:r>
              <a:rPr lang="en-US" dirty="0"/>
              <a:t>Spend 10 minutes just writing</a:t>
            </a:r>
          </a:p>
          <a:p>
            <a:r>
              <a:rPr lang="en-US" dirty="0"/>
              <a:t>Name the one technique you will use, say why it fits your question and your data, and note one thing it cannot tell you. Free write if you like.</a:t>
            </a:r>
          </a:p>
        </p:txBody>
      </p:sp>
      <p:sp>
        <p:nvSpPr>
          <p:cNvPr id="16" name="Title 2">
            <a:extLst>
              <a:ext uri="{FF2B5EF4-FFF2-40B4-BE49-F238E27FC236}">
                <a16:creationId xmlns:a16="http://schemas.microsoft.com/office/drawing/2014/main" id="{9109154A-ED81-F668-8C52-27D453698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</p:spPr>
        <p:txBody>
          <a:bodyPr>
            <a:normAutofit/>
          </a:bodyPr>
          <a:lstStyle/>
          <a:p>
            <a:r>
              <a:rPr lang="en-US" sz="2600" dirty="0"/>
              <a:t>Reflection &amp; Writing – 10 Mins</a:t>
            </a:r>
          </a:p>
        </p:txBody>
      </p:sp>
    </p:spTree>
    <p:extLst>
      <p:ext uri="{BB962C8B-B14F-4D97-AF65-F5344CB8AC3E}">
        <p14:creationId xmlns:p14="http://schemas.microsoft.com/office/powerpoint/2010/main" val="1891019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Placeholder 8">
            <a:extLst>
              <a:ext uri="{FF2B5EF4-FFF2-40B4-BE49-F238E27FC236}">
                <a16:creationId xmlns:a16="http://schemas.microsoft.com/office/drawing/2014/main" id="{2EC47CED-7A85-4080-9C7C-3921E48924A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7746" b="7746"/>
          <a:stretch/>
        </p:blipFill>
        <p:spPr>
          <a:xfrm>
            <a:off x="20" y="10"/>
            <a:ext cx="12191980" cy="6857990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  <a:noFill/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3BCC5C9-D87D-55FC-86B8-0613C32EE2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4609" y="6201251"/>
            <a:ext cx="3924934" cy="490538"/>
          </a:xfrm>
        </p:spPr>
        <p:txBody>
          <a:bodyPr>
            <a:normAutofit/>
          </a:bodyPr>
          <a:lstStyle/>
          <a:p>
            <a:r>
              <a:rPr lang="en-GB" dirty="0"/>
              <a:t>Or answers ?</a:t>
            </a:r>
          </a:p>
        </p:txBody>
      </p:sp>
      <p:sp>
        <p:nvSpPr>
          <p:cNvPr id="25" name="Title 3">
            <a:extLst>
              <a:ext uri="{FF2B5EF4-FFF2-40B4-BE49-F238E27FC236}">
                <a16:creationId xmlns:a16="http://schemas.microsoft.com/office/drawing/2014/main" id="{0EB3CC0A-22A0-5855-9B31-36F6CFB0B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148" y="287293"/>
            <a:ext cx="3924934" cy="1695637"/>
          </a:xfrm>
        </p:spPr>
        <p:txBody>
          <a:bodyPr/>
          <a:lstStyle/>
          <a:p>
            <a:r>
              <a:rPr lang="en-US" dirty="0"/>
              <a:t>Questions??</a:t>
            </a:r>
          </a:p>
        </p:txBody>
      </p:sp>
    </p:spTree>
    <p:extLst>
      <p:ext uri="{BB962C8B-B14F-4D97-AF65-F5344CB8AC3E}">
        <p14:creationId xmlns:p14="http://schemas.microsoft.com/office/powerpoint/2010/main" val="2793046589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The report deadline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10515600" cy="82296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1224E"/>
                </a:solidFill>
              </a:rPr>
              <a:t>Your report is due Saturday 28 November 2026.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09728" cy="82296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2743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1900" b="0" i="0">
                <a:solidFill>
                  <a:srgbClr val="26324A"/>
                </a:solidFill>
              </a:rPr>
              <a:t>Fixed headings: Background (about 400 words), Critical Literature Review (about 900), Methodology (about 900) and Reflection (about 300)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900" b="0" i="0">
                <a:solidFill>
                  <a:srgbClr val="26324A"/>
                </a:solidFill>
              </a:rPr>
              <a:t>2,500 words, plus or minus 10%, excluding references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900" b="0" i="0">
                <a:solidFill>
                  <a:srgbClr val="26324A"/>
                </a:solidFill>
              </a:rPr>
              <a:t>Once submitted, the report is final and cannot be revised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900" b="0" i="0">
                <a:solidFill>
                  <a:srgbClr val="26324A"/>
                </a:solidFill>
              </a:rPr>
              <a:t>Today you choose your analysis route and name your technique, so you can write that paragraph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What is data analysis?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6324A"/>
                </a:solidFill>
              </a:rPr>
              <a:t>Data analysis creates meaning from data, as the basis for answering your research question. Quantitative analysis suits questions about how much, how many, how often and how things relate.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743200"/>
            <a:ext cx="246888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743200"/>
            <a:ext cx="2468880" cy="50292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</a:rPr>
              <a:t>Describe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91839"/>
            <a:ext cx="2377440" cy="178307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1224E"/>
                </a:solidFill>
              </a:rPr>
              <a:t>What does the data look like?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6324A"/>
                </a:solidFill>
              </a:rPr>
              <a:t>Summary statistics, charts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2743200"/>
            <a:ext cx="246888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2743200"/>
            <a:ext cx="246888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</a:rPr>
              <a:t>Infer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39" y="3291839"/>
            <a:ext cx="2377440" cy="178307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1224E"/>
                </a:solidFill>
              </a:rPr>
              <a:t>What can we say about the wider population?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6324A"/>
                </a:solidFill>
              </a:rPr>
              <a:t>Hypothesis tests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743200"/>
            <a:ext cx="246888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5C8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2743200"/>
            <a:ext cx="2468880" cy="502920"/>
          </a:xfrm>
          <a:prstGeom prst="rect">
            <a:avLst/>
          </a:prstGeom>
          <a:solidFill>
            <a:srgbClr val="5C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</a:rPr>
              <a:t>Relate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3291839"/>
            <a:ext cx="2377440" cy="178307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1224E"/>
                </a:solidFill>
              </a:rPr>
              <a:t>How are variables connected?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6324A"/>
                </a:solidFill>
              </a:rPr>
              <a:t>Correlation, regression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0" y="2743200"/>
            <a:ext cx="246888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78240" y="2743200"/>
            <a:ext cx="246888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</a:rPr>
              <a:t>Predict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3291839"/>
            <a:ext cx="2377440" cy="178307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1224E"/>
                </a:solidFill>
              </a:rPr>
              <a:t>What is likely to happen?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6324A"/>
                </a:solidFill>
              </a:rPr>
              <a:t>Regression, time series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44068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Which framing is closest to your study?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44068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Tools: one 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83080"/>
          <a:ext cx="10515598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6698"/>
                <a:gridCol w="2867890"/>
                <a:gridCol w="497101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Kind of tool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Examples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Good for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26324A"/>
                          </a:solidFill>
                        </a:rPr>
                        <a:t>Spreadsheets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Excel, Google Sheets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Small datasets, quick summaries and charts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26324A"/>
                          </a:solidFill>
                        </a:rPr>
                        <a:t>Statistics packages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SPSS, jamovi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Tests and models through menus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26324A"/>
                          </a:solidFill>
                        </a:rPr>
                        <a:t>Programming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R, Python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Large or messy data, repeatable analysis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26324A"/>
                          </a:solidFill>
                        </a:rPr>
                        <a:t>Visualisation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Tableau, Power BI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Exploring and presenting patterns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22960" y="548640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Pick a tool you can actually use. Declare it in your report.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8640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Describing, relating and predicting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3383280" cy="36576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3383280" cy="50292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</a:rPr>
              <a:t>Descriptive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3291840" cy="3063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1224E"/>
                </a:solidFill>
              </a:rPr>
              <a:t>What does the data look like?</a:t>
            </a:r>
          </a:p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Mean, median, mode and spread, shown in charts and tables</a:t>
            </a:r>
          </a:p>
          <a:p>
            <a:pPr algn="l">
              <a:spcAft>
                <a:spcPts val="500"/>
              </a:spcAft>
            </a:pPr>
            <a:r>
              <a:rPr sz="1700" b="0" i="1">
                <a:solidFill>
                  <a:srgbClr val="2C599D"/>
                </a:solidFill>
              </a:rPr>
              <a:t>CY: how long incidents take to detect, and how much that varies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783080"/>
            <a:ext cx="3383280" cy="365760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783080"/>
            <a:ext cx="338328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</a:rPr>
              <a:t>Correlation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331720"/>
            <a:ext cx="3291840" cy="3063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1224E"/>
                </a:solidFill>
              </a:rPr>
              <a:t>How strongly are two variables related?</a:t>
            </a:r>
          </a:p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Pearson's r: strength and direction. It does not show cause</a:t>
            </a:r>
          </a:p>
          <a:p>
            <a:pPr algn="l">
              <a:spcAft>
                <a:spcPts val="500"/>
              </a:spcAft>
            </a:pPr>
            <a:r>
              <a:rPr sz="1700" b="0" i="1">
                <a:solidFill>
                  <a:srgbClr val="2C599D"/>
                </a:solidFill>
              </a:rPr>
              <a:t>CY: training hours and number of security breaches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783080"/>
            <a:ext cx="3383280" cy="365760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79" y="1783080"/>
            <a:ext cx="338328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</a:rPr>
              <a:t>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331720"/>
            <a:ext cx="3291840" cy="3063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1224E"/>
                </a:solidFill>
              </a:rPr>
              <a:t>Can one variable predict another?</a:t>
            </a:r>
          </a:p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Dependent and independent variables; linear or logistic; R-squared</a:t>
            </a:r>
          </a:p>
          <a:p>
            <a:pPr algn="l">
              <a:spcAft>
                <a:spcPts val="500"/>
              </a:spcAft>
            </a:pPr>
            <a:r>
              <a:rPr sz="1700" b="0" i="1">
                <a:solidFill>
                  <a:srgbClr val="2C599D"/>
                </a:solidFill>
              </a:rPr>
              <a:t>DA: predict customer churn from usage data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Testing differences and change over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3383280" cy="36576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3383280" cy="50292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</a:rPr>
              <a:t>Hypothesis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3291840" cy="3063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1224E"/>
                </a:solidFill>
              </a:rPr>
              <a:t>Is this difference real?</a:t>
            </a:r>
          </a:p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State null and alternative hypotheses; run a test (t-test, chi-square); read the p-value</a:t>
            </a:r>
          </a:p>
          <a:p>
            <a:pPr algn="l">
              <a:spcAft>
                <a:spcPts val="500"/>
              </a:spcAft>
            </a:pPr>
            <a:r>
              <a:rPr sz="1700" b="0" i="1">
                <a:solidFill>
                  <a:srgbClr val="2C599D"/>
                </a:solidFill>
              </a:rPr>
              <a:t>CS: is the new algorithm's accuracy different from the baseline?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783080"/>
            <a:ext cx="3383280" cy="365760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783080"/>
            <a:ext cx="338328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</a:rPr>
              <a:t>ANOVA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331720"/>
            <a:ext cx="3291840" cy="3063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1224E"/>
                </a:solidFill>
              </a:rPr>
              <a:t>Do three or more groups differ?</a:t>
            </a:r>
          </a:p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Compares variation within and between groups</a:t>
            </a:r>
          </a:p>
          <a:p>
            <a:pPr algn="l">
              <a:spcAft>
                <a:spcPts val="500"/>
              </a:spcAft>
            </a:pPr>
            <a:r>
              <a:rPr sz="1700" b="0" i="1">
                <a:solidFill>
                  <a:srgbClr val="2C599D"/>
                </a:solidFill>
              </a:rPr>
              <a:t>CS: response time across three server configurations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783080"/>
            <a:ext cx="3383280" cy="365760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79" y="1783080"/>
            <a:ext cx="338328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</a:rPr>
              <a:t>Time series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331720"/>
            <a:ext cx="3291840" cy="3063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1224E"/>
                </a:solidFill>
              </a:rPr>
              <a:t>What happened over time?</a:t>
            </a:r>
          </a:p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Sequential data; models such as ARIMA; trends and seasonality</a:t>
            </a:r>
          </a:p>
          <a:p>
            <a:pPr algn="l">
              <a:spcAft>
                <a:spcPts val="500"/>
              </a:spcAft>
            </a:pPr>
            <a:r>
              <a:rPr sz="1700" b="0" i="1">
                <a:solidFill>
                  <a:srgbClr val="2C599D"/>
                </a:solidFill>
              </a:rPr>
              <a:t>CY: weekly intrusion attempts before and after a policy change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More on your cheat sheet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3383280" cy="219456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338328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Cluster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3291840" cy="160019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Finds natural groupings in data, for example with k-means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783080"/>
            <a:ext cx="3383280" cy="219456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783080"/>
            <a:ext cx="338328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Factor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331720"/>
            <a:ext cx="3291840" cy="160019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Reduces many variables to a few underlying factors, for example with PCA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783080"/>
            <a:ext cx="3383280" cy="219456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79" y="1783080"/>
            <a:ext cx="338328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Survival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331720"/>
            <a:ext cx="3291840" cy="160019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Models the time until an event occurs, for example a system failure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389120"/>
            <a:ext cx="1051560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Machine-learning techniques and vendor platforms are covered in the tools demo, not here.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38912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Your data type limits your technique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83080"/>
          <a:ext cx="105156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200400"/>
                <a:gridCol w="4389120"/>
              </a:tblGrid>
              <a:tr h="77724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Scale of your data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Typical summaries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Typical techniques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26324A"/>
                          </a:solidFill>
                        </a:rPr>
                        <a:t>Nominal (categories)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Counts, proportions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Chi-square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26324A"/>
                          </a:solidFill>
                        </a:rPr>
                        <a:t>Ordinal (ordered ranks)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Median, ranges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Rank-based tests; Spearman correlation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26324A"/>
                          </a:solidFill>
                        </a:rPr>
                        <a:t>Interval or ratio (numbers)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Mean, standard deviation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Pearson correlation, t-test, ANOVA, regression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22960" y="521208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Go back to the measurement scales you chose last session.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21208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Main task: the Quantitative Methods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2918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Part 1, in your group: use the cheat sheet to match techniques to the scenario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Part 2, on your own: map techniques to your own methodology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Choose one technique, or a justified shortlist, and say why it suits your data and question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Be ready to share one technique and your reason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39496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Every student leaves with a named technique.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39496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Write your technique sentence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011680"/>
            <a:ext cx="10515600" cy="118872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1224E"/>
                </a:solidFill>
              </a:rPr>
              <a:t>My study asks ____. My data are ____ (type and scale). I will use ____ because ____.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109728" cy="11887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15600" cy="1828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This sentence is the core of your analysis paragraph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Name the technique, the data and the link to your question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Add what the result would and would not show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Decide your analysis route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3383280" cy="228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3383280" cy="50292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Quantitative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3291840" cy="16916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Numbers answer your question; name the techniques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783080"/>
            <a:ext cx="3383280" cy="228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783080"/>
            <a:ext cx="338328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Qualitative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331720"/>
            <a:ext cx="3291840" cy="16916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Meanings answer your question; thematic analysis is next session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783080"/>
            <a:ext cx="3383280" cy="228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79" y="1783080"/>
            <a:ext cx="3383280" cy="502920"/>
          </a:xfrm>
          <a:prstGeom prst="rect">
            <a:avLst/>
          </a:prstGeom>
          <a:solidFill>
            <a:srgbClr val="2E8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Mixed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331720"/>
            <a:ext cx="3291840" cy="16916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You need both; say how the two are combined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480560"/>
            <a:ext cx="1051560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1224E"/>
                </a:solidFill>
              </a:rPr>
              <a:t>Post your route and technique in the forum before you leave tonight.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48056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Before Saturday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566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Draft your analysis plan paragraph. If you are qualitative or mixed, watch the worked example again for the coding steps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Draft your Reflection (about 300 words): which trustworthiness or rigour standard fits your paradigm?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Read your report against the brief and the marking criteria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100" b="0" i="0">
                <a:solidFill>
                  <a:srgbClr val="26324A"/>
                </a:solidFill>
              </a:rPr>
              <a:t>Add your declaration of software and generative AI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486400"/>
            <a:ext cx="1051560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Report due Saturday 28 November, the same day as the next live session.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8640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OM7302 - Lecture Notes Template .potx" id="{F4A8A639-34D0-4C88-9902-803DFD3E5723}" vid="{36ADB6EE-DFE0-4DC5-A99F-4E2E0D56D737}"/>
    </a:ext>
  </a:extLst>
</a:theme>
</file>

<file path=ppt/theme/theme2.xml><?xml version="1.0" encoding="utf-8"?>
<a:theme xmlns:a="http://schemas.openxmlformats.org/drawingml/2006/main" name="COM7302 - Lecture Notes Template 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OM7302 - Lecture Notes Template .potx" id="{F4A8A639-34D0-4C88-9902-803DFD3E5723}" vid="{36ADB6EE-DFE0-4DC5-A99F-4E2E0D56D73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89f7b614-c64b-4738-997e-aac1eab42931" xsi:nil="true"/>
    <_activity xmlns="89f7b614-c64b-4738-997e-aac1eab4293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7C986513D50A4C9143007A1A38EF2E" ma:contentTypeVersion="18" ma:contentTypeDescription="Create a new document." ma:contentTypeScope="" ma:versionID="21e1fbfe0a6ca7a30510918adfd9cbd6">
  <xsd:schema xmlns:xsd="http://www.w3.org/2001/XMLSchema" xmlns:xs="http://www.w3.org/2001/XMLSchema" xmlns:p="http://schemas.microsoft.com/office/2006/metadata/properties" xmlns:ns3="d1f5d9b0-cdb0-4c3a-b058-450b9d105468" xmlns:ns4="89f7b614-c64b-4738-997e-aac1eab42931" targetNamespace="http://schemas.microsoft.com/office/2006/metadata/properties" ma:root="true" ma:fieldsID="573784e5b50c325d55c9015ced130b1b" ns3:_="" ns4:_="">
    <xsd:import namespace="d1f5d9b0-cdb0-4c3a-b058-450b9d105468"/>
    <xsd:import namespace="89f7b614-c64b-4738-997e-aac1eab4293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f5d9b0-cdb0-4c3a-b058-450b9d10546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7b614-c64b-4738-997e-aac1eab429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d1f5d9b0-cdb0-4c3a-b058-450b9d105468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elements/1.1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89f7b614-c64b-4738-997e-aac1eab42931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E790DD2-A406-4046-8BA6-E72EEDCE07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f5d9b0-cdb0-4c3a-b058-450b9d105468"/>
    <ds:schemaRef ds:uri="89f7b614-c64b-4738-997e-aac1eab4293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COM7302 - Lecture Notes Template </Template>
  <TotalTime>2134</TotalTime>
  <Words>2656</Words>
  <Application>Microsoft Office PowerPoint</Application>
  <PresentationFormat>Widescreen</PresentationFormat>
  <Paragraphs>225</Paragraphs>
  <Slides>28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Aptos</vt:lpstr>
      <vt:lpstr>Arial</vt:lpstr>
      <vt:lpstr>Biome Light</vt:lpstr>
      <vt:lpstr>Calibri</vt:lpstr>
      <vt:lpstr>Calibri Light</vt:lpstr>
      <vt:lpstr>Helvetica Neue</vt:lpstr>
      <vt:lpstr>Times New Roman</vt:lpstr>
      <vt:lpstr>Wingdings</vt:lpstr>
      <vt:lpstr>Office Theme</vt:lpstr>
      <vt:lpstr>COM7302 - Lecture Notes Template </vt:lpstr>
      <vt:lpstr>Research Methods  Research Philosophy and Paradigms</vt:lpstr>
      <vt:lpstr>By the end of the session, you should be able to…</vt:lpstr>
      <vt:lpstr>What’s it all about</vt:lpstr>
      <vt:lpstr>All the resources will be posted to the Moodle page </vt:lpstr>
      <vt:lpstr>What is a research problem</vt:lpstr>
      <vt:lpstr>What is a Research Problem?</vt:lpstr>
      <vt:lpstr>Research in CS, DA, and CY </vt:lpstr>
      <vt:lpstr>Interdisciplinary Nature of Research</vt:lpstr>
      <vt:lpstr> </vt:lpstr>
      <vt:lpstr>There’s more than one type of question?</vt:lpstr>
      <vt:lpstr>Yup, There sure is!</vt:lpstr>
      <vt:lpstr>Types of Research Questions </vt:lpstr>
      <vt:lpstr>A question of Philosophy</vt:lpstr>
      <vt:lpstr>Recap from last week?  </vt:lpstr>
      <vt:lpstr>Ontology and Research Question Formulation</vt:lpstr>
      <vt:lpstr>Epistemology and Research Questions</vt:lpstr>
      <vt:lpstr>Axiology and the Ethical Dimension of Research Questions</vt:lpstr>
      <vt:lpstr>Doxology and Beliefs Guiding Research</vt:lpstr>
      <vt:lpstr>Constructing Effective Research Questions – A Checklist </vt:lpstr>
      <vt:lpstr>Examples of Well-Constructed Research Questions</vt:lpstr>
      <vt:lpstr>The Funnel Stratagem </vt:lpstr>
      <vt:lpstr>The Funnel Stratagem</vt:lpstr>
      <vt:lpstr>Applying The Funnel Stratagem</vt:lpstr>
      <vt:lpstr>PowerPoint Presentation</vt:lpstr>
      <vt:lpstr>Summary of Key Concepts</vt:lpstr>
      <vt:lpstr>From this point on…you’re a scientific  researcher!</vt:lpstr>
      <vt:lpstr>Reflection &amp; Writing – 10 Mins</vt:lpstr>
      <vt:lpstr>Questions??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COM7302 – Research Methods  Research Philosophy and Paradigms</dc:title>
  <dc:creator>Tighe, Bren</dc:creator>
  <cp:lastModifiedBy>Tighe, Bren</cp:lastModifiedBy>
  <cp:revision>7</cp:revision>
  <dcterms:created xsi:type="dcterms:W3CDTF">2024-09-04T09:10:35Z</dcterms:created>
  <dcterms:modified xsi:type="dcterms:W3CDTF">2026-09-24T11:26:09Z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0x010100D17C986513D50A4C9143007A1A38EF2E</vt:lpwstr>
  </property>
</Properties>
</file>