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34"/>
  </p:notesMasterIdLst>
  <p:handoutMasterIdLst>
    <p:handoutMasterId r:id="rId35"/>
  </p:handoutMasterIdLst>
  <p:sldIdLst>
    <p:sldId id="324" r:id="rId6"/>
    <p:sldId id="354" r:id="rId7"/>
    <p:sldId id="417" r:id="rId29"/>
    <p:sldId id="418" r:id="rId26"/>
    <p:sldId id="419" r:id="rId23"/>
    <p:sldId id="420" r:id="rId22"/>
    <p:sldId id="421" r:id="rId21"/>
    <p:sldId id="422" r:id="rId20"/>
    <p:sldId id="423" r:id="rId19"/>
    <p:sldId id="424" r:id="rId18"/>
    <p:sldId id="425" r:id="rId17"/>
    <p:sldId id="426" r:id="rId16"/>
    <p:sldId id="427" r:id="rId15"/>
    <p:sldId id="339" r:id="rId31"/>
    <p:sldId id="382" r:id="rId32"/>
    <p:sldId id="383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5" Type="http://schemas.openxmlformats.org/officeDocument/2006/relationships/slide" Target="slides/slide30.xml"/><Relationship Id="rId16" Type="http://schemas.openxmlformats.org/officeDocument/2006/relationships/slide" Target="slides/slide29.xml"/><Relationship Id="rId17" Type="http://schemas.openxmlformats.org/officeDocument/2006/relationships/slide" Target="slides/slide28.xml"/><Relationship Id="rId18" Type="http://schemas.openxmlformats.org/officeDocument/2006/relationships/slide" Target="slides/slide27.xml"/><Relationship Id="rId19" Type="http://schemas.openxmlformats.org/officeDocument/2006/relationships/slide" Target="slides/slide26.xml"/><Relationship Id="rId20" Type="http://schemas.openxmlformats.org/officeDocument/2006/relationships/slide" Target="slides/slide25.xml"/><Relationship Id="rId21" Type="http://schemas.openxmlformats.org/officeDocument/2006/relationships/slide" Target="slides/slide24.xml"/><Relationship Id="rId22" Type="http://schemas.openxmlformats.org/officeDocument/2006/relationships/slide" Target="slides/slide23.xml"/><Relationship Id="rId23" Type="http://schemas.openxmlformats.org/officeDocument/2006/relationships/slide" Target="slides/slide22.xml"/><Relationship Id="rId26" Type="http://schemas.openxmlformats.org/officeDocument/2006/relationships/slide" Target="slides/slide21.xml"/><Relationship Id="rId29" Type="http://schemas.openxmlformats.org/officeDocument/2006/relationships/slide" Target="slides/slide20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wallpaperaccess.com/funny-science" TargetMode="External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hyperlink" Target="http://culturefit.com/developing-2016-trends-computer-sciences-bradley-universit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Week 4 – Session 1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COM7401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Quantitative Data Analysis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800" dirty="0"/>
              <a:t>Explain what data analysis is for and the four ways it is framed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Match a quantitative technique to a research question and a type of data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Name one technique, or a justified shortlist, for your own methodology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Decide your overall analysis route: quantitative, qualitative or mixed</a:t>
            </a: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91" y="1898030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9124" y="985096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1591" y="4816192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5B108-6B9D-49AD-A45B-85801967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2" y="58338"/>
            <a:ext cx="5234966" cy="67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4EB77E-0C3E-FCCA-E05D-971D1F91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9" r="-3" b="1397"/>
          <a:stretch/>
        </p:blipFill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8B246-BC91-8BA6-FD45-2FA834E18C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/>
          <a:lstStyle/>
          <a:p>
            <a:r>
              <a:rPr lang="en-US" dirty="0"/>
              <a:t>Spend 10 minutes just writing</a:t>
            </a:r>
          </a:p>
          <a:p>
            <a:r>
              <a:rPr lang="en-US" dirty="0"/>
              <a:t>Name the one technique you will use, say why it fits your question and your data, and note one thing it cannot tell you. Free write if you like.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9109154A-ED81-F668-8C52-27D4536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2600" dirty="0"/>
              <a:t>Reflection &amp; Writing – 10 Mins</a:t>
            </a:r>
          </a:p>
        </p:txBody>
      </p:sp>
    </p:spTree>
    <p:extLst>
      <p:ext uri="{BB962C8B-B14F-4D97-AF65-F5344CB8AC3E}">
        <p14:creationId xmlns:p14="http://schemas.microsoft.com/office/powerpoint/2010/main" val="189101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The report deadline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1224E"/>
                </a:solidFill>
              </a:rPr>
              <a:t>Your report is due Friday 27 November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9728" cy="82296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2743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900" b="0" i="0">
                <a:solidFill>
                  <a:srgbClr val="26324A"/>
                </a:solidFill>
              </a:rPr>
              <a:t>Fixed headings: Background (about 400 words), Critical Literature Review (about 900), Methodology (about 900) and Reflection (about 300)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900" b="0" i="0">
                <a:solidFill>
                  <a:srgbClr val="26324A"/>
                </a:solidFill>
              </a:rPr>
              <a:t>2,500 words, plus or minus 10%, excluding references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900" b="0" i="0">
                <a:solidFill>
                  <a:srgbClr val="26324A"/>
                </a:solidFill>
              </a:rPr>
              <a:t>Once submitted, the report is final and cannot be revised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900" b="0" i="0">
                <a:solidFill>
                  <a:srgbClr val="26324A"/>
                </a:solidFill>
              </a:rPr>
              <a:t>Today you choose your analysis route and name your technique, so you can write that paragraph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is data analysis?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6324A"/>
                </a:solidFill>
              </a:rPr>
              <a:t>Data analysis creates meaning from data, as the basis for answering your research question. Quantitative analysis suits questions about how much, how many, how often and how things relate.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24688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743200"/>
            <a:ext cx="24688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Describe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39"/>
            <a:ext cx="237744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1224E"/>
                </a:solidFill>
              </a:rPr>
              <a:t>What does the data look like?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Summary statistics, charts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743200"/>
            <a:ext cx="24688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0"/>
            <a:ext cx="24688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Infer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3291839"/>
            <a:ext cx="237744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1224E"/>
                </a:solidFill>
              </a:rPr>
              <a:t>What can we say about the wider population?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Hypothesis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743200"/>
            <a:ext cx="24688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5C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2743200"/>
            <a:ext cx="2468880" cy="502920"/>
          </a:xfrm>
          <a:prstGeom prst="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Relate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291839"/>
            <a:ext cx="237744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1224E"/>
                </a:solidFill>
              </a:rPr>
              <a:t>How are variables connected?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Correlation, regression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2743200"/>
            <a:ext cx="24688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0" y="2743200"/>
            <a:ext cx="24688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291839"/>
            <a:ext cx="237744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1224E"/>
                </a:solidFill>
              </a:rPr>
              <a:t>What is likely to happen?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Regression, time series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4406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Which framing is closest to your study?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4406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Tools: one 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59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6698"/>
                <a:gridCol w="2867890"/>
                <a:gridCol w="497101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Kind of tool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Examples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Good for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Spreadsheets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Excel, Google Sheets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Small datasets, quick summaries and charts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Statistics packages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SPSS, jamovi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Tests and models through menus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Programming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R, Python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Large or messy data, repeatable analysis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Visualisation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Tableau, Power BI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Exploring and presenting patterns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Pick a tool you can actually use. Declare it in your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Describing, relating and predicting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Descriptive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3063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224E"/>
                </a:solidFill>
              </a:rPr>
              <a:t>What does the data look like?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Mean, median, mode and spread, shown in charts and tables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CY: how long incidents take to detect, and how much that varies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3063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224E"/>
                </a:solidFill>
              </a:rPr>
              <a:t>How strongly are two variables related?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Pearson's r: strength and direction. It does not show cause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CY: training hours and number of security breaches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3063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224E"/>
                </a:solidFill>
              </a:rPr>
              <a:t>Can one variable predict another?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Dependent and independent variables; linear or logistic; R-squared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DA: predict customer churn from usage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Testing differences and change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Hypothesis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3063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224E"/>
                </a:solidFill>
              </a:rPr>
              <a:t>Is this difference real?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State null and alternative hypotheses; run a test (t-test, chi-square); read the p-value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CS: is the new algorithm's accuracy different from the baseline?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ANOVA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3063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224E"/>
                </a:solidFill>
              </a:rPr>
              <a:t>Do three or more groups differ?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Compares variation within and between groups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CS: response time across three server configurations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Time 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3063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224E"/>
                </a:solidFill>
              </a:rPr>
              <a:t>What happened over time?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Sequential data; models such as ARIMA; trends and seasonality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CY: weekly intrusion attempts before and after a policy change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More on your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Cluster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16001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Finds natural groupings in data, for example with k-means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Factor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16001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Reduces many variables to a few underlying factors, for example with PCA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Survival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16001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Models the time until an event occurs, for example a system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389120"/>
            <a:ext cx="1051560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Machine-learning techniques and vendor platforms are covered in the tools demo, not 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38912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Your data type limits your technique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00400"/>
                <a:gridCol w="438912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Scale of your data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Typical summaries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Typical techniques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Nominal (categories)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Counts, proportions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Chi-square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Ordinal (ordered ranks)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Median, ranges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Rank-based tests; Spearman correlation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Interval or ratio (numbers)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Mean, standard deviation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Pearson correlation, t-test, ANOVA, regression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2120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Go back to the measurement scales you chose last session.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Main task: the Quantitative Methods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Part 1, in your group: use the cheat sheet to match techniques to the scenario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Part 2, on your own: map techniques to your own methodology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Choose one technique, or a justified shortlist, and say why it suits your data and question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Be ready to share one technique and your reason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Every student leaves with a named technique.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Write your technique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1224E"/>
                </a:solidFill>
              </a:rPr>
              <a:t>My study asks ____. My data are ____ (type and scale). I will use ____ because ____.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109728" cy="11887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This sentence is the core of your analysis paragraph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Name the technique, the data and the link to your question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Add what the result would and would not show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Decide your analysis route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Quantitative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16916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Numbers answer your question; name the techniques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Qualitative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16916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Meanings answer your question; thematic analysis is next session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Mixed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16916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You need both; say how the two are combined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480560"/>
            <a:ext cx="1051560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1224E"/>
                </a:solidFill>
              </a:rPr>
              <a:t>Write your route and technique down now; the report clinic is later this week.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4805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Before the deadline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Draft your analysis plan paragraph, and your Reflection (about 300 words)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Next campus session: qualitative analysis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Zoom 4, Thursday: report clinic, and the oral-defence check is issued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Add your declaration of software and generative AI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Report due Friday 27 November.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2134</TotalTime>
  <Words>2656</Words>
  <Application>Microsoft Office PowerPoint</Application>
  <PresentationFormat>Widescreen</PresentationFormat>
  <Paragraphs>225</Paragraphs>
  <Slides>28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Biome Light</vt:lpstr>
      <vt:lpstr>Calibri</vt:lpstr>
      <vt:lpstr>Calibri Light</vt:lpstr>
      <vt:lpstr>Helvetica Neue</vt:lpstr>
      <vt:lpstr>Times New Roman</vt:lpstr>
      <vt:lpstr>Wingdings</vt:lpstr>
      <vt:lpstr>Office Theme</vt:lpstr>
      <vt:lpstr>COM7302 - Lecture Notes Template </vt:lpstr>
      <vt:lpstr>Research Methods  Research Philosophy and Paradigms</vt:lpstr>
      <vt:lpstr>By the end of the session, you should be able to…</vt:lpstr>
      <vt:lpstr>What’s it all about</vt:lpstr>
      <vt:lpstr>All the resources will be posted to the Moodle page </vt:lpstr>
      <vt:lpstr>What is a research problem</vt:lpstr>
      <vt:lpstr>What is a Research Problem?</vt:lpstr>
      <vt:lpstr>Research in CS, DA, and CY </vt:lpstr>
      <vt:lpstr>Interdisciplinary Nature of Research</vt:lpstr>
      <vt:lpstr> </vt:lpstr>
      <vt:lpstr>There’s more than one type of question?</vt:lpstr>
      <vt:lpstr>Yup, There sure is!</vt:lpstr>
      <vt:lpstr>Types of Research Questions </vt:lpstr>
      <vt:lpstr>A question of Philosophy</vt:lpstr>
      <vt:lpstr>Recap from last week?  </vt:lpstr>
      <vt:lpstr>Ontology and Research Question Formulation</vt:lpstr>
      <vt:lpstr>Epistemology and Research Questions</vt:lpstr>
      <vt:lpstr>Axiology and the Ethical Dimension of Research Questions</vt:lpstr>
      <vt:lpstr>Doxology and Beliefs Guiding Research</vt:lpstr>
      <vt:lpstr>Constructing Effective Research Questions – A Checklist </vt:lpstr>
      <vt:lpstr>Examples of Well-Constructed Research Questions</vt:lpstr>
      <vt:lpstr>The Funnel Stratagem </vt:lpstr>
      <vt:lpstr>The Funnel Stratagem</vt:lpstr>
      <vt:lpstr>Applying The Funnel Stratagem</vt:lpstr>
      <vt:lpstr>PowerPoint Presentation</vt:lpstr>
      <vt:lpstr>Summary of Key Concepts</vt:lpstr>
      <vt:lpstr>From this point on…you’re a scientific  researcher!</vt:lpstr>
      <vt:lpstr>Reflection &amp; Writing – 10 Mins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7</cp:revision>
  <dcterms:created xsi:type="dcterms:W3CDTF">2024-09-04T09:10:35Z</dcterms:created>
  <dcterms:modified xsi:type="dcterms:W3CDTF">2026-09-24T11:26:09Z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