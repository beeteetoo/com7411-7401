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5" r:id="rId4"/>
  </p:sldMasterIdLst>
  <p:notesMasterIdLst>
    <p:notesMasterId r:id="rId39"/>
  </p:notesMasterIdLst>
  <p:handoutMasterIdLst>
    <p:handoutMasterId r:id="rId40"/>
  </p:handoutMasterIdLst>
  <p:sldIdLst>
    <p:sldId id="416" r:id="rId5"/>
    <p:sldId id="376" r:id="rId6"/>
    <p:sldId id="302" r:id="rId7"/>
    <p:sldId id="325" r:id="rId8"/>
    <p:sldId id="315" r:id="rId9"/>
    <p:sldId id="394" r:id="rId10"/>
    <p:sldId id="413" r:id="rId11"/>
    <p:sldId id="362" r:id="rId12"/>
    <p:sldId id="408" r:id="rId13"/>
    <p:sldId id="409" r:id="rId14"/>
    <p:sldId id="410" r:id="rId15"/>
    <p:sldId id="411" r:id="rId16"/>
    <p:sldId id="412" r:id="rId17"/>
    <p:sldId id="414" r:id="rId18"/>
    <p:sldId id="395" r:id="rId19"/>
    <p:sldId id="406" r:id="rId20"/>
    <p:sldId id="417" r:id="rId21"/>
    <p:sldId id="415" r:id="rId22"/>
    <p:sldId id="396" r:id="rId23"/>
    <p:sldId id="407" r:id="rId24"/>
    <p:sldId id="398" r:id="rId25"/>
    <p:sldId id="397" r:id="rId26"/>
    <p:sldId id="399" r:id="rId27"/>
    <p:sldId id="367" r:id="rId28"/>
    <p:sldId id="401" r:id="rId29"/>
    <p:sldId id="400" r:id="rId30"/>
    <p:sldId id="402" r:id="rId31"/>
    <p:sldId id="403" r:id="rId32"/>
    <p:sldId id="404" r:id="rId33"/>
    <p:sldId id="405" r:id="rId34"/>
    <p:sldId id="363" r:id="rId35"/>
    <p:sldId id="339" r:id="rId36"/>
    <p:sldId id="372" r:id="rId37"/>
    <p:sldId id="313" r:id="rId38"/>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7EE231-22BE-4597-8E2A-97FE8F6CD999}" v="14" dt="2025-03-21T08:50:19.049"/>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35" autoAdjust="0"/>
    <p:restoredTop sz="96327" autoAdjust="0"/>
  </p:normalViewPr>
  <p:slideViewPr>
    <p:cSldViewPr snapToGrid="0">
      <p:cViewPr varScale="1">
        <p:scale>
          <a:sx n="108" d="100"/>
          <a:sy n="108" d="100"/>
        </p:scale>
        <p:origin x="1110" y="96"/>
      </p:cViewPr>
      <p:guideLst>
        <p:guide orient="horz" pos="1968"/>
        <p:guide pos="408"/>
        <p:guide orient="horz" pos="3912"/>
        <p:guide pos="7272"/>
        <p:guide orient="horz" pos="16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ghe, Bren" userId="0772691d-7a8e-443b-b68a-86d18f1186d2" providerId="ADAL" clId="{EF9B022A-3C11-4838-AB60-EDB28431B4AE}"/>
    <pc:docChg chg="modSld">
      <pc:chgData name="Tighe, Bren" userId="0772691d-7a8e-443b-b68a-86d18f1186d2" providerId="ADAL" clId="{EF9B022A-3C11-4838-AB60-EDB28431B4AE}" dt="2025-03-21T10:09:28.684" v="30" actId="113"/>
      <pc:docMkLst>
        <pc:docMk/>
      </pc:docMkLst>
      <pc:sldChg chg="modSp mod">
        <pc:chgData name="Tighe, Bren" userId="0772691d-7a8e-443b-b68a-86d18f1186d2" providerId="ADAL" clId="{EF9B022A-3C11-4838-AB60-EDB28431B4AE}" dt="2025-03-21T10:09:28.684" v="30" actId="113"/>
        <pc:sldMkLst>
          <pc:docMk/>
          <pc:sldMk cId="1824499101" sldId="363"/>
        </pc:sldMkLst>
        <pc:spChg chg="mod">
          <ac:chgData name="Tighe, Bren" userId="0772691d-7a8e-443b-b68a-86d18f1186d2" providerId="ADAL" clId="{EF9B022A-3C11-4838-AB60-EDB28431B4AE}" dt="2025-03-21T10:09:28.684" v="30" actId="113"/>
          <ac:spMkLst>
            <pc:docMk/>
            <pc:sldMk cId="1824499101" sldId="363"/>
            <ac:spMk id="2" creationId="{15B5FFB2-A5AC-699F-29F2-299D023C83C6}"/>
          </ac:spMkLst>
        </pc:spChg>
        <pc:picChg chg="mod">
          <ac:chgData name="Tighe, Bren" userId="0772691d-7a8e-443b-b68a-86d18f1186d2" providerId="ADAL" clId="{EF9B022A-3C11-4838-AB60-EDB28431B4AE}" dt="2025-03-21T10:09:15.620" v="26" actId="14100"/>
          <ac:picMkLst>
            <pc:docMk/>
            <pc:sldMk cId="1824499101" sldId="363"/>
            <ac:picMk id="4" creationId="{48CA1113-4524-2852-6B70-9C62F99B7CB6}"/>
          </ac:picMkLst>
        </pc:picChg>
      </pc:sldChg>
      <pc:sldChg chg="modSp mod">
        <pc:chgData name="Tighe, Bren" userId="0772691d-7a8e-443b-b68a-86d18f1186d2" providerId="ADAL" clId="{EF9B022A-3C11-4838-AB60-EDB28431B4AE}" dt="2025-03-21T08:59:07.070" v="25" actId="1076"/>
        <pc:sldMkLst>
          <pc:docMk/>
          <pc:sldMk cId="4191483637" sldId="416"/>
        </pc:sldMkLst>
        <pc:spChg chg="mod">
          <ac:chgData name="Tighe, Bren" userId="0772691d-7a8e-443b-b68a-86d18f1186d2" providerId="ADAL" clId="{EF9B022A-3C11-4838-AB60-EDB28431B4AE}" dt="2025-03-21T08:59:05.550" v="24" actId="20577"/>
          <ac:spMkLst>
            <pc:docMk/>
            <pc:sldMk cId="4191483637" sldId="416"/>
            <ac:spMk id="7" creationId="{BD837CEB-1A69-4F72-95D4-054D82F09696}"/>
          </ac:spMkLst>
        </pc:spChg>
        <pc:picChg chg="mod">
          <ac:chgData name="Tighe, Bren" userId="0772691d-7a8e-443b-b68a-86d18f1186d2" providerId="ADAL" clId="{EF9B022A-3C11-4838-AB60-EDB28431B4AE}" dt="2025-03-21T08:59:07.070" v="25" actId="1076"/>
          <ac:picMkLst>
            <pc:docMk/>
            <pc:sldMk cId="4191483637" sldId="416"/>
            <ac:picMk id="13" creationId="{E6A5B61D-69C0-4661-AD66-3D72D9A6E86F}"/>
          </ac:picMkLst>
        </pc:picChg>
      </pc:sldChg>
    </pc:docChg>
  </pc:docChgLst>
  <pc:docChgLst>
    <pc:chgData name="Tighe, Bren" userId="0772691d-7a8e-443b-b68a-86d18f1186d2" providerId="ADAL" clId="{937EE231-22BE-4597-8E2A-97FE8F6CD999}"/>
    <pc:docChg chg="undo custSel addSld modSld">
      <pc:chgData name="Tighe, Bren" userId="0772691d-7a8e-443b-b68a-86d18f1186d2" providerId="ADAL" clId="{937EE231-22BE-4597-8E2A-97FE8F6CD999}" dt="2025-03-21T08:50:19.049" v="60" actId="14826"/>
      <pc:docMkLst>
        <pc:docMk/>
      </pc:docMkLst>
      <pc:sldChg chg="addSp modSp mod">
        <pc:chgData name="Tighe, Bren" userId="0772691d-7a8e-443b-b68a-86d18f1186d2" providerId="ADAL" clId="{937EE231-22BE-4597-8E2A-97FE8F6CD999}" dt="2025-03-21T08:50:19.049" v="60" actId="14826"/>
        <pc:sldMkLst>
          <pc:docMk/>
          <pc:sldMk cId="1349438884" sldId="339"/>
        </pc:sldMkLst>
        <pc:spChg chg="mod">
          <ac:chgData name="Tighe, Bren" userId="0772691d-7a8e-443b-b68a-86d18f1186d2" providerId="ADAL" clId="{937EE231-22BE-4597-8E2A-97FE8F6CD999}" dt="2025-03-21T08:49:26.075" v="54" actId="1076"/>
          <ac:spMkLst>
            <pc:docMk/>
            <pc:sldMk cId="1349438884" sldId="339"/>
            <ac:spMk id="4" creationId="{30C1D0E0-1A33-E61C-6285-DCE942B4F6DE}"/>
          </ac:spMkLst>
        </pc:spChg>
        <pc:picChg chg="mod">
          <ac:chgData name="Tighe, Bren" userId="0772691d-7a8e-443b-b68a-86d18f1186d2" providerId="ADAL" clId="{937EE231-22BE-4597-8E2A-97FE8F6CD999}" dt="2025-03-21T08:49:37.595" v="59" actId="1076"/>
          <ac:picMkLst>
            <pc:docMk/>
            <pc:sldMk cId="1349438884" sldId="339"/>
            <ac:picMk id="11" creationId="{D40FB369-654E-689F-059B-8EDE18627CC7}"/>
          </ac:picMkLst>
        </pc:picChg>
        <pc:picChg chg="add mod">
          <ac:chgData name="Tighe, Bren" userId="0772691d-7a8e-443b-b68a-86d18f1186d2" providerId="ADAL" clId="{937EE231-22BE-4597-8E2A-97FE8F6CD999}" dt="2025-03-21T08:50:19.049" v="60" actId="14826"/>
          <ac:picMkLst>
            <pc:docMk/>
            <pc:sldMk cId="1349438884" sldId="339"/>
            <ac:picMk id="2050" creationId="{E5BCBF50-310C-979F-353E-27A1303B56E3}"/>
          </ac:picMkLst>
        </pc:picChg>
      </pc:sldChg>
      <pc:sldChg chg="modSp mod">
        <pc:chgData name="Tighe, Bren" userId="0772691d-7a8e-443b-b68a-86d18f1186d2" providerId="ADAL" clId="{937EE231-22BE-4597-8E2A-97FE8F6CD999}" dt="2025-03-21T08:46:12.167" v="50" actId="20577"/>
        <pc:sldMkLst>
          <pc:docMk/>
          <pc:sldMk cId="1824499101" sldId="363"/>
        </pc:sldMkLst>
        <pc:spChg chg="mod">
          <ac:chgData name="Tighe, Bren" userId="0772691d-7a8e-443b-b68a-86d18f1186d2" providerId="ADAL" clId="{937EE231-22BE-4597-8E2A-97FE8F6CD999}" dt="2025-03-21T08:46:12.167" v="50" actId="20577"/>
          <ac:spMkLst>
            <pc:docMk/>
            <pc:sldMk cId="1824499101" sldId="363"/>
            <ac:spMk id="2" creationId="{15B5FFB2-A5AC-699F-29F2-299D023C83C6}"/>
          </ac:spMkLst>
        </pc:spChg>
      </pc:sldChg>
      <pc:sldChg chg="modSp mod">
        <pc:chgData name="Tighe, Bren" userId="0772691d-7a8e-443b-b68a-86d18f1186d2" providerId="ADAL" clId="{937EE231-22BE-4597-8E2A-97FE8F6CD999}" dt="2025-03-21T08:40:19.799" v="10" actId="166"/>
        <pc:sldMkLst>
          <pc:docMk/>
          <pc:sldMk cId="811841464" sldId="395"/>
        </pc:sldMkLst>
        <pc:spChg chg="mod">
          <ac:chgData name="Tighe, Bren" userId="0772691d-7a8e-443b-b68a-86d18f1186d2" providerId="ADAL" clId="{937EE231-22BE-4597-8E2A-97FE8F6CD999}" dt="2025-03-21T08:40:09.595" v="6" actId="1076"/>
          <ac:spMkLst>
            <pc:docMk/>
            <pc:sldMk cId="811841464" sldId="395"/>
            <ac:spMk id="3" creationId="{FE10A49A-9FCD-5F68-3696-0C865A388519}"/>
          </ac:spMkLst>
        </pc:spChg>
        <pc:spChg chg="mod ord">
          <ac:chgData name="Tighe, Bren" userId="0772691d-7a8e-443b-b68a-86d18f1186d2" providerId="ADAL" clId="{937EE231-22BE-4597-8E2A-97FE8F6CD999}" dt="2025-03-21T08:40:19.799" v="10" actId="166"/>
          <ac:spMkLst>
            <pc:docMk/>
            <pc:sldMk cId="811841464" sldId="395"/>
            <ac:spMk id="7" creationId="{C9AF5EF5-7F37-32D6-97AA-ED45863C3E92}"/>
          </ac:spMkLst>
        </pc:spChg>
      </pc:sldChg>
      <pc:sldChg chg="modSp mod">
        <pc:chgData name="Tighe, Bren" userId="0772691d-7a8e-443b-b68a-86d18f1186d2" providerId="ADAL" clId="{937EE231-22BE-4597-8E2A-97FE8F6CD999}" dt="2025-03-21T08:44:27.081" v="33" actId="1076"/>
        <pc:sldMkLst>
          <pc:docMk/>
          <pc:sldMk cId="1187931460" sldId="396"/>
        </pc:sldMkLst>
        <pc:spChg chg="mod">
          <ac:chgData name="Tighe, Bren" userId="0772691d-7a8e-443b-b68a-86d18f1186d2" providerId="ADAL" clId="{937EE231-22BE-4597-8E2A-97FE8F6CD999}" dt="2025-03-21T08:44:27.081" v="33" actId="1076"/>
          <ac:spMkLst>
            <pc:docMk/>
            <pc:sldMk cId="1187931460" sldId="396"/>
            <ac:spMk id="2" creationId="{00000000-0000-0000-0000-000000000000}"/>
          </ac:spMkLst>
        </pc:spChg>
      </pc:sldChg>
      <pc:sldChg chg="modSp mod">
        <pc:chgData name="Tighe, Bren" userId="0772691d-7a8e-443b-b68a-86d18f1186d2" providerId="ADAL" clId="{937EE231-22BE-4597-8E2A-97FE8F6CD999}" dt="2025-03-21T08:44:41.595" v="35" actId="1076"/>
        <pc:sldMkLst>
          <pc:docMk/>
          <pc:sldMk cId="1726256551" sldId="397"/>
        </pc:sldMkLst>
        <pc:spChg chg="mod">
          <ac:chgData name="Tighe, Bren" userId="0772691d-7a8e-443b-b68a-86d18f1186d2" providerId="ADAL" clId="{937EE231-22BE-4597-8E2A-97FE8F6CD999}" dt="2025-03-21T08:44:41.595" v="35" actId="1076"/>
          <ac:spMkLst>
            <pc:docMk/>
            <pc:sldMk cId="1726256551" sldId="397"/>
            <ac:spMk id="2" creationId="{00000000-0000-0000-0000-000000000000}"/>
          </ac:spMkLst>
        </pc:spChg>
      </pc:sldChg>
      <pc:sldChg chg="modSp mod">
        <pc:chgData name="Tighe, Bren" userId="0772691d-7a8e-443b-b68a-86d18f1186d2" providerId="ADAL" clId="{937EE231-22BE-4597-8E2A-97FE8F6CD999}" dt="2025-03-21T08:45:38.086" v="37" actId="1076"/>
        <pc:sldMkLst>
          <pc:docMk/>
          <pc:sldMk cId="2483997997" sldId="400"/>
        </pc:sldMkLst>
        <pc:spChg chg="mod">
          <ac:chgData name="Tighe, Bren" userId="0772691d-7a8e-443b-b68a-86d18f1186d2" providerId="ADAL" clId="{937EE231-22BE-4597-8E2A-97FE8F6CD999}" dt="2025-03-21T08:45:38.086" v="37" actId="1076"/>
          <ac:spMkLst>
            <pc:docMk/>
            <pc:sldMk cId="2483997997" sldId="400"/>
            <ac:spMk id="2" creationId="{00000000-0000-0000-0000-000000000000}"/>
          </ac:spMkLst>
        </pc:spChg>
        <pc:spChg chg="mod">
          <ac:chgData name="Tighe, Bren" userId="0772691d-7a8e-443b-b68a-86d18f1186d2" providerId="ADAL" clId="{937EE231-22BE-4597-8E2A-97FE8F6CD999}" dt="2025-03-21T08:45:33.823" v="36" actId="1076"/>
          <ac:spMkLst>
            <pc:docMk/>
            <pc:sldMk cId="2483997997" sldId="400"/>
            <ac:spMk id="7" creationId="{C9AF5EF5-7F37-32D6-97AA-ED45863C3E92}"/>
          </ac:spMkLst>
        </pc:spChg>
      </pc:sldChg>
      <pc:sldChg chg="modSp mod">
        <pc:chgData name="Tighe, Bren" userId="0772691d-7a8e-443b-b68a-86d18f1186d2" providerId="ADAL" clId="{937EE231-22BE-4597-8E2A-97FE8F6CD999}" dt="2025-03-21T08:45:51.213" v="39" actId="14100"/>
        <pc:sldMkLst>
          <pc:docMk/>
          <pc:sldMk cId="4285735451" sldId="404"/>
        </pc:sldMkLst>
        <pc:spChg chg="mod">
          <ac:chgData name="Tighe, Bren" userId="0772691d-7a8e-443b-b68a-86d18f1186d2" providerId="ADAL" clId="{937EE231-22BE-4597-8E2A-97FE8F6CD999}" dt="2025-03-21T08:45:51.213" v="39" actId="14100"/>
          <ac:spMkLst>
            <pc:docMk/>
            <pc:sldMk cId="4285735451" sldId="404"/>
            <ac:spMk id="2" creationId="{00000000-0000-0000-0000-000000000000}"/>
          </ac:spMkLst>
        </pc:spChg>
      </pc:sldChg>
      <pc:sldChg chg="modSp mod">
        <pc:chgData name="Tighe, Bren" userId="0772691d-7a8e-443b-b68a-86d18f1186d2" providerId="ADAL" clId="{937EE231-22BE-4597-8E2A-97FE8F6CD999}" dt="2025-03-21T08:40:31.922" v="12" actId="14100"/>
        <pc:sldMkLst>
          <pc:docMk/>
          <pc:sldMk cId="4246501418" sldId="406"/>
        </pc:sldMkLst>
        <pc:spChg chg="mod">
          <ac:chgData name="Tighe, Bren" userId="0772691d-7a8e-443b-b68a-86d18f1186d2" providerId="ADAL" clId="{937EE231-22BE-4597-8E2A-97FE8F6CD999}" dt="2025-03-21T08:40:31.922" v="12" actId="14100"/>
          <ac:spMkLst>
            <pc:docMk/>
            <pc:sldMk cId="4246501418" sldId="406"/>
            <ac:spMk id="3" creationId="{FE10A49A-9FCD-5F68-3696-0C865A388519}"/>
          </ac:spMkLst>
        </pc:spChg>
      </pc:sldChg>
      <pc:sldChg chg="modSp mod modNotesTx">
        <pc:chgData name="Tighe, Bren" userId="0772691d-7a8e-443b-b68a-86d18f1186d2" providerId="ADAL" clId="{937EE231-22BE-4597-8E2A-97FE8F6CD999}" dt="2025-03-21T08:40:00.738" v="5"/>
        <pc:sldMkLst>
          <pc:docMk/>
          <pc:sldMk cId="1140672534" sldId="412"/>
        </pc:sldMkLst>
        <pc:spChg chg="mod">
          <ac:chgData name="Tighe, Bren" userId="0772691d-7a8e-443b-b68a-86d18f1186d2" providerId="ADAL" clId="{937EE231-22BE-4597-8E2A-97FE8F6CD999}" dt="2025-03-21T08:39:37.323" v="4" actId="1076"/>
          <ac:spMkLst>
            <pc:docMk/>
            <pc:sldMk cId="1140672534" sldId="412"/>
            <ac:spMk id="3" creationId="{FE10A49A-9FCD-5F68-3696-0C865A388519}"/>
          </ac:spMkLst>
        </pc:spChg>
        <pc:spChg chg="mod">
          <ac:chgData name="Tighe, Bren" userId="0772691d-7a8e-443b-b68a-86d18f1186d2" providerId="ADAL" clId="{937EE231-22BE-4597-8E2A-97FE8F6CD999}" dt="2025-03-21T08:39:14.172" v="2" actId="1076"/>
          <ac:spMkLst>
            <pc:docMk/>
            <pc:sldMk cId="1140672534" sldId="412"/>
            <ac:spMk id="7" creationId="{C9AF5EF5-7F37-32D6-97AA-ED45863C3E92}"/>
          </ac:spMkLst>
        </pc:spChg>
      </pc:sldChg>
      <pc:sldChg chg="addSp delSp modSp new mod">
        <pc:chgData name="Tighe, Bren" userId="0772691d-7a8e-443b-b68a-86d18f1186d2" providerId="ADAL" clId="{937EE231-22BE-4597-8E2A-97FE8F6CD999}" dt="2025-03-21T08:44:19.643" v="32" actId="1076"/>
        <pc:sldMkLst>
          <pc:docMk/>
          <pc:sldMk cId="3032488409" sldId="417"/>
        </pc:sldMkLst>
        <pc:spChg chg="add del">
          <ac:chgData name="Tighe, Bren" userId="0772691d-7a8e-443b-b68a-86d18f1186d2" providerId="ADAL" clId="{937EE231-22BE-4597-8E2A-97FE8F6CD999}" dt="2025-03-21T08:43:14.408" v="17" actId="478"/>
          <ac:spMkLst>
            <pc:docMk/>
            <pc:sldMk cId="3032488409" sldId="417"/>
            <ac:spMk id="2" creationId="{B913E52D-4030-82FF-F7A2-E91BE7D27420}"/>
          </ac:spMkLst>
        </pc:spChg>
        <pc:spChg chg="del">
          <ac:chgData name="Tighe, Bren" userId="0772691d-7a8e-443b-b68a-86d18f1186d2" providerId="ADAL" clId="{937EE231-22BE-4597-8E2A-97FE8F6CD999}" dt="2025-03-21T08:42:37.413" v="14" actId="478"/>
          <ac:spMkLst>
            <pc:docMk/>
            <pc:sldMk cId="3032488409" sldId="417"/>
            <ac:spMk id="3" creationId="{BB05C7A5-F36A-D400-67A0-1CF23EA66FE8}"/>
          </ac:spMkLst>
        </pc:spChg>
        <pc:spChg chg="add del">
          <ac:chgData name="Tighe, Bren" userId="0772691d-7a8e-443b-b68a-86d18f1186d2" providerId="ADAL" clId="{937EE231-22BE-4597-8E2A-97FE8F6CD999}" dt="2025-03-21T08:43:23.205" v="20" actId="22"/>
          <ac:spMkLst>
            <pc:docMk/>
            <pc:sldMk cId="3032488409" sldId="417"/>
            <ac:spMk id="11" creationId="{CBB4E8A2-A82E-A8AD-B1F0-73C3E5A70E9C}"/>
          </ac:spMkLst>
        </pc:spChg>
        <pc:spChg chg="add del mod">
          <ac:chgData name="Tighe, Bren" userId="0772691d-7a8e-443b-b68a-86d18f1186d2" providerId="ADAL" clId="{937EE231-22BE-4597-8E2A-97FE8F6CD999}" dt="2025-03-21T08:43:40.129" v="24" actId="478"/>
          <ac:spMkLst>
            <pc:docMk/>
            <pc:sldMk cId="3032488409" sldId="417"/>
            <ac:spMk id="13" creationId="{773C16CD-836D-2FDA-1A36-E14AFF38D1D6}"/>
          </ac:spMkLst>
        </pc:spChg>
        <pc:graphicFrameChg chg="add mod">
          <ac:chgData name="Tighe, Bren" userId="0772691d-7a8e-443b-b68a-86d18f1186d2" providerId="ADAL" clId="{937EE231-22BE-4597-8E2A-97FE8F6CD999}" dt="2025-03-21T08:43:12.016" v="16"/>
          <ac:graphicFrameMkLst>
            <pc:docMk/>
            <pc:sldMk cId="3032488409" sldId="417"/>
            <ac:graphicFrameMk id="4" creationId="{4BF2C7AB-C0EF-D92B-172F-66AED5E8C979}"/>
          </ac:graphicFrameMkLst>
        </pc:graphicFrameChg>
        <pc:graphicFrameChg chg="add mod">
          <ac:chgData name="Tighe, Bren" userId="0772691d-7a8e-443b-b68a-86d18f1186d2" providerId="ADAL" clId="{937EE231-22BE-4597-8E2A-97FE8F6CD999}" dt="2025-03-21T08:43:11.147" v="15"/>
          <ac:graphicFrameMkLst>
            <pc:docMk/>
            <pc:sldMk cId="3032488409" sldId="417"/>
            <ac:graphicFrameMk id="5" creationId="{361A66EC-AB5F-32A1-B018-0871F4EB0215}"/>
          </ac:graphicFrameMkLst>
        </pc:graphicFrameChg>
        <pc:graphicFrameChg chg="add mod">
          <ac:chgData name="Tighe, Bren" userId="0772691d-7a8e-443b-b68a-86d18f1186d2" providerId="ADAL" clId="{937EE231-22BE-4597-8E2A-97FE8F6CD999}" dt="2025-03-21T08:43:11.147" v="15"/>
          <ac:graphicFrameMkLst>
            <pc:docMk/>
            <pc:sldMk cId="3032488409" sldId="417"/>
            <ac:graphicFrameMk id="6" creationId="{13854B3B-9314-4824-9A98-3422B47EB6DD}"/>
          </ac:graphicFrameMkLst>
        </pc:graphicFrameChg>
        <pc:graphicFrameChg chg="add mod">
          <ac:chgData name="Tighe, Bren" userId="0772691d-7a8e-443b-b68a-86d18f1186d2" providerId="ADAL" clId="{937EE231-22BE-4597-8E2A-97FE8F6CD999}" dt="2025-03-21T08:43:11.147" v="15"/>
          <ac:graphicFrameMkLst>
            <pc:docMk/>
            <pc:sldMk cId="3032488409" sldId="417"/>
            <ac:graphicFrameMk id="7" creationId="{F3995EDA-7BCB-4BCB-7ED2-ACA288203B20}"/>
          </ac:graphicFrameMkLst>
        </pc:graphicFrameChg>
        <pc:graphicFrameChg chg="add mod">
          <ac:chgData name="Tighe, Bren" userId="0772691d-7a8e-443b-b68a-86d18f1186d2" providerId="ADAL" clId="{937EE231-22BE-4597-8E2A-97FE8F6CD999}" dt="2025-03-21T08:43:11.147" v="15"/>
          <ac:graphicFrameMkLst>
            <pc:docMk/>
            <pc:sldMk cId="3032488409" sldId="417"/>
            <ac:graphicFrameMk id="8" creationId="{9840C88B-AB42-4AAD-0420-59A64D0EF22F}"/>
          </ac:graphicFrameMkLst>
        </pc:graphicFrameChg>
        <pc:graphicFrameChg chg="add mod">
          <ac:chgData name="Tighe, Bren" userId="0772691d-7a8e-443b-b68a-86d18f1186d2" providerId="ADAL" clId="{937EE231-22BE-4597-8E2A-97FE8F6CD999}" dt="2025-03-21T08:43:11.147" v="15"/>
          <ac:graphicFrameMkLst>
            <pc:docMk/>
            <pc:sldMk cId="3032488409" sldId="417"/>
            <ac:graphicFrameMk id="9" creationId="{6A2C77DF-3EAC-D8DB-9067-0CAF11280FA4}"/>
          </ac:graphicFrameMkLst>
        </pc:graphicFrameChg>
        <pc:graphicFrameChg chg="add mod modGraphic">
          <ac:chgData name="Tighe, Bren" userId="0772691d-7a8e-443b-b68a-86d18f1186d2" providerId="ADAL" clId="{937EE231-22BE-4597-8E2A-97FE8F6CD999}" dt="2025-03-21T08:44:19.643" v="32" actId="1076"/>
          <ac:graphicFrameMkLst>
            <pc:docMk/>
            <pc:sldMk cId="3032488409" sldId="417"/>
            <ac:graphicFrameMk id="12" creationId="{7D584705-58BC-5A0C-5DD6-7AC47A6E122F}"/>
          </ac:graphicFrameMkLst>
        </pc:graphicFrameChg>
      </pc:sldChg>
    </pc:docChg>
  </pc:docChgLst>
  <pc:docChgLst>
    <pc:chgData name="Tighe, Bren" userId="0772691d-7a8e-443b-b68a-86d18f1186d2" providerId="ADAL" clId="{155BF956-3081-42DD-A95D-B620FBCFE913}"/>
    <pc:docChg chg="delSld modSld">
      <pc:chgData name="Tighe, Bren" userId="0772691d-7a8e-443b-b68a-86d18f1186d2" providerId="ADAL" clId="{155BF956-3081-42DD-A95D-B620FBCFE913}" dt="2025-03-21T13:03:59.457" v="101" actId="14100"/>
      <pc:docMkLst>
        <pc:docMk/>
      </pc:docMkLst>
      <pc:sldChg chg="del">
        <pc:chgData name="Tighe, Bren" userId="0772691d-7a8e-443b-b68a-86d18f1186d2" providerId="ADAL" clId="{155BF956-3081-42DD-A95D-B620FBCFE913}" dt="2025-03-21T13:02:25.494" v="0" actId="2696"/>
        <pc:sldMkLst>
          <pc:docMk/>
          <pc:sldMk cId="0" sldId="270"/>
        </pc:sldMkLst>
      </pc:sldChg>
      <pc:sldChg chg="modSp mod">
        <pc:chgData name="Tighe, Bren" userId="0772691d-7a8e-443b-b68a-86d18f1186d2" providerId="ADAL" clId="{155BF956-3081-42DD-A95D-B620FBCFE913}" dt="2025-03-21T13:03:59.457" v="101" actId="14100"/>
        <pc:sldMkLst>
          <pc:docMk/>
          <pc:sldMk cId="1824499101" sldId="363"/>
        </pc:sldMkLst>
        <pc:spChg chg="mod">
          <ac:chgData name="Tighe, Bren" userId="0772691d-7a8e-443b-b68a-86d18f1186d2" providerId="ADAL" clId="{155BF956-3081-42DD-A95D-B620FBCFE913}" dt="2025-03-21T13:03:59.457" v="101" actId="14100"/>
          <ac:spMkLst>
            <pc:docMk/>
            <pc:sldMk cId="1824499101" sldId="363"/>
            <ac:spMk id="2" creationId="{15B5FFB2-A5AC-699F-29F2-299D023C83C6}"/>
          </ac:spMkLst>
        </pc:spChg>
        <pc:picChg chg="mod">
          <ac:chgData name="Tighe, Bren" userId="0772691d-7a8e-443b-b68a-86d18f1186d2" providerId="ADAL" clId="{155BF956-3081-42DD-A95D-B620FBCFE913}" dt="2025-03-21T13:03:57.500" v="100" actId="14100"/>
          <ac:picMkLst>
            <pc:docMk/>
            <pc:sldMk cId="1824499101" sldId="363"/>
            <ac:picMk id="4" creationId="{48CA1113-4524-2852-6B70-9C62F99B7CB6}"/>
          </ac:picMkLst>
        </pc:picChg>
      </pc:sldChg>
      <pc:sldMasterChg chg="delSldLayout">
        <pc:chgData name="Tighe, Bren" userId="0772691d-7a8e-443b-b68a-86d18f1186d2" providerId="ADAL" clId="{155BF956-3081-42DD-A95D-B620FBCFE913}" dt="2025-03-21T13:02:25.494" v="0" actId="2696"/>
        <pc:sldMasterMkLst>
          <pc:docMk/>
          <pc:sldMasterMk cId="1054295729" sldId="2147483705"/>
        </pc:sldMasterMkLst>
        <pc:sldLayoutChg chg="del">
          <pc:chgData name="Tighe, Bren" userId="0772691d-7a8e-443b-b68a-86d18f1186d2" providerId="ADAL" clId="{155BF956-3081-42DD-A95D-B620FBCFE913}" dt="2025-03-21T13:02:25.494" v="0" actId="2696"/>
          <pc:sldLayoutMkLst>
            <pc:docMk/>
            <pc:sldMasterMk cId="1054295729" sldId="2147483705"/>
            <pc:sldLayoutMk cId="3193311147" sldId="214748371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0491AB1A-C669-4C56-AA7A-D7DE065A4843}" type="datetime1">
              <a:rPr lang="en-GB" smtClean="0"/>
              <a:t>21/03/2025</a:t>
            </a:fld>
            <a:endParaRPr lang="en-GB"/>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en-GB" smtClean="0"/>
              <a:t>‹#›</a:t>
            </a:fld>
            <a:endParaRPr lang="en-GB"/>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046ED-6F38-493D-8BA0-9E754A816323}" type="datetime1">
              <a:rPr lang="en-GB" smtClean="0"/>
              <a:pPr/>
              <a:t>21/03/2025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en-GB" noProof="0" smtClean="0"/>
              <a:t>‹#›</a:t>
            </a:fld>
            <a:endParaRPr lang="en-GB"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530193B-564F-4854-8A52-728F3FB19C8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420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8530193B-564F-4854-8A52-728F3FB19C85}" type="slidenum">
              <a:rPr lang="en-GB" smtClean="0"/>
              <a:t>3</a:t>
            </a:fld>
            <a:endParaRPr lang="en-GB"/>
          </a:p>
        </p:txBody>
      </p:sp>
    </p:spTree>
    <p:extLst>
      <p:ext uri="{BB962C8B-B14F-4D97-AF65-F5344CB8AC3E}">
        <p14:creationId xmlns:p14="http://schemas.microsoft.com/office/powerpoint/2010/main" val="2507912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en-GB" altLang="ja-JP"/>
          </a:p>
        </p:txBody>
      </p:sp>
      <p:sp>
        <p:nvSpPr>
          <p:cNvPr id="4" name="Slide Number Placeholder 3"/>
          <p:cNvSpPr>
            <a:spLocks noGrp="1"/>
          </p:cNvSpPr>
          <p:nvPr>
            <p:ph type="sldNum" sz="quarter" idx="5"/>
          </p:nvPr>
        </p:nvSpPr>
        <p:spPr/>
        <p:txBody>
          <a:bodyPr/>
          <a:lstStyle/>
          <a:p>
            <a:pPr rtl="0"/>
            <a:fld id="{8530193B-564F-4854-8A52-728F3FB19C85}" type="slidenum">
              <a:rPr lang="en-GB" smtClean="0"/>
              <a:t>4</a:t>
            </a:fld>
            <a:endParaRPr lang="en-GB"/>
          </a:p>
        </p:txBody>
      </p:sp>
    </p:spTree>
    <p:extLst>
      <p:ext uri="{BB962C8B-B14F-4D97-AF65-F5344CB8AC3E}">
        <p14:creationId xmlns:p14="http://schemas.microsoft.com/office/powerpoint/2010/main" val="1766743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en-GB" altLang="ja-JP"/>
          </a:p>
        </p:txBody>
      </p:sp>
      <p:sp>
        <p:nvSpPr>
          <p:cNvPr id="4" name="Slide Number Placeholder 3"/>
          <p:cNvSpPr>
            <a:spLocks noGrp="1"/>
          </p:cNvSpPr>
          <p:nvPr>
            <p:ph type="sldNum" sz="quarter" idx="5"/>
          </p:nvPr>
        </p:nvSpPr>
        <p:spPr/>
        <p:txBody>
          <a:bodyPr/>
          <a:lstStyle/>
          <a:p>
            <a:pPr rtl="0"/>
            <a:fld id="{8530193B-564F-4854-8A52-728F3FB19C85}" type="slidenum">
              <a:rPr lang="en-GB" smtClean="0"/>
              <a:t>5</a:t>
            </a:fld>
            <a:endParaRPr lang="en-GB"/>
          </a:p>
        </p:txBody>
      </p:sp>
    </p:spTree>
    <p:extLst>
      <p:ext uri="{BB962C8B-B14F-4D97-AF65-F5344CB8AC3E}">
        <p14:creationId xmlns:p14="http://schemas.microsoft.com/office/powerpoint/2010/main" val="1024761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Researchers apply statistical, data mining, and predictive analytics techniques. A mix of mathematics, statistics, AI, machine learning, and visualization techniques are used.</a:t>
            </a:r>
          </a:p>
          <a:p>
            <a:endParaRPr kumimoji="1" lang="en-GB" altLang="ja-JP" dirty="0"/>
          </a:p>
        </p:txBody>
      </p:sp>
      <p:sp>
        <p:nvSpPr>
          <p:cNvPr id="4" name="Slide Number Placeholder 3"/>
          <p:cNvSpPr>
            <a:spLocks noGrp="1"/>
          </p:cNvSpPr>
          <p:nvPr>
            <p:ph type="sldNum" sz="quarter" idx="5"/>
          </p:nvPr>
        </p:nvSpPr>
        <p:spPr/>
        <p:txBody>
          <a:bodyPr/>
          <a:lstStyle/>
          <a:p>
            <a:pPr rtl="0"/>
            <a:fld id="{8530193B-564F-4854-8A52-728F3FB19C85}" type="slidenum">
              <a:rPr lang="en-GB" smtClean="0"/>
              <a:t>6</a:t>
            </a:fld>
            <a:endParaRPr lang="en-GB"/>
          </a:p>
        </p:txBody>
      </p:sp>
    </p:spTree>
    <p:extLst>
      <p:ext uri="{BB962C8B-B14F-4D97-AF65-F5344CB8AC3E}">
        <p14:creationId xmlns:p14="http://schemas.microsoft.com/office/powerpoint/2010/main" val="1796071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Let us look at two examples of techniques used in quantitative data analysis:</a:t>
            </a:r>
          </a:p>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7</a:t>
            </a:fld>
            <a:endParaRPr lang="en-GB" noProof="0"/>
          </a:p>
        </p:txBody>
      </p:sp>
    </p:spTree>
    <p:extLst>
      <p:ext uri="{BB962C8B-B14F-4D97-AF65-F5344CB8AC3E}">
        <p14:creationId xmlns:p14="http://schemas.microsoft.com/office/powerpoint/2010/main" val="8527006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Techniques Based on Mathematics &amp; Statistics such as: </a:t>
            </a:r>
          </a:p>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8</a:t>
            </a:fld>
            <a:endParaRPr lang="en-GB" noProof="0"/>
          </a:p>
        </p:txBody>
      </p:sp>
    </p:spTree>
    <p:extLst>
      <p:ext uri="{BB962C8B-B14F-4D97-AF65-F5344CB8AC3E}">
        <p14:creationId xmlns:p14="http://schemas.microsoft.com/office/powerpoint/2010/main" val="3821894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9</a:t>
            </a:fld>
            <a:endParaRPr lang="en-GB" noProof="0"/>
          </a:p>
        </p:txBody>
      </p:sp>
    </p:spTree>
    <p:extLst>
      <p:ext uri="{BB962C8B-B14F-4D97-AF65-F5344CB8AC3E}">
        <p14:creationId xmlns:p14="http://schemas.microsoft.com/office/powerpoint/2010/main" val="1008192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ECECEC"/>
                </a:solidFill>
                <a:effectLst/>
                <a:latin typeface="Google Sans"/>
              </a:rPr>
              <a:t>Simple linear regression </a:t>
            </a:r>
            <a:r>
              <a:rPr lang="en-US" b="0" i="0" dirty="0">
                <a:solidFill>
                  <a:srgbClr val="FFFFFF"/>
                </a:solidFill>
                <a:effectLst/>
                <a:latin typeface="Google Sans"/>
              </a:rPr>
              <a:t>aims to find a linear relationship to describe the correlation between an independent and possibly dependent variable</a:t>
            </a:r>
            <a:r>
              <a:rPr lang="en-US" b="0" i="0" dirty="0">
                <a:solidFill>
                  <a:srgbClr val="ECECEC"/>
                </a:solidFill>
                <a:effectLst/>
                <a:latin typeface="Google Sans"/>
              </a:rPr>
              <a:t>. The regression line can be used to predict or estimate missing values, this is known as interpolation.</a:t>
            </a:r>
          </a:p>
          <a:p>
            <a:r>
              <a:rPr lang="en-US" b="0" i="0" dirty="0">
                <a:solidFill>
                  <a:srgbClr val="EEF0FF"/>
                </a:solidFill>
                <a:effectLst/>
                <a:latin typeface="Google Sans"/>
              </a:rPr>
              <a:t>Multiple linear regression is </a:t>
            </a:r>
            <a:r>
              <a:rPr lang="en-US" dirty="0"/>
              <a:t>a statistical technique used to predict the value of a dependent variable by using two or more independent variables, assuming a linear relationship between them</a:t>
            </a:r>
          </a:p>
          <a:p>
            <a:r>
              <a:rPr lang="en-US" b="0" i="0" dirty="0">
                <a:solidFill>
                  <a:srgbClr val="ECECEC"/>
                </a:solidFill>
                <a:effectLst/>
                <a:latin typeface="Google Sans"/>
              </a:rPr>
              <a:t>nonlinear regression is </a:t>
            </a:r>
            <a:r>
              <a:rPr lang="en-US" b="0" i="0" dirty="0">
                <a:solidFill>
                  <a:srgbClr val="FFFFFF"/>
                </a:solidFill>
                <a:effectLst/>
                <a:latin typeface="Google Sans"/>
              </a:rPr>
              <a:t>a form of regression analysis in which observational data are modeled by a function which is a nonlinear combination of the model parameters and depends on one or more independent variables</a:t>
            </a:r>
            <a:r>
              <a:rPr lang="en-US" b="0" i="0" dirty="0">
                <a:solidFill>
                  <a:srgbClr val="ECECEC"/>
                </a:solidFill>
                <a:effectLst/>
                <a:latin typeface="Google Sans"/>
              </a:rPr>
              <a:t>.</a:t>
            </a:r>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10</a:t>
            </a:fld>
            <a:endParaRPr lang="en-GB" noProof="0"/>
          </a:p>
        </p:txBody>
      </p:sp>
    </p:spTree>
    <p:extLst>
      <p:ext uri="{BB962C8B-B14F-4D97-AF65-F5344CB8AC3E}">
        <p14:creationId xmlns:p14="http://schemas.microsoft.com/office/powerpoint/2010/main" val="24970654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Exploratory Factor Analysis (EFA)</a:t>
            </a:r>
          </a:p>
          <a:p>
            <a:pPr>
              <a:buFont typeface="Arial" panose="020B0604020202020204" pitchFamily="34" charset="0"/>
              <a:buChar char="•"/>
            </a:pPr>
            <a:r>
              <a:rPr lang="en-US" b="1" dirty="0"/>
              <a:t>What it is</a:t>
            </a:r>
            <a:r>
              <a:rPr lang="en-US" dirty="0"/>
              <a:t>:</a:t>
            </a:r>
            <a:br>
              <a:rPr lang="en-US" dirty="0"/>
            </a:br>
            <a:r>
              <a:rPr lang="en-US" dirty="0"/>
              <a:t>It's like exploring or discovering groups in your data without knowing beforehand what you're looking for.</a:t>
            </a:r>
          </a:p>
          <a:p>
            <a:pPr>
              <a:buFont typeface="Arial" panose="020B0604020202020204" pitchFamily="34" charset="0"/>
              <a:buChar char="•"/>
            </a:pPr>
            <a:r>
              <a:rPr lang="en-US" b="1" dirty="0"/>
              <a:t>How it works (simple example)</a:t>
            </a:r>
            <a:r>
              <a:rPr lang="en-US" dirty="0"/>
              <a:t>:</a:t>
            </a:r>
            <a:br>
              <a:rPr lang="en-US" dirty="0"/>
            </a:br>
            <a:r>
              <a:rPr lang="en-US" dirty="0"/>
              <a:t>Suppose you have an app, and you track:</a:t>
            </a:r>
          </a:p>
          <a:p>
            <a:pPr marL="742950" lvl="1" indent="-285750">
              <a:buFont typeface="Arial" panose="020B0604020202020204" pitchFamily="34" charset="0"/>
              <a:buChar char="•"/>
            </a:pPr>
            <a:r>
              <a:rPr lang="en-US" dirty="0"/>
              <a:t>How long users stay online.</a:t>
            </a:r>
          </a:p>
          <a:p>
            <a:pPr marL="742950" lvl="1" indent="-285750">
              <a:buFont typeface="Arial" panose="020B0604020202020204" pitchFamily="34" charset="0"/>
              <a:buChar char="•"/>
            </a:pPr>
            <a:r>
              <a:rPr lang="en-US" dirty="0"/>
              <a:t>How many clicks they make.</a:t>
            </a:r>
          </a:p>
          <a:p>
            <a:pPr marL="742950" lvl="1" indent="-285750">
              <a:buFont typeface="Arial" panose="020B0604020202020204" pitchFamily="34" charset="0"/>
              <a:buChar char="•"/>
            </a:pPr>
            <a:r>
              <a:rPr lang="en-US" dirty="0"/>
              <a:t>How often they visit certain pages.</a:t>
            </a:r>
          </a:p>
          <a:p>
            <a:pPr marL="742950" lvl="1" indent="-285750">
              <a:buFont typeface="Arial" panose="020B0604020202020204" pitchFamily="34" charset="0"/>
              <a:buChar char="•"/>
            </a:pPr>
            <a:r>
              <a:rPr lang="en-US" dirty="0"/>
              <a:t>Whether they report satisfaction or frustration.</a:t>
            </a:r>
          </a:p>
          <a:p>
            <a:pPr>
              <a:buFont typeface="Arial" panose="020B0604020202020204" pitchFamily="34" charset="0"/>
              <a:buChar char="•"/>
            </a:pPr>
            <a:r>
              <a:rPr lang="en-US" dirty="0"/>
              <a:t>Using </a:t>
            </a:r>
            <a:r>
              <a:rPr lang="en-US" b="1" dirty="0"/>
              <a:t>Exploratory Factor Analysis</a:t>
            </a:r>
            <a:r>
              <a:rPr lang="en-US" dirty="0"/>
              <a:t>, you might find out that these behaviors naturally form groups, like:</a:t>
            </a:r>
          </a:p>
          <a:p>
            <a:pPr marL="742950" lvl="1" indent="-285750">
              <a:buFont typeface="Arial" panose="020B0604020202020204" pitchFamily="34" charset="0"/>
              <a:buChar char="•"/>
            </a:pPr>
            <a:r>
              <a:rPr lang="en-US" b="1" dirty="0"/>
              <a:t>Engagement</a:t>
            </a:r>
            <a:r>
              <a:rPr lang="en-US" dirty="0"/>
              <a:t> (time spent online, clicks, visits)</a:t>
            </a:r>
          </a:p>
          <a:p>
            <a:pPr marL="742950" lvl="1" indent="-285750">
              <a:buFont typeface="Arial" panose="020B0604020202020204" pitchFamily="34" charset="0"/>
              <a:buChar char="•"/>
            </a:pPr>
            <a:r>
              <a:rPr lang="en-US" b="1" dirty="0"/>
              <a:t>User Satisfaction</a:t>
            </a:r>
            <a:r>
              <a:rPr lang="en-US" dirty="0"/>
              <a:t> (reported satisfaction or frustration)</a:t>
            </a:r>
          </a:p>
          <a:p>
            <a:pPr>
              <a:buFont typeface="Arial" panose="020B0604020202020204" pitchFamily="34" charset="0"/>
              <a:buChar char="•"/>
            </a:pPr>
            <a:r>
              <a:rPr lang="en-US" dirty="0"/>
              <a:t>This simplifies understanding user behavior, as you now only have two main ideas to think about instead of many separate questions.</a:t>
            </a:r>
          </a:p>
          <a:p>
            <a:endParaRPr lang="en-GB" dirty="0"/>
          </a:p>
          <a:p>
            <a:endParaRPr lang="en-GB" dirty="0"/>
          </a:p>
          <a:p>
            <a:r>
              <a:rPr lang="en-US" b="1" dirty="0"/>
              <a:t>Confirmatory Factor Analysis (CFA)</a:t>
            </a:r>
          </a:p>
          <a:p>
            <a:pPr>
              <a:buFont typeface="Arial" panose="020B0604020202020204" pitchFamily="34" charset="0"/>
              <a:buChar char="•"/>
            </a:pPr>
            <a:r>
              <a:rPr lang="en-US" b="1" dirty="0"/>
              <a:t>What it is</a:t>
            </a:r>
            <a:r>
              <a:rPr lang="en-US" dirty="0"/>
              <a:t>:</a:t>
            </a:r>
            <a:br>
              <a:rPr lang="en-US" dirty="0"/>
            </a:br>
            <a:r>
              <a:rPr lang="en-US" dirty="0"/>
              <a:t>CFA is used when you already have a clear idea about how the data should group together, and you want to confirm if your theory is right.</a:t>
            </a:r>
          </a:p>
          <a:p>
            <a:pPr>
              <a:buFont typeface="Arial" panose="020B0604020202020204" pitchFamily="34" charset="0"/>
              <a:buChar char="•"/>
            </a:pPr>
            <a:r>
              <a:rPr lang="en-US" b="1" dirty="0"/>
              <a:t>How it works (simple example)</a:t>
            </a:r>
            <a:r>
              <a:rPr lang="en-US" dirty="0"/>
              <a:t>:</a:t>
            </a:r>
            <a:br>
              <a:rPr lang="en-US" dirty="0"/>
            </a:br>
            <a:r>
              <a:rPr lang="en-US" dirty="0"/>
              <a:t>Continuing the same example: you already believe your users’ behaviors group into two factors—</a:t>
            </a:r>
            <a:r>
              <a:rPr lang="en-US" b="1" dirty="0"/>
              <a:t>Engagement</a:t>
            </a:r>
            <a:r>
              <a:rPr lang="en-US" dirty="0"/>
              <a:t> and </a:t>
            </a:r>
            <a:r>
              <a:rPr lang="en-US" b="1" dirty="0"/>
              <a:t>User Satisfaction</a:t>
            </a:r>
            <a:r>
              <a:rPr lang="en-US" dirty="0"/>
              <a:t>. CFA helps you test if the data matches these groups clearly.</a:t>
            </a:r>
          </a:p>
          <a:p>
            <a:pPr>
              <a:buFont typeface="Arial" panose="020B0604020202020204" pitchFamily="34" charset="0"/>
              <a:buChar char="•"/>
            </a:pPr>
            <a:r>
              <a:rPr lang="en-US" dirty="0"/>
              <a:t>If the CFA shows a good match, it means your idea was correct. If not, you might have to rethink your theory.</a:t>
            </a:r>
          </a:p>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11</a:t>
            </a:fld>
            <a:endParaRPr lang="en-GB" noProof="0"/>
          </a:p>
        </p:txBody>
      </p:sp>
    </p:spTree>
    <p:extLst>
      <p:ext uri="{BB962C8B-B14F-4D97-AF65-F5344CB8AC3E}">
        <p14:creationId xmlns:p14="http://schemas.microsoft.com/office/powerpoint/2010/main" val="25239294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is it?</a:t>
            </a:r>
            <a:r>
              <a:rPr lang="en-US" dirty="0"/>
              <a:t> A method used to classify data into distinct groups based on certain features or variables.</a:t>
            </a:r>
          </a:p>
          <a:p>
            <a:r>
              <a:rPr lang="en-US" b="1" dirty="0"/>
              <a:t>How does it work?</a:t>
            </a:r>
            <a:r>
              <a:rPr lang="en-US" dirty="0"/>
              <a:t> Finds the best features that clearly separate one group from another.</a:t>
            </a:r>
          </a:p>
          <a:p>
            <a:r>
              <a:rPr lang="en-US" b="1" dirty="0"/>
              <a:t>Why use it?</a:t>
            </a:r>
            <a:r>
              <a:rPr lang="en-US" dirty="0"/>
              <a:t> Helps predict which group new data points belong to, based on learned patterns.</a:t>
            </a:r>
          </a:p>
          <a:p>
            <a:r>
              <a:rPr lang="en-US" b="1" dirty="0"/>
              <a:t>Example in Computing:</a:t>
            </a:r>
          </a:p>
          <a:p>
            <a:endParaRPr lang="en-US" b="1" dirty="0"/>
          </a:p>
          <a:p>
            <a:r>
              <a:rPr lang="en-US" b="1" dirty="0"/>
              <a:t>Scenario:</a:t>
            </a:r>
            <a:r>
              <a:rPr lang="en-US" dirty="0"/>
              <a:t> Identifying network traffic as </a:t>
            </a:r>
            <a:r>
              <a:rPr lang="en-US" b="1" dirty="0"/>
              <a:t>"Safe"</a:t>
            </a:r>
            <a:r>
              <a:rPr lang="en-US" dirty="0"/>
              <a:t> or </a:t>
            </a:r>
            <a:r>
              <a:rPr lang="en-US" b="1" dirty="0"/>
              <a:t>"Malicious"</a:t>
            </a:r>
            <a:r>
              <a:rPr lang="en-US" dirty="0"/>
              <a:t>.</a:t>
            </a:r>
          </a:p>
          <a:p>
            <a:r>
              <a:rPr lang="en-US" b="1" dirty="0"/>
              <a:t>How it's used:</a:t>
            </a:r>
            <a:endParaRPr lang="en-US" dirty="0"/>
          </a:p>
          <a:p>
            <a:pPr>
              <a:buFont typeface="Arial" panose="020B0604020202020204" pitchFamily="34" charset="0"/>
              <a:buChar char="•"/>
            </a:pPr>
            <a:r>
              <a:rPr lang="en-US" dirty="0"/>
              <a:t>Collect network data (IP addresses, connection times, packet size, etc.).</a:t>
            </a:r>
          </a:p>
          <a:p>
            <a:pPr>
              <a:buFont typeface="Arial" panose="020B0604020202020204" pitchFamily="34" charset="0"/>
              <a:buChar char="•"/>
            </a:pPr>
            <a:r>
              <a:rPr lang="en-US" dirty="0"/>
              <a:t>Use Discriminant Analysis to find patterns that separate normal (safe) traffic from attacks (malicious).</a:t>
            </a:r>
          </a:p>
          <a:p>
            <a:r>
              <a:rPr lang="en-US" b="1" dirty="0"/>
              <a:t>Result:</a:t>
            </a:r>
            <a:r>
              <a:rPr lang="en-US" dirty="0"/>
              <a:t> New network connections can quickly be classified as </a:t>
            </a:r>
            <a:r>
              <a:rPr lang="en-US" b="1" dirty="0"/>
              <a:t>Safe</a:t>
            </a:r>
            <a:r>
              <a:rPr lang="en-US" dirty="0"/>
              <a:t> or </a:t>
            </a:r>
            <a:r>
              <a:rPr lang="en-US" b="1" dirty="0"/>
              <a:t>Potential threats</a:t>
            </a:r>
            <a:r>
              <a:rPr lang="en-US" dirty="0"/>
              <a:t>, improving cybersecurity response.</a:t>
            </a:r>
          </a:p>
          <a:p>
            <a:endParaRPr lang="en-US" dirty="0"/>
          </a:p>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12</a:t>
            </a:fld>
            <a:endParaRPr lang="en-GB" noProof="0"/>
          </a:p>
        </p:txBody>
      </p:sp>
    </p:spTree>
    <p:extLst>
      <p:ext uri="{BB962C8B-B14F-4D97-AF65-F5344CB8AC3E}">
        <p14:creationId xmlns:p14="http://schemas.microsoft.com/office/powerpoint/2010/main" val="26633776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Time Series Analysis</a:t>
            </a:r>
          </a:p>
          <a:p>
            <a:pPr>
              <a:buFont typeface="Arial" panose="020B0604020202020204" pitchFamily="34" charset="0"/>
              <a:buChar char="•"/>
            </a:pPr>
            <a:r>
              <a:rPr lang="en-US" b="1" dirty="0"/>
              <a:t>What is it?</a:t>
            </a:r>
            <a:br>
              <a:rPr lang="en-US" dirty="0"/>
            </a:br>
            <a:r>
              <a:rPr lang="en-US" dirty="0"/>
              <a:t>Analyzing data collected over time to find trends, patterns, or predict future values.</a:t>
            </a:r>
          </a:p>
          <a:p>
            <a:pPr>
              <a:buFont typeface="Arial" panose="020B0604020202020204" pitchFamily="34" charset="0"/>
              <a:buChar char="•"/>
            </a:pPr>
            <a:r>
              <a:rPr lang="en-US" b="1" dirty="0"/>
              <a:t>How does it work?</a:t>
            </a:r>
            <a:br>
              <a:rPr lang="en-US" dirty="0"/>
            </a:br>
            <a:r>
              <a:rPr lang="en-US" dirty="0"/>
              <a:t>Looks at past values to identify trends, seasonal effects, or unusual patterns.</a:t>
            </a:r>
          </a:p>
          <a:p>
            <a:pPr>
              <a:buFont typeface="Arial" panose="020B0604020202020204" pitchFamily="34" charset="0"/>
              <a:buChar char="•"/>
            </a:pPr>
            <a:r>
              <a:rPr lang="en-US" b="1" dirty="0"/>
              <a:t>Why use it?</a:t>
            </a:r>
            <a:br>
              <a:rPr lang="en-US" dirty="0"/>
            </a:br>
            <a:r>
              <a:rPr lang="en-US" dirty="0"/>
              <a:t>To forecast future events or identify changes in behavior over time.</a:t>
            </a:r>
          </a:p>
          <a:p>
            <a:r>
              <a:rPr lang="en-US" b="1" dirty="0"/>
              <a:t>Cybersecurity Example: Time Series Analysis</a:t>
            </a:r>
          </a:p>
          <a:p>
            <a:pPr>
              <a:buFont typeface="Arial" panose="020B0604020202020204" pitchFamily="34" charset="0"/>
              <a:buChar char="•"/>
            </a:pPr>
            <a:r>
              <a:rPr lang="en-US" b="1" dirty="0"/>
              <a:t>Scenario:</a:t>
            </a:r>
            <a:br>
              <a:rPr lang="en-US" dirty="0"/>
            </a:br>
            <a:r>
              <a:rPr lang="en-US" dirty="0"/>
              <a:t>Detecting unusual login activity over days or weeks.</a:t>
            </a:r>
          </a:p>
          <a:p>
            <a:pPr>
              <a:buFont typeface="Arial" panose="020B0604020202020204" pitchFamily="34" charset="0"/>
              <a:buChar char="•"/>
            </a:pPr>
            <a:r>
              <a:rPr lang="en-US" b="1" dirty="0"/>
              <a:t>How it helps:</a:t>
            </a:r>
            <a:endParaRPr lang="en-US" dirty="0"/>
          </a:p>
          <a:p>
            <a:pPr marL="742950" lvl="1" indent="-285750">
              <a:buFont typeface="Arial" panose="020B0604020202020204" pitchFamily="34" charset="0"/>
              <a:buChar char="•"/>
            </a:pPr>
            <a:r>
              <a:rPr lang="en-US" dirty="0"/>
              <a:t>Monitors login attempts to find patterns.</a:t>
            </a:r>
          </a:p>
          <a:p>
            <a:pPr marL="742950" lvl="1" indent="-285750">
              <a:buFont typeface="Arial" panose="020B0604020202020204" pitchFamily="34" charset="0"/>
              <a:buChar char="•"/>
            </a:pPr>
            <a:r>
              <a:rPr lang="en-US" dirty="0"/>
              <a:t>Identifies unexpected spikes or unusual login times (possible cyber-attacks).</a:t>
            </a:r>
          </a:p>
          <a:p>
            <a:pPr>
              <a:buFont typeface="Arial" panose="020B0604020202020204" pitchFamily="34" charset="0"/>
              <a:buChar char="•"/>
            </a:pPr>
            <a:r>
              <a:rPr lang="en-US" b="1" dirty="0"/>
              <a:t>Result:</a:t>
            </a:r>
            <a:br>
              <a:rPr lang="en-US" dirty="0"/>
            </a:br>
            <a:r>
              <a:rPr lang="en-US" dirty="0"/>
              <a:t>Alerts security teams early to potential breaches or threats.</a:t>
            </a:r>
          </a:p>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13</a:t>
            </a:fld>
            <a:endParaRPr lang="en-GB" noProof="0"/>
          </a:p>
        </p:txBody>
      </p:sp>
    </p:spTree>
    <p:extLst>
      <p:ext uri="{BB962C8B-B14F-4D97-AF65-F5344CB8AC3E}">
        <p14:creationId xmlns:p14="http://schemas.microsoft.com/office/powerpoint/2010/main" val="3444906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Let us look at two examples of techniques used in quantitative data analysis:</a:t>
            </a:r>
          </a:p>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14</a:t>
            </a:fld>
            <a:endParaRPr lang="en-GB" noProof="0"/>
          </a:p>
        </p:txBody>
      </p:sp>
    </p:spTree>
    <p:extLst>
      <p:ext uri="{BB962C8B-B14F-4D97-AF65-F5344CB8AC3E}">
        <p14:creationId xmlns:p14="http://schemas.microsoft.com/office/powerpoint/2010/main" val="25592088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Researchers apply statistical, data mining, and predictive analytics </a:t>
            </a:r>
            <a:r>
              <a:rPr lang="en-GB" dirty="0" err="1"/>
              <a:t>techniques.A</a:t>
            </a:r>
            <a:r>
              <a:rPr lang="en-GB" dirty="0"/>
              <a:t> mix of mathematics, statistics, AI, machine learning, and visualization techniques are used.</a:t>
            </a:r>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15</a:t>
            </a:fld>
            <a:endParaRPr lang="en-GB" noProof="0"/>
          </a:p>
        </p:txBody>
      </p:sp>
    </p:spTree>
    <p:extLst>
      <p:ext uri="{BB962C8B-B14F-4D97-AF65-F5344CB8AC3E}">
        <p14:creationId xmlns:p14="http://schemas.microsoft.com/office/powerpoint/2010/main" val="36496973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Researchers apply statistical, data mining, and predictive analytics </a:t>
            </a:r>
            <a:r>
              <a:rPr lang="en-GB" dirty="0" err="1"/>
              <a:t>techniques.A</a:t>
            </a:r>
            <a:r>
              <a:rPr lang="en-GB" dirty="0"/>
              <a:t> mix of mathematics, statistics, AI, machine learning, and visualization techniques are used.</a:t>
            </a:r>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16</a:t>
            </a:fld>
            <a:endParaRPr lang="en-GB" noProof="0"/>
          </a:p>
        </p:txBody>
      </p:sp>
    </p:spTree>
    <p:extLst>
      <p:ext uri="{BB962C8B-B14F-4D97-AF65-F5344CB8AC3E}">
        <p14:creationId xmlns:p14="http://schemas.microsoft.com/office/powerpoint/2010/main" val="3133279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Let us look at two examples of techniques used in quantitative data analysis:</a:t>
            </a:r>
          </a:p>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18</a:t>
            </a:fld>
            <a:endParaRPr lang="en-GB" noProof="0"/>
          </a:p>
        </p:txBody>
      </p:sp>
    </p:spTree>
    <p:extLst>
      <p:ext uri="{BB962C8B-B14F-4D97-AF65-F5344CB8AC3E}">
        <p14:creationId xmlns:p14="http://schemas.microsoft.com/office/powerpoint/2010/main" val="3267399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19</a:t>
            </a:fld>
            <a:endParaRPr lang="en-GB" noProof="0"/>
          </a:p>
        </p:txBody>
      </p:sp>
    </p:spTree>
    <p:extLst>
      <p:ext uri="{BB962C8B-B14F-4D97-AF65-F5344CB8AC3E}">
        <p14:creationId xmlns:p14="http://schemas.microsoft.com/office/powerpoint/2010/main" val="30831134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Data Visualization Tools: Tools like Visio, </a:t>
            </a:r>
            <a:r>
              <a:rPr lang="en-GB" dirty="0" err="1"/>
              <a:t>XMind</a:t>
            </a:r>
            <a:r>
              <a:rPr lang="en-GB" dirty="0"/>
              <a:t>, SPSS, and Minitab.</a:t>
            </a:r>
          </a:p>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20</a:t>
            </a:fld>
            <a:endParaRPr lang="en-GB" noProof="0"/>
          </a:p>
        </p:txBody>
      </p:sp>
    </p:spTree>
    <p:extLst>
      <p:ext uri="{BB962C8B-B14F-4D97-AF65-F5344CB8AC3E}">
        <p14:creationId xmlns:p14="http://schemas.microsoft.com/office/powerpoint/2010/main" val="20941153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Let us look at two examples of techniques used in quantitative data analysis:</a:t>
            </a:r>
          </a:p>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21</a:t>
            </a:fld>
            <a:endParaRPr lang="en-GB" noProof="0"/>
          </a:p>
        </p:txBody>
      </p:sp>
    </p:spTree>
    <p:extLst>
      <p:ext uri="{BB962C8B-B14F-4D97-AF65-F5344CB8AC3E}">
        <p14:creationId xmlns:p14="http://schemas.microsoft.com/office/powerpoint/2010/main" val="1199084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Researchers apply statistical, data mining, and predictive analytics </a:t>
            </a:r>
            <a:r>
              <a:rPr lang="en-GB" dirty="0" err="1"/>
              <a:t>techniques.A</a:t>
            </a:r>
            <a:r>
              <a:rPr lang="en-GB" dirty="0"/>
              <a:t> mix of mathematics, statistics, AI, machine learning, and visualization techniques are used.</a:t>
            </a:r>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22</a:t>
            </a:fld>
            <a:endParaRPr lang="en-GB" noProof="0"/>
          </a:p>
        </p:txBody>
      </p:sp>
    </p:spTree>
    <p:extLst>
      <p:ext uri="{BB962C8B-B14F-4D97-AF65-F5344CB8AC3E}">
        <p14:creationId xmlns:p14="http://schemas.microsoft.com/office/powerpoint/2010/main" val="32272098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1825" indent="-100013" algn="just">
              <a:buFont typeface="Arial" panose="020B0604020202020204" pitchFamily="34" charset="0"/>
              <a:buChar char="•"/>
            </a:pPr>
            <a:r>
              <a:rPr lang="en-GB" dirty="0"/>
              <a:t>Define issues to investigate.</a:t>
            </a:r>
          </a:p>
          <a:p>
            <a:pPr marL="631825" indent="-100013" algn="just">
              <a:buFont typeface="Arial" panose="020B0604020202020204" pitchFamily="34" charset="0"/>
              <a:buChar char="•"/>
            </a:pPr>
            <a:r>
              <a:rPr lang="en-GB" dirty="0"/>
              <a:t>   Identify previous research studies with valuable data.</a:t>
            </a:r>
          </a:p>
          <a:p>
            <a:pPr marL="631825" indent="-100013" algn="just">
              <a:buFont typeface="Arial" panose="020B0604020202020204" pitchFamily="34" charset="0"/>
              <a:buChar char="•"/>
            </a:pPr>
            <a:r>
              <a:rPr lang="en-GB" dirty="0"/>
              <a:t>   Find common variables across studies.</a:t>
            </a:r>
          </a:p>
          <a:p>
            <a:pPr marL="631825" indent="-100013" algn="just">
              <a:buFont typeface="Arial" panose="020B0604020202020204" pitchFamily="34" charset="0"/>
              <a:buChar char="•"/>
            </a:pPr>
            <a:r>
              <a:rPr lang="en-GB" dirty="0"/>
              <a:t>   Use statistical analysis to track key variables.</a:t>
            </a:r>
          </a:p>
          <a:p>
            <a:pPr marL="631825" indent="-100013" algn="just">
              <a:buFont typeface="Arial" panose="020B0604020202020204" pitchFamily="34" charset="0"/>
              <a:buChar char="•"/>
            </a:pPr>
            <a:r>
              <a:rPr lang="en-GB" dirty="0"/>
              <a:t>   Report results and address limitations.</a:t>
            </a:r>
          </a:p>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23</a:t>
            </a:fld>
            <a:endParaRPr lang="en-GB" noProof="0"/>
          </a:p>
        </p:txBody>
      </p:sp>
    </p:spTree>
    <p:extLst>
      <p:ext uri="{BB962C8B-B14F-4D97-AF65-F5344CB8AC3E}">
        <p14:creationId xmlns:p14="http://schemas.microsoft.com/office/powerpoint/2010/main" val="21389867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Amazon Machine Learning https://aws.amazon.com/machine-learning/ is a managed service for building machine learning models and generating predictions in CS, IS and CY research. It includes an automatic data transformation tool that </a:t>
            </a:r>
            <a:r>
              <a:rPr lang="en-GB" sz="1200" b="0" i="0" kern="1200" dirty="0" err="1">
                <a:solidFill>
                  <a:schemeClr val="tx1"/>
                </a:solidFill>
                <a:effectLst/>
                <a:latin typeface="+mn-lt"/>
                <a:ea typeface="+mn-ea"/>
                <a:cs typeface="+mn-cs"/>
              </a:rPr>
              <a:t>simplifes</a:t>
            </a:r>
            <a:r>
              <a:rPr lang="en-GB" sz="1200" b="0" i="0" kern="1200" dirty="0">
                <a:solidFill>
                  <a:schemeClr val="tx1"/>
                </a:solidFill>
                <a:effectLst/>
                <a:latin typeface="+mn-lt"/>
                <a:ea typeface="+mn-ea"/>
                <a:cs typeface="+mn-cs"/>
              </a:rPr>
              <a:t> the machine learning tool for novice researchers. Amazon </a:t>
            </a:r>
            <a:r>
              <a:rPr lang="en-GB" sz="1200" b="0" i="0" kern="1200" dirty="0" err="1">
                <a:solidFill>
                  <a:schemeClr val="tx1"/>
                </a:solidFill>
                <a:effectLst/>
                <a:latin typeface="+mn-lt"/>
                <a:ea typeface="+mn-ea"/>
                <a:cs typeface="+mn-cs"/>
              </a:rPr>
              <a:t>SageMaker</a:t>
            </a:r>
            <a:r>
              <a:rPr lang="en-GB" sz="1200" b="0" i="0" kern="1200" dirty="0">
                <a:solidFill>
                  <a:schemeClr val="tx1"/>
                </a:solidFill>
                <a:effectLst/>
                <a:latin typeface="+mn-lt"/>
                <a:ea typeface="+mn-ea"/>
                <a:cs typeface="+mn-cs"/>
              </a:rPr>
              <a:t> https://aws.amazon.com/sagemaker/ is another fully managed platform that makes it easy for developers and data scientists to utilize machine learning models (Mahajan &amp; </a:t>
            </a:r>
            <a:r>
              <a:rPr lang="en-GB" sz="1200" b="0" i="0" kern="1200" dirty="0" err="1">
                <a:solidFill>
                  <a:schemeClr val="tx1"/>
                </a:solidFill>
                <a:effectLst/>
                <a:latin typeface="+mn-lt"/>
                <a:ea typeface="+mn-ea"/>
                <a:cs typeface="+mn-cs"/>
              </a:rPr>
              <a:t>Naik</a:t>
            </a:r>
            <a:r>
              <a:rPr lang="en-GB" sz="1200" b="0" i="0" kern="1200" dirty="0">
                <a:solidFill>
                  <a:schemeClr val="tx1"/>
                </a:solidFill>
                <a:effectLst/>
                <a:latin typeface="+mn-lt"/>
                <a:ea typeface="+mn-ea"/>
                <a:cs typeface="+mn-cs"/>
              </a:rPr>
              <a:t>, 2019).</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pPr algn="just"/>
            <a:r>
              <a:rPr lang="en-GB" b="1" dirty="0"/>
              <a:t>Amazon Machine Learning:  </a:t>
            </a:r>
          </a:p>
          <a:p>
            <a:pPr marL="285750" indent="-285750" algn="just">
              <a:buFont typeface="Arial" panose="020B0604020202020204" pitchFamily="34" charset="0"/>
              <a:buChar char="•"/>
            </a:pPr>
            <a:r>
              <a:rPr lang="en-GB" dirty="0"/>
              <a:t>Managed service for building ML models and generating predictions</a:t>
            </a:r>
          </a:p>
          <a:p>
            <a:pPr marL="285750" indent="-285750" algn="just">
              <a:buFont typeface="Arial" panose="020B0604020202020204" pitchFamily="34" charset="0"/>
              <a:buChar char="•"/>
            </a:pPr>
            <a:r>
              <a:rPr lang="en-GB" dirty="0"/>
              <a:t>Ideal for CS, IS, and CY research</a:t>
            </a:r>
          </a:p>
          <a:p>
            <a:pPr marL="285750" indent="-285750" algn="just">
              <a:buFont typeface="Arial" panose="020B0604020202020204" pitchFamily="34" charset="0"/>
              <a:buChar char="•"/>
            </a:pPr>
            <a:r>
              <a:rPr lang="en-GB" dirty="0"/>
              <a:t>Features automatic data transformation tool</a:t>
            </a:r>
          </a:p>
          <a:p>
            <a:pPr algn="just"/>
            <a:r>
              <a:rPr lang="en-GB" b="1" dirty="0"/>
              <a:t>Amazon </a:t>
            </a:r>
            <a:r>
              <a:rPr lang="en-GB" b="1" dirty="0" err="1"/>
              <a:t>SageMaker</a:t>
            </a:r>
            <a:endParaRPr lang="en-GB" b="1" dirty="0"/>
          </a:p>
          <a:p>
            <a:pPr marL="285750" indent="-285750" algn="just">
              <a:buFont typeface="Arial" panose="020B0604020202020204" pitchFamily="34" charset="0"/>
              <a:buChar char="•"/>
            </a:pPr>
            <a:r>
              <a:rPr lang="en-GB" dirty="0"/>
              <a:t>Fully managed platform for ML model development</a:t>
            </a:r>
          </a:p>
          <a:p>
            <a:pPr marL="285750" indent="-285750" algn="just">
              <a:buFont typeface="Arial" panose="020B0604020202020204" pitchFamily="34" charset="0"/>
              <a:buChar char="•"/>
            </a:pPr>
            <a:r>
              <a:rPr lang="en-GB" dirty="0"/>
              <a:t>Designed for developers and data scientists</a:t>
            </a:r>
          </a:p>
          <a:p>
            <a:pPr marL="285750" indent="-285750" algn="just">
              <a:buFont typeface="Arial" panose="020B0604020202020204" pitchFamily="34" charset="0"/>
              <a:buChar char="•"/>
            </a:pPr>
            <a:r>
              <a:rPr lang="en-GB" dirty="0"/>
              <a:t>Provides tools for building, training, and deploying models</a:t>
            </a:r>
          </a:p>
          <a:p>
            <a:pPr algn="just"/>
            <a:r>
              <a:rPr lang="en-GB" b="1" dirty="0"/>
              <a:t>Benefits Accessibility</a:t>
            </a:r>
            <a:r>
              <a:rPr lang="en-GB" dirty="0"/>
              <a:t>:</a:t>
            </a:r>
          </a:p>
          <a:p>
            <a:pPr marL="285750" indent="-285750" algn="just">
              <a:buFont typeface="Arial" panose="020B0604020202020204" pitchFamily="34" charset="0"/>
              <a:buChar char="•"/>
            </a:pPr>
            <a:r>
              <a:rPr lang="en-GB" dirty="0"/>
              <a:t>Efficiency: Automates complex tasks in data preparation and model training</a:t>
            </a:r>
          </a:p>
          <a:p>
            <a:pPr marL="285750" indent="-285750" algn="just">
              <a:buFont typeface="Arial" panose="020B0604020202020204" pitchFamily="34" charset="0"/>
              <a:buChar char="•"/>
            </a:pPr>
            <a:r>
              <a:rPr lang="en-GB" dirty="0"/>
              <a:t>Scalability: Handles large datasets and complex models with ease</a:t>
            </a:r>
          </a:p>
          <a:p>
            <a:pPr algn="just"/>
            <a:r>
              <a:rPr lang="en-GB" b="1" dirty="0"/>
              <a:t>Practical Applications</a:t>
            </a:r>
          </a:p>
          <a:p>
            <a:pPr marL="285750" indent="-285750" algn="just">
              <a:buFont typeface="Arial" panose="020B0604020202020204" pitchFamily="34" charset="0"/>
              <a:buChar char="•"/>
            </a:pPr>
            <a:r>
              <a:rPr lang="en-GB" dirty="0"/>
              <a:t>Computer Science: Algorithm optimization, pattern recognition</a:t>
            </a:r>
          </a:p>
          <a:p>
            <a:pPr marL="285750" indent="-285750" algn="just">
              <a:buFont typeface="Arial" panose="020B0604020202020204" pitchFamily="34" charset="0"/>
              <a:buChar char="•"/>
            </a:pPr>
            <a:r>
              <a:rPr lang="en-GB" dirty="0"/>
              <a:t>Information Systems: Data analysis, predictive modelling</a:t>
            </a:r>
          </a:p>
          <a:p>
            <a:pPr marL="285750" indent="-285750" algn="just">
              <a:buFont typeface="Arial" panose="020B0604020202020204" pitchFamily="34" charset="0"/>
              <a:buChar char="•"/>
            </a:pPr>
            <a:r>
              <a:rPr lang="en-GB" dirty="0"/>
              <a:t>Cybersecurity: Threat detection, anomaly identification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25</a:t>
            </a:fld>
            <a:endParaRPr lang="en-GB" noProof="0"/>
          </a:p>
        </p:txBody>
      </p:sp>
    </p:spTree>
    <p:extLst>
      <p:ext uri="{BB962C8B-B14F-4D97-AF65-F5344CB8AC3E}">
        <p14:creationId xmlns:p14="http://schemas.microsoft.com/office/powerpoint/2010/main" val="8193171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https://www.tensorfow.org/ </a:t>
            </a:r>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26</a:t>
            </a:fld>
            <a:endParaRPr lang="en-GB" noProof="0"/>
          </a:p>
        </p:txBody>
      </p:sp>
    </p:spTree>
    <p:extLst>
      <p:ext uri="{BB962C8B-B14F-4D97-AF65-F5344CB8AC3E}">
        <p14:creationId xmlns:p14="http://schemas.microsoft.com/office/powerpoint/2010/main" val="25925308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IBM Watson Machine Learning Cloud Service https://www.ibm.com/za-en/ cloud/</a:t>
            </a:r>
            <a:r>
              <a:rPr lang="en-GB" dirty="0" err="1"/>
              <a:t>watson</a:t>
            </a:r>
            <a:r>
              <a:rPr lang="en-GB" dirty="0"/>
              <a:t>-studio enables researchers to put machine learning and deep learning models into productive use, including performing training and scoring, which are key machine learning operations for complex data analytics.</a:t>
            </a:r>
          </a:p>
          <a:p>
            <a:endParaRPr lang="en-GB" dirty="0"/>
          </a:p>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27</a:t>
            </a:fld>
            <a:endParaRPr lang="en-GB" noProof="0"/>
          </a:p>
        </p:txBody>
      </p:sp>
    </p:spTree>
    <p:extLst>
      <p:ext uri="{BB962C8B-B14F-4D97-AF65-F5344CB8AC3E}">
        <p14:creationId xmlns:p14="http://schemas.microsoft.com/office/powerpoint/2010/main" val="29558627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Microsoft Azure machine learning https://azure.microsoft.com/en-us/services/ machine-learning/#product-</a:t>
            </a:r>
            <a:r>
              <a:rPr lang="en-GB" dirty="0" err="1"/>
              <a:t>overviewis</a:t>
            </a:r>
            <a:r>
              <a:rPr lang="en-GB" dirty="0"/>
              <a:t> a cloud-based tool that supports the creation, building, training and deployment of AI models. Researchers can explore this tool to achieve credible research validations.</a:t>
            </a:r>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28</a:t>
            </a:fld>
            <a:endParaRPr lang="en-GB" noProof="0"/>
          </a:p>
        </p:txBody>
      </p:sp>
    </p:spTree>
    <p:extLst>
      <p:ext uri="{BB962C8B-B14F-4D97-AF65-F5344CB8AC3E}">
        <p14:creationId xmlns:p14="http://schemas.microsoft.com/office/powerpoint/2010/main" val="16995194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Open Neural Networks (OpenNN) Library https://www.opennn.net/ is a software library for machine learning and supports data analysis, with applications in many industries, for example, energy, and </a:t>
            </a:r>
            <a:r>
              <a:rPr lang="en-GB" dirty="0" err="1"/>
              <a:t>felds</a:t>
            </a:r>
            <a:r>
              <a:rPr lang="en-GB" dirty="0"/>
              <a:t>, for example, marketing</a:t>
            </a:r>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29</a:t>
            </a:fld>
            <a:endParaRPr lang="en-GB" noProof="0"/>
          </a:p>
        </p:txBody>
      </p:sp>
    </p:spTree>
    <p:extLst>
      <p:ext uri="{BB962C8B-B14F-4D97-AF65-F5344CB8AC3E}">
        <p14:creationId xmlns:p14="http://schemas.microsoft.com/office/powerpoint/2010/main" val="35066148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30</a:t>
            </a:fld>
            <a:endParaRPr lang="en-GB" noProof="0"/>
          </a:p>
        </p:txBody>
      </p:sp>
    </p:spTree>
    <p:extLst>
      <p:ext uri="{BB962C8B-B14F-4D97-AF65-F5344CB8AC3E}">
        <p14:creationId xmlns:p14="http://schemas.microsoft.com/office/powerpoint/2010/main" val="42551819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530193B-564F-4854-8A52-728F3FB19C85}" type="slidenum">
              <a:rPr lang="en-GB" noProof="0" smtClean="0"/>
              <a:t>31</a:t>
            </a:fld>
            <a:endParaRPr lang="en-GB" noProof="0"/>
          </a:p>
        </p:txBody>
      </p:sp>
    </p:spTree>
    <p:extLst>
      <p:ext uri="{BB962C8B-B14F-4D97-AF65-F5344CB8AC3E}">
        <p14:creationId xmlns:p14="http://schemas.microsoft.com/office/powerpoint/2010/main" val="1957802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en-GB" altLang="ja-JP"/>
          </a:p>
        </p:txBody>
      </p:sp>
      <p:sp>
        <p:nvSpPr>
          <p:cNvPr id="4" name="Slide Number Placeholder 3"/>
          <p:cNvSpPr>
            <a:spLocks noGrp="1"/>
          </p:cNvSpPr>
          <p:nvPr>
            <p:ph type="sldNum" sz="quarter" idx="5"/>
          </p:nvPr>
        </p:nvSpPr>
        <p:spPr/>
        <p:txBody>
          <a:bodyPr/>
          <a:lstStyle/>
          <a:p>
            <a:pPr rtl="0"/>
            <a:fld id="{8530193B-564F-4854-8A52-728F3FB19C85}" type="slidenum">
              <a:rPr lang="en-GB" smtClean="0"/>
              <a:t>34</a:t>
            </a:fld>
            <a:endParaRPr lang="en-GB"/>
          </a:p>
        </p:txBody>
      </p:sp>
    </p:spTree>
    <p:extLst>
      <p:ext uri="{BB962C8B-B14F-4D97-AF65-F5344CB8AC3E}">
        <p14:creationId xmlns:p14="http://schemas.microsoft.com/office/powerpoint/2010/main" val="42676044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moodle.bolton.ac.uk/course/view.php?id=23108"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moodle.bolton.ac.uk/course/view.php?id=23108"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moodle.bolton.ac.uk/course/view.php?id=23108"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moodle.bolton.ac.uk/course/view.php?id=23108"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moodle.bolton.ac.uk/course/view.php?id=23108"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moodle.bolton.ac.uk/course/view.php?id=23108"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4422"/>
            <a:ext cx="12192000" cy="6858000"/>
          </a:xfrm>
          <a:prstGeom prst="rect">
            <a:avLst/>
          </a:prstGeom>
        </p:spPr>
        <p:txBody>
          <a:bodyPr rtlCol="0"/>
          <a:lstStyle/>
          <a:p>
            <a:pPr rtl="0"/>
            <a:r>
              <a:rPr lang="en-US" noProof="0"/>
              <a:t>Click icon to add picture</a:t>
            </a:r>
            <a:endParaRPr lang="en-GB" noProof="0" dirty="0"/>
          </a:p>
        </p:txBody>
      </p:sp>
      <p:sp>
        <p:nvSpPr>
          <p:cNvPr id="6" name="Hexagon 5">
            <a:extLst>
              <a:ext uri="{FF2B5EF4-FFF2-40B4-BE49-F238E27FC236}">
                <a16:creationId xmlns:a16="http://schemas.microsoft.com/office/drawing/2014/main" id="{ED61BFD1-C421-442F-ACC0-868D35B02015}"/>
              </a:ext>
            </a:extLst>
          </p:cNvPr>
          <p:cNvSpPr/>
          <p:nvPr/>
        </p:nvSpPr>
        <p:spPr>
          <a:xfrm>
            <a:off x="3166402" y="903484"/>
            <a:ext cx="5859196" cy="5051033"/>
          </a:xfrm>
          <a:prstGeom prst="hexagon">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p:nvPicPr>
        <p:blipFill rotWithShape="1">
          <a:blip r:embed="rId3">
            <a:alphaModFix amt="35000"/>
          </a:blip>
          <a:srcRect r="39275" b="37247"/>
          <a:stretch/>
        </p:blipFill>
        <p:spPr>
          <a:xfrm>
            <a:off x="8414557" y="4493758"/>
            <a:ext cx="3655522" cy="2361018"/>
          </a:xfrm>
          <a:prstGeom prst="rect">
            <a:avLst/>
          </a:prstGeom>
        </p:spPr>
      </p:pic>
      <p:sp>
        <p:nvSpPr>
          <p:cNvPr id="4" name="Hexagon 3">
            <a:extLst>
              <a:ext uri="{FF2B5EF4-FFF2-40B4-BE49-F238E27FC236}">
                <a16:creationId xmlns:a16="http://schemas.microsoft.com/office/drawing/2014/main" id="{02EFDB6D-A908-36D7-35D8-AB8FD9008337}"/>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Hexagon 4">
            <a:extLst>
              <a:ext uri="{FF2B5EF4-FFF2-40B4-BE49-F238E27FC236}">
                <a16:creationId xmlns:a16="http://schemas.microsoft.com/office/drawing/2014/main" id="{49AE87C3-49B8-1C89-4D2B-8F65D68539B9}"/>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Hexagon 6">
            <a:extLst>
              <a:ext uri="{FF2B5EF4-FFF2-40B4-BE49-F238E27FC236}">
                <a16:creationId xmlns:a16="http://schemas.microsoft.com/office/drawing/2014/main" id="{D94E2D36-2BEB-9F15-F2E3-84FEAB512991}"/>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Hexagon 7">
            <a:extLst>
              <a:ext uri="{FF2B5EF4-FFF2-40B4-BE49-F238E27FC236}">
                <a16:creationId xmlns:a16="http://schemas.microsoft.com/office/drawing/2014/main" id="{AA0B740B-2FE0-19FB-9199-41E8FB6371E1}"/>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Hexagon 8">
            <a:extLst>
              <a:ext uri="{FF2B5EF4-FFF2-40B4-BE49-F238E27FC236}">
                <a16:creationId xmlns:a16="http://schemas.microsoft.com/office/drawing/2014/main" id="{2782235E-6025-12F9-8881-306369DB7C6B}"/>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Footer Placeholder 4">
            <a:extLst>
              <a:ext uri="{FF2B5EF4-FFF2-40B4-BE49-F238E27FC236}">
                <a16:creationId xmlns:a16="http://schemas.microsoft.com/office/drawing/2014/main" id="{8D1A6C30-9E69-C642-8AE1-30A8CEC2A284}"/>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11" name="Picture 10">
            <a:hlinkClick r:id="rId2"/>
            <a:extLst>
              <a:ext uri="{FF2B5EF4-FFF2-40B4-BE49-F238E27FC236}">
                <a16:creationId xmlns:a16="http://schemas.microsoft.com/office/drawing/2014/main" id="{F62EE852-B994-CAD3-56BB-7699FA84C3BB}"/>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1251661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p:nvSpPr>
        <p:spPr>
          <a:xfrm>
            <a:off x="3718560" y="1181123"/>
            <a:ext cx="4754880" cy="4495754"/>
          </a:xfrm>
          <a:prstGeom prst="rect">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3" name="Footer Placeholder 4">
            <a:extLst>
              <a:ext uri="{FF2B5EF4-FFF2-40B4-BE49-F238E27FC236}">
                <a16:creationId xmlns:a16="http://schemas.microsoft.com/office/drawing/2014/main" id="{E820A320-06A7-7F4F-3C09-D207765810C4}"/>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p:nvPicPr>
        <p:blipFill rotWithShape="1">
          <a:blip r:embed="rId3">
            <a:alphaModFix amt="35000"/>
          </a:blip>
          <a:srcRect r="39275" b="37247"/>
          <a:stretch/>
        </p:blipFill>
        <p:spPr>
          <a:xfrm>
            <a:off x="8536478" y="4496982"/>
            <a:ext cx="3655522" cy="2361018"/>
          </a:xfrm>
          <a:prstGeom prst="rect">
            <a:avLst/>
          </a:prstGeom>
        </p:spPr>
      </p:pic>
      <p:sp>
        <p:nvSpPr>
          <p:cNvPr id="5" name="Rectangle 4" descr="Tall office building looking up">
            <a:extLst>
              <a:ext uri="{FF2B5EF4-FFF2-40B4-BE49-F238E27FC236}">
                <a16:creationId xmlns:a16="http://schemas.microsoft.com/office/drawing/2014/main" id="{083ED6C1-B896-0EE1-0EB4-70D463229E1B}"/>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Footer Placeholder 4">
            <a:extLst>
              <a:ext uri="{FF2B5EF4-FFF2-40B4-BE49-F238E27FC236}">
                <a16:creationId xmlns:a16="http://schemas.microsoft.com/office/drawing/2014/main" id="{F2C5E802-5A33-10B1-00C1-FDD2A058D40D}"/>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8" name="Picture 7">
            <a:hlinkClick r:id="rId2"/>
            <a:extLst>
              <a:ext uri="{FF2B5EF4-FFF2-40B4-BE49-F238E27FC236}">
                <a16:creationId xmlns:a16="http://schemas.microsoft.com/office/drawing/2014/main" id="{28B9E23B-EC53-A54A-D68B-4DE461EA5171}"/>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2222612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5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5606"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p:nvSpPr>
        <p:spPr>
          <a:xfrm>
            <a:off x="3352800" y="685800"/>
            <a:ext cx="5486400" cy="5486400"/>
          </a:xfrm>
          <a:prstGeom prst="ellipse">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p:nvPicPr>
        <p:blipFill rotWithShape="1">
          <a:blip r:embed="rId3">
            <a:alphaModFix amt="35000"/>
          </a:blip>
          <a:srcRect r="39275" b="37247"/>
          <a:stretch/>
        </p:blipFill>
        <p:spPr>
          <a:xfrm>
            <a:off x="8536478" y="4496982"/>
            <a:ext cx="3655522" cy="2361018"/>
          </a:xfrm>
          <a:prstGeom prst="rect">
            <a:avLst/>
          </a:prstGeom>
        </p:spPr>
      </p:pic>
      <p:sp>
        <p:nvSpPr>
          <p:cNvPr id="6" name="Oval 5" descr="Tall office building looking up">
            <a:extLst>
              <a:ext uri="{FF2B5EF4-FFF2-40B4-BE49-F238E27FC236}">
                <a16:creationId xmlns:a16="http://schemas.microsoft.com/office/drawing/2014/main" id="{DD4EA124-ED41-ED8F-A0D9-A44B1A06F87D}"/>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Oval 6">
            <a:extLst>
              <a:ext uri="{FF2B5EF4-FFF2-40B4-BE49-F238E27FC236}">
                <a16:creationId xmlns:a16="http://schemas.microsoft.com/office/drawing/2014/main" id="{61AD970E-C52F-C6BC-9937-32C889405FB4}"/>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Oval 7">
            <a:extLst>
              <a:ext uri="{FF2B5EF4-FFF2-40B4-BE49-F238E27FC236}">
                <a16:creationId xmlns:a16="http://schemas.microsoft.com/office/drawing/2014/main" id="{7C0B8C96-B41F-8535-3716-1E878FEDCC6F}"/>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Oval 9">
            <a:extLst>
              <a:ext uri="{FF2B5EF4-FFF2-40B4-BE49-F238E27FC236}">
                <a16:creationId xmlns:a16="http://schemas.microsoft.com/office/drawing/2014/main" id="{82257809-DB42-5B9A-ECAE-338D697DCCDD}"/>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Footer Placeholder 4">
            <a:extLst>
              <a:ext uri="{FF2B5EF4-FFF2-40B4-BE49-F238E27FC236}">
                <a16:creationId xmlns:a16="http://schemas.microsoft.com/office/drawing/2014/main" id="{22764E1D-14C7-954C-925F-75B8EDD91075}"/>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16" name="Picture 15">
            <a:hlinkClick r:id="rId2"/>
            <a:extLst>
              <a:ext uri="{FF2B5EF4-FFF2-40B4-BE49-F238E27FC236}">
                <a16:creationId xmlns:a16="http://schemas.microsoft.com/office/drawing/2014/main" id="{82AD0F96-3697-FF35-4CA4-B06D47CB234A}"/>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1162279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3" name="Rectangle 2">
            <a:extLst>
              <a:ext uri="{FF2B5EF4-FFF2-40B4-BE49-F238E27FC236}">
                <a16:creationId xmlns:a16="http://schemas.microsoft.com/office/drawing/2014/main" id="{69800AAB-297F-072F-EB54-1320773DC342}"/>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Rectangle 3">
            <a:extLst>
              <a:ext uri="{FF2B5EF4-FFF2-40B4-BE49-F238E27FC236}">
                <a16:creationId xmlns:a16="http://schemas.microsoft.com/office/drawing/2014/main" id="{F4CC3AD9-AEB3-02EC-1CC1-2AC54487BB35}"/>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Rectangle 4">
            <a:extLst>
              <a:ext uri="{FF2B5EF4-FFF2-40B4-BE49-F238E27FC236}">
                <a16:creationId xmlns:a16="http://schemas.microsoft.com/office/drawing/2014/main" id="{13B94151-B597-BF9E-A282-F052320680B6}"/>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2517882944"/>
      </p:ext>
    </p:extLst>
  </p:cSld>
  <p:clrMapOvr>
    <a:masterClrMapping/>
  </p:clrMapOvr>
  <p:extLst>
    <p:ext uri="{DCECCB84-F9BA-43D5-87BE-67443E8EF086}">
      <p15:sldGuideLst xmlns:p15="http://schemas.microsoft.com/office/powerpoint/2012/main">
        <p15:guide id="4" orient="horz" pos="504" userDrawn="1">
          <p15:clr>
            <a:srgbClr val="FBAE40"/>
          </p15:clr>
        </p15:guide>
        <p15:guide id="5" pos="3840" userDrawn="1">
          <p15:clr>
            <a:srgbClr val="FBAE40"/>
          </p15:clr>
        </p15:guide>
        <p15:guide id="6" orient="horz" pos="14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4573ECC6-14C6-5675-355F-F3E33088BECC}"/>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3" name="Oval 2">
            <a:extLst>
              <a:ext uri="{FF2B5EF4-FFF2-40B4-BE49-F238E27FC236}">
                <a16:creationId xmlns:a16="http://schemas.microsoft.com/office/drawing/2014/main" id="{6658D6F0-8200-47F7-8A3C-8D72A49F60CF}"/>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4" name="Oval 3">
            <a:extLst>
              <a:ext uri="{FF2B5EF4-FFF2-40B4-BE49-F238E27FC236}">
                <a16:creationId xmlns:a16="http://schemas.microsoft.com/office/drawing/2014/main" id="{5FD7A81C-1120-7827-F9B5-40E3A2932699}"/>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Tree>
    <p:extLst>
      <p:ext uri="{BB962C8B-B14F-4D97-AF65-F5344CB8AC3E}">
        <p14:creationId xmlns:p14="http://schemas.microsoft.com/office/powerpoint/2010/main" val="3612382981"/>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130762644"/>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p:nvSpPr>
        <p:spPr>
          <a:xfrm>
            <a:off x="740309" y="1382809"/>
            <a:ext cx="1229566" cy="1059971"/>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p:nvSpPr>
        <p:spPr>
          <a:xfrm>
            <a:off x="3755031" y="1194620"/>
            <a:ext cx="1666162" cy="1436347"/>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
        <p:nvSpPr>
          <p:cNvPr id="3" name="Hexagon 2">
            <a:extLst>
              <a:ext uri="{FF2B5EF4-FFF2-40B4-BE49-F238E27FC236}">
                <a16:creationId xmlns:a16="http://schemas.microsoft.com/office/drawing/2014/main" id="{7ECF9BC1-9710-8066-D8F0-9A364F14DD6E}"/>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B101F1A2-2A5D-DAAD-08BC-B70C60C99436}"/>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Hexagon 4">
            <a:extLst>
              <a:ext uri="{FF2B5EF4-FFF2-40B4-BE49-F238E27FC236}">
                <a16:creationId xmlns:a16="http://schemas.microsoft.com/office/drawing/2014/main" id="{4147B027-BA88-EC0D-B295-6CEC0B55EDC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6" name="Hexagon 5">
            <a:extLst>
              <a:ext uri="{FF2B5EF4-FFF2-40B4-BE49-F238E27FC236}">
                <a16:creationId xmlns:a16="http://schemas.microsoft.com/office/drawing/2014/main" id="{EC4C61D9-C668-CF96-8B2A-9C0A54BC0957}"/>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2702842343"/>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p:nvSpPr>
        <p:spPr>
          <a:xfrm>
            <a:off x="546669" y="3467555"/>
            <a:ext cx="458268" cy="395059"/>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p:nvSpPr>
        <p:spPr>
          <a:xfrm>
            <a:off x="11113337" y="2394722"/>
            <a:ext cx="358391" cy="308958"/>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Hexagon 1">
            <a:extLst>
              <a:ext uri="{FF2B5EF4-FFF2-40B4-BE49-F238E27FC236}">
                <a16:creationId xmlns:a16="http://schemas.microsoft.com/office/drawing/2014/main" id="{5281028A-12C2-5C9C-4B0F-A005E8B5CA0A}"/>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Hexagon 2">
            <a:extLst>
              <a:ext uri="{FF2B5EF4-FFF2-40B4-BE49-F238E27FC236}">
                <a16:creationId xmlns:a16="http://schemas.microsoft.com/office/drawing/2014/main" id="{B0A491FE-8686-1E36-8F8D-0053ADE3F85F}"/>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482B3B29-735C-82BF-92B5-1FD3E5F764DB}"/>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2912919237"/>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270313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3091080582"/>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23F41645-0093-1ABA-9570-1D8070EC9D55}"/>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3" name="Oval 2">
            <a:extLst>
              <a:ext uri="{FF2B5EF4-FFF2-40B4-BE49-F238E27FC236}">
                <a16:creationId xmlns:a16="http://schemas.microsoft.com/office/drawing/2014/main" id="{E98CF0B3-BFB7-DA61-98B1-3EA565BD04C2}"/>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4" name="Oval 3">
            <a:extLst>
              <a:ext uri="{FF2B5EF4-FFF2-40B4-BE49-F238E27FC236}">
                <a16:creationId xmlns:a16="http://schemas.microsoft.com/office/drawing/2014/main" id="{B1D4E483-67D5-E854-4960-9CDF1369CAB5}"/>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Tree>
    <p:extLst>
      <p:ext uri="{BB962C8B-B14F-4D97-AF65-F5344CB8AC3E}">
        <p14:creationId xmlns:p14="http://schemas.microsoft.com/office/powerpoint/2010/main" val="1093257948"/>
      </p:ext>
    </p:extLst>
  </p:cSld>
  <p:clrMapOvr>
    <a:masterClrMapping/>
  </p:clrMapOvr>
  <p:extLst>
    <p:ext uri="{DCECCB84-F9BA-43D5-87BE-67443E8EF086}">
      <p15:sldGuideLst xmlns:p15="http://schemas.microsoft.com/office/powerpoint/2012/main">
        <p15:guide id="3" orient="horz" pos="1272" userDrawn="1">
          <p15:clr>
            <a:srgbClr val="FBAE40"/>
          </p15:clr>
        </p15:guide>
        <p15:guide id="4"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p:nvSpPr>
        <p:spPr>
          <a:xfrm>
            <a:off x="10700126" y="788523"/>
            <a:ext cx="1155906" cy="996471"/>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Hexagon 1">
            <a:extLst>
              <a:ext uri="{FF2B5EF4-FFF2-40B4-BE49-F238E27FC236}">
                <a16:creationId xmlns:a16="http://schemas.microsoft.com/office/drawing/2014/main" id="{424ACC82-4D1F-BBEC-8CED-3B78CD4AAFDE}"/>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6" name="Hexagon 5">
            <a:extLst>
              <a:ext uri="{FF2B5EF4-FFF2-40B4-BE49-F238E27FC236}">
                <a16:creationId xmlns:a16="http://schemas.microsoft.com/office/drawing/2014/main" id="{1A6161CF-7ADC-7809-147B-486701FC832E}"/>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7" name="Hexagon 6">
            <a:extLst>
              <a:ext uri="{FF2B5EF4-FFF2-40B4-BE49-F238E27FC236}">
                <a16:creationId xmlns:a16="http://schemas.microsoft.com/office/drawing/2014/main" id="{F9241FBE-9EE0-D6B5-67DF-24381A2423BB}"/>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Tree>
    <p:extLst>
      <p:ext uri="{BB962C8B-B14F-4D97-AF65-F5344CB8AC3E}">
        <p14:creationId xmlns:p14="http://schemas.microsoft.com/office/powerpoint/2010/main" val="400115686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p:nvSpPr>
        <p:spPr>
          <a:xfrm>
            <a:off x="5897272" y="1457542"/>
            <a:ext cx="617218" cy="617218"/>
          </a:xfrm>
          <a:prstGeom prst="ellipse">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5FF3E98C-9CC3-2BF7-BAD0-9DDDF7ACAA54}"/>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Oval 2">
            <a:extLst>
              <a:ext uri="{FF2B5EF4-FFF2-40B4-BE49-F238E27FC236}">
                <a16:creationId xmlns:a16="http://schemas.microsoft.com/office/drawing/2014/main" id="{4402D312-514B-7332-35D6-F379B3D8075D}"/>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Oval 3">
            <a:extLst>
              <a:ext uri="{FF2B5EF4-FFF2-40B4-BE49-F238E27FC236}">
                <a16:creationId xmlns:a16="http://schemas.microsoft.com/office/drawing/2014/main" id="{B54B703C-4A3A-D244-6A9D-A072DBF1B83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246776739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18220359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3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7814876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3" name="Footer Placeholder 4">
            <a:extLst>
              <a:ext uri="{FF2B5EF4-FFF2-40B4-BE49-F238E27FC236}">
                <a16:creationId xmlns:a16="http://schemas.microsoft.com/office/drawing/2014/main" id="{E820A320-06A7-7F4F-3C09-D207765810C4}"/>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1439956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6_Custom Layout">
    <p:bg>
      <p:bgPr>
        <a:solidFill>
          <a:schemeClr val="tx1"/>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686324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94370068"/>
      </p:ext>
    </p:extLst>
  </p:cSld>
  <p:clrMapOvr>
    <a:masterClrMapping/>
  </p:clrMapOvr>
  <p:extLst>
    <p:ext uri="{DCECCB84-F9BA-43D5-87BE-67443E8EF086}">
      <p15:sldGuideLst xmlns:p15="http://schemas.microsoft.com/office/powerpoint/2012/main">
        <p15:guide id="1" orient="horz" pos="504" userDrawn="1">
          <p15:clr>
            <a:srgbClr val="FBAE40"/>
          </p15:clr>
        </p15:guide>
        <p15:guide id="2" pos="3840" userDrawn="1">
          <p15:clr>
            <a:srgbClr val="FBAE40"/>
          </p15:clr>
        </p15:guide>
        <p15:guide id="3" orient="horz" pos="141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8449708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51989139"/>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603056595"/>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15058552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782706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12800613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565901999"/>
      </p:ext>
    </p:extLst>
  </p:cSld>
  <p:clrMapOvr>
    <a:masterClrMapping/>
  </p:clrMapOvr>
  <p:extLst>
    <p:ext uri="{DCECCB84-F9BA-43D5-87BE-67443E8EF086}">
      <p15:sldGuideLst xmlns:p15="http://schemas.microsoft.com/office/powerpoint/2012/main">
        <p15:guide id="1" orient="horz" pos="1272"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4096559002"/>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31618699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1187016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hyperlink" Target="https://moodle.bolton.ac.uk/course/view.php?id=23108"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9A56F2-8AAA-49B3-034C-0A11337F00E3}"/>
              </a:ext>
            </a:extLst>
          </p:cNvPr>
          <p:cNvSpPr txBox="1"/>
          <p:nvPr/>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30">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6" name="Picture 5">
            <a:hlinkClick r:id="rId30"/>
            <a:extLst>
              <a:ext uri="{FF2B5EF4-FFF2-40B4-BE49-F238E27FC236}">
                <a16:creationId xmlns:a16="http://schemas.microsoft.com/office/drawing/2014/main" id="{8E68A7DE-B583-DD36-413D-10F7AA7F3877}"/>
              </a:ext>
            </a:extLst>
          </p:cNvPr>
          <p:cNvPicPr>
            <a:picLocks noChangeAspect="1"/>
          </p:cNvPicPr>
          <p:nvPr/>
        </p:nvPicPr>
        <p:blipFill rotWithShape="1">
          <a:blip r:embed="rId31">
            <a:alphaModFix amt="35000"/>
          </a:blip>
          <a:srcRect r="39275" b="37247"/>
          <a:stretch/>
        </p:blipFill>
        <p:spPr>
          <a:xfrm>
            <a:off x="8077200" y="4200345"/>
            <a:ext cx="4114800" cy="2657655"/>
          </a:xfrm>
          <a:prstGeom prst="rect">
            <a:avLst/>
          </a:prstGeom>
        </p:spPr>
      </p:pic>
      <p:sp>
        <p:nvSpPr>
          <p:cNvPr id="3" name="TextBox 2">
            <a:extLst>
              <a:ext uri="{FF2B5EF4-FFF2-40B4-BE49-F238E27FC236}">
                <a16:creationId xmlns:a16="http://schemas.microsoft.com/office/drawing/2014/main" id="{3DD4755C-F02F-1E14-47EF-91EA16DAF6B6}"/>
              </a:ext>
            </a:extLst>
          </p:cNvPr>
          <p:cNvSpPr txBox="1"/>
          <p:nvPr userDrawn="1"/>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30">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7" name="Picture 6">
            <a:hlinkClick r:id="rId30"/>
            <a:extLst>
              <a:ext uri="{FF2B5EF4-FFF2-40B4-BE49-F238E27FC236}">
                <a16:creationId xmlns:a16="http://schemas.microsoft.com/office/drawing/2014/main" id="{314EDD93-667C-6B79-9896-AB233E43041B}"/>
              </a:ext>
            </a:extLst>
          </p:cNvPr>
          <p:cNvPicPr>
            <a:picLocks noChangeAspect="1"/>
          </p:cNvPicPr>
          <p:nvPr userDrawn="1"/>
        </p:nvPicPr>
        <p:blipFill rotWithShape="1">
          <a:blip r:embed="rId31">
            <a:alphaModFix amt="35000"/>
          </a:blip>
          <a:srcRect r="39275" b="37247"/>
          <a:stretch/>
        </p:blipFill>
        <p:spPr>
          <a:xfrm>
            <a:off x="8077200" y="4200345"/>
            <a:ext cx="4114800" cy="2657655"/>
          </a:xfrm>
          <a:prstGeom prst="rect">
            <a:avLst/>
          </a:prstGeom>
        </p:spPr>
      </p:pic>
    </p:spTree>
    <p:extLst>
      <p:ext uri="{BB962C8B-B14F-4D97-AF65-F5344CB8AC3E}">
        <p14:creationId xmlns:p14="http://schemas.microsoft.com/office/powerpoint/2010/main" val="1054295729"/>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20" r:id="rId14"/>
    <p:sldLayoutId id="2147483689" r:id="rId15"/>
    <p:sldLayoutId id="2147483690" r:id="rId16"/>
    <p:sldLayoutId id="2147483688" r:id="rId17"/>
    <p:sldLayoutId id="2147483681" r:id="rId18"/>
    <p:sldLayoutId id="2147483680" r:id="rId19"/>
    <p:sldLayoutId id="2147483682" r:id="rId20"/>
    <p:sldLayoutId id="2147483677" r:id="rId21"/>
    <p:sldLayoutId id="2147483654" r:id="rId22"/>
    <p:sldLayoutId id="2147483685" r:id="rId23"/>
    <p:sldLayoutId id="2147483684" r:id="rId24"/>
    <p:sldLayoutId id="2147483686" r:id="rId25"/>
    <p:sldLayoutId id="2147483687" r:id="rId26"/>
    <p:sldLayoutId id="2147483675" r:id="rId27"/>
    <p:sldLayoutId id="2147483704" r:id="rId28"/>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moodle.bolton.ac.uk/course/view.php?id=32407"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hyperlink" Target="https://www.ibm.com/products/watson-studio" TargetMode="External"/><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hyperlink" Target="https://wallpaperaccess.com/funny-science" TargetMode="External"/><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9.xml"/><Relationship Id="rId1" Type="http://schemas.openxmlformats.org/officeDocument/2006/relationships/slideLayout" Target="../slideLayouts/slideLayout16.xml"/><Relationship Id="rId4" Type="http://schemas.openxmlformats.org/officeDocument/2006/relationships/hyperlink" Target="http://culturefit.com/developing-2016-trends-computer-sciences-bradley-univers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exagon 5">
            <a:extLst>
              <a:ext uri="{FF2B5EF4-FFF2-40B4-BE49-F238E27FC236}">
                <a16:creationId xmlns:a16="http://schemas.microsoft.com/office/drawing/2014/main" id="{38AF5374-EA50-4722-BB45-6C182E5A16AE}"/>
              </a:ext>
              <a:ext uri="{C183D7F6-B498-43B3-948B-1728B52AA6E4}">
                <adec:decorative xmlns:adec="http://schemas.microsoft.com/office/drawing/2017/decorative" val="1"/>
              </a:ext>
            </a:extLst>
          </p:cNvPr>
          <p:cNvSpPr/>
          <p:nvPr/>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Light"/>
              <a:ea typeface="+mn-ea"/>
              <a:cs typeface="+mn-cs"/>
            </a:endParaRPr>
          </a:p>
        </p:txBody>
      </p:sp>
      <p:pic>
        <p:nvPicPr>
          <p:cNvPr id="13" name="Picture Placeholder 12" descr="Blue glass building">
            <a:extLst>
              <a:ext uri="{FF2B5EF4-FFF2-40B4-BE49-F238E27FC236}">
                <a16:creationId xmlns:a16="http://schemas.microsoft.com/office/drawing/2014/main" id="{E6A5B61D-69C0-4661-AD66-3D72D9A6E86F}"/>
              </a:ext>
            </a:extLst>
          </p:cNvPr>
          <p:cNvPicPr>
            <a:picLocks noGrp="1" noChangeAspect="1"/>
          </p:cNvPicPr>
          <p:nvPr>
            <p:ph type="pic" sz="quarter" idx="10"/>
          </p:nvPr>
        </p:nvPicPr>
        <p:blipFill>
          <a:blip r:embed="rId3">
            <a:alphaModFix amt="80000"/>
          </a:blip>
          <a:srcRect t="7802" b="7802"/>
          <a:stretch/>
        </p:blipFill>
        <p:spPr>
          <a:xfrm>
            <a:off x="0" y="-42618"/>
            <a:ext cx="12192000" cy="6858000"/>
          </a:xfrm>
          <a:blipFill dpi="0" rotWithShape="1">
            <a:blip r:embed="rId3">
              <a:alphaModFix amt="80000"/>
              <a:extLst>
                <a:ext uri="{28A0092B-C50C-407E-A947-70E740481C1C}">
                  <a14:useLocalDpi xmlns:a14="http://schemas.microsoft.com/office/drawing/2010/main" val="0"/>
                </a:ext>
              </a:extLst>
            </a:blip>
            <a:srcRect/>
            <a:stretch>
              <a:fillRect/>
            </a:stretch>
          </a:blipFill>
        </p:spPr>
      </p:pic>
      <p:sp>
        <p:nvSpPr>
          <p:cNvPr id="11" name="Text Placeholder 10">
            <a:extLst>
              <a:ext uri="{FF2B5EF4-FFF2-40B4-BE49-F238E27FC236}">
                <a16:creationId xmlns:a16="http://schemas.microsoft.com/office/drawing/2014/main" id="{E6DF5064-7AAC-4887-9BD5-FB6BC40A6768}"/>
              </a:ext>
            </a:extLst>
          </p:cNvPr>
          <p:cNvSpPr>
            <a:spLocks noGrp="1"/>
          </p:cNvSpPr>
          <p:nvPr>
            <p:ph type="body" sz="quarter" idx="13"/>
          </p:nvPr>
        </p:nvSpPr>
        <p:spPr>
          <a:xfrm>
            <a:off x="8969164" y="5646852"/>
            <a:ext cx="3222836" cy="1168530"/>
          </a:xfrm>
        </p:spPr>
        <p:txBody>
          <a:bodyPr rtlCol="0"/>
          <a:lstStyle/>
          <a:p>
            <a:pPr rtl="0"/>
            <a:r>
              <a:rPr lang="en-GB" dirty="0"/>
              <a:t>Session 2</a:t>
            </a:r>
          </a:p>
        </p:txBody>
      </p:sp>
      <p:sp>
        <p:nvSpPr>
          <p:cNvPr id="21" name="Hexagon 20">
            <a:extLst>
              <a:ext uri="{FF2B5EF4-FFF2-40B4-BE49-F238E27FC236}">
                <a16:creationId xmlns:a16="http://schemas.microsoft.com/office/drawing/2014/main" id="{35FAA64B-9D7A-4109-97E0-B0BAA29C475F}"/>
              </a:ext>
              <a:ext uri="{C183D7F6-B498-43B3-948B-1728B52AA6E4}">
                <adec:decorative xmlns:adec="http://schemas.microsoft.com/office/drawing/2017/decorative" val="1"/>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6" name="Hexagon 15">
            <a:extLst>
              <a:ext uri="{FF2B5EF4-FFF2-40B4-BE49-F238E27FC236}">
                <a16:creationId xmlns:a16="http://schemas.microsoft.com/office/drawing/2014/main" id="{00A0E61B-8139-47E5-862B-C6D87AFF35A2}"/>
              </a:ext>
              <a:ext uri="{C183D7F6-B498-43B3-948B-1728B52AA6E4}">
                <adec:decorative xmlns:adec="http://schemas.microsoft.com/office/drawing/2017/decorative" val="1"/>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8" name="Hexagon 17">
            <a:extLst>
              <a:ext uri="{FF2B5EF4-FFF2-40B4-BE49-F238E27FC236}">
                <a16:creationId xmlns:a16="http://schemas.microsoft.com/office/drawing/2014/main" id="{B06F39E4-24A5-44F2-BD9A-7E8C8AF2773B}"/>
              </a:ext>
              <a:ext uri="{C183D7F6-B498-43B3-948B-1728B52AA6E4}">
                <adec:decorative xmlns:adec="http://schemas.microsoft.com/office/drawing/2017/decorative" val="1"/>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2" name="Hexagon 1">
            <a:extLst>
              <a:ext uri="{FF2B5EF4-FFF2-40B4-BE49-F238E27FC236}">
                <a16:creationId xmlns:a16="http://schemas.microsoft.com/office/drawing/2014/main" id="{62F7433A-0BB9-4B38-A96F-AB1B77772B59}"/>
              </a:ext>
              <a:ext uri="{C183D7F6-B498-43B3-948B-1728B52AA6E4}">
                <adec:decorative xmlns:adec="http://schemas.microsoft.com/office/drawing/2017/decorative" val="1"/>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7" name="Title 6">
            <a:extLst>
              <a:ext uri="{FF2B5EF4-FFF2-40B4-BE49-F238E27FC236}">
                <a16:creationId xmlns:a16="http://schemas.microsoft.com/office/drawing/2014/main" id="{BD837CEB-1A69-4F72-95D4-054D82F09696}"/>
              </a:ext>
            </a:extLst>
          </p:cNvPr>
          <p:cNvSpPr>
            <a:spLocks noGrp="1"/>
          </p:cNvSpPr>
          <p:nvPr>
            <p:ph type="title"/>
          </p:nvPr>
        </p:nvSpPr>
        <p:spPr>
          <a:xfrm>
            <a:off x="2133592" y="2480689"/>
            <a:ext cx="8584027" cy="1695637"/>
          </a:xfrm>
        </p:spPr>
        <p:txBody>
          <a:bodyPr rtlCol="0"/>
          <a:lstStyle/>
          <a:p>
            <a:pPr algn="ctr"/>
            <a:r>
              <a:rPr lang="en-GB" dirty="0"/>
              <a:t> Research Design &amp; Methods</a:t>
            </a:r>
            <a:br>
              <a:rPr lang="en-GB" dirty="0"/>
            </a:br>
            <a:br>
              <a:rPr lang="en-GB" dirty="0"/>
            </a:br>
            <a:r>
              <a:rPr lang="en-GB" sz="4800" dirty="0"/>
              <a:t>QUAN</a:t>
            </a:r>
            <a:endParaRPr lang="en-GB" dirty="0"/>
          </a:p>
        </p:txBody>
      </p:sp>
    </p:spTree>
    <p:extLst>
      <p:ext uri="{BB962C8B-B14F-4D97-AF65-F5344CB8AC3E}">
        <p14:creationId xmlns:p14="http://schemas.microsoft.com/office/powerpoint/2010/main" val="4191483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tack of magazines on table">
            <a:extLst>
              <a:ext uri="{FF2B5EF4-FFF2-40B4-BE49-F238E27FC236}">
                <a16:creationId xmlns:a16="http://schemas.microsoft.com/office/drawing/2014/main" id="{90064EA3-F8A2-BEDD-270C-568CC3279CA5}"/>
              </a:ext>
            </a:extLst>
          </p:cNvPr>
          <p:cNvPicPr>
            <a:picLocks noChangeAspect="1"/>
          </p:cNvPicPr>
          <p:nvPr/>
        </p:nvPicPr>
        <p:blipFill>
          <a:blip r:embed="rId2"/>
          <a:srcRect t="13056" b="2675"/>
          <a:stretch/>
        </p:blipFill>
        <p:spPr>
          <a:xfrm>
            <a:off x="20" y="10"/>
            <a:ext cx="12191980" cy="6857990"/>
          </a:xfrm>
          <a:prstGeom prst="rect">
            <a:avLst/>
          </a:prstGeom>
          <a:noFill/>
        </p:spPr>
      </p:pic>
      <p:sp>
        <p:nvSpPr>
          <p:cNvPr id="2" name="Title 1">
            <a:extLst>
              <a:ext uri="{FF2B5EF4-FFF2-40B4-BE49-F238E27FC236}">
                <a16:creationId xmlns:a16="http://schemas.microsoft.com/office/drawing/2014/main" id="{F3DAD0F6-6A3B-16A5-4F4C-79D9D2DE98F6}"/>
              </a:ext>
            </a:extLst>
          </p:cNvPr>
          <p:cNvSpPr>
            <a:spLocks noGrp="1"/>
          </p:cNvSpPr>
          <p:nvPr>
            <p:ph type="title"/>
          </p:nvPr>
        </p:nvSpPr>
        <p:spPr>
          <a:xfrm>
            <a:off x="2510726" y="2576760"/>
            <a:ext cx="7702658" cy="1695637"/>
          </a:xfrm>
        </p:spPr>
        <p:txBody>
          <a:bodyPr>
            <a:normAutofit/>
          </a:bodyPr>
          <a:lstStyle/>
          <a:p>
            <a:pPr algn="ctr"/>
            <a:r>
              <a:rPr lang="en-GB" dirty="0">
                <a:solidFill>
                  <a:schemeClr val="tx1"/>
                </a:solidFill>
              </a:rPr>
              <a:t>Quantitative Data Analysis Techniques</a:t>
            </a:r>
          </a:p>
        </p:txBody>
      </p:sp>
      <p:sp>
        <p:nvSpPr>
          <p:cNvPr id="12" name="Text Placeholder 4">
            <a:extLst>
              <a:ext uri="{FF2B5EF4-FFF2-40B4-BE49-F238E27FC236}">
                <a16:creationId xmlns:a16="http://schemas.microsoft.com/office/drawing/2014/main" id="{094D27C3-D109-4500-2CCD-048AC14779BD}"/>
              </a:ext>
            </a:extLst>
          </p:cNvPr>
          <p:cNvSpPr>
            <a:spLocks noGrp="1"/>
          </p:cNvSpPr>
          <p:nvPr>
            <p:ph type="body" sz="quarter" idx="13"/>
          </p:nvPr>
        </p:nvSpPr>
        <p:spPr>
          <a:xfrm>
            <a:off x="3487450" y="4396668"/>
            <a:ext cx="5217100" cy="1168530"/>
          </a:xfrm>
        </p:spPr>
        <p:txBody>
          <a:bodyPr/>
          <a:lstStyle/>
          <a:p>
            <a:pPr algn="ctr"/>
            <a:r>
              <a:rPr lang="en-US" sz="2400" dirty="0">
                <a:solidFill>
                  <a:schemeClr val="tx1"/>
                </a:solidFill>
              </a:rPr>
              <a:t>Lecturer 7</a:t>
            </a:r>
          </a:p>
        </p:txBody>
      </p:sp>
    </p:spTree>
    <p:extLst>
      <p:ext uri="{BB962C8B-B14F-4D97-AF65-F5344CB8AC3E}">
        <p14:creationId xmlns:p14="http://schemas.microsoft.com/office/powerpoint/2010/main" val="35195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1" name="Picture Placeholder 10" descr="close up of building">
            <a:extLst>
              <a:ext uri="{FF2B5EF4-FFF2-40B4-BE49-F238E27FC236}">
                <a16:creationId xmlns:a16="http://schemas.microsoft.com/office/drawing/2014/main" id="{1CE2008D-DBCE-465F-90DA-B28A4E525131}"/>
              </a:ext>
            </a:extLst>
          </p:cNvPr>
          <p:cNvPicPr>
            <a:picLocks noGrp="1" noChangeAspect="1"/>
          </p:cNvPicPr>
          <p:nvPr>
            <p:ph type="pic" sz="quarter" idx="10"/>
          </p:nvPr>
        </p:nvPicPr>
        <p:blipFill>
          <a:blip r:embed="rId3"/>
          <a:srcRect l="15351" r="15351"/>
          <a:stretch>
            <a:fillRect/>
          </a:stretch>
        </p:blipFill>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522177" y="2151782"/>
            <a:ext cx="6164349" cy="3560763"/>
          </a:xfrm>
        </p:spPr>
        <p:txBody>
          <a:bodyPr rtlCol="0"/>
          <a:lstStyle/>
          <a:p>
            <a:r>
              <a:rPr lang="en-GB" sz="2800" dirty="0"/>
              <a:t>… understand quantitative data analysis techniques, relevant to studies in computer science (CS), information systems (IS) and cybersecurity (CY).</a:t>
            </a:r>
          </a:p>
          <a:p>
            <a:pPr rtl="0"/>
            <a:endParaRPr lang="en-GB" sz="28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400" y="805213"/>
            <a:ext cx="4784436" cy="830997"/>
          </a:xfrm>
        </p:spPr>
        <p:txBody>
          <a:bodyPr rtlCol="0"/>
          <a:lstStyle/>
          <a:p>
            <a:pPr rtl="0"/>
            <a:r>
              <a:rPr lang="en-GB" sz="2400" dirty="0"/>
              <a:t>By the end of the session, you should be able to…</a:t>
            </a:r>
          </a:p>
        </p:txBody>
      </p:sp>
    </p:spTree>
    <p:extLst>
      <p:ext uri="{BB962C8B-B14F-4D97-AF65-F5344CB8AC3E}">
        <p14:creationId xmlns:p14="http://schemas.microsoft.com/office/powerpoint/2010/main" val="1341901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Picture Placeholder 9" descr="Escalators">
            <a:extLst>
              <a:ext uri="{FF2B5EF4-FFF2-40B4-BE49-F238E27FC236}">
                <a16:creationId xmlns:a16="http://schemas.microsoft.com/office/drawing/2014/main" id="{067ABCFB-135D-465A-8D06-3042F9E75BB6}"/>
              </a:ext>
            </a:extLst>
          </p:cNvPr>
          <p:cNvPicPr>
            <a:picLocks noGrp="1" noChangeAspect="1"/>
          </p:cNvPicPr>
          <p:nvPr>
            <p:ph type="pic" sz="quarter" idx="10"/>
          </p:nvPr>
        </p:nvPicPr>
        <p:blipFill rotWithShape="1">
          <a:blip r:embed="rId3">
            <a:alphaModFix amt="60000"/>
          </a:blip>
          <a:srcRect t="10193" b="10193"/>
          <a:stretch/>
        </p:blipFill>
        <p:spPr/>
      </p:pic>
      <p:sp>
        <p:nvSpPr>
          <p:cNvPr id="11" name="Title 10">
            <a:extLst>
              <a:ext uri="{FF2B5EF4-FFF2-40B4-BE49-F238E27FC236}">
                <a16:creationId xmlns:a16="http://schemas.microsoft.com/office/drawing/2014/main" id="{3D9E7E43-0082-4819-947F-94AD5664FC83}"/>
              </a:ext>
            </a:extLst>
          </p:cNvPr>
          <p:cNvSpPr>
            <a:spLocks noGrp="1"/>
          </p:cNvSpPr>
          <p:nvPr>
            <p:ph type="title"/>
          </p:nvPr>
        </p:nvSpPr>
        <p:spPr>
          <a:xfrm>
            <a:off x="3857105" y="1529685"/>
            <a:ext cx="4563688" cy="1695637"/>
          </a:xfrm>
        </p:spPr>
        <p:txBody>
          <a:bodyPr rtlCol="0"/>
          <a:lstStyle/>
          <a:p>
            <a:pPr rtl="0" eaLnBrk="1" latinLnBrk="0" hangingPunct="1"/>
            <a:r>
              <a:rPr lang="en-GB" sz="4800" kern="1200">
                <a:effectLst/>
                <a:latin typeface="Calibri Light" panose="020F0302020204030204" pitchFamily="34" charset="0"/>
                <a:ea typeface="+mn-ea"/>
                <a:cs typeface="+mn-cs"/>
              </a:rPr>
              <a:t>All the resources will be posted to the Moodle page </a:t>
            </a:r>
            <a:endParaRPr lang="en-GB"/>
          </a:p>
        </p:txBody>
      </p:sp>
      <p:sp>
        <p:nvSpPr>
          <p:cNvPr id="3" name="Rectangle 2">
            <a:extLst>
              <a:ext uri="{FF2B5EF4-FFF2-40B4-BE49-F238E27FC236}">
                <a16:creationId xmlns:a16="http://schemas.microsoft.com/office/drawing/2014/main" id="{47310966-9752-4035-9DD5-FFBC93FC094D}"/>
              </a:ext>
              <a:ext uri="{C183D7F6-B498-43B3-948B-1728B52AA6E4}">
                <adec:decorative xmlns:adec="http://schemas.microsoft.com/office/drawing/2017/decorative" val="1"/>
              </a:ext>
            </a:extLst>
          </p:cNvPr>
          <p:cNvSpPr/>
          <p:nvPr/>
        </p:nvSpPr>
        <p:spPr>
          <a:xfrm>
            <a:off x="3451167" y="1002041"/>
            <a:ext cx="5289665" cy="4853917"/>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6" name="Rectangle 5">
            <a:extLst>
              <a:ext uri="{FF2B5EF4-FFF2-40B4-BE49-F238E27FC236}">
                <a16:creationId xmlns:a16="http://schemas.microsoft.com/office/drawing/2014/main" id="{BFF64F07-1F8D-4F69-87E4-03E837E975EE}"/>
              </a:ext>
              <a:ext uri="{C183D7F6-B498-43B3-948B-1728B52AA6E4}">
                <adec:decorative xmlns:adec="http://schemas.microsoft.com/office/drawing/2017/decorative" val="1"/>
              </a:ext>
            </a:extLst>
          </p:cNvPr>
          <p:cNvSpPr/>
          <p:nvPr/>
        </p:nvSpPr>
        <p:spPr>
          <a:xfrm>
            <a:off x="2665371" y="1181122"/>
            <a:ext cx="459924" cy="45992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8" name="Rectangle 7">
            <a:extLst>
              <a:ext uri="{FF2B5EF4-FFF2-40B4-BE49-F238E27FC236}">
                <a16:creationId xmlns:a16="http://schemas.microsoft.com/office/drawing/2014/main" id="{FD0393EC-C7F4-46AA-8768-FF7CD4DE0552}"/>
              </a:ext>
              <a:ext uri="{C183D7F6-B498-43B3-948B-1728B52AA6E4}">
                <adec:decorative xmlns:adec="http://schemas.microsoft.com/office/drawing/2017/decorative" val="1"/>
              </a:ext>
            </a:extLst>
          </p:cNvPr>
          <p:cNvSpPr/>
          <p:nvPr/>
        </p:nvSpPr>
        <p:spPr>
          <a:xfrm>
            <a:off x="8897680" y="6035039"/>
            <a:ext cx="284372" cy="28437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4" name="Text Placeholder 3">
            <a:extLst>
              <a:ext uri="{FF2B5EF4-FFF2-40B4-BE49-F238E27FC236}">
                <a16:creationId xmlns:a16="http://schemas.microsoft.com/office/drawing/2014/main" id="{05CF12A4-176A-9361-7643-296916ED5F8D}"/>
              </a:ext>
            </a:extLst>
          </p:cNvPr>
          <p:cNvSpPr>
            <a:spLocks noGrp="1"/>
          </p:cNvSpPr>
          <p:nvPr>
            <p:ph type="body" sz="quarter" idx="11"/>
          </p:nvPr>
        </p:nvSpPr>
        <p:spPr>
          <a:xfrm>
            <a:off x="2750679" y="4227363"/>
            <a:ext cx="5902715" cy="490538"/>
          </a:xfrm>
        </p:spPr>
        <p:txBody>
          <a:bodyPr/>
          <a:lstStyle/>
          <a:p>
            <a:r>
              <a:rPr lang="en-GB" sz="1600" dirty="0">
                <a:hlinkClick r:id="rId4"/>
              </a:rPr>
              <a:t>https://moodle.bolton.ac.uk/course/view.php?id=32407</a:t>
            </a:r>
            <a:endParaRPr lang="en-GB" sz="1600" dirty="0"/>
          </a:p>
        </p:txBody>
      </p:sp>
    </p:spTree>
    <p:extLst>
      <p:ext uri="{BB962C8B-B14F-4D97-AF65-F5344CB8AC3E}">
        <p14:creationId xmlns:p14="http://schemas.microsoft.com/office/powerpoint/2010/main" val="1110251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6F03AADD-A4FE-4CE8-944C-3F9C9777F0AB}"/>
              </a:ext>
            </a:extLst>
          </p:cNvPr>
          <p:cNvSpPr>
            <a:spLocks noGrp="1"/>
          </p:cNvSpPr>
          <p:nvPr>
            <p:ph type="body" sz="quarter" idx="12"/>
          </p:nvPr>
        </p:nvSpPr>
        <p:spPr>
          <a:xfrm>
            <a:off x="660863" y="1484456"/>
            <a:ext cx="5690062" cy="3819064"/>
          </a:xfrm>
        </p:spPr>
        <p:txBody>
          <a:bodyPr rtlCol="0"/>
          <a:lstStyle/>
          <a:p>
            <a:pPr algn="just"/>
            <a:r>
              <a:rPr lang="en-GB" dirty="0"/>
              <a:t>Data analysis aims to create meaning from the data, as the basis for providing the concluding response to the research sub-questions and therefore to the main research question. </a:t>
            </a:r>
          </a:p>
          <a:p>
            <a:pPr algn="just"/>
            <a:r>
              <a:rPr lang="en-GB" dirty="0"/>
              <a:t>One of the most important aspects of data analysis is to </a:t>
            </a:r>
            <a:r>
              <a:rPr lang="en-GB" b="1" dirty="0"/>
              <a:t>maintain total focus on the research problem, the research sub-questions and the main research question</a:t>
            </a:r>
            <a:r>
              <a:rPr lang="en-GB" dirty="0"/>
              <a:t> and the analytical framework created in the research design.</a:t>
            </a:r>
          </a:p>
          <a:p>
            <a:pPr algn="just"/>
            <a:r>
              <a:rPr lang="en-GB" dirty="0"/>
              <a:t>The analysis of survey,  experimental and simulation data can include </a:t>
            </a:r>
            <a:r>
              <a:rPr lang="en-GB" b="1" dirty="0">
                <a:effectLst>
                  <a:outerShdw blurRad="38100" dist="38100" dir="2700000" algn="tl">
                    <a:srgbClr val="000000">
                      <a:alpha val="43137"/>
                    </a:srgbClr>
                  </a:outerShdw>
                </a:effectLst>
              </a:rPr>
              <a:t>descriptive</a:t>
            </a:r>
            <a:r>
              <a:rPr lang="en-GB" dirty="0"/>
              <a:t>, </a:t>
            </a:r>
            <a:r>
              <a:rPr lang="en-GB" b="1" dirty="0">
                <a:effectLst>
                  <a:outerShdw blurRad="38100" dist="38100" dir="2700000" algn="tl">
                    <a:srgbClr val="000000">
                      <a:alpha val="43137"/>
                    </a:srgbClr>
                  </a:outerShdw>
                </a:effectLst>
              </a:rPr>
              <a:t>inferential</a:t>
            </a:r>
            <a:r>
              <a:rPr lang="en-GB" dirty="0"/>
              <a:t>, </a:t>
            </a:r>
            <a:r>
              <a:rPr lang="en-GB" b="1" dirty="0">
                <a:effectLst>
                  <a:outerShdw blurRad="38100" dist="38100" dir="2700000" algn="tl">
                    <a:srgbClr val="000000">
                      <a:alpha val="43137"/>
                    </a:srgbClr>
                  </a:outerShdw>
                </a:effectLst>
              </a:rPr>
              <a:t>correlational</a:t>
            </a:r>
            <a:r>
              <a:rPr lang="en-GB" dirty="0"/>
              <a:t> and </a:t>
            </a:r>
            <a:r>
              <a:rPr lang="en-GB" b="1" dirty="0">
                <a:effectLst>
                  <a:outerShdw blurRad="38100" dist="38100" dir="2700000" algn="tl">
                    <a:srgbClr val="000000">
                      <a:alpha val="43137"/>
                    </a:srgbClr>
                  </a:outerShdw>
                </a:effectLst>
              </a:rPr>
              <a:t>predictive</a:t>
            </a:r>
            <a:r>
              <a:rPr lang="en-GB" dirty="0"/>
              <a:t> analytical techniques.</a:t>
            </a:r>
          </a:p>
          <a:p>
            <a:pPr algn="just"/>
            <a:endParaRPr lang="en-GB" dirty="0"/>
          </a:p>
          <a:p>
            <a:pPr algn="just"/>
            <a:endParaRPr lang="en-GB" dirty="0"/>
          </a:p>
          <a:p>
            <a:pPr marL="0" indent="0" algn="just">
              <a:buNone/>
            </a:pPr>
            <a:endParaRPr lang="en-GB" dirty="0"/>
          </a:p>
          <a:p>
            <a:pPr marL="0" indent="0" algn="just">
              <a:buNone/>
            </a:pPr>
            <a:endParaRPr lang="en-GB" dirty="0"/>
          </a:p>
          <a:p>
            <a:pPr marL="0" indent="0" algn="just">
              <a:buNone/>
            </a:pPr>
            <a:endParaRPr lang="en-GB" dirty="0"/>
          </a:p>
          <a:p>
            <a:pPr marL="0" indent="0" algn="just">
              <a:buNone/>
            </a:pPr>
            <a:endParaRPr lang="en-GB" dirty="0"/>
          </a:p>
          <a:p>
            <a:pPr marL="0" indent="0" algn="just">
              <a:buNone/>
            </a:pPr>
            <a:endParaRPr lang="en-GB" dirty="0"/>
          </a:p>
          <a:p>
            <a:pPr marL="0" indent="0" algn="just">
              <a:buNone/>
            </a:pPr>
            <a:endParaRPr lang="en-GB" dirty="0"/>
          </a:p>
        </p:txBody>
      </p:sp>
      <p:pic>
        <p:nvPicPr>
          <p:cNvPr id="4" name="Picture Placeholder 3" descr="close up of building">
            <a:extLst>
              <a:ext uri="{FF2B5EF4-FFF2-40B4-BE49-F238E27FC236}">
                <a16:creationId xmlns:a16="http://schemas.microsoft.com/office/drawing/2014/main" id="{5EAB7860-C105-46A8-8B51-C886DCFAB528}"/>
              </a:ext>
            </a:extLst>
          </p:cNvPr>
          <p:cNvPicPr>
            <a:picLocks noGrp="1" noChangeAspect="1"/>
          </p:cNvPicPr>
          <p:nvPr>
            <p:ph type="pic" sz="quarter" idx="13"/>
          </p:nvPr>
        </p:nvPicPr>
        <p:blipFill>
          <a:blip r:embed="rId3"/>
          <a:srcRect l="22544" r="22544"/>
          <a:stretch>
            <a:fillRect/>
          </a:stretch>
        </p:blipFill>
        <p:spPr/>
      </p:pic>
      <p:sp>
        <p:nvSpPr>
          <p:cNvPr id="5" name="Title 4">
            <a:extLst>
              <a:ext uri="{FF2B5EF4-FFF2-40B4-BE49-F238E27FC236}">
                <a16:creationId xmlns:a16="http://schemas.microsoft.com/office/drawing/2014/main" id="{91EF53E3-F88C-4203-A489-8C9D57513DF6}"/>
              </a:ext>
            </a:extLst>
          </p:cNvPr>
          <p:cNvSpPr>
            <a:spLocks noGrp="1"/>
          </p:cNvSpPr>
          <p:nvPr>
            <p:ph type="title"/>
          </p:nvPr>
        </p:nvSpPr>
        <p:spPr>
          <a:xfrm>
            <a:off x="605905" y="503831"/>
            <a:ext cx="6804429" cy="980625"/>
          </a:xfrm>
        </p:spPr>
        <p:txBody>
          <a:bodyPr rtlCol="0"/>
          <a:lstStyle/>
          <a:p>
            <a:r>
              <a:rPr lang="en-GB" sz="3600" dirty="0"/>
              <a:t>Data Analysis</a:t>
            </a:r>
          </a:p>
        </p:txBody>
      </p:sp>
    </p:spTree>
    <p:extLst>
      <p:ext uri="{BB962C8B-B14F-4D97-AF65-F5344CB8AC3E}">
        <p14:creationId xmlns:p14="http://schemas.microsoft.com/office/powerpoint/2010/main" val="3696770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6F03AADD-A4FE-4CE8-944C-3F9C9777F0AB}"/>
              </a:ext>
            </a:extLst>
          </p:cNvPr>
          <p:cNvSpPr>
            <a:spLocks noGrp="1"/>
          </p:cNvSpPr>
          <p:nvPr>
            <p:ph type="body" sz="quarter" idx="12"/>
          </p:nvPr>
        </p:nvSpPr>
        <p:spPr>
          <a:xfrm>
            <a:off x="660862" y="1678509"/>
            <a:ext cx="5457305" cy="4500708"/>
          </a:xfrm>
        </p:spPr>
        <p:txBody>
          <a:bodyPr rtlCol="0"/>
          <a:lstStyle/>
          <a:p>
            <a:pPr algn="just"/>
            <a:r>
              <a:rPr lang="en-GB" dirty="0"/>
              <a:t>Researchers use quantitative analysis techniques where experimental, numerical or statistical data is being analysed.</a:t>
            </a:r>
          </a:p>
          <a:p>
            <a:pPr algn="just"/>
            <a:r>
              <a:rPr lang="en-GB" dirty="0"/>
              <a:t>Researchers apply statistical, data mining, and predictive analytics techniques. A mix of mathematics, statistics, AI, machine learning, and visualization techniques are used.</a:t>
            </a:r>
          </a:p>
          <a:p>
            <a:pPr marL="0" indent="0">
              <a:buNone/>
            </a:pPr>
            <a:r>
              <a:rPr lang="en-GB" dirty="0"/>
              <a:t>Tools:</a:t>
            </a:r>
          </a:p>
          <a:p>
            <a:r>
              <a:rPr lang="en-GB" dirty="0"/>
              <a:t>Statistical software like </a:t>
            </a:r>
            <a:r>
              <a:rPr lang="en-GB" b="1" dirty="0"/>
              <a:t>SPSS, </a:t>
            </a:r>
          </a:p>
          <a:p>
            <a:r>
              <a:rPr lang="en-GB" dirty="0"/>
              <a:t>Spreadsheet programs like </a:t>
            </a:r>
            <a:r>
              <a:rPr lang="en-GB" b="1" dirty="0"/>
              <a:t>Excel</a:t>
            </a:r>
          </a:p>
          <a:p>
            <a:r>
              <a:rPr lang="en-GB" dirty="0"/>
              <a:t>Specialized data analysis tools and languages such as R/python</a:t>
            </a:r>
          </a:p>
          <a:p>
            <a:pPr algn="just"/>
            <a:endParaRPr lang="en-GB" dirty="0"/>
          </a:p>
          <a:p>
            <a:pPr marL="0" indent="0" algn="just">
              <a:buNone/>
            </a:pPr>
            <a:endParaRPr lang="en-GB" dirty="0"/>
          </a:p>
          <a:p>
            <a:pPr algn="just"/>
            <a:endParaRPr lang="en-GB" dirty="0"/>
          </a:p>
          <a:p>
            <a:pPr marL="0" indent="0" algn="just">
              <a:buNone/>
            </a:pPr>
            <a:endParaRPr lang="en-GB" dirty="0"/>
          </a:p>
          <a:p>
            <a:pPr marL="0" indent="0" algn="just">
              <a:buNone/>
            </a:pPr>
            <a:endParaRPr lang="en-GB" dirty="0"/>
          </a:p>
          <a:p>
            <a:pPr marL="0" indent="0" algn="just">
              <a:buNone/>
            </a:pPr>
            <a:endParaRPr lang="en-GB" dirty="0"/>
          </a:p>
          <a:p>
            <a:pPr marL="0" indent="0" algn="just">
              <a:buNone/>
            </a:pPr>
            <a:endParaRPr lang="en-GB" dirty="0"/>
          </a:p>
        </p:txBody>
      </p:sp>
      <p:sp>
        <p:nvSpPr>
          <p:cNvPr id="5" name="Title 4">
            <a:extLst>
              <a:ext uri="{FF2B5EF4-FFF2-40B4-BE49-F238E27FC236}">
                <a16:creationId xmlns:a16="http://schemas.microsoft.com/office/drawing/2014/main" id="{91EF53E3-F88C-4203-A489-8C9D57513DF6}"/>
              </a:ext>
            </a:extLst>
          </p:cNvPr>
          <p:cNvSpPr>
            <a:spLocks noGrp="1"/>
          </p:cNvSpPr>
          <p:nvPr>
            <p:ph type="title"/>
          </p:nvPr>
        </p:nvSpPr>
        <p:spPr>
          <a:xfrm>
            <a:off x="660862" y="295868"/>
            <a:ext cx="5773189" cy="980625"/>
          </a:xfrm>
        </p:spPr>
        <p:txBody>
          <a:bodyPr rtlCol="0"/>
          <a:lstStyle/>
          <a:p>
            <a:pPr algn="ctr"/>
            <a:r>
              <a:rPr lang="en-GB" sz="3600" dirty="0"/>
              <a:t>Quantitative Data Analysis Techniques</a:t>
            </a:r>
          </a:p>
        </p:txBody>
      </p:sp>
      <p:pic>
        <p:nvPicPr>
          <p:cNvPr id="6" name="Picture 5"/>
          <p:cNvPicPr>
            <a:picLocks noChangeAspect="1"/>
          </p:cNvPicPr>
          <p:nvPr/>
        </p:nvPicPr>
        <p:blipFill>
          <a:blip r:embed="rId3"/>
          <a:stretch>
            <a:fillRect/>
          </a:stretch>
        </p:blipFill>
        <p:spPr>
          <a:xfrm>
            <a:off x="6434051" y="948604"/>
            <a:ext cx="5757949" cy="3523645"/>
          </a:xfrm>
          <a:prstGeom prst="rect">
            <a:avLst/>
          </a:prstGeom>
        </p:spPr>
      </p:pic>
    </p:spTree>
    <p:extLst>
      <p:ext uri="{BB962C8B-B14F-4D97-AF65-F5344CB8AC3E}">
        <p14:creationId xmlns:p14="http://schemas.microsoft.com/office/powerpoint/2010/main" val="1582382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EA677B0-03AF-2215-38FD-9A1FCBE5E1E7}"/>
              </a:ext>
            </a:extLst>
          </p:cNvPr>
          <p:cNvSpPr>
            <a:spLocks noGrp="1"/>
          </p:cNvSpPr>
          <p:nvPr>
            <p:ph type="pic" sz="quarter" idx="10"/>
          </p:nvPr>
        </p:nvSpPr>
        <p:spPr/>
        <p:txBody>
          <a:bodyPr/>
          <a:lstStyle/>
          <a:p>
            <a:endParaRPr lang="en-GB" dirty="0"/>
          </a:p>
        </p:txBody>
      </p:sp>
      <p:sp>
        <p:nvSpPr>
          <p:cNvPr id="3" name="Title 2">
            <a:extLst>
              <a:ext uri="{FF2B5EF4-FFF2-40B4-BE49-F238E27FC236}">
                <a16:creationId xmlns:a16="http://schemas.microsoft.com/office/drawing/2014/main" id="{FED8BB73-78B2-FC77-F1AE-F0F605DC6BA9}"/>
              </a:ext>
            </a:extLst>
          </p:cNvPr>
          <p:cNvSpPr>
            <a:spLocks noGrp="1"/>
          </p:cNvSpPr>
          <p:nvPr>
            <p:ph type="title"/>
          </p:nvPr>
        </p:nvSpPr>
        <p:spPr>
          <a:xfrm>
            <a:off x="3843027" y="2059022"/>
            <a:ext cx="4768959" cy="2374194"/>
          </a:xfrm>
        </p:spPr>
        <p:txBody>
          <a:bodyPr/>
          <a:lstStyle/>
          <a:p>
            <a:r>
              <a:rPr lang="en-GB" sz="6600" dirty="0"/>
              <a:t>Statistical Data Analysis Techniques</a:t>
            </a:r>
          </a:p>
        </p:txBody>
      </p:sp>
    </p:spTree>
    <p:extLst>
      <p:ext uri="{BB962C8B-B14F-4D97-AF65-F5344CB8AC3E}">
        <p14:creationId xmlns:p14="http://schemas.microsoft.com/office/powerpoint/2010/main" val="2741553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172333" y="168922"/>
            <a:ext cx="8186606" cy="1102640"/>
          </a:xfrm>
        </p:spPr>
        <p:txBody>
          <a:bodyPr anchor="ctr">
            <a:normAutofit/>
          </a:bodyPr>
          <a:lstStyle/>
          <a:p>
            <a:r>
              <a:rPr lang="en-GB" sz="4400" dirty="0"/>
              <a:t>Descriptive Analysis Techniques</a:t>
            </a:r>
          </a:p>
        </p:txBody>
      </p:sp>
      <p:sp>
        <p:nvSpPr>
          <p:cNvPr id="3" name="TextBox 2">
            <a:extLst>
              <a:ext uri="{FF2B5EF4-FFF2-40B4-BE49-F238E27FC236}">
                <a16:creationId xmlns:a16="http://schemas.microsoft.com/office/drawing/2014/main" id="{FE10A49A-9FCD-5F68-3696-0C865A388519}"/>
              </a:ext>
            </a:extLst>
          </p:cNvPr>
          <p:cNvSpPr txBox="1"/>
          <p:nvPr/>
        </p:nvSpPr>
        <p:spPr>
          <a:xfrm>
            <a:off x="501446" y="1247863"/>
            <a:ext cx="7543799" cy="4801314"/>
          </a:xfrm>
          <a:prstGeom prst="rect">
            <a:avLst/>
          </a:prstGeom>
          <a:noFill/>
        </p:spPr>
        <p:txBody>
          <a:bodyPr wrap="square" rtlCol="0">
            <a:spAutoFit/>
          </a:bodyPr>
          <a:lstStyle/>
          <a:p>
            <a:r>
              <a:rPr lang="en-GB" b="1" dirty="0"/>
              <a:t>Descriptive Analysis:</a:t>
            </a:r>
            <a:r>
              <a:rPr lang="en-GB" dirty="0"/>
              <a:t>  Focuses on historical data and key performance indicators (KPIs). It examines what has already happened in the past, using historical data. It aims to provide a summary of past performance and trends.</a:t>
            </a:r>
          </a:p>
          <a:p>
            <a:endParaRPr lang="en-GB" dirty="0"/>
          </a:p>
          <a:p>
            <a:r>
              <a:rPr lang="en-GB" dirty="0"/>
              <a:t>Common techniques include:</a:t>
            </a:r>
          </a:p>
          <a:p>
            <a:pPr marL="285750" indent="-285750">
              <a:buClr>
                <a:schemeClr val="accent4"/>
              </a:buClr>
              <a:buFont typeface="Arial" panose="020B0604020202020204" pitchFamily="34" charset="0"/>
              <a:buChar char="•"/>
            </a:pPr>
            <a:r>
              <a:rPr lang="en-GB" dirty="0"/>
              <a:t>Calculating averages, percentages, rates of change</a:t>
            </a:r>
          </a:p>
          <a:p>
            <a:pPr marL="285750" indent="-285750">
              <a:buClr>
                <a:schemeClr val="accent4"/>
              </a:buClr>
              <a:buFont typeface="Arial" panose="020B0604020202020204" pitchFamily="34" charset="0"/>
              <a:buChar char="•"/>
            </a:pPr>
            <a:r>
              <a:rPr lang="en-GB" dirty="0"/>
              <a:t>Identifying patterns and trends in data over time</a:t>
            </a:r>
          </a:p>
          <a:p>
            <a:pPr marL="285750" indent="-285750">
              <a:buClr>
                <a:schemeClr val="accent4"/>
              </a:buClr>
              <a:buFont typeface="Arial" panose="020B0604020202020204" pitchFamily="34" charset="0"/>
              <a:buChar char="•"/>
            </a:pPr>
            <a:r>
              <a:rPr lang="en-GB" dirty="0"/>
              <a:t>Comparing current performance to past performance</a:t>
            </a:r>
          </a:p>
          <a:p>
            <a:pPr marL="285750" indent="-285750">
              <a:buClr>
                <a:schemeClr val="accent4"/>
              </a:buClr>
              <a:buFont typeface="Arial" panose="020B0604020202020204" pitchFamily="34" charset="0"/>
              <a:buChar char="•"/>
            </a:pPr>
            <a:r>
              <a:rPr lang="en-GB" dirty="0"/>
              <a:t>Visualizing data through charts, graphs, dashboards</a:t>
            </a:r>
          </a:p>
          <a:p>
            <a:endParaRPr lang="en-GB" dirty="0"/>
          </a:p>
          <a:p>
            <a:r>
              <a:rPr lang="en-GB" dirty="0"/>
              <a:t>Examples of descriptive metrics:</a:t>
            </a:r>
          </a:p>
          <a:p>
            <a:pPr marL="285750" indent="-285750">
              <a:buClr>
                <a:schemeClr val="accent4"/>
              </a:buClr>
              <a:buFont typeface="Arial" panose="020B0604020202020204" pitchFamily="34" charset="0"/>
              <a:buChar char="•"/>
            </a:pPr>
            <a:r>
              <a:rPr lang="en-GB" dirty="0"/>
              <a:t>Total revenue</a:t>
            </a:r>
          </a:p>
          <a:p>
            <a:pPr marL="285750" indent="-285750">
              <a:buClr>
                <a:schemeClr val="accent4"/>
              </a:buClr>
              <a:buFont typeface="Arial" panose="020B0604020202020204" pitchFamily="34" charset="0"/>
              <a:buChar char="•"/>
            </a:pPr>
            <a:r>
              <a:rPr lang="en-GB" dirty="0"/>
              <a:t>Year-over-year sales growth</a:t>
            </a:r>
          </a:p>
          <a:p>
            <a:pPr marL="285750" indent="-285750">
              <a:buClr>
                <a:schemeClr val="accent4"/>
              </a:buClr>
              <a:buFont typeface="Arial" panose="020B0604020202020204" pitchFamily="34" charset="0"/>
              <a:buChar char="•"/>
            </a:pPr>
            <a:r>
              <a:rPr lang="en-GB" dirty="0"/>
              <a:t>Website traffic statistics</a:t>
            </a:r>
          </a:p>
          <a:p>
            <a:pPr marL="285750" indent="-285750">
              <a:buClr>
                <a:schemeClr val="accent4"/>
              </a:buClr>
              <a:buFont typeface="Arial" panose="020B0604020202020204" pitchFamily="34" charset="0"/>
              <a:buChar char="•"/>
            </a:pPr>
            <a:r>
              <a:rPr lang="en-GB" dirty="0"/>
              <a:t>Social media engagement metrics</a:t>
            </a:r>
          </a:p>
          <a:p>
            <a:endParaRPr lang="en-GB" dirty="0"/>
          </a:p>
          <a:p>
            <a:endParaRPr lang="en-GB" dirty="0"/>
          </a:p>
        </p:txBody>
      </p:sp>
      <p:pic>
        <p:nvPicPr>
          <p:cNvPr id="4" name="Picture 3"/>
          <p:cNvPicPr>
            <a:picLocks noChangeAspect="1"/>
          </p:cNvPicPr>
          <p:nvPr/>
        </p:nvPicPr>
        <p:blipFill>
          <a:blip r:embed="rId3"/>
          <a:stretch>
            <a:fillRect/>
          </a:stretch>
        </p:blipFill>
        <p:spPr>
          <a:xfrm>
            <a:off x="7365076" y="531824"/>
            <a:ext cx="4682134" cy="4865030"/>
          </a:xfrm>
          <a:prstGeom prst="rect">
            <a:avLst/>
          </a:prstGeom>
        </p:spPr>
      </p:pic>
    </p:spTree>
    <p:extLst>
      <p:ext uri="{BB962C8B-B14F-4D97-AF65-F5344CB8AC3E}">
        <p14:creationId xmlns:p14="http://schemas.microsoft.com/office/powerpoint/2010/main" val="1286057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144790" y="182719"/>
            <a:ext cx="8739670" cy="1102640"/>
          </a:xfrm>
        </p:spPr>
        <p:txBody>
          <a:bodyPr anchor="ctr">
            <a:normAutofit/>
          </a:bodyPr>
          <a:lstStyle/>
          <a:p>
            <a:r>
              <a:rPr lang="en-GB" sz="4400" dirty="0"/>
              <a:t>Dispersion Analysis Techniques</a:t>
            </a:r>
          </a:p>
        </p:txBody>
      </p:sp>
      <p:sp>
        <p:nvSpPr>
          <p:cNvPr id="3" name="TextBox 2">
            <a:extLst>
              <a:ext uri="{FF2B5EF4-FFF2-40B4-BE49-F238E27FC236}">
                <a16:creationId xmlns:a16="http://schemas.microsoft.com/office/drawing/2014/main" id="{FE10A49A-9FCD-5F68-3696-0C865A388519}"/>
              </a:ext>
            </a:extLst>
          </p:cNvPr>
          <p:cNvSpPr txBox="1"/>
          <p:nvPr/>
        </p:nvSpPr>
        <p:spPr>
          <a:xfrm>
            <a:off x="748949" y="1391684"/>
            <a:ext cx="7915728" cy="4662815"/>
          </a:xfrm>
          <a:prstGeom prst="rect">
            <a:avLst/>
          </a:prstGeom>
          <a:noFill/>
        </p:spPr>
        <p:txBody>
          <a:bodyPr wrap="square" rtlCol="0">
            <a:spAutoFit/>
          </a:bodyPr>
          <a:lstStyle/>
          <a:p>
            <a:endParaRPr lang="en-GB" dirty="0"/>
          </a:p>
          <a:p>
            <a:r>
              <a:rPr lang="en-GB" b="1" dirty="0"/>
              <a:t>Dispersion Analysis: </a:t>
            </a:r>
            <a:r>
              <a:rPr lang="en-GB" dirty="0"/>
              <a:t> Dispersion analysis refers to statistical techniques used to measure how widely data values are spread. Some key points about dispersion analysis:</a:t>
            </a:r>
          </a:p>
          <a:p>
            <a:pPr>
              <a:lnSpc>
                <a:spcPct val="150000"/>
              </a:lnSpc>
            </a:pPr>
            <a:endParaRPr lang="en-GB" dirty="0"/>
          </a:p>
          <a:p>
            <a:pPr marL="285750" indent="-285750">
              <a:buClr>
                <a:schemeClr val="accent4"/>
              </a:buClr>
              <a:buFont typeface="Wingdings" panose="05000000000000000000" pitchFamily="2" charset="2"/>
              <a:buChar char="§"/>
            </a:pPr>
            <a:r>
              <a:rPr lang="en-GB" dirty="0"/>
              <a:t>Common measures of dispersion include:</a:t>
            </a:r>
          </a:p>
          <a:p>
            <a:pPr marL="531813" indent="-265113">
              <a:buClr>
                <a:schemeClr val="accent4"/>
              </a:buClr>
              <a:buFont typeface="Arial" panose="020B0604020202020204" pitchFamily="34" charset="0"/>
              <a:buChar char="•"/>
            </a:pPr>
            <a:r>
              <a:rPr lang="en-GB" b="1" dirty="0">
                <a:effectLst>
                  <a:outerShdw blurRad="38100" dist="38100" dir="2700000" algn="tl">
                    <a:srgbClr val="000000">
                      <a:alpha val="43137"/>
                    </a:srgbClr>
                  </a:outerShdw>
                </a:effectLst>
              </a:rPr>
              <a:t>Range</a:t>
            </a:r>
            <a:r>
              <a:rPr lang="en-GB" dirty="0"/>
              <a:t> - difference between maximum and minimum values</a:t>
            </a:r>
          </a:p>
          <a:p>
            <a:pPr marL="531813" indent="-265113">
              <a:buClr>
                <a:schemeClr val="accent4"/>
              </a:buClr>
              <a:buFont typeface="Arial" panose="020B0604020202020204" pitchFamily="34" charset="0"/>
              <a:buChar char="•"/>
            </a:pPr>
            <a:r>
              <a:rPr lang="en-GB" b="1" dirty="0">
                <a:effectLst>
                  <a:outerShdw blurRad="38100" dist="38100" dir="2700000" algn="tl">
                    <a:srgbClr val="000000">
                      <a:alpha val="43137"/>
                    </a:srgbClr>
                  </a:outerShdw>
                </a:effectLst>
              </a:rPr>
              <a:t>Variance</a:t>
            </a:r>
            <a:r>
              <a:rPr lang="en-GB" dirty="0"/>
              <a:t> - average squared deviation from the mean</a:t>
            </a:r>
          </a:p>
          <a:p>
            <a:pPr marL="531813" indent="-265113">
              <a:buClr>
                <a:schemeClr val="accent4"/>
              </a:buClr>
              <a:buFont typeface="Arial" panose="020B0604020202020204" pitchFamily="34" charset="0"/>
              <a:buChar char="•"/>
            </a:pPr>
            <a:r>
              <a:rPr lang="en-GB" b="1" dirty="0">
                <a:effectLst>
                  <a:outerShdw blurRad="38100" dist="38100" dir="2700000" algn="tl">
                    <a:srgbClr val="000000">
                      <a:alpha val="43137"/>
                    </a:srgbClr>
                  </a:outerShdw>
                </a:effectLst>
              </a:rPr>
              <a:t>Standard deviation </a:t>
            </a:r>
            <a:r>
              <a:rPr lang="en-GB" dirty="0"/>
              <a:t>- square root of variance</a:t>
            </a:r>
          </a:p>
          <a:p>
            <a:pPr marL="531813" indent="-265113">
              <a:buClr>
                <a:schemeClr val="accent4"/>
              </a:buClr>
            </a:pPr>
            <a:endParaRPr lang="en-GB" dirty="0"/>
          </a:p>
          <a:p>
            <a:pPr marL="285750" indent="-285750">
              <a:buClr>
                <a:schemeClr val="accent4"/>
              </a:buClr>
              <a:buFont typeface="Wingdings" panose="05000000000000000000" pitchFamily="2" charset="2"/>
              <a:buChar char="§"/>
            </a:pPr>
            <a:r>
              <a:rPr lang="en-GB" dirty="0"/>
              <a:t>Dispersion analysis helps understand: </a:t>
            </a:r>
          </a:p>
          <a:p>
            <a:pPr marL="531813" indent="-265113">
              <a:buClr>
                <a:schemeClr val="accent4"/>
              </a:buClr>
              <a:buFont typeface="Arial" panose="020B0604020202020204" pitchFamily="34" charset="0"/>
              <a:buChar char="•"/>
            </a:pPr>
            <a:r>
              <a:rPr lang="en-GB" dirty="0"/>
              <a:t>How representative the average/central value is</a:t>
            </a:r>
          </a:p>
          <a:p>
            <a:pPr marL="531813" indent="-265113">
              <a:buClr>
                <a:schemeClr val="accent4"/>
              </a:buClr>
              <a:buFont typeface="Arial" panose="020B0604020202020204" pitchFamily="34" charset="0"/>
              <a:buChar char="•"/>
            </a:pPr>
            <a:r>
              <a:rPr lang="en-GB" dirty="0"/>
              <a:t>The extent of variability in the data</a:t>
            </a:r>
          </a:p>
          <a:p>
            <a:pPr>
              <a:buClr>
                <a:schemeClr val="accent4"/>
              </a:buClr>
            </a:pPr>
            <a:endParaRPr lang="en-GB" dirty="0"/>
          </a:p>
          <a:p>
            <a:endParaRPr lang="en-GB" dirty="0"/>
          </a:p>
          <a:p>
            <a:pPr marL="285750" indent="-285750">
              <a:buFont typeface="Arial" panose="020B0604020202020204" pitchFamily="34" charset="0"/>
              <a:buChar char="•"/>
            </a:pPr>
            <a:endParaRPr lang="en-GB" dirty="0"/>
          </a:p>
        </p:txBody>
      </p:sp>
      <p:pic>
        <p:nvPicPr>
          <p:cNvPr id="4" name="Picture 3"/>
          <p:cNvPicPr>
            <a:picLocks noChangeAspect="1"/>
          </p:cNvPicPr>
          <p:nvPr/>
        </p:nvPicPr>
        <p:blipFill>
          <a:blip r:embed="rId3"/>
          <a:stretch>
            <a:fillRect/>
          </a:stretch>
        </p:blipFill>
        <p:spPr>
          <a:xfrm>
            <a:off x="7747462" y="531824"/>
            <a:ext cx="4299748" cy="4865030"/>
          </a:xfrm>
          <a:prstGeom prst="rect">
            <a:avLst/>
          </a:prstGeom>
        </p:spPr>
      </p:pic>
    </p:spTree>
    <p:extLst>
      <p:ext uri="{BB962C8B-B14F-4D97-AF65-F5344CB8AC3E}">
        <p14:creationId xmlns:p14="http://schemas.microsoft.com/office/powerpoint/2010/main" val="2133859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340464" y="238375"/>
            <a:ext cx="8983019" cy="1102640"/>
          </a:xfrm>
        </p:spPr>
        <p:txBody>
          <a:bodyPr anchor="ctr">
            <a:normAutofit/>
          </a:bodyPr>
          <a:lstStyle/>
          <a:p>
            <a:r>
              <a:rPr lang="en-GB" sz="4400" dirty="0"/>
              <a:t>Regression Analysis Techniques</a:t>
            </a:r>
          </a:p>
        </p:txBody>
      </p:sp>
      <p:sp>
        <p:nvSpPr>
          <p:cNvPr id="3" name="TextBox 2">
            <a:extLst>
              <a:ext uri="{FF2B5EF4-FFF2-40B4-BE49-F238E27FC236}">
                <a16:creationId xmlns:a16="http://schemas.microsoft.com/office/drawing/2014/main" id="{FE10A49A-9FCD-5F68-3696-0C865A388519}"/>
              </a:ext>
            </a:extLst>
          </p:cNvPr>
          <p:cNvSpPr txBox="1"/>
          <p:nvPr/>
        </p:nvSpPr>
        <p:spPr>
          <a:xfrm>
            <a:off x="750961" y="1353156"/>
            <a:ext cx="7397523" cy="5632311"/>
          </a:xfrm>
          <a:prstGeom prst="rect">
            <a:avLst/>
          </a:prstGeom>
          <a:noFill/>
        </p:spPr>
        <p:txBody>
          <a:bodyPr wrap="square" rtlCol="0">
            <a:spAutoFit/>
          </a:bodyPr>
          <a:lstStyle/>
          <a:p>
            <a:r>
              <a:rPr lang="en-GB" b="1" dirty="0"/>
              <a:t>Regression Analysis:</a:t>
            </a:r>
            <a:r>
              <a:rPr lang="en-GB" dirty="0"/>
              <a:t>  Regression analysis is a statistical technique used to model and analyse the </a:t>
            </a:r>
            <a:r>
              <a:rPr lang="en-GB" b="1" dirty="0">
                <a:effectLst>
                  <a:outerShdw blurRad="38100" dist="38100" dir="2700000" algn="tl">
                    <a:srgbClr val="000000">
                      <a:alpha val="43137"/>
                    </a:srgbClr>
                  </a:outerShdw>
                </a:effectLst>
              </a:rPr>
              <a:t>relationship</a:t>
            </a:r>
            <a:r>
              <a:rPr lang="en-GB" dirty="0"/>
              <a:t> between a </a:t>
            </a:r>
            <a:r>
              <a:rPr lang="en-GB" b="1" dirty="0">
                <a:effectLst>
                  <a:outerShdw blurRad="38100" dist="38100" dir="2700000" algn="tl">
                    <a:srgbClr val="000000">
                      <a:alpha val="43137"/>
                    </a:srgbClr>
                  </a:outerShdw>
                </a:effectLst>
              </a:rPr>
              <a:t>dependent</a:t>
            </a:r>
            <a:r>
              <a:rPr lang="en-GB" dirty="0"/>
              <a:t> </a:t>
            </a:r>
            <a:r>
              <a:rPr lang="en-GB" b="1" dirty="0">
                <a:effectLst>
                  <a:outerShdw blurRad="38100" dist="38100" dir="2700000" algn="tl">
                    <a:srgbClr val="000000">
                      <a:alpha val="43137"/>
                    </a:srgbClr>
                  </a:outerShdw>
                </a:effectLst>
              </a:rPr>
              <a:t>variable</a:t>
            </a:r>
            <a:r>
              <a:rPr lang="en-GB" dirty="0"/>
              <a:t> and one or more </a:t>
            </a:r>
            <a:r>
              <a:rPr lang="en-GB" b="1" dirty="0">
                <a:effectLst>
                  <a:outerShdw blurRad="38100" dist="38100" dir="2700000" algn="tl">
                    <a:srgbClr val="000000">
                      <a:alpha val="43137"/>
                    </a:srgbClr>
                  </a:outerShdw>
                </a:effectLst>
              </a:rPr>
              <a:t>independent</a:t>
            </a:r>
            <a:r>
              <a:rPr lang="en-GB" dirty="0"/>
              <a:t> </a:t>
            </a:r>
            <a:r>
              <a:rPr lang="en-GB" b="1" dirty="0">
                <a:effectLst>
                  <a:outerShdw blurRad="38100" dist="38100" dir="2700000" algn="tl">
                    <a:srgbClr val="000000">
                      <a:alpha val="43137"/>
                    </a:srgbClr>
                  </a:outerShdw>
                </a:effectLst>
              </a:rPr>
              <a:t>variables</a:t>
            </a:r>
            <a:r>
              <a:rPr lang="en-GB" dirty="0"/>
              <a:t>. Here are the key points about regression analysis:</a:t>
            </a:r>
          </a:p>
          <a:p>
            <a:endParaRPr lang="en-GB" dirty="0"/>
          </a:p>
          <a:p>
            <a:pPr marL="285750" indent="-285750">
              <a:buClr>
                <a:schemeClr val="accent4"/>
              </a:buClr>
              <a:buFont typeface="Wingdings" panose="05000000000000000000" pitchFamily="2" charset="2"/>
              <a:buChar char="§"/>
            </a:pPr>
            <a:r>
              <a:rPr lang="en-GB" dirty="0"/>
              <a:t>Forecasting future values of the dependent variable</a:t>
            </a:r>
          </a:p>
          <a:p>
            <a:pPr marL="285750" indent="-285750">
              <a:buClr>
                <a:schemeClr val="accent4"/>
              </a:buClr>
              <a:buFont typeface="Wingdings" panose="05000000000000000000" pitchFamily="2" charset="2"/>
              <a:buChar char="§"/>
            </a:pPr>
            <a:r>
              <a:rPr lang="en-GB" dirty="0"/>
              <a:t>Understanding which factors influence the dependent variable and to what extent</a:t>
            </a:r>
          </a:p>
          <a:p>
            <a:pPr marL="285750" indent="-285750">
              <a:buClr>
                <a:schemeClr val="accent4"/>
              </a:buClr>
              <a:buFont typeface="Wingdings" panose="05000000000000000000" pitchFamily="2" charset="2"/>
              <a:buChar char="§"/>
            </a:pPr>
            <a:r>
              <a:rPr lang="en-GB" dirty="0"/>
              <a:t>Trend analysis: Identifying patterns over time</a:t>
            </a:r>
          </a:p>
          <a:p>
            <a:pPr>
              <a:buClr>
                <a:schemeClr val="accent4"/>
              </a:buClr>
            </a:pPr>
            <a:endParaRPr lang="en-GB" dirty="0"/>
          </a:p>
          <a:p>
            <a:r>
              <a:rPr lang="en-GB" b="1" dirty="0"/>
              <a:t>Types:</a:t>
            </a:r>
          </a:p>
          <a:p>
            <a:pPr marL="531813" indent="-265113">
              <a:buClr>
                <a:schemeClr val="accent4"/>
              </a:buClr>
              <a:buFont typeface="Arial" panose="020B0604020202020204" pitchFamily="34" charset="0"/>
              <a:buChar char="•"/>
            </a:pPr>
            <a:r>
              <a:rPr lang="en-GB" dirty="0"/>
              <a:t>Simple linear regression: One independent variable</a:t>
            </a:r>
          </a:p>
          <a:p>
            <a:pPr marL="531813" indent="-265113">
              <a:buClr>
                <a:schemeClr val="accent4"/>
              </a:buClr>
              <a:buFont typeface="Arial" panose="020B0604020202020204" pitchFamily="34" charset="0"/>
              <a:buChar char="•"/>
            </a:pPr>
            <a:r>
              <a:rPr lang="en-GB" dirty="0"/>
              <a:t>Multiple linear regression: Two or more independent variables</a:t>
            </a:r>
          </a:p>
          <a:p>
            <a:pPr marL="531813" indent="-265113">
              <a:buClr>
                <a:schemeClr val="accent4"/>
              </a:buClr>
              <a:buFont typeface="Arial" panose="020B0604020202020204" pitchFamily="34" charset="0"/>
              <a:buChar char="•"/>
            </a:pPr>
            <a:r>
              <a:rPr lang="en-GB" dirty="0"/>
              <a:t>Nonlinear regression: For modelling nonlinear relationships</a:t>
            </a:r>
          </a:p>
          <a:p>
            <a:r>
              <a:rPr lang="en-GB" b="1" dirty="0"/>
              <a:t>Uses in research: </a:t>
            </a:r>
          </a:p>
          <a:p>
            <a:pPr marL="531813" indent="-265113">
              <a:buClr>
                <a:schemeClr val="accent4"/>
              </a:buClr>
              <a:buFont typeface="Arial" panose="020B0604020202020204" pitchFamily="34" charset="0"/>
              <a:buChar char="•"/>
            </a:pPr>
            <a:r>
              <a:rPr lang="en-GB" dirty="0"/>
              <a:t>Economics: Modelling economic relationships</a:t>
            </a:r>
          </a:p>
          <a:p>
            <a:pPr marL="531813" indent="-265113">
              <a:buClr>
                <a:schemeClr val="accent4"/>
              </a:buClr>
              <a:buFont typeface="Arial" panose="020B0604020202020204" pitchFamily="34" charset="0"/>
              <a:buChar char="•"/>
            </a:pPr>
            <a:r>
              <a:rPr lang="en-GB" dirty="0"/>
              <a:t>Psychology: Analysing factors influencing behaviour</a:t>
            </a:r>
          </a:p>
          <a:p>
            <a:pPr marL="531813" indent="-265113">
              <a:buClr>
                <a:schemeClr val="accent4"/>
              </a:buClr>
              <a:buFont typeface="Arial" panose="020B0604020202020204" pitchFamily="34" charset="0"/>
              <a:buChar char="•"/>
            </a:pPr>
            <a:r>
              <a:rPr lang="en-GB" dirty="0"/>
              <a:t>Marketing: Understanding consumer preferences</a:t>
            </a:r>
          </a:p>
          <a:p>
            <a:pPr marL="531813" indent="-265113">
              <a:buClr>
                <a:schemeClr val="accent4"/>
              </a:buClr>
              <a:buFont typeface="Arial" panose="020B0604020202020204" pitchFamily="34" charset="0"/>
              <a:buChar char="•"/>
            </a:pPr>
            <a:r>
              <a:rPr lang="en-GB" dirty="0"/>
              <a:t>It's widely used across many fields of research and business analytics.</a:t>
            </a:r>
          </a:p>
          <a:p>
            <a:pPr marL="285750" indent="-285750">
              <a:buClr>
                <a:schemeClr val="accent4"/>
              </a:buClr>
              <a:buFont typeface="Arial" panose="020B0604020202020204" pitchFamily="34" charset="0"/>
              <a:buChar char="•"/>
            </a:pPr>
            <a:endParaRPr lang="en-GB" dirty="0"/>
          </a:p>
          <a:p>
            <a:endParaRPr lang="en-GB" dirty="0"/>
          </a:p>
        </p:txBody>
      </p:sp>
      <p:pic>
        <p:nvPicPr>
          <p:cNvPr id="4" name="Picture 3"/>
          <p:cNvPicPr>
            <a:picLocks noChangeAspect="1"/>
          </p:cNvPicPr>
          <p:nvPr/>
        </p:nvPicPr>
        <p:blipFill>
          <a:blip r:embed="rId3"/>
          <a:stretch>
            <a:fillRect/>
          </a:stretch>
        </p:blipFill>
        <p:spPr>
          <a:xfrm>
            <a:off x="7963592" y="531824"/>
            <a:ext cx="4083617" cy="4865030"/>
          </a:xfrm>
          <a:prstGeom prst="rect">
            <a:avLst/>
          </a:prstGeom>
        </p:spPr>
      </p:pic>
    </p:spTree>
    <p:extLst>
      <p:ext uri="{BB962C8B-B14F-4D97-AF65-F5344CB8AC3E}">
        <p14:creationId xmlns:p14="http://schemas.microsoft.com/office/powerpoint/2010/main" val="2740063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144790" y="172007"/>
            <a:ext cx="7752302" cy="1102640"/>
          </a:xfrm>
        </p:spPr>
        <p:txBody>
          <a:bodyPr anchor="ctr">
            <a:normAutofit/>
          </a:bodyPr>
          <a:lstStyle/>
          <a:p>
            <a:r>
              <a:rPr lang="en-GB" sz="4400" dirty="0"/>
              <a:t>Factor Analysis Techniques</a:t>
            </a:r>
          </a:p>
        </p:txBody>
      </p:sp>
      <p:sp>
        <p:nvSpPr>
          <p:cNvPr id="3" name="TextBox 2">
            <a:extLst>
              <a:ext uri="{FF2B5EF4-FFF2-40B4-BE49-F238E27FC236}">
                <a16:creationId xmlns:a16="http://schemas.microsoft.com/office/drawing/2014/main" id="{FE10A49A-9FCD-5F68-3696-0C865A388519}"/>
              </a:ext>
            </a:extLst>
          </p:cNvPr>
          <p:cNvSpPr txBox="1"/>
          <p:nvPr/>
        </p:nvSpPr>
        <p:spPr>
          <a:xfrm>
            <a:off x="352754" y="1219933"/>
            <a:ext cx="7390149" cy="5909310"/>
          </a:xfrm>
          <a:prstGeom prst="rect">
            <a:avLst/>
          </a:prstGeom>
          <a:noFill/>
        </p:spPr>
        <p:txBody>
          <a:bodyPr wrap="square" rtlCol="0">
            <a:spAutoFit/>
          </a:bodyPr>
          <a:lstStyle/>
          <a:p>
            <a:r>
              <a:rPr lang="en-GB" b="1" dirty="0"/>
              <a:t>Factor Analysis:</a:t>
            </a:r>
            <a:r>
              <a:rPr lang="en-GB" dirty="0"/>
              <a:t>  Factor analysis is a statistical technique that identifies relationships between sets of variables in a dataset. Here are the key points about factor analysis in research:</a:t>
            </a:r>
          </a:p>
          <a:p>
            <a:pPr marL="285750" indent="-285750">
              <a:buClr>
                <a:schemeClr val="accent4"/>
              </a:buClr>
              <a:buFont typeface="Wingdings" panose="05000000000000000000" pitchFamily="2" charset="2"/>
              <a:buChar char="§"/>
            </a:pPr>
            <a:r>
              <a:rPr lang="en-GB" dirty="0"/>
              <a:t>Identifies relationships between sets of variables.</a:t>
            </a:r>
          </a:p>
          <a:p>
            <a:pPr marL="285750" indent="-285750">
              <a:buClr>
                <a:schemeClr val="accent4"/>
              </a:buClr>
              <a:buFont typeface="Wingdings" panose="05000000000000000000" pitchFamily="2" charset="2"/>
              <a:buChar char="§"/>
            </a:pPr>
            <a:r>
              <a:rPr lang="en-GB" dirty="0"/>
              <a:t>Examines patterns of correlations between variables</a:t>
            </a:r>
          </a:p>
          <a:p>
            <a:pPr marL="285750" indent="-285750">
              <a:buClr>
                <a:schemeClr val="accent4"/>
              </a:buClr>
              <a:buFont typeface="Wingdings" panose="05000000000000000000" pitchFamily="2" charset="2"/>
              <a:buChar char="§"/>
            </a:pPr>
            <a:r>
              <a:rPr lang="en-GB" dirty="0"/>
              <a:t>Groups highly correlated variables together into factors</a:t>
            </a:r>
          </a:p>
          <a:p>
            <a:pPr marL="285750" indent="-285750">
              <a:buClr>
                <a:schemeClr val="accent4"/>
              </a:buClr>
              <a:buFont typeface="Wingdings" panose="05000000000000000000" pitchFamily="2" charset="2"/>
              <a:buChar char="§"/>
            </a:pPr>
            <a:r>
              <a:rPr lang="en-GB" dirty="0"/>
              <a:t>Each factor represents an underlying construct or dimension</a:t>
            </a:r>
          </a:p>
          <a:p>
            <a:r>
              <a:rPr lang="en-GB" b="1" dirty="0"/>
              <a:t>Types:</a:t>
            </a:r>
          </a:p>
          <a:p>
            <a:pPr marL="531813" indent="-265113">
              <a:buClr>
                <a:schemeClr val="accent4"/>
              </a:buClr>
              <a:buFont typeface="Arial" panose="020B0604020202020204" pitchFamily="34" charset="0"/>
              <a:buChar char="•"/>
            </a:pPr>
            <a:r>
              <a:rPr lang="en-GB" dirty="0"/>
              <a:t>Exploratory Factor Analysis (EFA): </a:t>
            </a:r>
            <a:r>
              <a:rPr lang="en-US" dirty="0"/>
              <a:t>exploring or discovering groups in your data without knowing beforehand what you're looking for</a:t>
            </a:r>
            <a:endParaRPr lang="en-GB" dirty="0"/>
          </a:p>
          <a:p>
            <a:pPr marL="531813" indent="-265113">
              <a:buClr>
                <a:schemeClr val="accent4"/>
              </a:buClr>
              <a:buFont typeface="Arial" panose="020B0604020202020204" pitchFamily="34" charset="0"/>
              <a:buChar char="•"/>
            </a:pPr>
            <a:r>
              <a:rPr lang="en-GB" dirty="0"/>
              <a:t>Confirmatory Factor Analysis (CFA): </a:t>
            </a:r>
            <a:r>
              <a:rPr lang="en-US" dirty="0"/>
              <a:t>used when you already have a clear idea about how the data should group together, and you want to confirm if your theory is right.</a:t>
            </a:r>
          </a:p>
          <a:p>
            <a:pPr marL="531813" indent="-265113">
              <a:buClr>
                <a:schemeClr val="accent4"/>
              </a:buClr>
              <a:buFont typeface="Arial" panose="020B0604020202020204" pitchFamily="34" charset="0"/>
              <a:buChar char="•"/>
            </a:pPr>
            <a:endParaRPr lang="en-GB" dirty="0"/>
          </a:p>
          <a:p>
            <a:r>
              <a:rPr lang="en-GB" b="1" dirty="0"/>
              <a:t>Benefits:</a:t>
            </a:r>
          </a:p>
          <a:p>
            <a:pPr marL="531813" indent="-265113">
              <a:buClr>
                <a:schemeClr val="accent4"/>
              </a:buClr>
              <a:buFont typeface="Arial" panose="020B0604020202020204" pitchFamily="34" charset="0"/>
              <a:buChar char="•"/>
            </a:pPr>
            <a:r>
              <a:rPr lang="en-GB" dirty="0"/>
              <a:t>Reveals hidden patterns in data</a:t>
            </a:r>
          </a:p>
          <a:p>
            <a:pPr marL="531813" indent="-265113">
              <a:buClr>
                <a:schemeClr val="accent4"/>
              </a:buClr>
              <a:buFont typeface="Arial" panose="020B0604020202020204" pitchFamily="34" charset="0"/>
              <a:buChar char="•"/>
            </a:pPr>
            <a:r>
              <a:rPr lang="en-GB" dirty="0"/>
              <a:t>Reduces complexity of large datasets</a:t>
            </a:r>
          </a:p>
          <a:p>
            <a:pPr marL="531813" indent="-265113">
              <a:buClr>
                <a:schemeClr val="accent4"/>
              </a:buClr>
              <a:buFont typeface="Arial" panose="020B0604020202020204" pitchFamily="34" charset="0"/>
              <a:buChar char="•"/>
            </a:pPr>
            <a:r>
              <a:rPr lang="en-GB" dirty="0"/>
              <a:t>Provides evidence for construct validity of measures</a:t>
            </a:r>
          </a:p>
          <a:p>
            <a:endParaRPr lang="en-GB" dirty="0"/>
          </a:p>
          <a:p>
            <a:endParaRPr lang="en-GB" b="1" dirty="0"/>
          </a:p>
          <a:p>
            <a:endParaRPr lang="en-GB" dirty="0"/>
          </a:p>
        </p:txBody>
      </p:sp>
      <p:pic>
        <p:nvPicPr>
          <p:cNvPr id="4" name="Picture 3"/>
          <p:cNvPicPr>
            <a:picLocks noChangeAspect="1"/>
          </p:cNvPicPr>
          <p:nvPr/>
        </p:nvPicPr>
        <p:blipFill>
          <a:blip r:embed="rId3"/>
          <a:stretch>
            <a:fillRect/>
          </a:stretch>
        </p:blipFill>
        <p:spPr>
          <a:xfrm>
            <a:off x="7365076" y="531824"/>
            <a:ext cx="4682134" cy="4865030"/>
          </a:xfrm>
          <a:prstGeom prst="rect">
            <a:avLst/>
          </a:prstGeom>
        </p:spPr>
      </p:pic>
    </p:spTree>
    <p:extLst>
      <p:ext uri="{BB962C8B-B14F-4D97-AF65-F5344CB8AC3E}">
        <p14:creationId xmlns:p14="http://schemas.microsoft.com/office/powerpoint/2010/main" val="1070332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10A49A-9FCD-5F68-3696-0C865A388519}"/>
              </a:ext>
            </a:extLst>
          </p:cNvPr>
          <p:cNvSpPr txBox="1"/>
          <p:nvPr/>
        </p:nvSpPr>
        <p:spPr>
          <a:xfrm>
            <a:off x="503364" y="880720"/>
            <a:ext cx="8780745" cy="5632311"/>
          </a:xfrm>
          <a:prstGeom prst="rect">
            <a:avLst/>
          </a:prstGeom>
          <a:noFill/>
        </p:spPr>
        <p:txBody>
          <a:bodyPr wrap="square" rtlCol="0">
            <a:spAutoFit/>
          </a:bodyPr>
          <a:lstStyle/>
          <a:p>
            <a:r>
              <a:rPr lang="en-GB" b="1" dirty="0"/>
              <a:t>Discriminant Analysis:</a:t>
            </a:r>
            <a:r>
              <a:rPr lang="en-GB" dirty="0"/>
              <a:t>  Classifies data to identify differences between groups. Discriminant analysis is a used to </a:t>
            </a:r>
            <a:r>
              <a:rPr lang="en-GB" b="1" dirty="0"/>
              <a:t>classify observations into predefined groups and identify the variables </a:t>
            </a:r>
            <a:r>
              <a:rPr lang="en-GB" dirty="0"/>
              <a:t>that best distinguish between those groups. </a:t>
            </a:r>
          </a:p>
          <a:p>
            <a:endParaRPr lang="en-GB" dirty="0"/>
          </a:p>
          <a:p>
            <a:pPr marL="285750" indent="-285750">
              <a:buClr>
                <a:schemeClr val="accent4"/>
              </a:buClr>
              <a:buFont typeface="Wingdings" panose="05000000000000000000" pitchFamily="2" charset="2"/>
              <a:buChar char="§"/>
            </a:pPr>
            <a:r>
              <a:rPr lang="en-GB" dirty="0"/>
              <a:t>Classifies observations into two or more predefined groups</a:t>
            </a:r>
          </a:p>
          <a:p>
            <a:pPr marL="285750" indent="-285750">
              <a:buClr>
                <a:schemeClr val="accent4"/>
              </a:buClr>
              <a:buFont typeface="Wingdings" panose="05000000000000000000" pitchFamily="2" charset="2"/>
              <a:buChar char="§"/>
            </a:pPr>
            <a:r>
              <a:rPr lang="en-GB" dirty="0"/>
              <a:t>Identifies which variables differentiate between the groups</a:t>
            </a:r>
          </a:p>
          <a:p>
            <a:pPr marL="285750" indent="-285750">
              <a:buClr>
                <a:schemeClr val="accent4"/>
              </a:buClr>
              <a:buFont typeface="Wingdings" panose="05000000000000000000" pitchFamily="2" charset="2"/>
              <a:buChar char="§"/>
            </a:pPr>
            <a:r>
              <a:rPr lang="en-GB" dirty="0"/>
              <a:t>Predicts group membership for new observations</a:t>
            </a:r>
          </a:p>
          <a:p>
            <a:pPr marL="285750" indent="-285750">
              <a:buFont typeface="Arial" panose="020B0604020202020204" pitchFamily="34" charset="0"/>
              <a:buChar char="•"/>
            </a:pPr>
            <a:endParaRPr lang="en-GB" dirty="0"/>
          </a:p>
          <a:p>
            <a:r>
              <a:rPr lang="en-GB" b="1" dirty="0"/>
              <a:t>Advantages</a:t>
            </a:r>
          </a:p>
          <a:p>
            <a:pPr marL="531813" indent="-265113">
              <a:buClr>
                <a:schemeClr val="accent4"/>
              </a:buClr>
              <a:buFont typeface="Arial" panose="020B0604020202020204" pitchFamily="34" charset="0"/>
              <a:buChar char="•"/>
            </a:pPr>
            <a:r>
              <a:rPr lang="en-GB" dirty="0"/>
              <a:t>Handle multiple groups simultaneously</a:t>
            </a:r>
          </a:p>
          <a:p>
            <a:pPr marL="531813" indent="-265113">
              <a:buClr>
                <a:schemeClr val="accent4"/>
              </a:buClr>
              <a:buFont typeface="Arial" panose="020B0604020202020204" pitchFamily="34" charset="0"/>
              <a:buChar char="•"/>
            </a:pPr>
            <a:r>
              <a:rPr lang="en-GB" dirty="0"/>
              <a:t>Provides insights into group differences</a:t>
            </a:r>
          </a:p>
          <a:p>
            <a:pPr marL="531813" indent="-265113">
              <a:buClr>
                <a:schemeClr val="accent4"/>
              </a:buClr>
              <a:buFont typeface="Arial" panose="020B0604020202020204" pitchFamily="34" charset="0"/>
              <a:buChar char="•"/>
            </a:pPr>
            <a:r>
              <a:rPr lang="en-GB" dirty="0"/>
              <a:t>Useful for both prediction and explanation</a:t>
            </a:r>
          </a:p>
          <a:p>
            <a:pPr marL="531813" indent="-265113">
              <a:buClr>
                <a:schemeClr val="accent4"/>
              </a:buClr>
              <a:buFont typeface="Arial" panose="020B0604020202020204" pitchFamily="34" charset="0"/>
              <a:buChar char="•"/>
            </a:pPr>
            <a:r>
              <a:rPr lang="en-GB" dirty="0"/>
              <a:t>Used for application related to fraud detection in finance</a:t>
            </a:r>
          </a:p>
          <a:p>
            <a:pPr marL="285750" indent="-285750">
              <a:buFont typeface="Arial" panose="020B0604020202020204" pitchFamily="34" charset="0"/>
              <a:buChar char="•"/>
            </a:pPr>
            <a:endParaRPr lang="en-GB" dirty="0"/>
          </a:p>
          <a:p>
            <a:endParaRPr lang="en-GB" dirty="0"/>
          </a:p>
          <a:p>
            <a:r>
              <a:rPr lang="en-US" b="1" dirty="0"/>
              <a:t>Example in Computing:</a:t>
            </a:r>
            <a:r>
              <a:rPr lang="en-US" dirty="0"/>
              <a:t> Classifying emails as "spam" or "not spam" by identifying keywords or patterns that best distinguish the two groups.</a:t>
            </a:r>
            <a:endParaRPr lang="en-GB" dirty="0"/>
          </a:p>
          <a:p>
            <a:pPr marL="285750" indent="-285750">
              <a:buFont typeface="Arial" panose="020B0604020202020204" pitchFamily="34" charset="0"/>
              <a:buChar char="•"/>
            </a:pPr>
            <a:endParaRPr lang="en-GB" dirty="0"/>
          </a:p>
          <a:p>
            <a:endParaRPr lang="en-GB" b="1" dirty="0"/>
          </a:p>
          <a:p>
            <a:endParaRPr lang="en-GB" dirty="0"/>
          </a:p>
        </p:txBody>
      </p:sp>
      <p:pic>
        <p:nvPicPr>
          <p:cNvPr id="4" name="Picture 3"/>
          <p:cNvPicPr>
            <a:picLocks noChangeAspect="1"/>
          </p:cNvPicPr>
          <p:nvPr/>
        </p:nvPicPr>
        <p:blipFill>
          <a:blip r:embed="rId3"/>
          <a:stretch>
            <a:fillRect/>
          </a:stretch>
        </p:blipFill>
        <p:spPr>
          <a:xfrm>
            <a:off x="7365076" y="531824"/>
            <a:ext cx="4682134" cy="4865030"/>
          </a:xfrm>
          <a:prstGeom prst="rect">
            <a:avLst/>
          </a:prstGeom>
        </p:spPr>
      </p:pic>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333090" y="144655"/>
            <a:ext cx="8865031" cy="1102640"/>
          </a:xfrm>
        </p:spPr>
        <p:txBody>
          <a:bodyPr anchor="ctr">
            <a:normAutofit/>
          </a:bodyPr>
          <a:lstStyle/>
          <a:p>
            <a:r>
              <a:rPr lang="en-GB" sz="4400" dirty="0"/>
              <a:t>Discriminant Analysis Techniques</a:t>
            </a:r>
          </a:p>
        </p:txBody>
      </p:sp>
    </p:spTree>
    <p:extLst>
      <p:ext uri="{BB962C8B-B14F-4D97-AF65-F5344CB8AC3E}">
        <p14:creationId xmlns:p14="http://schemas.microsoft.com/office/powerpoint/2010/main" val="1558324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296218" y="-31345"/>
            <a:ext cx="8776541" cy="1102640"/>
          </a:xfrm>
        </p:spPr>
        <p:txBody>
          <a:bodyPr anchor="ctr">
            <a:normAutofit/>
          </a:bodyPr>
          <a:lstStyle/>
          <a:p>
            <a:r>
              <a:rPr lang="en-GB" sz="4400" dirty="0"/>
              <a:t>Time Series Analysis Techniques</a:t>
            </a:r>
          </a:p>
        </p:txBody>
      </p:sp>
      <p:sp>
        <p:nvSpPr>
          <p:cNvPr id="3" name="TextBox 2">
            <a:extLst>
              <a:ext uri="{FF2B5EF4-FFF2-40B4-BE49-F238E27FC236}">
                <a16:creationId xmlns:a16="http://schemas.microsoft.com/office/drawing/2014/main" id="{FE10A49A-9FCD-5F68-3696-0C865A388519}"/>
              </a:ext>
            </a:extLst>
          </p:cNvPr>
          <p:cNvSpPr txBox="1"/>
          <p:nvPr/>
        </p:nvSpPr>
        <p:spPr>
          <a:xfrm>
            <a:off x="575397" y="1071295"/>
            <a:ext cx="6666809" cy="5355312"/>
          </a:xfrm>
          <a:prstGeom prst="rect">
            <a:avLst/>
          </a:prstGeom>
          <a:noFill/>
        </p:spPr>
        <p:txBody>
          <a:bodyPr wrap="square" rtlCol="0">
            <a:spAutoFit/>
          </a:bodyPr>
          <a:lstStyle/>
          <a:p>
            <a:r>
              <a:rPr lang="en-GB" b="1" dirty="0"/>
              <a:t>Time Series Analysis:</a:t>
            </a:r>
            <a:r>
              <a:rPr lang="en-GB" dirty="0"/>
              <a:t>  Time series analysis is a statistical technique used to analyse data points collected over time. Here are the key points about time series analysis:</a:t>
            </a:r>
          </a:p>
          <a:p>
            <a:endParaRPr lang="en-GB" b="1" dirty="0"/>
          </a:p>
          <a:p>
            <a:r>
              <a:rPr lang="en-GB" b="1" dirty="0"/>
              <a:t>Applications</a:t>
            </a:r>
          </a:p>
          <a:p>
            <a:pPr marL="531813" indent="-265113">
              <a:buClr>
                <a:schemeClr val="accent4"/>
              </a:buClr>
              <a:buFont typeface="Arial" panose="020B0604020202020204" pitchFamily="34" charset="0"/>
              <a:buChar char="•"/>
            </a:pPr>
            <a:r>
              <a:rPr lang="en-GB" dirty="0"/>
              <a:t>Finance: Analysing stock prices, economic indicators</a:t>
            </a:r>
          </a:p>
          <a:p>
            <a:pPr marL="531813" indent="-265113">
              <a:buClr>
                <a:schemeClr val="accent4"/>
              </a:buClr>
              <a:buFont typeface="Arial" panose="020B0604020202020204" pitchFamily="34" charset="0"/>
              <a:buChar char="•"/>
            </a:pPr>
            <a:r>
              <a:rPr lang="en-GB" dirty="0"/>
              <a:t>Weather forecasting: Studying temperature, rainfall patterns</a:t>
            </a:r>
          </a:p>
          <a:p>
            <a:pPr marL="531813" indent="-265113">
              <a:buClr>
                <a:schemeClr val="accent4"/>
              </a:buClr>
              <a:buFont typeface="Arial" panose="020B0604020202020204" pitchFamily="34" charset="0"/>
              <a:buChar char="•"/>
            </a:pPr>
            <a:r>
              <a:rPr lang="en-GB" dirty="0"/>
              <a:t>Sales forecasting: Examining sales data over time</a:t>
            </a:r>
          </a:p>
          <a:p>
            <a:pPr marL="531813" indent="-265113">
              <a:buClr>
                <a:schemeClr val="accent4"/>
              </a:buClr>
              <a:buFont typeface="Arial" panose="020B0604020202020204" pitchFamily="34" charset="0"/>
              <a:buChar char="•"/>
            </a:pPr>
            <a:r>
              <a:rPr lang="en-GB" dirty="0"/>
              <a:t>Scientific research: Analysing phenomena that change over time</a:t>
            </a:r>
          </a:p>
          <a:p>
            <a:pPr marL="285750" indent="-285750">
              <a:buFont typeface="Arial" panose="020B0604020202020204" pitchFamily="34" charset="0"/>
              <a:buChar char="•"/>
            </a:pPr>
            <a:endParaRPr lang="en-GB" dirty="0"/>
          </a:p>
          <a:p>
            <a:r>
              <a:rPr lang="en-GB" b="1" dirty="0"/>
              <a:t>Advantages</a:t>
            </a:r>
          </a:p>
          <a:p>
            <a:pPr marL="531813" indent="-265113">
              <a:buClr>
                <a:schemeClr val="accent4"/>
              </a:buClr>
              <a:buFont typeface="Arial" panose="020B0604020202020204" pitchFamily="34" charset="0"/>
              <a:buChar char="•"/>
            </a:pPr>
            <a:r>
              <a:rPr lang="en-GB" dirty="0"/>
              <a:t>Helps identify patterns and trends that may not be apparent in raw data</a:t>
            </a:r>
          </a:p>
          <a:p>
            <a:pPr marL="531813" indent="-265113">
              <a:buClr>
                <a:schemeClr val="accent4"/>
              </a:buClr>
              <a:buFont typeface="Arial" panose="020B0604020202020204" pitchFamily="34" charset="0"/>
              <a:buChar char="•"/>
            </a:pPr>
            <a:r>
              <a:rPr lang="en-GB" dirty="0"/>
              <a:t>Enables forecasting of future values</a:t>
            </a:r>
          </a:p>
          <a:p>
            <a:pPr marL="531813" indent="-265113">
              <a:buClr>
                <a:schemeClr val="accent4"/>
              </a:buClr>
              <a:buFont typeface="Arial" panose="020B0604020202020204" pitchFamily="34" charset="0"/>
              <a:buChar char="•"/>
            </a:pPr>
            <a:r>
              <a:rPr lang="en-GB" dirty="0"/>
              <a:t>Useful for understanding how variables change over time</a:t>
            </a:r>
          </a:p>
          <a:p>
            <a:pPr marL="285750" indent="-285750">
              <a:buFont typeface="Arial" panose="020B0604020202020204" pitchFamily="34" charset="0"/>
              <a:buChar char="•"/>
            </a:pPr>
            <a:endParaRPr lang="en-GB" dirty="0"/>
          </a:p>
          <a:p>
            <a:endParaRPr lang="en-GB" b="1" dirty="0"/>
          </a:p>
          <a:p>
            <a:pPr marL="285750" indent="-285750">
              <a:buFont typeface="Wingdings" panose="05000000000000000000" pitchFamily="2" charset="2"/>
              <a:buChar char="q"/>
            </a:pPr>
            <a:endParaRPr lang="en-GB" b="1" dirty="0"/>
          </a:p>
          <a:p>
            <a:endParaRPr lang="en-GB" dirty="0"/>
          </a:p>
        </p:txBody>
      </p:sp>
      <p:pic>
        <p:nvPicPr>
          <p:cNvPr id="4" name="Picture 3"/>
          <p:cNvPicPr>
            <a:picLocks noChangeAspect="1"/>
          </p:cNvPicPr>
          <p:nvPr/>
        </p:nvPicPr>
        <p:blipFill>
          <a:blip r:embed="rId3"/>
          <a:stretch>
            <a:fillRect/>
          </a:stretch>
        </p:blipFill>
        <p:spPr>
          <a:xfrm>
            <a:off x="7365076" y="531824"/>
            <a:ext cx="4682134" cy="4865030"/>
          </a:xfrm>
          <a:prstGeom prst="rect">
            <a:avLst/>
          </a:prstGeom>
        </p:spPr>
      </p:pic>
    </p:spTree>
    <p:extLst>
      <p:ext uri="{BB962C8B-B14F-4D97-AF65-F5344CB8AC3E}">
        <p14:creationId xmlns:p14="http://schemas.microsoft.com/office/powerpoint/2010/main" val="1140672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EA677B0-03AF-2215-38FD-9A1FCBE5E1E7}"/>
              </a:ext>
            </a:extLst>
          </p:cNvPr>
          <p:cNvSpPr>
            <a:spLocks noGrp="1"/>
          </p:cNvSpPr>
          <p:nvPr>
            <p:ph type="pic" sz="quarter" idx="10"/>
          </p:nvPr>
        </p:nvSpPr>
        <p:spPr/>
        <p:txBody>
          <a:bodyPr/>
          <a:lstStyle/>
          <a:p>
            <a:endParaRPr lang="en-GB" dirty="0"/>
          </a:p>
        </p:txBody>
      </p:sp>
      <p:sp>
        <p:nvSpPr>
          <p:cNvPr id="3" name="Title 2">
            <a:extLst>
              <a:ext uri="{FF2B5EF4-FFF2-40B4-BE49-F238E27FC236}">
                <a16:creationId xmlns:a16="http://schemas.microsoft.com/office/drawing/2014/main" id="{FED8BB73-78B2-FC77-F1AE-F0F605DC6BA9}"/>
              </a:ext>
            </a:extLst>
          </p:cNvPr>
          <p:cNvSpPr>
            <a:spLocks noGrp="1"/>
          </p:cNvSpPr>
          <p:nvPr>
            <p:ph type="title"/>
          </p:nvPr>
        </p:nvSpPr>
        <p:spPr>
          <a:xfrm>
            <a:off x="3843027" y="1543633"/>
            <a:ext cx="4768959" cy="2374194"/>
          </a:xfrm>
        </p:spPr>
        <p:txBody>
          <a:bodyPr/>
          <a:lstStyle/>
          <a:p>
            <a:r>
              <a:rPr lang="en-GB" sz="6600" dirty="0"/>
              <a:t>Techniques based on AI &amp; Machine Learning</a:t>
            </a:r>
          </a:p>
        </p:txBody>
      </p:sp>
    </p:spTree>
    <p:extLst>
      <p:ext uri="{BB962C8B-B14F-4D97-AF65-F5344CB8AC3E}">
        <p14:creationId xmlns:p14="http://schemas.microsoft.com/office/powerpoint/2010/main" val="1172982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10A49A-9FCD-5F68-3696-0C865A388519}"/>
              </a:ext>
            </a:extLst>
          </p:cNvPr>
          <p:cNvSpPr txBox="1"/>
          <p:nvPr/>
        </p:nvSpPr>
        <p:spPr>
          <a:xfrm>
            <a:off x="734983" y="1333845"/>
            <a:ext cx="7065819" cy="5078313"/>
          </a:xfrm>
          <a:prstGeom prst="rect">
            <a:avLst/>
          </a:prstGeom>
          <a:noFill/>
        </p:spPr>
        <p:txBody>
          <a:bodyPr wrap="square" rtlCol="0">
            <a:spAutoFit/>
          </a:bodyPr>
          <a:lstStyle/>
          <a:p>
            <a:endParaRPr lang="en-GB" dirty="0"/>
          </a:p>
          <a:p>
            <a:r>
              <a:rPr lang="en-GB" b="1" dirty="0"/>
              <a:t>Artificial Neural Networks (ANN)</a:t>
            </a:r>
          </a:p>
          <a:p>
            <a:endParaRPr lang="en-GB" b="1" dirty="0"/>
          </a:p>
          <a:p>
            <a:pPr marL="531813" indent="-265113">
              <a:buClr>
                <a:schemeClr val="accent4"/>
              </a:buClr>
              <a:buFont typeface="Arial" panose="020B0604020202020204" pitchFamily="34" charset="0"/>
              <a:buChar char="•"/>
            </a:pPr>
            <a:r>
              <a:rPr lang="en-GB" dirty="0"/>
              <a:t>Used for pattern recognition and prediction</a:t>
            </a:r>
          </a:p>
          <a:p>
            <a:pPr marL="531813" indent="-265113">
              <a:buClr>
                <a:schemeClr val="accent4"/>
              </a:buClr>
              <a:buFont typeface="Arial" panose="020B0604020202020204" pitchFamily="34" charset="0"/>
              <a:buChar char="•"/>
            </a:pPr>
            <a:r>
              <a:rPr lang="en-GB" dirty="0"/>
              <a:t>Applications: Image classification, speech recognition</a:t>
            </a:r>
          </a:p>
          <a:p>
            <a:endParaRPr lang="en-GB" dirty="0"/>
          </a:p>
          <a:p>
            <a:r>
              <a:rPr lang="en-GB" b="1" dirty="0"/>
              <a:t>Decision Trees</a:t>
            </a:r>
          </a:p>
          <a:p>
            <a:endParaRPr lang="en-GB" b="1" dirty="0"/>
          </a:p>
          <a:p>
            <a:pPr marL="531813" indent="-265113">
              <a:buClr>
                <a:schemeClr val="accent4"/>
              </a:buClr>
              <a:buFont typeface="Arial" panose="020B0604020202020204" pitchFamily="34" charset="0"/>
              <a:buChar char="•"/>
            </a:pPr>
            <a:r>
              <a:rPr lang="en-GB" dirty="0"/>
              <a:t>Useful for classification and regression tasks</a:t>
            </a:r>
          </a:p>
          <a:p>
            <a:pPr marL="531813" indent="-265113">
              <a:buClr>
                <a:schemeClr val="accent4"/>
              </a:buClr>
              <a:buFont typeface="Arial" panose="020B0604020202020204" pitchFamily="34" charset="0"/>
              <a:buChar char="•"/>
            </a:pPr>
            <a:r>
              <a:rPr lang="en-GB" dirty="0"/>
              <a:t>Benefits: Easy to interpret, handles both numerical and categorical data.</a:t>
            </a:r>
          </a:p>
          <a:p>
            <a:endParaRPr lang="en-GB" dirty="0"/>
          </a:p>
          <a:p>
            <a:r>
              <a:rPr lang="en-GB" b="1" dirty="0"/>
              <a:t>Fuzzy Logic</a:t>
            </a:r>
          </a:p>
          <a:p>
            <a:endParaRPr lang="en-GB" b="1" dirty="0"/>
          </a:p>
          <a:p>
            <a:pPr marL="531813" indent="-265113">
              <a:buClr>
                <a:schemeClr val="accent4"/>
              </a:buClr>
              <a:buFont typeface="Arial" panose="020B0604020202020204" pitchFamily="34" charset="0"/>
              <a:buChar char="•"/>
            </a:pPr>
            <a:r>
              <a:rPr lang="en-GB" dirty="0"/>
              <a:t>Reasoning based on "degrees of truth" rather than binary logic</a:t>
            </a:r>
          </a:p>
          <a:p>
            <a:pPr marL="531813" indent="-265113">
              <a:buClr>
                <a:schemeClr val="accent4"/>
              </a:buClr>
              <a:buFont typeface="Arial" panose="020B0604020202020204" pitchFamily="34" charset="0"/>
              <a:buChar char="•"/>
            </a:pPr>
            <a:r>
              <a:rPr lang="en-GB" dirty="0"/>
              <a:t>Handles uncertainty and imprecision in data</a:t>
            </a:r>
          </a:p>
          <a:p>
            <a:pPr marL="531813" indent="-265113">
              <a:buClr>
                <a:schemeClr val="accent4"/>
              </a:buClr>
              <a:buFont typeface="Arial" panose="020B0604020202020204" pitchFamily="34" charset="0"/>
              <a:buChar char="•"/>
            </a:pPr>
            <a:r>
              <a:rPr lang="en-GB" dirty="0"/>
              <a:t>Uses: Control systems, decision-making under uncertainty</a:t>
            </a:r>
          </a:p>
          <a:p>
            <a:pPr marL="531813" indent="-265113">
              <a:buClr>
                <a:schemeClr val="accent4"/>
              </a:buClr>
              <a:buFont typeface="Arial" panose="020B0604020202020204" pitchFamily="34" charset="0"/>
              <a:buChar char="•"/>
            </a:pPr>
            <a:endParaRPr lang="en-GB" dirty="0"/>
          </a:p>
        </p:txBody>
      </p:sp>
      <p:pic>
        <p:nvPicPr>
          <p:cNvPr id="4" name="Picture 3"/>
          <p:cNvPicPr>
            <a:picLocks noChangeAspect="1"/>
          </p:cNvPicPr>
          <p:nvPr/>
        </p:nvPicPr>
        <p:blipFill>
          <a:blip r:embed="rId3"/>
          <a:stretch>
            <a:fillRect/>
          </a:stretch>
        </p:blipFill>
        <p:spPr>
          <a:xfrm>
            <a:off x="7509866" y="512428"/>
            <a:ext cx="4682134" cy="4865030"/>
          </a:xfrm>
          <a:prstGeom prst="rect">
            <a:avLst/>
          </a:prstGeom>
        </p:spPr>
      </p:pic>
      <p:pic>
        <p:nvPicPr>
          <p:cNvPr id="5" name="Picture 4"/>
          <p:cNvPicPr>
            <a:picLocks noChangeAspect="1"/>
          </p:cNvPicPr>
          <p:nvPr/>
        </p:nvPicPr>
        <p:blipFill>
          <a:blip r:embed="rId3"/>
          <a:stretch>
            <a:fillRect/>
          </a:stretch>
        </p:blipFill>
        <p:spPr>
          <a:xfrm>
            <a:off x="7662266" y="664828"/>
            <a:ext cx="4682134" cy="4865030"/>
          </a:xfrm>
          <a:prstGeom prst="rect">
            <a:avLst/>
          </a:prstGeom>
        </p:spPr>
      </p:pic>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67184" y="225502"/>
            <a:ext cx="11128474" cy="1102640"/>
          </a:xfrm>
        </p:spPr>
        <p:txBody>
          <a:bodyPr anchor="ctr">
            <a:normAutofit/>
          </a:bodyPr>
          <a:lstStyle/>
          <a:p>
            <a:r>
              <a:rPr lang="en-GB" sz="4400" dirty="0"/>
              <a:t>Techniques based on AI &amp; Machine Learning</a:t>
            </a:r>
          </a:p>
        </p:txBody>
      </p:sp>
    </p:spTree>
    <p:extLst>
      <p:ext uri="{BB962C8B-B14F-4D97-AF65-F5344CB8AC3E}">
        <p14:creationId xmlns:p14="http://schemas.microsoft.com/office/powerpoint/2010/main" val="811841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555568" y="263047"/>
            <a:ext cx="7424650" cy="1102640"/>
          </a:xfrm>
        </p:spPr>
        <p:txBody>
          <a:bodyPr anchor="ctr">
            <a:normAutofit fontScale="90000"/>
          </a:bodyPr>
          <a:lstStyle/>
          <a:p>
            <a:r>
              <a:rPr lang="en-GB" sz="4400" dirty="0"/>
              <a:t>Techniques based on AI &amp; Machine Learning</a:t>
            </a:r>
          </a:p>
        </p:txBody>
      </p:sp>
      <p:sp>
        <p:nvSpPr>
          <p:cNvPr id="3" name="TextBox 2">
            <a:extLst>
              <a:ext uri="{FF2B5EF4-FFF2-40B4-BE49-F238E27FC236}">
                <a16:creationId xmlns:a16="http://schemas.microsoft.com/office/drawing/2014/main" id="{FE10A49A-9FCD-5F68-3696-0C865A388519}"/>
              </a:ext>
            </a:extLst>
          </p:cNvPr>
          <p:cNvSpPr txBox="1"/>
          <p:nvPr/>
        </p:nvSpPr>
        <p:spPr>
          <a:xfrm>
            <a:off x="555568" y="1231438"/>
            <a:ext cx="7364316" cy="3693319"/>
          </a:xfrm>
          <a:prstGeom prst="rect">
            <a:avLst/>
          </a:prstGeom>
          <a:noFill/>
        </p:spPr>
        <p:txBody>
          <a:bodyPr wrap="square" rtlCol="0">
            <a:spAutoFit/>
          </a:bodyPr>
          <a:lstStyle/>
          <a:p>
            <a:endParaRPr lang="en-GB" dirty="0"/>
          </a:p>
          <a:p>
            <a:r>
              <a:rPr lang="en-GB" b="1" dirty="0"/>
              <a:t>Deep Learning</a:t>
            </a:r>
          </a:p>
          <a:p>
            <a:endParaRPr lang="en-GB" b="1" dirty="0"/>
          </a:p>
          <a:p>
            <a:pPr marL="531813" indent="-265113">
              <a:buClr>
                <a:schemeClr val="accent4"/>
              </a:buClr>
              <a:buFont typeface="Arial" panose="020B0604020202020204" pitchFamily="34" charset="0"/>
              <a:buChar char="•"/>
            </a:pPr>
            <a:r>
              <a:rPr lang="en-GB" dirty="0"/>
              <a:t>Subset of machine learning using multi-layered neural networks</a:t>
            </a:r>
          </a:p>
          <a:p>
            <a:pPr marL="531813" indent="-265113">
              <a:buClr>
                <a:schemeClr val="accent4"/>
              </a:buClr>
              <a:buFont typeface="Arial" panose="020B0604020202020204" pitchFamily="34" charset="0"/>
              <a:buChar char="•"/>
            </a:pPr>
            <a:r>
              <a:rPr lang="en-GB" dirty="0"/>
              <a:t>Capable of learning complex patterns in large datasets</a:t>
            </a:r>
          </a:p>
          <a:p>
            <a:pPr marL="531813" indent="-265113">
              <a:buClr>
                <a:schemeClr val="accent4"/>
              </a:buClr>
              <a:buFont typeface="Arial" panose="020B0604020202020204" pitchFamily="34" charset="0"/>
              <a:buChar char="•"/>
            </a:pPr>
            <a:r>
              <a:rPr lang="en-GB" dirty="0"/>
              <a:t>Applications: Computer vision, natural language understanding</a:t>
            </a:r>
          </a:p>
          <a:p>
            <a:endParaRPr lang="en-GB" dirty="0"/>
          </a:p>
          <a:p>
            <a:r>
              <a:rPr lang="en-GB" b="1" dirty="0"/>
              <a:t>Natural Language Processing (NLP)</a:t>
            </a:r>
          </a:p>
          <a:p>
            <a:endParaRPr lang="en-GB" b="1" dirty="0"/>
          </a:p>
          <a:p>
            <a:pPr marL="531813" indent="-265113">
              <a:buClr>
                <a:schemeClr val="accent4"/>
              </a:buClr>
              <a:buFont typeface="Arial" panose="020B0604020202020204" pitchFamily="34" charset="0"/>
              <a:buChar char="•"/>
            </a:pPr>
            <a:r>
              <a:rPr lang="en-GB" dirty="0"/>
              <a:t>Focuses on interaction between computers and human language</a:t>
            </a:r>
          </a:p>
          <a:p>
            <a:pPr marL="531813" indent="-265113">
              <a:buClr>
                <a:schemeClr val="accent4"/>
              </a:buClr>
              <a:buFont typeface="Arial" panose="020B0604020202020204" pitchFamily="34" charset="0"/>
              <a:buChar char="•"/>
            </a:pPr>
            <a:r>
              <a:rPr lang="en-GB" dirty="0"/>
              <a:t>Combines linguistics, computer science, and AI</a:t>
            </a:r>
          </a:p>
          <a:p>
            <a:pPr marL="531813" indent="-265113">
              <a:buClr>
                <a:schemeClr val="accent4"/>
              </a:buClr>
              <a:buFont typeface="Arial" panose="020B0604020202020204" pitchFamily="34" charset="0"/>
              <a:buChar char="•"/>
            </a:pPr>
            <a:r>
              <a:rPr lang="en-GB" dirty="0"/>
              <a:t>Uses: Text analysis, machine translation, sentiment analysis</a:t>
            </a:r>
          </a:p>
          <a:p>
            <a:pPr marL="285750" indent="-285750">
              <a:buFont typeface="Arial" panose="020B0604020202020204" pitchFamily="34" charset="0"/>
              <a:buChar char="•"/>
            </a:pPr>
            <a:endParaRPr lang="en-GB" b="1" dirty="0"/>
          </a:p>
        </p:txBody>
      </p:sp>
      <p:pic>
        <p:nvPicPr>
          <p:cNvPr id="4" name="Picture 3"/>
          <p:cNvPicPr>
            <a:picLocks noChangeAspect="1"/>
          </p:cNvPicPr>
          <p:nvPr/>
        </p:nvPicPr>
        <p:blipFill>
          <a:blip r:embed="rId3"/>
          <a:stretch>
            <a:fillRect/>
          </a:stretch>
        </p:blipFill>
        <p:spPr>
          <a:xfrm>
            <a:off x="7509866" y="429301"/>
            <a:ext cx="4682134" cy="4865030"/>
          </a:xfrm>
          <a:prstGeom prst="rect">
            <a:avLst/>
          </a:prstGeom>
        </p:spPr>
      </p:pic>
    </p:spTree>
    <p:extLst>
      <p:ext uri="{BB962C8B-B14F-4D97-AF65-F5344CB8AC3E}">
        <p14:creationId xmlns:p14="http://schemas.microsoft.com/office/powerpoint/2010/main" val="4246501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D584705-58BC-5A0C-5DD6-7AC47A6E122F}"/>
              </a:ext>
            </a:extLst>
          </p:cNvPr>
          <p:cNvGraphicFramePr>
            <a:graphicFrameLocks noGrp="1"/>
          </p:cNvGraphicFramePr>
          <p:nvPr>
            <p:extLst>
              <p:ext uri="{D42A27DB-BD31-4B8C-83A1-F6EECF244321}">
                <p14:modId xmlns:p14="http://schemas.microsoft.com/office/powerpoint/2010/main" val="1477355781"/>
              </p:ext>
            </p:extLst>
          </p:nvPr>
        </p:nvGraphicFramePr>
        <p:xfrm>
          <a:off x="712838" y="1206474"/>
          <a:ext cx="10515600" cy="411480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4183517626"/>
                    </a:ext>
                  </a:extLst>
                </a:gridCol>
                <a:gridCol w="2628900">
                  <a:extLst>
                    <a:ext uri="{9D8B030D-6E8A-4147-A177-3AD203B41FA5}">
                      <a16:colId xmlns:a16="http://schemas.microsoft.com/office/drawing/2014/main" val="295595693"/>
                    </a:ext>
                  </a:extLst>
                </a:gridCol>
                <a:gridCol w="2628900">
                  <a:extLst>
                    <a:ext uri="{9D8B030D-6E8A-4147-A177-3AD203B41FA5}">
                      <a16:colId xmlns:a16="http://schemas.microsoft.com/office/drawing/2014/main" val="845512999"/>
                    </a:ext>
                  </a:extLst>
                </a:gridCol>
                <a:gridCol w="2628900">
                  <a:extLst>
                    <a:ext uri="{9D8B030D-6E8A-4147-A177-3AD203B41FA5}">
                      <a16:colId xmlns:a16="http://schemas.microsoft.com/office/drawing/2014/main" val="4268215710"/>
                    </a:ext>
                  </a:extLst>
                </a:gridCol>
              </a:tblGrid>
              <a:tr h="0">
                <a:tc>
                  <a:txBody>
                    <a:bodyPr/>
                    <a:lstStyle/>
                    <a:p>
                      <a:r>
                        <a:rPr lang="en-GB" dirty="0"/>
                        <a:t>Technique</a:t>
                      </a:r>
                    </a:p>
                  </a:txBody>
                  <a:tcPr anchor="ctr">
                    <a:solidFill>
                      <a:schemeClr val="accent1"/>
                    </a:solidFill>
                  </a:tcPr>
                </a:tc>
                <a:tc>
                  <a:txBody>
                    <a:bodyPr/>
                    <a:lstStyle/>
                    <a:p>
                      <a:r>
                        <a:rPr lang="en-GB" dirty="0"/>
                        <a:t>Computer Science Scenario</a:t>
                      </a:r>
                    </a:p>
                  </a:txBody>
                  <a:tcPr anchor="ctr">
                    <a:solidFill>
                      <a:schemeClr val="accent1"/>
                    </a:solidFill>
                  </a:tcPr>
                </a:tc>
                <a:tc>
                  <a:txBody>
                    <a:bodyPr/>
                    <a:lstStyle/>
                    <a:p>
                      <a:r>
                        <a:rPr lang="en-GB"/>
                        <a:t>Cybersecurity Scenario</a:t>
                      </a:r>
                    </a:p>
                  </a:txBody>
                  <a:tcPr anchor="ctr">
                    <a:solidFill>
                      <a:schemeClr val="accent1"/>
                    </a:solidFill>
                  </a:tcPr>
                </a:tc>
                <a:tc>
                  <a:txBody>
                    <a:bodyPr/>
                    <a:lstStyle/>
                    <a:p>
                      <a:r>
                        <a:rPr lang="en-GB" dirty="0"/>
                        <a:t>AI Scenario</a:t>
                      </a:r>
                    </a:p>
                  </a:txBody>
                  <a:tcPr anchor="ctr">
                    <a:solidFill>
                      <a:schemeClr val="accent1"/>
                    </a:solidFill>
                  </a:tcPr>
                </a:tc>
                <a:extLst>
                  <a:ext uri="{0D108BD9-81ED-4DB2-BD59-A6C34878D82A}">
                    <a16:rowId xmlns:a16="http://schemas.microsoft.com/office/drawing/2014/main" val="3270608316"/>
                  </a:ext>
                </a:extLst>
              </a:tr>
              <a:tr h="0">
                <a:tc>
                  <a:txBody>
                    <a:bodyPr/>
                    <a:lstStyle/>
                    <a:p>
                      <a:r>
                        <a:rPr lang="en-GB" b="1"/>
                        <a:t>Artificial Neural Networks (ANN)</a:t>
                      </a:r>
                      <a:endParaRPr lang="en-GB"/>
                    </a:p>
                  </a:txBody>
                  <a:tcPr anchor="ctr"/>
                </a:tc>
                <a:tc>
                  <a:txBody>
                    <a:bodyPr/>
                    <a:lstStyle/>
                    <a:p>
                      <a:r>
                        <a:rPr lang="en-US"/>
                        <a:t>Predicting user behavior in software apps</a:t>
                      </a:r>
                    </a:p>
                  </a:txBody>
                  <a:tcPr anchor="ctr"/>
                </a:tc>
                <a:tc>
                  <a:txBody>
                    <a:bodyPr/>
                    <a:lstStyle/>
                    <a:p>
                      <a:r>
                        <a:rPr lang="en-US"/>
                        <a:t>Detecting network intrusion or suspicious activity</a:t>
                      </a:r>
                    </a:p>
                  </a:txBody>
                  <a:tcPr anchor="ctr"/>
                </a:tc>
                <a:tc>
                  <a:txBody>
                    <a:bodyPr/>
                    <a:lstStyle/>
                    <a:p>
                      <a:r>
                        <a:rPr lang="en-GB"/>
                        <a:t>Recognizing handwritten digits/images</a:t>
                      </a:r>
                    </a:p>
                  </a:txBody>
                  <a:tcPr anchor="ctr"/>
                </a:tc>
                <a:extLst>
                  <a:ext uri="{0D108BD9-81ED-4DB2-BD59-A6C34878D82A}">
                    <a16:rowId xmlns:a16="http://schemas.microsoft.com/office/drawing/2014/main" val="453837498"/>
                  </a:ext>
                </a:extLst>
              </a:tr>
              <a:tr h="0">
                <a:tc>
                  <a:txBody>
                    <a:bodyPr/>
                    <a:lstStyle/>
                    <a:p>
                      <a:r>
                        <a:rPr lang="en-GB" b="1"/>
                        <a:t>Decision Trees</a:t>
                      </a:r>
                      <a:endParaRPr lang="en-GB"/>
                    </a:p>
                  </a:txBody>
                  <a:tcPr anchor="ctr"/>
                </a:tc>
                <a:tc>
                  <a:txBody>
                    <a:bodyPr/>
                    <a:lstStyle/>
                    <a:p>
                      <a:r>
                        <a:rPr lang="en-US"/>
                        <a:t>Classifying customer data for targeted marketing</a:t>
                      </a:r>
                    </a:p>
                  </a:txBody>
                  <a:tcPr anchor="ctr"/>
                </a:tc>
                <a:tc>
                  <a:txBody>
                    <a:bodyPr/>
                    <a:lstStyle/>
                    <a:p>
                      <a:r>
                        <a:rPr lang="en-US"/>
                        <a:t>Identifying phishing emails or malware</a:t>
                      </a:r>
                    </a:p>
                  </a:txBody>
                  <a:tcPr anchor="ctr"/>
                </a:tc>
                <a:tc>
                  <a:txBody>
                    <a:bodyPr/>
                    <a:lstStyle/>
                    <a:p>
                      <a:r>
                        <a:rPr lang="en-GB"/>
                        <a:t>Automated diagnosis in healthcare</a:t>
                      </a:r>
                    </a:p>
                  </a:txBody>
                  <a:tcPr anchor="ctr"/>
                </a:tc>
                <a:extLst>
                  <a:ext uri="{0D108BD9-81ED-4DB2-BD59-A6C34878D82A}">
                    <a16:rowId xmlns:a16="http://schemas.microsoft.com/office/drawing/2014/main" val="651654292"/>
                  </a:ext>
                </a:extLst>
              </a:tr>
              <a:tr h="0">
                <a:tc>
                  <a:txBody>
                    <a:bodyPr/>
                    <a:lstStyle/>
                    <a:p>
                      <a:r>
                        <a:rPr lang="en-GB" b="1"/>
                        <a:t>Fuzzy Logic</a:t>
                      </a:r>
                      <a:endParaRPr lang="en-GB"/>
                    </a:p>
                  </a:txBody>
                  <a:tcPr anchor="ctr"/>
                </a:tc>
                <a:tc>
                  <a:txBody>
                    <a:bodyPr/>
                    <a:lstStyle/>
                    <a:p>
                      <a:r>
                        <a:rPr lang="en-US"/>
                        <a:t>Controlling traffic lights based on traffic flow</a:t>
                      </a:r>
                    </a:p>
                  </a:txBody>
                  <a:tcPr anchor="ctr"/>
                </a:tc>
                <a:tc>
                  <a:txBody>
                    <a:bodyPr/>
                    <a:lstStyle/>
                    <a:p>
                      <a:r>
                        <a:rPr lang="en-US"/>
                        <a:t>Assessing cybersecurity threats under uncertainty</a:t>
                      </a:r>
                    </a:p>
                  </a:txBody>
                  <a:tcPr anchor="ctr"/>
                </a:tc>
                <a:tc>
                  <a:txBody>
                    <a:bodyPr/>
                    <a:lstStyle/>
                    <a:p>
                      <a:r>
                        <a:rPr lang="en-GB"/>
                        <a:t>Autonomous driving decisions</a:t>
                      </a:r>
                    </a:p>
                  </a:txBody>
                  <a:tcPr anchor="ctr"/>
                </a:tc>
                <a:extLst>
                  <a:ext uri="{0D108BD9-81ED-4DB2-BD59-A6C34878D82A}">
                    <a16:rowId xmlns:a16="http://schemas.microsoft.com/office/drawing/2014/main" val="5641981"/>
                  </a:ext>
                </a:extLst>
              </a:tr>
              <a:tr h="0">
                <a:tc>
                  <a:txBody>
                    <a:bodyPr/>
                    <a:lstStyle/>
                    <a:p>
                      <a:r>
                        <a:rPr lang="en-GB" b="1"/>
                        <a:t>Deep Learning</a:t>
                      </a:r>
                      <a:endParaRPr lang="en-GB"/>
                    </a:p>
                  </a:txBody>
                  <a:tcPr anchor="ctr"/>
                </a:tc>
                <a:tc>
                  <a:txBody>
                    <a:bodyPr/>
                    <a:lstStyle/>
                    <a:p>
                      <a:r>
                        <a:rPr lang="en-US"/>
                        <a:t>Speech recognition and voice-controlled apps</a:t>
                      </a:r>
                    </a:p>
                  </a:txBody>
                  <a:tcPr anchor="ctr"/>
                </a:tc>
                <a:tc>
                  <a:txBody>
                    <a:bodyPr/>
                    <a:lstStyle/>
                    <a:p>
                      <a:r>
                        <a:rPr lang="en-US"/>
                        <a:t>Facial recognition for secure access systems</a:t>
                      </a:r>
                    </a:p>
                  </a:txBody>
                  <a:tcPr anchor="ctr"/>
                </a:tc>
                <a:tc>
                  <a:txBody>
                    <a:bodyPr/>
                    <a:lstStyle/>
                    <a:p>
                      <a:r>
                        <a:rPr lang="en-GB"/>
                        <a:t>Natural image and video understanding</a:t>
                      </a:r>
                    </a:p>
                  </a:txBody>
                  <a:tcPr anchor="ctr"/>
                </a:tc>
                <a:extLst>
                  <a:ext uri="{0D108BD9-81ED-4DB2-BD59-A6C34878D82A}">
                    <a16:rowId xmlns:a16="http://schemas.microsoft.com/office/drawing/2014/main" val="4029680304"/>
                  </a:ext>
                </a:extLst>
              </a:tr>
              <a:tr h="0">
                <a:tc>
                  <a:txBody>
                    <a:bodyPr/>
                    <a:lstStyle/>
                    <a:p>
                      <a:r>
                        <a:rPr lang="en-GB" b="1"/>
                        <a:t>Natural Language Processing (NLP)</a:t>
                      </a:r>
                      <a:endParaRPr lang="en-GB"/>
                    </a:p>
                  </a:txBody>
                  <a:tcPr anchor="ctr"/>
                </a:tc>
                <a:tc>
                  <a:txBody>
                    <a:bodyPr/>
                    <a:lstStyle/>
                    <a:p>
                      <a:r>
                        <a:rPr lang="en-US"/>
                        <a:t>Building chatbots for customer support</a:t>
                      </a:r>
                    </a:p>
                  </a:txBody>
                  <a:tcPr anchor="ctr"/>
                </a:tc>
                <a:tc>
                  <a:txBody>
                    <a:bodyPr/>
                    <a:lstStyle/>
                    <a:p>
                      <a:r>
                        <a:rPr lang="en-US"/>
                        <a:t>Monitoring social media for security threats</a:t>
                      </a:r>
                    </a:p>
                  </a:txBody>
                  <a:tcPr anchor="ctr"/>
                </a:tc>
                <a:tc>
                  <a:txBody>
                    <a:bodyPr/>
                    <a:lstStyle/>
                    <a:p>
                      <a:r>
                        <a:rPr lang="en-US" dirty="0"/>
                        <a:t>Language translation and sentiment analysis</a:t>
                      </a:r>
                    </a:p>
                  </a:txBody>
                  <a:tcPr anchor="ctr"/>
                </a:tc>
                <a:extLst>
                  <a:ext uri="{0D108BD9-81ED-4DB2-BD59-A6C34878D82A}">
                    <a16:rowId xmlns:a16="http://schemas.microsoft.com/office/drawing/2014/main" val="3529465289"/>
                  </a:ext>
                </a:extLst>
              </a:tr>
            </a:tbl>
          </a:graphicData>
        </a:graphic>
      </p:graphicFrame>
    </p:spTree>
    <p:extLst>
      <p:ext uri="{BB962C8B-B14F-4D97-AF65-F5344CB8AC3E}">
        <p14:creationId xmlns:p14="http://schemas.microsoft.com/office/powerpoint/2010/main" val="3032488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EA677B0-03AF-2215-38FD-9A1FCBE5E1E7}"/>
              </a:ext>
            </a:extLst>
          </p:cNvPr>
          <p:cNvSpPr>
            <a:spLocks noGrp="1"/>
          </p:cNvSpPr>
          <p:nvPr>
            <p:ph type="pic" sz="quarter" idx="10"/>
          </p:nvPr>
        </p:nvSpPr>
        <p:spPr/>
        <p:txBody>
          <a:bodyPr/>
          <a:lstStyle/>
          <a:p>
            <a:endParaRPr lang="en-GB" dirty="0"/>
          </a:p>
        </p:txBody>
      </p:sp>
      <p:sp>
        <p:nvSpPr>
          <p:cNvPr id="3" name="Title 2">
            <a:extLst>
              <a:ext uri="{FF2B5EF4-FFF2-40B4-BE49-F238E27FC236}">
                <a16:creationId xmlns:a16="http://schemas.microsoft.com/office/drawing/2014/main" id="{FED8BB73-78B2-FC77-F1AE-F0F605DC6BA9}"/>
              </a:ext>
            </a:extLst>
          </p:cNvPr>
          <p:cNvSpPr>
            <a:spLocks noGrp="1"/>
          </p:cNvSpPr>
          <p:nvPr>
            <p:ph type="title"/>
          </p:nvPr>
        </p:nvSpPr>
        <p:spPr>
          <a:xfrm>
            <a:off x="3843027" y="1543633"/>
            <a:ext cx="4768959" cy="2374194"/>
          </a:xfrm>
        </p:spPr>
        <p:txBody>
          <a:bodyPr/>
          <a:lstStyle/>
          <a:p>
            <a:r>
              <a:rPr lang="en-GB" sz="6600" dirty="0"/>
              <a:t>Techniques based on Data Visualization</a:t>
            </a:r>
          </a:p>
        </p:txBody>
      </p:sp>
    </p:spTree>
    <p:extLst>
      <p:ext uri="{BB962C8B-B14F-4D97-AF65-F5344CB8AC3E}">
        <p14:creationId xmlns:p14="http://schemas.microsoft.com/office/powerpoint/2010/main" val="1952399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356063" y="407321"/>
            <a:ext cx="7153803" cy="1102640"/>
          </a:xfrm>
        </p:spPr>
        <p:txBody>
          <a:bodyPr anchor="ctr">
            <a:normAutofit fontScale="90000"/>
          </a:bodyPr>
          <a:lstStyle/>
          <a:p>
            <a:r>
              <a:rPr lang="en-GB" sz="4400" dirty="0"/>
              <a:t>Techniques based on Data Visualization</a:t>
            </a:r>
          </a:p>
        </p:txBody>
      </p:sp>
      <p:sp>
        <p:nvSpPr>
          <p:cNvPr id="3" name="TextBox 2">
            <a:extLst>
              <a:ext uri="{FF2B5EF4-FFF2-40B4-BE49-F238E27FC236}">
                <a16:creationId xmlns:a16="http://schemas.microsoft.com/office/drawing/2014/main" id="{FE10A49A-9FCD-5F68-3696-0C865A388519}"/>
              </a:ext>
            </a:extLst>
          </p:cNvPr>
          <p:cNvSpPr txBox="1"/>
          <p:nvPr/>
        </p:nvSpPr>
        <p:spPr>
          <a:xfrm>
            <a:off x="2327562" y="2066636"/>
            <a:ext cx="7897091" cy="646331"/>
          </a:xfrm>
          <a:prstGeom prst="rect">
            <a:avLst/>
          </a:prstGeom>
          <a:noFill/>
        </p:spPr>
        <p:txBody>
          <a:bodyPr wrap="square" rtlCol="0">
            <a:spAutoFit/>
          </a:bodyPr>
          <a:lstStyle/>
          <a:p>
            <a:endParaRPr lang="en-GB" dirty="0"/>
          </a:p>
          <a:p>
            <a:pPr marL="285750" indent="-285750">
              <a:buFont typeface="Wingdings" panose="05000000000000000000" pitchFamily="2" charset="2"/>
              <a:buChar char="q"/>
            </a:pPr>
            <a:endParaRPr lang="en-GB" b="1" dirty="0"/>
          </a:p>
        </p:txBody>
      </p:sp>
      <p:sp>
        <p:nvSpPr>
          <p:cNvPr id="2" name="Rectangle 1"/>
          <p:cNvSpPr/>
          <p:nvPr/>
        </p:nvSpPr>
        <p:spPr>
          <a:xfrm>
            <a:off x="884964" y="2258365"/>
            <a:ext cx="6096000" cy="2862322"/>
          </a:xfrm>
          <a:prstGeom prst="rect">
            <a:avLst/>
          </a:prstGeom>
        </p:spPr>
        <p:txBody>
          <a:bodyPr>
            <a:spAutoFit/>
          </a:bodyPr>
          <a:lstStyle/>
          <a:p>
            <a:r>
              <a:rPr lang="en-GB" b="1" dirty="0"/>
              <a:t> Charts and Graphs </a:t>
            </a:r>
            <a:r>
              <a:rPr lang="en-GB" dirty="0"/>
              <a:t>: Column charts, bar charts, line charts, pie charts, radar charts.</a:t>
            </a:r>
          </a:p>
          <a:p>
            <a:endParaRPr lang="en-GB" dirty="0"/>
          </a:p>
          <a:p>
            <a:pPr marL="531813" indent="-265113">
              <a:buClr>
                <a:schemeClr val="accent4"/>
              </a:buClr>
              <a:buFont typeface="Arial" panose="020B0604020202020204" pitchFamily="34" charset="0"/>
              <a:buChar char="•"/>
            </a:pPr>
            <a:r>
              <a:rPr lang="en-GB" dirty="0"/>
              <a:t>Example: Comparing survey responses across different age groups</a:t>
            </a:r>
          </a:p>
          <a:p>
            <a:pPr marL="531813" indent="-265113">
              <a:buClr>
                <a:schemeClr val="accent4"/>
              </a:buClr>
              <a:buFont typeface="Arial" panose="020B0604020202020204" pitchFamily="34" charset="0"/>
              <a:buChar char="•"/>
            </a:pPr>
            <a:r>
              <a:rPr lang="en-GB" dirty="0"/>
              <a:t>Research Application: Visualizing demographic data in a social science study</a:t>
            </a:r>
          </a:p>
          <a:p>
            <a:endParaRPr lang="en-GB" dirty="0"/>
          </a:p>
          <a:p>
            <a:r>
              <a:rPr lang="en-GB" dirty="0"/>
              <a:t>Note: Visualization lays the foundation for drawing inferences from structured data.</a:t>
            </a:r>
          </a:p>
        </p:txBody>
      </p:sp>
      <p:pic>
        <p:nvPicPr>
          <p:cNvPr id="5" name="Picture 4"/>
          <p:cNvPicPr>
            <a:picLocks noChangeAspect="1"/>
          </p:cNvPicPr>
          <p:nvPr/>
        </p:nvPicPr>
        <p:blipFill>
          <a:blip r:embed="rId3"/>
          <a:stretch>
            <a:fillRect/>
          </a:stretch>
        </p:blipFill>
        <p:spPr>
          <a:xfrm>
            <a:off x="7509866" y="407321"/>
            <a:ext cx="4682134" cy="4865030"/>
          </a:xfrm>
          <a:prstGeom prst="rect">
            <a:avLst/>
          </a:prstGeom>
        </p:spPr>
      </p:pic>
    </p:spTree>
    <p:extLst>
      <p:ext uri="{BB962C8B-B14F-4D97-AF65-F5344CB8AC3E}">
        <p14:creationId xmlns:p14="http://schemas.microsoft.com/office/powerpoint/2010/main" val="11879314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356063" y="407321"/>
            <a:ext cx="7153803" cy="1102640"/>
          </a:xfrm>
        </p:spPr>
        <p:txBody>
          <a:bodyPr anchor="ctr">
            <a:normAutofit/>
          </a:bodyPr>
          <a:lstStyle/>
          <a:p>
            <a:r>
              <a:rPr lang="en-GB" sz="4400" dirty="0"/>
              <a:t>Data Visualization Tools</a:t>
            </a:r>
          </a:p>
        </p:txBody>
      </p:sp>
      <p:sp>
        <p:nvSpPr>
          <p:cNvPr id="3" name="TextBox 2">
            <a:extLst>
              <a:ext uri="{FF2B5EF4-FFF2-40B4-BE49-F238E27FC236}">
                <a16:creationId xmlns:a16="http://schemas.microsoft.com/office/drawing/2014/main" id="{FE10A49A-9FCD-5F68-3696-0C865A388519}"/>
              </a:ext>
            </a:extLst>
          </p:cNvPr>
          <p:cNvSpPr txBox="1"/>
          <p:nvPr/>
        </p:nvSpPr>
        <p:spPr>
          <a:xfrm>
            <a:off x="2227809" y="2066636"/>
            <a:ext cx="7897091" cy="646331"/>
          </a:xfrm>
          <a:prstGeom prst="rect">
            <a:avLst/>
          </a:prstGeom>
          <a:noFill/>
        </p:spPr>
        <p:txBody>
          <a:bodyPr wrap="square" rtlCol="0">
            <a:spAutoFit/>
          </a:bodyPr>
          <a:lstStyle/>
          <a:p>
            <a:endParaRPr lang="en-GB" dirty="0"/>
          </a:p>
          <a:p>
            <a:pPr marL="285750" indent="-285750">
              <a:buFont typeface="Wingdings" panose="05000000000000000000" pitchFamily="2" charset="2"/>
              <a:buChar char="q"/>
            </a:pPr>
            <a:endParaRPr lang="en-GB" b="1" dirty="0"/>
          </a:p>
        </p:txBody>
      </p:sp>
      <p:sp>
        <p:nvSpPr>
          <p:cNvPr id="2" name="Rectangle 1"/>
          <p:cNvSpPr/>
          <p:nvPr/>
        </p:nvSpPr>
        <p:spPr>
          <a:xfrm>
            <a:off x="1074773" y="2066636"/>
            <a:ext cx="6096000" cy="369332"/>
          </a:xfrm>
          <a:prstGeom prst="rect">
            <a:avLst/>
          </a:prstGeom>
        </p:spPr>
        <p:txBody>
          <a:bodyPr>
            <a:spAutoFit/>
          </a:bodyPr>
          <a:lstStyle/>
          <a:p>
            <a:r>
              <a:rPr lang="en-GB" b="1" dirty="0"/>
              <a:t> </a:t>
            </a:r>
            <a:endParaRPr lang="en-GB" dirty="0"/>
          </a:p>
        </p:txBody>
      </p:sp>
      <p:pic>
        <p:nvPicPr>
          <p:cNvPr id="5" name="Picture 4"/>
          <p:cNvPicPr>
            <a:picLocks noChangeAspect="1"/>
          </p:cNvPicPr>
          <p:nvPr/>
        </p:nvPicPr>
        <p:blipFill>
          <a:blip r:embed="rId3"/>
          <a:stretch>
            <a:fillRect/>
          </a:stretch>
        </p:blipFill>
        <p:spPr>
          <a:xfrm>
            <a:off x="7509866" y="407321"/>
            <a:ext cx="4682134" cy="4865030"/>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1495923129"/>
              </p:ext>
            </p:extLst>
          </p:nvPr>
        </p:nvGraphicFramePr>
        <p:xfrm>
          <a:off x="758365" y="1644633"/>
          <a:ext cx="7166433" cy="4057897"/>
        </p:xfrm>
        <a:graphic>
          <a:graphicData uri="http://schemas.openxmlformats.org/drawingml/2006/table">
            <a:tbl>
              <a:tblPr firstRow="1">
                <a:tableStyleId>{775DCB02-9BB8-47FD-8907-85C794F793BA}</a:tableStyleId>
              </a:tblPr>
              <a:tblGrid>
                <a:gridCol w="2388811">
                  <a:extLst>
                    <a:ext uri="{9D8B030D-6E8A-4147-A177-3AD203B41FA5}">
                      <a16:colId xmlns:a16="http://schemas.microsoft.com/office/drawing/2014/main" val="20000"/>
                    </a:ext>
                  </a:extLst>
                </a:gridCol>
                <a:gridCol w="2388811">
                  <a:extLst>
                    <a:ext uri="{9D8B030D-6E8A-4147-A177-3AD203B41FA5}">
                      <a16:colId xmlns:a16="http://schemas.microsoft.com/office/drawing/2014/main" val="20001"/>
                    </a:ext>
                  </a:extLst>
                </a:gridCol>
                <a:gridCol w="2388811">
                  <a:extLst>
                    <a:ext uri="{9D8B030D-6E8A-4147-A177-3AD203B41FA5}">
                      <a16:colId xmlns:a16="http://schemas.microsoft.com/office/drawing/2014/main" val="20002"/>
                    </a:ext>
                  </a:extLst>
                </a:gridCol>
              </a:tblGrid>
              <a:tr h="507237">
                <a:tc>
                  <a:txBody>
                    <a:bodyPr/>
                    <a:lstStyle/>
                    <a:p>
                      <a:pPr algn="l" fontAlgn="b"/>
                      <a:r>
                        <a:rPr lang="en-GB">
                          <a:effectLst/>
                        </a:rPr>
                        <a:t>Tool</a:t>
                      </a:r>
                      <a:endParaRPr lang="en-GB" b="0">
                        <a:effectLst/>
                      </a:endParaRPr>
                    </a:p>
                  </a:txBody>
                  <a:tcPr anchor="b"/>
                </a:tc>
                <a:tc>
                  <a:txBody>
                    <a:bodyPr/>
                    <a:lstStyle/>
                    <a:p>
                      <a:pPr algn="l" fontAlgn="b"/>
                      <a:r>
                        <a:rPr lang="en-GB">
                          <a:effectLst/>
                        </a:rPr>
                        <a:t>Strength</a:t>
                      </a:r>
                      <a:endParaRPr lang="en-GB" b="0">
                        <a:effectLst/>
                      </a:endParaRPr>
                    </a:p>
                  </a:txBody>
                  <a:tcPr anchor="b"/>
                </a:tc>
                <a:tc>
                  <a:txBody>
                    <a:bodyPr/>
                    <a:lstStyle/>
                    <a:p>
                      <a:pPr algn="l" fontAlgn="b"/>
                      <a:r>
                        <a:rPr lang="en-GB">
                          <a:effectLst/>
                        </a:rPr>
                        <a:t>Research Application</a:t>
                      </a:r>
                      <a:endParaRPr lang="en-GB" b="0">
                        <a:effectLst/>
                      </a:endParaRPr>
                    </a:p>
                  </a:txBody>
                  <a:tcPr anchor="b"/>
                </a:tc>
                <a:extLst>
                  <a:ext uri="{0D108BD9-81ED-4DB2-BD59-A6C34878D82A}">
                    <a16:rowId xmlns:a16="http://schemas.microsoft.com/office/drawing/2014/main" val="10000"/>
                  </a:ext>
                </a:extLst>
              </a:tr>
              <a:tr h="887665">
                <a:tc>
                  <a:txBody>
                    <a:bodyPr/>
                    <a:lstStyle/>
                    <a:p>
                      <a:pPr algn="l" fontAlgn="base"/>
                      <a:r>
                        <a:rPr lang="en-GB">
                          <a:effectLst/>
                        </a:rPr>
                        <a:t>Visio</a:t>
                      </a:r>
                    </a:p>
                  </a:txBody>
                  <a:tcPr anchor="ctr"/>
                </a:tc>
                <a:tc>
                  <a:txBody>
                    <a:bodyPr/>
                    <a:lstStyle/>
                    <a:p>
                      <a:pPr algn="l" fontAlgn="base"/>
                      <a:r>
                        <a:rPr lang="en-GB">
                          <a:effectLst/>
                        </a:rPr>
                        <a:t>Flowcharts and diagrams</a:t>
                      </a:r>
                    </a:p>
                  </a:txBody>
                  <a:tcPr anchor="ctr"/>
                </a:tc>
                <a:tc>
                  <a:txBody>
                    <a:bodyPr/>
                    <a:lstStyle/>
                    <a:p>
                      <a:pPr algn="l" fontAlgn="base"/>
                      <a:r>
                        <a:rPr lang="en-GB">
                          <a:effectLst/>
                        </a:rPr>
                        <a:t>Process mapping in engineering research</a:t>
                      </a:r>
                    </a:p>
                  </a:txBody>
                  <a:tcPr anchor="ctr"/>
                </a:tc>
                <a:extLst>
                  <a:ext uri="{0D108BD9-81ED-4DB2-BD59-A6C34878D82A}">
                    <a16:rowId xmlns:a16="http://schemas.microsoft.com/office/drawing/2014/main" val="10001"/>
                  </a:ext>
                </a:extLst>
              </a:tr>
              <a:tr h="887665">
                <a:tc>
                  <a:txBody>
                    <a:bodyPr/>
                    <a:lstStyle/>
                    <a:p>
                      <a:pPr algn="l" fontAlgn="base"/>
                      <a:r>
                        <a:rPr lang="en-GB">
                          <a:effectLst/>
                        </a:rPr>
                        <a:t>XMind</a:t>
                      </a:r>
                    </a:p>
                  </a:txBody>
                  <a:tcPr anchor="ctr"/>
                </a:tc>
                <a:tc>
                  <a:txBody>
                    <a:bodyPr/>
                    <a:lstStyle/>
                    <a:p>
                      <a:pPr algn="l" fontAlgn="base"/>
                      <a:r>
                        <a:rPr lang="en-GB">
                          <a:effectLst/>
                        </a:rPr>
                        <a:t>Mind mapping</a:t>
                      </a:r>
                    </a:p>
                  </a:txBody>
                  <a:tcPr anchor="ctr"/>
                </a:tc>
                <a:tc>
                  <a:txBody>
                    <a:bodyPr/>
                    <a:lstStyle/>
                    <a:p>
                      <a:pPr algn="l" fontAlgn="base"/>
                      <a:r>
                        <a:rPr lang="en-GB">
                          <a:effectLst/>
                        </a:rPr>
                        <a:t>Concept organization in literature reviews</a:t>
                      </a:r>
                    </a:p>
                  </a:txBody>
                  <a:tcPr anchor="ctr"/>
                </a:tc>
                <a:extLst>
                  <a:ext uri="{0D108BD9-81ED-4DB2-BD59-A6C34878D82A}">
                    <a16:rowId xmlns:a16="http://schemas.microsoft.com/office/drawing/2014/main" val="10002"/>
                  </a:ext>
                </a:extLst>
              </a:tr>
              <a:tr h="887665">
                <a:tc>
                  <a:txBody>
                    <a:bodyPr/>
                    <a:lstStyle/>
                    <a:p>
                      <a:pPr algn="l" fontAlgn="base"/>
                      <a:r>
                        <a:rPr lang="en-GB">
                          <a:effectLst/>
                        </a:rPr>
                        <a:t>SPSS</a:t>
                      </a:r>
                    </a:p>
                  </a:txBody>
                  <a:tcPr anchor="ctr"/>
                </a:tc>
                <a:tc>
                  <a:txBody>
                    <a:bodyPr/>
                    <a:lstStyle/>
                    <a:p>
                      <a:pPr algn="l" fontAlgn="base"/>
                      <a:r>
                        <a:rPr lang="en-GB">
                          <a:effectLst/>
                        </a:rPr>
                        <a:t>Statistical analysis</a:t>
                      </a:r>
                    </a:p>
                  </a:txBody>
                  <a:tcPr anchor="ctr"/>
                </a:tc>
                <a:tc>
                  <a:txBody>
                    <a:bodyPr/>
                    <a:lstStyle/>
                    <a:p>
                      <a:pPr algn="l" fontAlgn="base"/>
                      <a:r>
                        <a:rPr lang="en-GB">
                          <a:effectLst/>
                        </a:rPr>
                        <a:t>Data analysis in social sciences</a:t>
                      </a:r>
                    </a:p>
                  </a:txBody>
                  <a:tcPr anchor="ctr"/>
                </a:tc>
                <a:extLst>
                  <a:ext uri="{0D108BD9-81ED-4DB2-BD59-A6C34878D82A}">
                    <a16:rowId xmlns:a16="http://schemas.microsoft.com/office/drawing/2014/main" val="10003"/>
                  </a:ext>
                </a:extLst>
              </a:tr>
              <a:tr h="887665">
                <a:tc>
                  <a:txBody>
                    <a:bodyPr/>
                    <a:lstStyle/>
                    <a:p>
                      <a:pPr algn="l" fontAlgn="base"/>
                      <a:r>
                        <a:rPr lang="en-GB">
                          <a:effectLst/>
                        </a:rPr>
                        <a:t>Minitab</a:t>
                      </a:r>
                    </a:p>
                  </a:txBody>
                  <a:tcPr anchor="ctr"/>
                </a:tc>
                <a:tc>
                  <a:txBody>
                    <a:bodyPr/>
                    <a:lstStyle/>
                    <a:p>
                      <a:pPr algn="l" fontAlgn="base"/>
                      <a:r>
                        <a:rPr lang="en-GB">
                          <a:effectLst/>
                        </a:rPr>
                        <a:t>Quality control charts</a:t>
                      </a:r>
                    </a:p>
                  </a:txBody>
                  <a:tcPr anchor="ctr"/>
                </a:tc>
                <a:tc>
                  <a:txBody>
                    <a:bodyPr/>
                    <a:lstStyle/>
                    <a:p>
                      <a:pPr algn="l" fontAlgn="base"/>
                      <a:r>
                        <a:rPr lang="en-GB" dirty="0">
                          <a:effectLst/>
                        </a:rPr>
                        <a:t>Manufacturing process research</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62757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EA677B0-03AF-2215-38FD-9A1FCBE5E1E7}"/>
              </a:ext>
            </a:extLst>
          </p:cNvPr>
          <p:cNvSpPr>
            <a:spLocks noGrp="1"/>
          </p:cNvSpPr>
          <p:nvPr>
            <p:ph type="pic" sz="quarter" idx="10"/>
          </p:nvPr>
        </p:nvSpPr>
        <p:spPr/>
        <p:txBody>
          <a:bodyPr/>
          <a:lstStyle/>
          <a:p>
            <a:endParaRPr lang="en-GB" dirty="0"/>
          </a:p>
        </p:txBody>
      </p:sp>
      <p:sp>
        <p:nvSpPr>
          <p:cNvPr id="3" name="Title 2">
            <a:extLst>
              <a:ext uri="{FF2B5EF4-FFF2-40B4-BE49-F238E27FC236}">
                <a16:creationId xmlns:a16="http://schemas.microsoft.com/office/drawing/2014/main" id="{FED8BB73-78B2-FC77-F1AE-F0F605DC6BA9}"/>
              </a:ext>
            </a:extLst>
          </p:cNvPr>
          <p:cNvSpPr>
            <a:spLocks noGrp="1"/>
          </p:cNvSpPr>
          <p:nvPr>
            <p:ph type="title"/>
          </p:nvPr>
        </p:nvSpPr>
        <p:spPr>
          <a:xfrm>
            <a:off x="3843027" y="1543633"/>
            <a:ext cx="4768959" cy="2374194"/>
          </a:xfrm>
        </p:spPr>
        <p:txBody>
          <a:bodyPr/>
          <a:lstStyle/>
          <a:p>
            <a:r>
              <a:rPr lang="en-GB" sz="6600" dirty="0"/>
              <a:t>Techniques used in Quantitative Data Analysis</a:t>
            </a:r>
          </a:p>
        </p:txBody>
      </p:sp>
    </p:spTree>
    <p:extLst>
      <p:ext uri="{BB962C8B-B14F-4D97-AF65-F5344CB8AC3E}">
        <p14:creationId xmlns:p14="http://schemas.microsoft.com/office/powerpoint/2010/main" val="1353960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522317" y="415356"/>
            <a:ext cx="7341523" cy="1102640"/>
          </a:xfrm>
        </p:spPr>
        <p:txBody>
          <a:bodyPr anchor="ctr">
            <a:normAutofit/>
          </a:bodyPr>
          <a:lstStyle/>
          <a:p>
            <a:r>
              <a:rPr lang="en-GB" sz="4400" dirty="0"/>
              <a:t>Data Mining Techniques</a:t>
            </a:r>
          </a:p>
        </p:txBody>
      </p:sp>
      <p:sp>
        <p:nvSpPr>
          <p:cNvPr id="3" name="TextBox 2">
            <a:extLst>
              <a:ext uri="{FF2B5EF4-FFF2-40B4-BE49-F238E27FC236}">
                <a16:creationId xmlns:a16="http://schemas.microsoft.com/office/drawing/2014/main" id="{FE10A49A-9FCD-5F68-3696-0C865A388519}"/>
              </a:ext>
            </a:extLst>
          </p:cNvPr>
          <p:cNvSpPr txBox="1"/>
          <p:nvPr/>
        </p:nvSpPr>
        <p:spPr>
          <a:xfrm>
            <a:off x="2327562" y="2066636"/>
            <a:ext cx="7897091" cy="646331"/>
          </a:xfrm>
          <a:prstGeom prst="rect">
            <a:avLst/>
          </a:prstGeom>
          <a:noFill/>
        </p:spPr>
        <p:txBody>
          <a:bodyPr wrap="square" rtlCol="0">
            <a:spAutoFit/>
          </a:bodyPr>
          <a:lstStyle/>
          <a:p>
            <a:endParaRPr lang="en-GB" dirty="0"/>
          </a:p>
          <a:p>
            <a:pPr marL="285750" indent="-285750">
              <a:buFont typeface="Wingdings" panose="05000000000000000000" pitchFamily="2" charset="2"/>
              <a:buChar char="q"/>
            </a:pPr>
            <a:endParaRPr lang="en-GB" b="1" dirty="0"/>
          </a:p>
        </p:txBody>
      </p:sp>
      <p:sp>
        <p:nvSpPr>
          <p:cNvPr id="2" name="Rectangle 1"/>
          <p:cNvSpPr/>
          <p:nvPr/>
        </p:nvSpPr>
        <p:spPr>
          <a:xfrm>
            <a:off x="483354" y="1516908"/>
            <a:ext cx="6666110" cy="3416320"/>
          </a:xfrm>
          <a:prstGeom prst="rect">
            <a:avLst/>
          </a:prstGeom>
        </p:spPr>
        <p:txBody>
          <a:bodyPr wrap="square">
            <a:spAutoFit/>
          </a:bodyPr>
          <a:lstStyle/>
          <a:p>
            <a:pPr algn="just"/>
            <a:endParaRPr lang="en-GB" dirty="0"/>
          </a:p>
          <a:p>
            <a:pPr algn="just"/>
            <a:r>
              <a:rPr lang="en-GB" b="1" dirty="0"/>
              <a:t>Data Mining:</a:t>
            </a:r>
            <a:r>
              <a:rPr lang="en-GB" dirty="0"/>
              <a:t> Extracts meaningful information from large datasets (e.g., business or healthcare data). </a:t>
            </a:r>
          </a:p>
          <a:p>
            <a:pPr algn="just"/>
            <a:endParaRPr lang="en-GB" dirty="0"/>
          </a:p>
          <a:p>
            <a:pPr marL="285750" indent="-285750" algn="just">
              <a:buClr>
                <a:schemeClr val="accent4"/>
              </a:buClr>
              <a:buFont typeface="Wingdings" panose="05000000000000000000" pitchFamily="2" charset="2"/>
              <a:buChar char="§"/>
            </a:pPr>
            <a:r>
              <a:rPr lang="en-GB" dirty="0"/>
              <a:t>This is often the starting point in decision-based research.</a:t>
            </a:r>
          </a:p>
          <a:p>
            <a:pPr algn="just">
              <a:buClr>
                <a:schemeClr val="accent4"/>
              </a:buClr>
            </a:pPr>
            <a:endParaRPr lang="en-GB" dirty="0"/>
          </a:p>
          <a:p>
            <a:pPr marL="285750" indent="-285750" algn="just">
              <a:buClr>
                <a:schemeClr val="accent4"/>
              </a:buClr>
              <a:buFont typeface="Wingdings" panose="05000000000000000000" pitchFamily="2" charset="2"/>
              <a:buChar char="§"/>
            </a:pPr>
            <a:r>
              <a:rPr lang="en-GB" dirty="0"/>
              <a:t>Data mining requires a student to use statistical tools to explore the data for interesting relationships that can be analysed, such as finding a gap in a use case scenario in online shopping or pinpointing areas of increasing demand in public healthcare.</a:t>
            </a:r>
          </a:p>
          <a:p>
            <a:pPr algn="just"/>
            <a:endParaRPr lang="en-GB" dirty="0"/>
          </a:p>
          <a:p>
            <a:pPr marL="285750" indent="-285750">
              <a:buFont typeface="Wingdings" panose="05000000000000000000" pitchFamily="2" charset="2"/>
              <a:buChar char="§"/>
            </a:pPr>
            <a:endParaRPr lang="en-GB" dirty="0"/>
          </a:p>
        </p:txBody>
      </p:sp>
      <p:pic>
        <p:nvPicPr>
          <p:cNvPr id="5" name="Picture 4"/>
          <p:cNvPicPr>
            <a:picLocks noChangeAspect="1"/>
          </p:cNvPicPr>
          <p:nvPr/>
        </p:nvPicPr>
        <p:blipFill>
          <a:blip r:embed="rId3"/>
          <a:stretch>
            <a:fillRect/>
          </a:stretch>
        </p:blipFill>
        <p:spPr>
          <a:xfrm>
            <a:off x="7110501" y="384616"/>
            <a:ext cx="4682134" cy="4865030"/>
          </a:xfrm>
          <a:prstGeom prst="rect">
            <a:avLst/>
          </a:prstGeom>
        </p:spPr>
      </p:pic>
    </p:spTree>
    <p:extLst>
      <p:ext uri="{BB962C8B-B14F-4D97-AF65-F5344CB8AC3E}">
        <p14:creationId xmlns:p14="http://schemas.microsoft.com/office/powerpoint/2010/main" val="1726256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369223" y="400048"/>
            <a:ext cx="8289174" cy="1102640"/>
          </a:xfrm>
        </p:spPr>
        <p:txBody>
          <a:bodyPr anchor="ctr">
            <a:normAutofit/>
          </a:bodyPr>
          <a:lstStyle/>
          <a:p>
            <a:r>
              <a:rPr lang="en-GB" sz="4400" dirty="0"/>
              <a:t>Meta Analysis Techniques</a:t>
            </a:r>
          </a:p>
        </p:txBody>
      </p:sp>
      <p:sp>
        <p:nvSpPr>
          <p:cNvPr id="3" name="TextBox 2">
            <a:extLst>
              <a:ext uri="{FF2B5EF4-FFF2-40B4-BE49-F238E27FC236}">
                <a16:creationId xmlns:a16="http://schemas.microsoft.com/office/drawing/2014/main" id="{FE10A49A-9FCD-5F68-3696-0C865A388519}"/>
              </a:ext>
            </a:extLst>
          </p:cNvPr>
          <p:cNvSpPr txBox="1"/>
          <p:nvPr/>
        </p:nvSpPr>
        <p:spPr>
          <a:xfrm>
            <a:off x="2327562" y="2066636"/>
            <a:ext cx="7897091" cy="646331"/>
          </a:xfrm>
          <a:prstGeom prst="rect">
            <a:avLst/>
          </a:prstGeom>
          <a:noFill/>
        </p:spPr>
        <p:txBody>
          <a:bodyPr wrap="square" rtlCol="0">
            <a:spAutoFit/>
          </a:bodyPr>
          <a:lstStyle/>
          <a:p>
            <a:endParaRPr lang="en-GB" dirty="0"/>
          </a:p>
          <a:p>
            <a:pPr marL="285750" indent="-285750">
              <a:buFont typeface="Wingdings" panose="05000000000000000000" pitchFamily="2" charset="2"/>
              <a:buChar char="q"/>
            </a:pPr>
            <a:endParaRPr lang="en-GB" b="1" dirty="0"/>
          </a:p>
        </p:txBody>
      </p:sp>
      <p:sp>
        <p:nvSpPr>
          <p:cNvPr id="2" name="Rectangle 1"/>
          <p:cNvSpPr/>
          <p:nvPr/>
        </p:nvSpPr>
        <p:spPr>
          <a:xfrm>
            <a:off x="759228" y="1336433"/>
            <a:ext cx="6966066" cy="5078313"/>
          </a:xfrm>
          <a:prstGeom prst="rect">
            <a:avLst/>
          </a:prstGeom>
        </p:spPr>
        <p:txBody>
          <a:bodyPr wrap="square">
            <a:spAutoFit/>
          </a:bodyPr>
          <a:lstStyle/>
          <a:p>
            <a:pPr algn="just"/>
            <a:r>
              <a:rPr lang="en-GB" b="1" dirty="0"/>
              <a:t>Meta-Analysis:</a:t>
            </a:r>
            <a:r>
              <a:rPr lang="en-GB" dirty="0"/>
              <a:t> Assesses results of past studies to derive new conclusions (e.g., cybersecurity trends).  </a:t>
            </a:r>
          </a:p>
          <a:p>
            <a:pPr algn="just"/>
            <a:endParaRPr lang="en-GB" dirty="0"/>
          </a:p>
          <a:p>
            <a:pPr algn="just"/>
            <a:r>
              <a:rPr lang="en-GB" dirty="0"/>
              <a:t>Steps in Meta-Analysis are:</a:t>
            </a:r>
          </a:p>
          <a:p>
            <a:pPr algn="just"/>
            <a:endParaRPr lang="en-GB" dirty="0"/>
          </a:p>
          <a:p>
            <a:pPr marL="531813" indent="-265113">
              <a:buClr>
                <a:schemeClr val="accent4"/>
              </a:buClr>
              <a:buFont typeface="Arial" panose="020B0604020202020204" pitchFamily="34" charset="0"/>
              <a:buChar char="•"/>
            </a:pPr>
            <a:r>
              <a:rPr lang="en-GB" dirty="0"/>
              <a:t>Definition of the issues to be investigated. </a:t>
            </a:r>
          </a:p>
          <a:p>
            <a:pPr marL="531813" indent="-265113">
              <a:buClr>
                <a:schemeClr val="accent4"/>
              </a:buClr>
              <a:buFont typeface="Arial" panose="020B0604020202020204" pitchFamily="34" charset="0"/>
              <a:buChar char="•"/>
            </a:pPr>
            <a:r>
              <a:rPr lang="en-GB" dirty="0"/>
              <a:t> Identifying previous published or unpublished research results that have valuable data on the defined issues. It is important to choose studies with high quality data so that your foundation for analysis is sound in terms of the validity and reliability of the initial studies that you are relying on. </a:t>
            </a:r>
          </a:p>
          <a:p>
            <a:pPr marL="531813" indent="-265113">
              <a:buClr>
                <a:schemeClr val="accent4"/>
              </a:buClr>
              <a:buFont typeface="Arial" panose="020B0604020202020204" pitchFamily="34" charset="0"/>
              <a:buChar char="•"/>
            </a:pPr>
            <a:r>
              <a:rPr lang="en-GB" dirty="0"/>
              <a:t>Using the data from the identified studies.</a:t>
            </a:r>
          </a:p>
          <a:p>
            <a:pPr marL="531813" indent="-265113">
              <a:buClr>
                <a:schemeClr val="accent4"/>
              </a:buClr>
              <a:buFont typeface="Arial" panose="020B0604020202020204" pitchFamily="34" charset="0"/>
              <a:buChar char="•"/>
            </a:pPr>
            <a:r>
              <a:rPr lang="en-GB" dirty="0"/>
              <a:t>Decide on the purpose of the meta-analysis.</a:t>
            </a:r>
          </a:p>
          <a:p>
            <a:pPr marL="531813" indent="-265113">
              <a:buClr>
                <a:schemeClr val="accent4"/>
              </a:buClr>
              <a:buFont typeface="Arial" panose="020B0604020202020204" pitchFamily="34" charset="0"/>
              <a:buChar char="•"/>
            </a:pPr>
            <a:r>
              <a:rPr lang="en-GB" dirty="0"/>
              <a:t>Carry out the statistical analysis to compare or compute significance levels. </a:t>
            </a:r>
          </a:p>
          <a:p>
            <a:pPr marL="531813" indent="-265113">
              <a:buClr>
                <a:schemeClr val="accent4"/>
              </a:buClr>
              <a:buFont typeface="Arial" panose="020B0604020202020204" pitchFamily="34" charset="0"/>
              <a:buChar char="•"/>
            </a:pPr>
            <a:r>
              <a:rPr lang="en-GB" dirty="0"/>
              <a:t>Report the results and discuss the limitations of the research and recommend further research in the subject area.</a:t>
            </a:r>
          </a:p>
          <a:p>
            <a:endParaRPr lang="en-GB" dirty="0"/>
          </a:p>
        </p:txBody>
      </p:sp>
      <p:pic>
        <p:nvPicPr>
          <p:cNvPr id="5" name="Picture 4"/>
          <p:cNvPicPr>
            <a:picLocks noChangeAspect="1"/>
          </p:cNvPicPr>
          <p:nvPr/>
        </p:nvPicPr>
        <p:blipFill>
          <a:blip r:embed="rId3"/>
          <a:stretch>
            <a:fillRect/>
          </a:stretch>
        </p:blipFill>
        <p:spPr>
          <a:xfrm>
            <a:off x="7509866" y="684044"/>
            <a:ext cx="4682134" cy="4865030"/>
          </a:xfrm>
          <a:prstGeom prst="rect">
            <a:avLst/>
          </a:prstGeom>
        </p:spPr>
      </p:pic>
    </p:spTree>
    <p:extLst>
      <p:ext uri="{BB962C8B-B14F-4D97-AF65-F5344CB8AC3E}">
        <p14:creationId xmlns:p14="http://schemas.microsoft.com/office/powerpoint/2010/main" val="2283093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EA677B0-03AF-2215-38FD-9A1FCBE5E1E7}"/>
              </a:ext>
            </a:extLst>
          </p:cNvPr>
          <p:cNvSpPr>
            <a:spLocks noGrp="1"/>
          </p:cNvSpPr>
          <p:nvPr>
            <p:ph type="pic" sz="quarter" idx="10"/>
          </p:nvPr>
        </p:nvSpPr>
        <p:spPr/>
        <p:txBody>
          <a:bodyPr/>
          <a:lstStyle/>
          <a:p>
            <a:endParaRPr lang="en-GB" dirty="0"/>
          </a:p>
        </p:txBody>
      </p:sp>
      <p:sp>
        <p:nvSpPr>
          <p:cNvPr id="3" name="Title 2">
            <a:extLst>
              <a:ext uri="{FF2B5EF4-FFF2-40B4-BE49-F238E27FC236}">
                <a16:creationId xmlns:a16="http://schemas.microsoft.com/office/drawing/2014/main" id="{FED8BB73-78B2-FC77-F1AE-F0F605DC6BA9}"/>
              </a:ext>
            </a:extLst>
          </p:cNvPr>
          <p:cNvSpPr>
            <a:spLocks noGrp="1"/>
          </p:cNvSpPr>
          <p:nvPr>
            <p:ph type="title"/>
          </p:nvPr>
        </p:nvSpPr>
        <p:spPr>
          <a:xfrm>
            <a:off x="4009280" y="1660011"/>
            <a:ext cx="4419825" cy="2374194"/>
          </a:xfrm>
        </p:spPr>
        <p:txBody>
          <a:bodyPr/>
          <a:lstStyle/>
          <a:p>
            <a:r>
              <a:rPr lang="en-GB" sz="4400" dirty="0"/>
              <a:t>Artificial Intelligence (AI) Data Collection, Presentation and Analysis Platforms</a:t>
            </a:r>
          </a:p>
        </p:txBody>
      </p:sp>
    </p:spTree>
    <p:extLst>
      <p:ext uri="{BB962C8B-B14F-4D97-AF65-F5344CB8AC3E}">
        <p14:creationId xmlns:p14="http://schemas.microsoft.com/office/powerpoint/2010/main" val="2915198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1311317" y="122424"/>
            <a:ext cx="8913336" cy="1102640"/>
          </a:xfrm>
        </p:spPr>
        <p:txBody>
          <a:bodyPr anchor="ctr">
            <a:normAutofit fontScale="90000"/>
          </a:bodyPr>
          <a:lstStyle/>
          <a:p>
            <a:r>
              <a:rPr lang="en-GB" sz="4400" dirty="0"/>
              <a:t>Amazon Machine learning &amp; </a:t>
            </a:r>
            <a:r>
              <a:rPr lang="en-GB" sz="4400" dirty="0" err="1"/>
              <a:t>SageMaker</a:t>
            </a:r>
            <a:endParaRPr lang="en-GB" sz="4400" dirty="0"/>
          </a:p>
        </p:txBody>
      </p:sp>
      <p:sp>
        <p:nvSpPr>
          <p:cNvPr id="3" name="TextBox 2">
            <a:extLst>
              <a:ext uri="{FF2B5EF4-FFF2-40B4-BE49-F238E27FC236}">
                <a16:creationId xmlns:a16="http://schemas.microsoft.com/office/drawing/2014/main" id="{FE10A49A-9FCD-5F68-3696-0C865A388519}"/>
              </a:ext>
            </a:extLst>
          </p:cNvPr>
          <p:cNvSpPr txBox="1"/>
          <p:nvPr/>
        </p:nvSpPr>
        <p:spPr>
          <a:xfrm>
            <a:off x="2327562" y="2066636"/>
            <a:ext cx="7897091" cy="646331"/>
          </a:xfrm>
          <a:prstGeom prst="rect">
            <a:avLst/>
          </a:prstGeom>
          <a:noFill/>
        </p:spPr>
        <p:txBody>
          <a:bodyPr wrap="square" rtlCol="0">
            <a:spAutoFit/>
          </a:bodyPr>
          <a:lstStyle/>
          <a:p>
            <a:endParaRPr lang="en-GB" dirty="0"/>
          </a:p>
          <a:p>
            <a:pPr marL="285750" indent="-285750">
              <a:buFont typeface="Wingdings" panose="05000000000000000000" pitchFamily="2" charset="2"/>
              <a:buChar char="q"/>
            </a:pPr>
            <a:endParaRPr lang="en-GB" b="1" dirty="0"/>
          </a:p>
        </p:txBody>
      </p:sp>
      <p:sp>
        <p:nvSpPr>
          <p:cNvPr id="2" name="Rectangle 1"/>
          <p:cNvSpPr/>
          <p:nvPr/>
        </p:nvSpPr>
        <p:spPr>
          <a:xfrm>
            <a:off x="1064026" y="1166182"/>
            <a:ext cx="7232075" cy="1200329"/>
          </a:xfrm>
          <a:prstGeom prst="rect">
            <a:avLst/>
          </a:prstGeom>
        </p:spPr>
        <p:txBody>
          <a:bodyPr wrap="square">
            <a:spAutoFit/>
          </a:bodyPr>
          <a:lstStyle/>
          <a:p>
            <a:pPr algn="just"/>
            <a:r>
              <a:rPr lang="en-GB" dirty="0"/>
              <a:t>There are a few leading industry AI tools/platforms for CS, IS and CY research, not limited to those listed below: </a:t>
            </a:r>
          </a:p>
          <a:p>
            <a:pPr algn="just"/>
            <a:endParaRPr lang="en-GB" dirty="0"/>
          </a:p>
          <a:p>
            <a:pPr algn="just"/>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80088238"/>
              </p:ext>
            </p:extLst>
          </p:nvPr>
        </p:nvGraphicFramePr>
        <p:xfrm>
          <a:off x="1197029" y="1895302"/>
          <a:ext cx="9393387" cy="4522401"/>
        </p:xfrm>
        <a:graphic>
          <a:graphicData uri="http://schemas.openxmlformats.org/drawingml/2006/table">
            <a:tbl>
              <a:tblPr firstRow="1" firstCol="1">
                <a:tableStyleId>{775DCB02-9BB8-47FD-8907-85C794F793BA}</a:tableStyleId>
              </a:tblPr>
              <a:tblGrid>
                <a:gridCol w="3131129">
                  <a:extLst>
                    <a:ext uri="{9D8B030D-6E8A-4147-A177-3AD203B41FA5}">
                      <a16:colId xmlns:a16="http://schemas.microsoft.com/office/drawing/2014/main" val="20000"/>
                    </a:ext>
                  </a:extLst>
                </a:gridCol>
                <a:gridCol w="3131129">
                  <a:extLst>
                    <a:ext uri="{9D8B030D-6E8A-4147-A177-3AD203B41FA5}">
                      <a16:colId xmlns:a16="http://schemas.microsoft.com/office/drawing/2014/main" val="20001"/>
                    </a:ext>
                  </a:extLst>
                </a:gridCol>
                <a:gridCol w="3131129">
                  <a:extLst>
                    <a:ext uri="{9D8B030D-6E8A-4147-A177-3AD203B41FA5}">
                      <a16:colId xmlns:a16="http://schemas.microsoft.com/office/drawing/2014/main" val="20002"/>
                    </a:ext>
                  </a:extLst>
                </a:gridCol>
              </a:tblGrid>
              <a:tr h="247866">
                <a:tc>
                  <a:txBody>
                    <a:bodyPr/>
                    <a:lstStyle/>
                    <a:p>
                      <a:pPr algn="l" fontAlgn="b"/>
                      <a:r>
                        <a:rPr lang="en-GB" sz="1400" dirty="0">
                          <a:solidFill>
                            <a:schemeClr val="tx1"/>
                          </a:solidFill>
                          <a:effectLst/>
                        </a:rPr>
                        <a:t>Feature</a:t>
                      </a:r>
                      <a:endParaRPr lang="en-GB" sz="1400" b="0" dirty="0">
                        <a:solidFill>
                          <a:schemeClr val="tx1"/>
                        </a:solidFill>
                        <a:effectLst/>
                      </a:endParaRPr>
                    </a:p>
                  </a:txBody>
                  <a:tcPr marL="34534" marR="34534" marT="17267" marB="17267" anchor="b"/>
                </a:tc>
                <a:tc>
                  <a:txBody>
                    <a:bodyPr/>
                    <a:lstStyle/>
                    <a:p>
                      <a:pPr algn="l" fontAlgn="b"/>
                      <a:r>
                        <a:rPr lang="en-GB" sz="1400">
                          <a:solidFill>
                            <a:schemeClr val="tx1"/>
                          </a:solidFill>
                          <a:effectLst/>
                        </a:rPr>
                        <a:t>Amazon Machine Learning</a:t>
                      </a:r>
                      <a:endParaRPr lang="en-GB" sz="1400" b="0">
                        <a:solidFill>
                          <a:schemeClr val="tx1"/>
                        </a:solidFill>
                        <a:effectLst/>
                      </a:endParaRPr>
                    </a:p>
                  </a:txBody>
                  <a:tcPr marL="34534" marR="34534" marT="17267" marB="17267" anchor="b"/>
                </a:tc>
                <a:tc>
                  <a:txBody>
                    <a:bodyPr/>
                    <a:lstStyle/>
                    <a:p>
                      <a:pPr algn="l" fontAlgn="b"/>
                      <a:r>
                        <a:rPr lang="en-GB" sz="1400" dirty="0">
                          <a:solidFill>
                            <a:schemeClr val="tx1"/>
                          </a:solidFill>
                          <a:effectLst/>
                        </a:rPr>
                        <a:t>Amazon </a:t>
                      </a:r>
                      <a:r>
                        <a:rPr lang="en-GB" sz="1400" dirty="0" err="1">
                          <a:solidFill>
                            <a:schemeClr val="tx1"/>
                          </a:solidFill>
                          <a:effectLst/>
                        </a:rPr>
                        <a:t>SageMaker</a:t>
                      </a:r>
                      <a:endParaRPr lang="en-GB" sz="1400" b="0" dirty="0">
                        <a:solidFill>
                          <a:schemeClr val="tx1"/>
                        </a:solidFill>
                        <a:effectLst/>
                      </a:endParaRPr>
                    </a:p>
                  </a:txBody>
                  <a:tcPr marL="34534" marR="34534" marT="17267" marB="17267" anchor="b"/>
                </a:tc>
                <a:extLst>
                  <a:ext uri="{0D108BD9-81ED-4DB2-BD59-A6C34878D82A}">
                    <a16:rowId xmlns:a16="http://schemas.microsoft.com/office/drawing/2014/main" val="10000"/>
                  </a:ext>
                </a:extLst>
              </a:tr>
              <a:tr h="552490">
                <a:tc>
                  <a:txBody>
                    <a:bodyPr/>
                    <a:lstStyle/>
                    <a:p>
                      <a:pPr algn="l" fontAlgn="base"/>
                      <a:r>
                        <a:rPr lang="en-GB" sz="1400">
                          <a:effectLst/>
                        </a:rPr>
                        <a:t>Type</a:t>
                      </a:r>
                    </a:p>
                  </a:txBody>
                  <a:tcPr marL="34534" marR="34534" marT="17267" marB="17267" anchor="ctr"/>
                </a:tc>
                <a:tc>
                  <a:txBody>
                    <a:bodyPr/>
                    <a:lstStyle/>
                    <a:p>
                      <a:pPr algn="l" fontAlgn="base"/>
                      <a:r>
                        <a:rPr lang="en-GB" sz="1400" dirty="0">
                          <a:effectLst/>
                        </a:rPr>
                        <a:t>Managed service for building ML models and generating predictions</a:t>
                      </a:r>
                    </a:p>
                  </a:txBody>
                  <a:tcPr marL="34534" marR="34534" marT="17267" marB="17267" anchor="ctr"/>
                </a:tc>
                <a:tc>
                  <a:txBody>
                    <a:bodyPr/>
                    <a:lstStyle/>
                    <a:p>
                      <a:pPr algn="l" fontAlgn="base"/>
                      <a:r>
                        <a:rPr lang="en-GB" sz="1400" dirty="0">
                          <a:effectLst/>
                        </a:rPr>
                        <a:t>Fully managed platform for ML model development</a:t>
                      </a:r>
                    </a:p>
                  </a:txBody>
                  <a:tcPr marL="34534" marR="34534" marT="17267" marB="17267" anchor="ctr"/>
                </a:tc>
                <a:extLst>
                  <a:ext uri="{0D108BD9-81ED-4DB2-BD59-A6C34878D82A}">
                    <a16:rowId xmlns:a16="http://schemas.microsoft.com/office/drawing/2014/main" val="10001"/>
                  </a:ext>
                </a:extLst>
              </a:tr>
              <a:tr h="461203">
                <a:tc>
                  <a:txBody>
                    <a:bodyPr/>
                    <a:lstStyle/>
                    <a:p>
                      <a:pPr algn="l" fontAlgn="base"/>
                      <a:r>
                        <a:rPr lang="en-GB" sz="1400">
                          <a:effectLst/>
                        </a:rPr>
                        <a:t>Target Users</a:t>
                      </a:r>
                    </a:p>
                  </a:txBody>
                  <a:tcPr marL="34534" marR="34534" marT="17267" marB="17267" anchor="ctr"/>
                </a:tc>
                <a:tc>
                  <a:txBody>
                    <a:bodyPr/>
                    <a:lstStyle/>
                    <a:p>
                      <a:pPr algn="l" fontAlgn="base"/>
                      <a:r>
                        <a:rPr lang="en-GB" sz="1400">
                          <a:effectLst/>
                        </a:rPr>
                        <a:t>Ideal for CS, IS, and CY research</a:t>
                      </a:r>
                    </a:p>
                  </a:txBody>
                  <a:tcPr marL="34534" marR="34534" marT="17267" marB="17267" anchor="ctr"/>
                </a:tc>
                <a:tc>
                  <a:txBody>
                    <a:bodyPr/>
                    <a:lstStyle/>
                    <a:p>
                      <a:pPr algn="l" fontAlgn="base"/>
                      <a:r>
                        <a:rPr lang="en-GB" sz="1400">
                          <a:effectLst/>
                        </a:rPr>
                        <a:t>Designed for developers and data scientists</a:t>
                      </a:r>
                    </a:p>
                  </a:txBody>
                  <a:tcPr marL="34534" marR="34534" marT="17267" marB="17267" anchor="ctr"/>
                </a:tc>
                <a:extLst>
                  <a:ext uri="{0D108BD9-81ED-4DB2-BD59-A6C34878D82A}">
                    <a16:rowId xmlns:a16="http://schemas.microsoft.com/office/drawing/2014/main" val="10002"/>
                  </a:ext>
                </a:extLst>
              </a:tr>
              <a:tr h="461203">
                <a:tc>
                  <a:txBody>
                    <a:bodyPr/>
                    <a:lstStyle/>
                    <a:p>
                      <a:pPr algn="l" fontAlgn="base"/>
                      <a:r>
                        <a:rPr lang="en-GB" sz="1400">
                          <a:effectLst/>
                        </a:rPr>
                        <a:t>Key Features</a:t>
                      </a:r>
                    </a:p>
                  </a:txBody>
                  <a:tcPr marL="34534" marR="34534" marT="17267" marB="17267" anchor="ctr"/>
                </a:tc>
                <a:tc>
                  <a:txBody>
                    <a:bodyPr/>
                    <a:lstStyle/>
                    <a:p>
                      <a:pPr algn="l" fontAlgn="base"/>
                      <a:r>
                        <a:rPr lang="en-GB" sz="1400">
                          <a:effectLst/>
                        </a:rPr>
                        <a:t>Features automatic data transformation tool</a:t>
                      </a:r>
                    </a:p>
                  </a:txBody>
                  <a:tcPr marL="34534" marR="34534" marT="17267" marB="17267" anchor="ctr"/>
                </a:tc>
                <a:tc>
                  <a:txBody>
                    <a:bodyPr/>
                    <a:lstStyle/>
                    <a:p>
                      <a:pPr algn="l" fontAlgn="base"/>
                      <a:r>
                        <a:rPr lang="en-GB" sz="1400">
                          <a:effectLst/>
                        </a:rPr>
                        <a:t>Provides tools for building, training, and deploying models</a:t>
                      </a:r>
                    </a:p>
                  </a:txBody>
                  <a:tcPr marL="34534" marR="34534" marT="17267" marB="17267" anchor="ctr"/>
                </a:tc>
                <a:extLst>
                  <a:ext uri="{0D108BD9-81ED-4DB2-BD59-A6C34878D82A}">
                    <a16:rowId xmlns:a16="http://schemas.microsoft.com/office/drawing/2014/main" val="10003"/>
                  </a:ext>
                </a:extLst>
              </a:tr>
              <a:tr h="1484815">
                <a:tc>
                  <a:txBody>
                    <a:bodyPr/>
                    <a:lstStyle/>
                    <a:p>
                      <a:pPr algn="l" fontAlgn="base"/>
                      <a:r>
                        <a:rPr lang="en-GB" sz="1400">
                          <a:effectLst/>
                        </a:rPr>
                        <a:t>Benefits</a:t>
                      </a:r>
                    </a:p>
                  </a:txBody>
                  <a:tcPr marL="34534" marR="34534" marT="17267" marB="17267" anchor="ctr"/>
                </a:tc>
                <a:tc>
                  <a:txBody>
                    <a:bodyPr/>
                    <a:lstStyle/>
                    <a:p>
                      <a:pPr algn="l" fontAlgn="base"/>
                      <a:r>
                        <a:rPr lang="en-GB" sz="1400">
                          <a:effectLst/>
                        </a:rPr>
                        <a:t>- Accessibility: Lowers barrier to entry for ML in research</a:t>
                      </a:r>
                      <a:br>
                        <a:rPr lang="en-GB" sz="1400">
                          <a:effectLst/>
                        </a:rPr>
                      </a:br>
                      <a:r>
                        <a:rPr lang="en-GB" sz="1400">
                          <a:effectLst/>
                        </a:rPr>
                        <a:t>- Efficiency: Automates complex tasks in data preparation and model training</a:t>
                      </a:r>
                      <a:br>
                        <a:rPr lang="en-GB" sz="1400">
                          <a:effectLst/>
                        </a:rPr>
                      </a:br>
                      <a:r>
                        <a:rPr lang="en-GB" sz="1400">
                          <a:effectLst/>
                        </a:rPr>
                        <a:t>- Scalability: Handles large datasets and complex models with ease</a:t>
                      </a:r>
                    </a:p>
                  </a:txBody>
                  <a:tcPr marL="34534" marR="34534" marT="17267" marB="17267" anchor="ctr"/>
                </a:tc>
                <a:tc>
                  <a:txBody>
                    <a:bodyPr/>
                    <a:lstStyle/>
                    <a:p>
                      <a:pPr algn="l" fontAlgn="base"/>
                      <a:r>
                        <a:rPr lang="en-GB" sz="1400" dirty="0">
                          <a:effectLst/>
                        </a:rPr>
                        <a:t>Same benefits as Amazon Machine Learning</a:t>
                      </a:r>
                    </a:p>
                  </a:txBody>
                  <a:tcPr marL="34534" marR="34534" marT="17267" marB="17267" anchor="ctr"/>
                </a:tc>
                <a:extLst>
                  <a:ext uri="{0D108BD9-81ED-4DB2-BD59-A6C34878D82A}">
                    <a16:rowId xmlns:a16="http://schemas.microsoft.com/office/drawing/2014/main" val="10004"/>
                  </a:ext>
                </a:extLst>
              </a:tr>
              <a:tr h="1314548">
                <a:tc>
                  <a:txBody>
                    <a:bodyPr/>
                    <a:lstStyle/>
                    <a:p>
                      <a:pPr algn="l" fontAlgn="base"/>
                      <a:r>
                        <a:rPr lang="en-GB" sz="1400">
                          <a:effectLst/>
                        </a:rPr>
                        <a:t>Practical Applications</a:t>
                      </a:r>
                    </a:p>
                  </a:txBody>
                  <a:tcPr marL="34534" marR="34534" marT="17267" marB="17267" anchor="ctr"/>
                </a:tc>
                <a:tc>
                  <a:txBody>
                    <a:bodyPr/>
                    <a:lstStyle/>
                    <a:p>
                      <a:pPr algn="l" fontAlgn="base"/>
                      <a:r>
                        <a:rPr lang="en-GB" sz="1400" dirty="0">
                          <a:effectLst/>
                        </a:rPr>
                        <a:t>- Computer Science: Algorithm optimization, pattern recognition</a:t>
                      </a:r>
                      <a:br>
                        <a:rPr lang="en-GB" sz="1400" dirty="0">
                          <a:effectLst/>
                        </a:rPr>
                      </a:br>
                      <a:r>
                        <a:rPr lang="en-GB" sz="1400" dirty="0">
                          <a:effectLst/>
                        </a:rPr>
                        <a:t>- Information Systems: Data analysis, predictive </a:t>
                      </a:r>
                      <a:r>
                        <a:rPr lang="en-GB" sz="1400" dirty="0" err="1">
                          <a:effectLst/>
                        </a:rPr>
                        <a:t>modeling</a:t>
                      </a:r>
                      <a:br>
                        <a:rPr lang="en-GB" sz="1400" dirty="0">
                          <a:effectLst/>
                        </a:rPr>
                      </a:br>
                      <a:r>
                        <a:rPr lang="en-GB" sz="1400" dirty="0">
                          <a:effectLst/>
                        </a:rPr>
                        <a:t>- Cybersecurity: Threat detection, anomaly identification</a:t>
                      </a:r>
                    </a:p>
                  </a:txBody>
                  <a:tcPr marL="34534" marR="34534" marT="17267" marB="17267" anchor="ctr"/>
                </a:tc>
                <a:tc>
                  <a:txBody>
                    <a:bodyPr/>
                    <a:lstStyle/>
                    <a:p>
                      <a:pPr algn="l" fontAlgn="base"/>
                      <a:r>
                        <a:rPr lang="en-GB" sz="1400" dirty="0">
                          <a:effectLst/>
                        </a:rPr>
                        <a:t>Same applications as Amazon Machine Learning</a:t>
                      </a:r>
                    </a:p>
                  </a:txBody>
                  <a:tcPr marL="34534" marR="34534" marT="17267" marB="17267"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065152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2954317" y="63542"/>
            <a:ext cx="10925014" cy="1102640"/>
          </a:xfrm>
        </p:spPr>
        <p:txBody>
          <a:bodyPr anchor="ctr">
            <a:normAutofit/>
          </a:bodyPr>
          <a:lstStyle/>
          <a:p>
            <a:r>
              <a:rPr lang="en-GB" sz="4400" dirty="0"/>
              <a:t>Google TensorFlow</a:t>
            </a:r>
          </a:p>
        </p:txBody>
      </p:sp>
      <p:sp>
        <p:nvSpPr>
          <p:cNvPr id="3" name="TextBox 2">
            <a:extLst>
              <a:ext uri="{FF2B5EF4-FFF2-40B4-BE49-F238E27FC236}">
                <a16:creationId xmlns:a16="http://schemas.microsoft.com/office/drawing/2014/main" id="{FE10A49A-9FCD-5F68-3696-0C865A388519}"/>
              </a:ext>
            </a:extLst>
          </p:cNvPr>
          <p:cNvSpPr txBox="1"/>
          <p:nvPr/>
        </p:nvSpPr>
        <p:spPr>
          <a:xfrm>
            <a:off x="2327562" y="2066636"/>
            <a:ext cx="7897091" cy="646331"/>
          </a:xfrm>
          <a:prstGeom prst="rect">
            <a:avLst/>
          </a:prstGeom>
          <a:noFill/>
        </p:spPr>
        <p:txBody>
          <a:bodyPr wrap="square" rtlCol="0">
            <a:spAutoFit/>
          </a:bodyPr>
          <a:lstStyle/>
          <a:p>
            <a:endParaRPr lang="en-GB" dirty="0"/>
          </a:p>
          <a:p>
            <a:pPr marL="285750" indent="-285750">
              <a:buFont typeface="Wingdings" panose="05000000000000000000" pitchFamily="2" charset="2"/>
              <a:buChar char="q"/>
            </a:pPr>
            <a:endParaRPr lang="en-GB" b="1" dirty="0"/>
          </a:p>
        </p:txBody>
      </p:sp>
      <p:sp>
        <p:nvSpPr>
          <p:cNvPr id="2" name="Rectangle 1"/>
          <p:cNvSpPr/>
          <p:nvPr/>
        </p:nvSpPr>
        <p:spPr>
          <a:xfrm>
            <a:off x="916542" y="1162147"/>
            <a:ext cx="10075029" cy="5632311"/>
          </a:xfrm>
          <a:prstGeom prst="rect">
            <a:avLst/>
          </a:prstGeom>
        </p:spPr>
        <p:txBody>
          <a:bodyPr wrap="square">
            <a:spAutoFit/>
          </a:bodyPr>
          <a:lstStyle/>
          <a:p>
            <a:r>
              <a:rPr lang="en-GB" dirty="0"/>
              <a:t>Google TensorFlow is an open-source software library for dataflow programming. It is a machine learning framework that offers extremely easy visualization of neural networks and other useful features for researchers in CS, IS and CY (https://www.tensorfow.org/ ).</a:t>
            </a:r>
          </a:p>
          <a:p>
            <a:endParaRPr lang="en-GB" b="1" dirty="0"/>
          </a:p>
          <a:p>
            <a:r>
              <a:rPr lang="en-GB" b="1" dirty="0"/>
              <a:t>Features</a:t>
            </a:r>
          </a:p>
          <a:p>
            <a:pPr marL="531813" indent="-265113">
              <a:buClr>
                <a:schemeClr val="accent4"/>
              </a:buClr>
              <a:buFont typeface="Arial" panose="020B0604020202020204" pitchFamily="34" charset="0"/>
              <a:buChar char="•"/>
            </a:pPr>
            <a:r>
              <a:rPr lang="en-GB" dirty="0"/>
              <a:t>Neural Network Visualization: Extremely easy visualization of complex neural networks</a:t>
            </a:r>
          </a:p>
          <a:p>
            <a:pPr marL="531813" indent="-265113">
              <a:buClr>
                <a:schemeClr val="accent4"/>
              </a:buClr>
              <a:buFont typeface="Arial" panose="020B0604020202020204" pitchFamily="34" charset="0"/>
              <a:buChar char="•"/>
            </a:pPr>
            <a:r>
              <a:rPr lang="en-GB" dirty="0"/>
              <a:t>Flexibility: Supports various machine learning models and algorithms</a:t>
            </a:r>
          </a:p>
          <a:p>
            <a:pPr marL="531813" indent="-265113">
              <a:buClr>
                <a:schemeClr val="accent4"/>
              </a:buClr>
              <a:buFont typeface="Arial" panose="020B0604020202020204" pitchFamily="34" charset="0"/>
              <a:buChar char="•"/>
            </a:pPr>
            <a:r>
              <a:rPr lang="en-GB" dirty="0"/>
              <a:t>Scalability: Efficient for both small-scale experiments and large-scale deployments</a:t>
            </a:r>
          </a:p>
          <a:p>
            <a:pPr marL="531813" indent="-265113">
              <a:buClr>
                <a:schemeClr val="accent4"/>
              </a:buClr>
              <a:buFont typeface="Arial" panose="020B0604020202020204" pitchFamily="34" charset="0"/>
              <a:buChar char="•"/>
            </a:pPr>
            <a:r>
              <a:rPr lang="en-GB" dirty="0"/>
              <a:t>Cross-platform: Runs on multiple CPUs as well as mobile devices</a:t>
            </a:r>
          </a:p>
          <a:p>
            <a:endParaRPr lang="en-GB" dirty="0"/>
          </a:p>
          <a:p>
            <a:r>
              <a:rPr lang="en-GB" b="1" dirty="0"/>
              <a:t>Research Applications</a:t>
            </a:r>
          </a:p>
          <a:p>
            <a:pPr marL="531813" indent="-265113">
              <a:buClr>
                <a:schemeClr val="accent4"/>
              </a:buClr>
              <a:buFont typeface="Arial" panose="020B0604020202020204" pitchFamily="34" charset="0"/>
              <a:buChar char="•"/>
            </a:pPr>
            <a:r>
              <a:rPr lang="en-GB" dirty="0"/>
              <a:t>Computer Science: Deep learning, natural language processing</a:t>
            </a:r>
          </a:p>
          <a:p>
            <a:pPr marL="531813" indent="-265113">
              <a:buClr>
                <a:schemeClr val="accent4"/>
              </a:buClr>
              <a:buFont typeface="Arial" panose="020B0604020202020204" pitchFamily="34" charset="0"/>
              <a:buChar char="•"/>
            </a:pPr>
            <a:r>
              <a:rPr lang="en-GB" dirty="0"/>
              <a:t>Information Systems: Predictive analytics, recommendation systems</a:t>
            </a:r>
          </a:p>
          <a:p>
            <a:pPr marL="531813" indent="-265113">
              <a:buClr>
                <a:schemeClr val="accent4"/>
              </a:buClr>
              <a:buFont typeface="Arial" panose="020B0604020202020204" pitchFamily="34" charset="0"/>
              <a:buChar char="•"/>
            </a:pPr>
            <a:r>
              <a:rPr lang="en-GB" dirty="0"/>
              <a:t>Cybersecurity: Anomaly detection, threat analysis</a:t>
            </a:r>
          </a:p>
          <a:p>
            <a:pPr marL="531813" indent="-265113">
              <a:buClr>
                <a:schemeClr val="accent4"/>
              </a:buClr>
              <a:buFont typeface="Arial" panose="020B0604020202020204" pitchFamily="34" charset="0"/>
              <a:buChar char="•"/>
            </a:pPr>
            <a:endParaRPr lang="en-GB" dirty="0"/>
          </a:p>
          <a:p>
            <a:r>
              <a:rPr lang="en-GB" b="1" dirty="0"/>
              <a:t>Benefits for Researchers</a:t>
            </a:r>
          </a:p>
          <a:p>
            <a:pPr marL="531813" indent="-265113">
              <a:buClr>
                <a:schemeClr val="accent4"/>
              </a:buClr>
              <a:buFont typeface="Arial" panose="020B0604020202020204" pitchFamily="34" charset="0"/>
              <a:buChar char="•"/>
            </a:pPr>
            <a:r>
              <a:rPr lang="en-GB" dirty="0"/>
              <a:t>Community Support: Large, active community for collaboration and problem-solving</a:t>
            </a:r>
          </a:p>
          <a:p>
            <a:pPr marL="531813" indent="-265113">
              <a:buClr>
                <a:schemeClr val="accent4"/>
              </a:buClr>
              <a:buFont typeface="Arial" panose="020B0604020202020204" pitchFamily="34" charset="0"/>
              <a:buChar char="•"/>
            </a:pPr>
            <a:r>
              <a:rPr lang="en-GB" dirty="0"/>
              <a:t>Extensive Documentation: Comprehensive guides and tutorials</a:t>
            </a:r>
          </a:p>
          <a:p>
            <a:pPr marL="531813" indent="-265113">
              <a:buClr>
                <a:schemeClr val="accent4"/>
              </a:buClr>
              <a:buFont typeface="Arial" panose="020B0604020202020204" pitchFamily="34" charset="0"/>
              <a:buChar char="•"/>
            </a:pPr>
            <a:r>
              <a:rPr lang="en-GB" dirty="0" err="1"/>
              <a:t>TensorBoard</a:t>
            </a:r>
            <a:r>
              <a:rPr lang="en-GB" dirty="0"/>
              <a:t>: Built-in tool for visualizing learning process and model architecture</a:t>
            </a:r>
          </a:p>
          <a:p>
            <a:pPr algn="just"/>
            <a:endParaRPr lang="en-GB" dirty="0"/>
          </a:p>
        </p:txBody>
      </p:sp>
    </p:spTree>
    <p:extLst>
      <p:ext uri="{BB962C8B-B14F-4D97-AF65-F5344CB8AC3E}">
        <p14:creationId xmlns:p14="http://schemas.microsoft.com/office/powerpoint/2010/main" val="2483997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563173" y="63542"/>
            <a:ext cx="10925014" cy="1102640"/>
          </a:xfrm>
        </p:spPr>
        <p:txBody>
          <a:bodyPr anchor="ctr">
            <a:normAutofit/>
          </a:bodyPr>
          <a:lstStyle/>
          <a:p>
            <a:r>
              <a:rPr lang="en-GB" sz="4400" dirty="0"/>
              <a:t>IBM Watson Machine Learning Cloud Service </a:t>
            </a:r>
          </a:p>
        </p:txBody>
      </p:sp>
      <p:sp>
        <p:nvSpPr>
          <p:cNvPr id="3" name="TextBox 2">
            <a:extLst>
              <a:ext uri="{FF2B5EF4-FFF2-40B4-BE49-F238E27FC236}">
                <a16:creationId xmlns:a16="http://schemas.microsoft.com/office/drawing/2014/main" id="{FE10A49A-9FCD-5F68-3696-0C865A388519}"/>
              </a:ext>
            </a:extLst>
          </p:cNvPr>
          <p:cNvSpPr txBox="1"/>
          <p:nvPr/>
        </p:nvSpPr>
        <p:spPr>
          <a:xfrm>
            <a:off x="2327562" y="2066636"/>
            <a:ext cx="7897091" cy="646331"/>
          </a:xfrm>
          <a:prstGeom prst="rect">
            <a:avLst/>
          </a:prstGeom>
          <a:noFill/>
        </p:spPr>
        <p:txBody>
          <a:bodyPr wrap="square" rtlCol="0">
            <a:spAutoFit/>
          </a:bodyPr>
          <a:lstStyle/>
          <a:p>
            <a:endParaRPr lang="en-GB" dirty="0"/>
          </a:p>
          <a:p>
            <a:pPr marL="285750" indent="-285750">
              <a:buFont typeface="Wingdings" panose="05000000000000000000" pitchFamily="2" charset="2"/>
              <a:buChar char="q"/>
            </a:pPr>
            <a:endParaRPr lang="en-GB" b="1" dirty="0"/>
          </a:p>
        </p:txBody>
      </p:sp>
      <p:sp>
        <p:nvSpPr>
          <p:cNvPr id="2" name="Rectangle 1"/>
          <p:cNvSpPr/>
          <p:nvPr/>
        </p:nvSpPr>
        <p:spPr>
          <a:xfrm>
            <a:off x="1064026" y="1166182"/>
            <a:ext cx="10424161" cy="5078313"/>
          </a:xfrm>
          <a:prstGeom prst="rect">
            <a:avLst/>
          </a:prstGeom>
        </p:spPr>
        <p:txBody>
          <a:bodyPr wrap="square">
            <a:spAutoFit/>
          </a:bodyPr>
          <a:lstStyle/>
          <a:p>
            <a:pPr algn="just"/>
            <a:r>
              <a:rPr lang="en-GB" dirty="0"/>
              <a:t>IBM Watson Machine Learning Cloud Service is a powerful platform that enables researchers to operationalize machine learning and deep learning models : </a:t>
            </a:r>
            <a:r>
              <a:rPr lang="en-GB" dirty="0">
                <a:hlinkClick r:id="rId3"/>
              </a:rPr>
              <a:t>https://www.ibm.com/products/watson-studio</a:t>
            </a:r>
            <a:endParaRPr lang="en-GB" dirty="0"/>
          </a:p>
          <a:p>
            <a:pPr algn="just"/>
            <a:endParaRPr lang="en-GB" dirty="0"/>
          </a:p>
          <a:p>
            <a:pPr algn="just"/>
            <a:r>
              <a:rPr lang="en-GB" b="1" dirty="0"/>
              <a:t>Capabilities</a:t>
            </a:r>
          </a:p>
          <a:p>
            <a:pPr marL="531813" indent="-265113">
              <a:buClr>
                <a:schemeClr val="accent4"/>
              </a:buClr>
              <a:buFont typeface="Arial" panose="020B0604020202020204" pitchFamily="34" charset="0"/>
              <a:buChar char="•"/>
            </a:pPr>
            <a:r>
              <a:rPr lang="en-GB" dirty="0"/>
              <a:t>Model Training: Supports training of complex ML and DL models</a:t>
            </a:r>
          </a:p>
          <a:p>
            <a:pPr marL="531813" indent="-265113">
              <a:buClr>
                <a:schemeClr val="accent4"/>
              </a:buClr>
              <a:buFont typeface="Arial" panose="020B0604020202020204" pitchFamily="34" charset="0"/>
              <a:buChar char="•"/>
            </a:pPr>
            <a:r>
              <a:rPr lang="en-GB" dirty="0"/>
              <a:t>Scalability: Handles large-scale data analytics tasks</a:t>
            </a:r>
          </a:p>
          <a:p>
            <a:pPr marL="531813" indent="-265113">
              <a:buClr>
                <a:schemeClr val="accent4"/>
              </a:buClr>
              <a:buFont typeface="Arial" panose="020B0604020202020204" pitchFamily="34" charset="0"/>
              <a:buChar char="•"/>
            </a:pPr>
            <a:r>
              <a:rPr lang="en-GB" dirty="0"/>
              <a:t>Cloud-based: Accessible and manageable through IBM Cloud</a:t>
            </a:r>
          </a:p>
          <a:p>
            <a:pPr algn="just"/>
            <a:endParaRPr lang="en-GB" dirty="0"/>
          </a:p>
          <a:p>
            <a:pPr algn="just"/>
            <a:r>
              <a:rPr lang="en-GB" b="1" dirty="0"/>
              <a:t>Benefits for Researchers</a:t>
            </a:r>
          </a:p>
          <a:p>
            <a:pPr marL="531813" indent="-265113">
              <a:buClr>
                <a:schemeClr val="accent4"/>
              </a:buClr>
              <a:buFont typeface="Arial" panose="020B0604020202020204" pitchFamily="34" charset="0"/>
              <a:buChar char="•"/>
            </a:pPr>
            <a:r>
              <a:rPr lang="en-GB" dirty="0"/>
              <a:t>Efficiency: Streamlines the process of deploying ML models</a:t>
            </a:r>
          </a:p>
          <a:p>
            <a:pPr marL="531813" indent="-265113">
              <a:buClr>
                <a:schemeClr val="accent4"/>
              </a:buClr>
              <a:buFont typeface="Arial" panose="020B0604020202020204" pitchFamily="34" charset="0"/>
              <a:buChar char="•"/>
            </a:pPr>
            <a:r>
              <a:rPr lang="en-GB" dirty="0"/>
              <a:t>Accessibility: Provides a user-friendly interface for managing ML workflows</a:t>
            </a:r>
          </a:p>
          <a:p>
            <a:pPr marL="531813" indent="-265113">
              <a:buClr>
                <a:schemeClr val="accent4"/>
              </a:buClr>
              <a:buFont typeface="Arial" panose="020B0604020202020204" pitchFamily="34" charset="0"/>
              <a:buChar char="•"/>
            </a:pPr>
            <a:r>
              <a:rPr lang="en-GB" dirty="0"/>
              <a:t>Integration: Seamlessly connects with other IBM Cloud services</a:t>
            </a:r>
          </a:p>
          <a:p>
            <a:pPr marL="531813" indent="-265113">
              <a:buClr>
                <a:schemeClr val="accent4"/>
              </a:buClr>
              <a:buFont typeface="Arial" panose="020B0604020202020204" pitchFamily="34" charset="0"/>
              <a:buChar char="•"/>
            </a:pPr>
            <a:r>
              <a:rPr lang="en-GB" dirty="0"/>
              <a:t>Collaboration: Facilitates team-based research projects</a:t>
            </a:r>
          </a:p>
          <a:p>
            <a:pPr marL="531813" indent="-265113">
              <a:buClr>
                <a:schemeClr val="accent4"/>
              </a:buClr>
              <a:buFont typeface="Arial" panose="020B0604020202020204" pitchFamily="34" charset="0"/>
              <a:buChar char="•"/>
            </a:pPr>
            <a:endParaRPr lang="en-GB" dirty="0"/>
          </a:p>
          <a:p>
            <a:pPr algn="just"/>
            <a:r>
              <a:rPr lang="en-GB" b="1" dirty="0"/>
              <a:t>Advanced Features</a:t>
            </a:r>
          </a:p>
          <a:p>
            <a:pPr marL="531813" indent="-265113">
              <a:buClr>
                <a:schemeClr val="accent4"/>
              </a:buClr>
              <a:buFont typeface="Arial" panose="020B0604020202020204" pitchFamily="34" charset="0"/>
              <a:buChar char="•"/>
            </a:pPr>
            <a:r>
              <a:rPr lang="en-GB" dirty="0" err="1"/>
              <a:t>AutoAI</a:t>
            </a:r>
            <a:r>
              <a:rPr lang="en-GB" dirty="0"/>
              <a:t>: Automates the AI lifecycle</a:t>
            </a:r>
          </a:p>
          <a:p>
            <a:pPr marL="531813" indent="-265113">
              <a:buClr>
                <a:schemeClr val="accent4"/>
              </a:buClr>
              <a:buFont typeface="Arial" panose="020B0604020202020204" pitchFamily="34" charset="0"/>
              <a:buChar char="•"/>
            </a:pPr>
            <a:r>
              <a:rPr lang="en-GB" dirty="0"/>
              <a:t>Model Monitoring: Tracks model performance in real-time</a:t>
            </a:r>
          </a:p>
          <a:p>
            <a:pPr marL="531813" indent="-265113">
              <a:buClr>
                <a:schemeClr val="accent4"/>
              </a:buClr>
              <a:buFont typeface="Arial" panose="020B0604020202020204" pitchFamily="34" charset="0"/>
              <a:buChar char="•"/>
            </a:pPr>
            <a:r>
              <a:rPr lang="en-GB" dirty="0"/>
              <a:t>Explainable AI: Provides insights into model decision-making processes</a:t>
            </a:r>
          </a:p>
        </p:txBody>
      </p:sp>
    </p:spTree>
    <p:extLst>
      <p:ext uri="{BB962C8B-B14F-4D97-AF65-F5344CB8AC3E}">
        <p14:creationId xmlns:p14="http://schemas.microsoft.com/office/powerpoint/2010/main" val="2570008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563173" y="63542"/>
            <a:ext cx="10925014" cy="1102640"/>
          </a:xfrm>
        </p:spPr>
        <p:txBody>
          <a:bodyPr anchor="ctr">
            <a:normAutofit fontScale="90000"/>
          </a:bodyPr>
          <a:lstStyle/>
          <a:p>
            <a:r>
              <a:rPr lang="en-GB" sz="4400" dirty="0"/>
              <a:t>Microsoft</a:t>
            </a:r>
            <a:r>
              <a:rPr lang="en-GB" sz="2000" dirty="0"/>
              <a:t> </a:t>
            </a:r>
            <a:r>
              <a:rPr lang="en-GB" sz="4400" dirty="0"/>
              <a:t>Azure Machine Learning for Research</a:t>
            </a:r>
          </a:p>
        </p:txBody>
      </p:sp>
      <p:sp>
        <p:nvSpPr>
          <p:cNvPr id="3" name="TextBox 2">
            <a:extLst>
              <a:ext uri="{FF2B5EF4-FFF2-40B4-BE49-F238E27FC236}">
                <a16:creationId xmlns:a16="http://schemas.microsoft.com/office/drawing/2014/main" id="{FE10A49A-9FCD-5F68-3696-0C865A388519}"/>
              </a:ext>
            </a:extLst>
          </p:cNvPr>
          <p:cNvSpPr txBox="1"/>
          <p:nvPr/>
        </p:nvSpPr>
        <p:spPr>
          <a:xfrm>
            <a:off x="2327562" y="2066636"/>
            <a:ext cx="7897091" cy="646331"/>
          </a:xfrm>
          <a:prstGeom prst="rect">
            <a:avLst/>
          </a:prstGeom>
          <a:noFill/>
        </p:spPr>
        <p:txBody>
          <a:bodyPr wrap="square" rtlCol="0">
            <a:spAutoFit/>
          </a:bodyPr>
          <a:lstStyle/>
          <a:p>
            <a:endParaRPr lang="en-GB" dirty="0"/>
          </a:p>
          <a:p>
            <a:pPr marL="285750" indent="-285750">
              <a:buFont typeface="Wingdings" panose="05000000000000000000" pitchFamily="2" charset="2"/>
              <a:buChar char="q"/>
            </a:pPr>
            <a:endParaRPr lang="en-GB" b="1" dirty="0"/>
          </a:p>
        </p:txBody>
      </p:sp>
      <p:sp>
        <p:nvSpPr>
          <p:cNvPr id="2" name="Rectangle 1"/>
          <p:cNvSpPr/>
          <p:nvPr/>
        </p:nvSpPr>
        <p:spPr>
          <a:xfrm>
            <a:off x="1064026" y="1166182"/>
            <a:ext cx="10424161" cy="5632311"/>
          </a:xfrm>
          <a:prstGeom prst="rect">
            <a:avLst/>
          </a:prstGeom>
        </p:spPr>
        <p:txBody>
          <a:bodyPr wrap="square">
            <a:spAutoFit/>
          </a:bodyPr>
          <a:lstStyle/>
          <a:p>
            <a:pPr algn="just"/>
            <a:r>
              <a:rPr lang="en-GB" dirty="0"/>
              <a:t>Microsoft Azure Machine Learning is a cloud-based platform that empowers researchers to create, build, train, and deploy AI models, supporting credible research validations.</a:t>
            </a:r>
          </a:p>
          <a:p>
            <a:pPr algn="just"/>
            <a:endParaRPr lang="en-GB" dirty="0"/>
          </a:p>
          <a:p>
            <a:r>
              <a:rPr lang="en-GB" b="1" dirty="0"/>
              <a:t>Features</a:t>
            </a:r>
          </a:p>
          <a:p>
            <a:pPr marL="531813" indent="-265113">
              <a:buClr>
                <a:schemeClr val="accent4"/>
              </a:buClr>
              <a:buFont typeface="Arial" panose="020B0604020202020204" pitchFamily="34" charset="0"/>
              <a:buChar char="•"/>
            </a:pPr>
            <a:r>
              <a:rPr lang="en-GB" dirty="0"/>
              <a:t>Develop advanced AI algorithms</a:t>
            </a:r>
          </a:p>
          <a:p>
            <a:pPr marL="531813" indent="-265113">
              <a:buClr>
                <a:schemeClr val="accent4"/>
              </a:buClr>
              <a:buFont typeface="Arial" panose="020B0604020202020204" pitchFamily="34" charset="0"/>
              <a:buChar char="•"/>
            </a:pPr>
            <a:r>
              <a:rPr lang="en-GB" dirty="0"/>
              <a:t>Robust infrastructure for efficient model training</a:t>
            </a:r>
          </a:p>
          <a:p>
            <a:pPr marL="531813" indent="-265113">
              <a:buClr>
                <a:schemeClr val="accent4"/>
              </a:buClr>
              <a:buFont typeface="Arial" panose="020B0604020202020204" pitchFamily="34" charset="0"/>
              <a:buChar char="•"/>
            </a:pPr>
            <a:r>
              <a:rPr lang="en-GB" dirty="0"/>
              <a:t>Streamlined processes for model deployment</a:t>
            </a:r>
          </a:p>
          <a:p>
            <a:pPr marL="531813" indent="-265113">
              <a:buClr>
                <a:schemeClr val="accent4"/>
              </a:buClr>
              <a:buFont typeface="Arial" panose="020B0604020202020204" pitchFamily="34" charset="0"/>
              <a:buChar char="•"/>
            </a:pPr>
            <a:r>
              <a:rPr lang="en-GB" dirty="0"/>
              <a:t>Scalable and accessible through Azure cloud services</a:t>
            </a:r>
          </a:p>
          <a:p>
            <a:endParaRPr lang="en-GB" dirty="0"/>
          </a:p>
          <a:p>
            <a:r>
              <a:rPr lang="en-GB" b="1" dirty="0"/>
              <a:t>Benefits for Researchers</a:t>
            </a:r>
          </a:p>
          <a:p>
            <a:pPr marL="531813" indent="-265113">
              <a:buClr>
                <a:schemeClr val="accent4"/>
              </a:buClr>
              <a:buFont typeface="Arial" panose="020B0604020202020204" pitchFamily="34" charset="0"/>
              <a:buChar char="•"/>
            </a:pPr>
            <a:r>
              <a:rPr lang="en-GB" dirty="0"/>
              <a:t>Scalability: Access cloud compute capacity on demand</a:t>
            </a:r>
          </a:p>
          <a:p>
            <a:pPr marL="531813" indent="-265113">
              <a:buClr>
                <a:schemeClr val="accent4"/>
              </a:buClr>
              <a:buFont typeface="Arial" panose="020B0604020202020204" pitchFamily="34" charset="0"/>
              <a:buChar char="•"/>
            </a:pPr>
            <a:r>
              <a:rPr lang="en-GB" dirty="0"/>
              <a:t>Integration: Seamlessly connects with other Azure services</a:t>
            </a:r>
          </a:p>
          <a:p>
            <a:pPr marL="531813" indent="-265113">
              <a:buClr>
                <a:schemeClr val="accent4"/>
              </a:buClr>
              <a:buFont typeface="Arial" panose="020B0604020202020204" pitchFamily="34" charset="0"/>
              <a:buChar char="•"/>
            </a:pPr>
            <a:r>
              <a:rPr lang="en-GB" dirty="0"/>
              <a:t>Flexibility: Supports various platforms and languages</a:t>
            </a:r>
          </a:p>
          <a:p>
            <a:endParaRPr lang="en-GB" dirty="0"/>
          </a:p>
          <a:p>
            <a:r>
              <a:rPr lang="en-GB" b="1" dirty="0"/>
              <a:t>Advanced Capabilities</a:t>
            </a:r>
          </a:p>
          <a:p>
            <a:pPr marL="531813" indent="-265113">
              <a:buClr>
                <a:schemeClr val="accent4"/>
              </a:buClr>
              <a:buFont typeface="Arial" panose="020B0604020202020204" pitchFamily="34" charset="0"/>
              <a:buChar char="•"/>
            </a:pPr>
            <a:r>
              <a:rPr lang="en-GB" dirty="0"/>
              <a:t>Hybrid + Multi-cloud: Bring cloud innovation to on-premises workloads</a:t>
            </a:r>
          </a:p>
          <a:p>
            <a:pPr marL="531813" indent="-265113">
              <a:buClr>
                <a:schemeClr val="accent4"/>
              </a:buClr>
              <a:buFont typeface="Arial" panose="020B0604020202020204" pitchFamily="34" charset="0"/>
              <a:buChar char="•"/>
            </a:pPr>
            <a:r>
              <a:rPr lang="en-GB" dirty="0" err="1"/>
              <a:t>IoT</a:t>
            </a:r>
            <a:r>
              <a:rPr lang="en-GB" dirty="0"/>
              <a:t> Integration: Connect assets and environments for data-driven insights</a:t>
            </a:r>
          </a:p>
          <a:p>
            <a:pPr marL="531813" indent="-265113">
              <a:buClr>
                <a:schemeClr val="accent4"/>
              </a:buClr>
              <a:buFont typeface="Arial" panose="020B0604020202020204" pitchFamily="34" charset="0"/>
              <a:buChar char="•"/>
            </a:pPr>
            <a:r>
              <a:rPr lang="en-GB" dirty="0"/>
              <a:t>Management and Governance: Optimize cloud resource management</a:t>
            </a:r>
          </a:p>
          <a:p>
            <a:r>
              <a:rPr lang="en-GB" dirty="0"/>
              <a:t>.</a:t>
            </a:r>
          </a:p>
          <a:p>
            <a:pPr algn="just"/>
            <a:endParaRPr lang="en-GB" dirty="0"/>
          </a:p>
        </p:txBody>
      </p:sp>
    </p:spTree>
    <p:extLst>
      <p:ext uri="{BB962C8B-B14F-4D97-AF65-F5344CB8AC3E}">
        <p14:creationId xmlns:p14="http://schemas.microsoft.com/office/powerpoint/2010/main" val="37880802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563173" y="63542"/>
            <a:ext cx="10925014" cy="1102640"/>
          </a:xfrm>
        </p:spPr>
        <p:txBody>
          <a:bodyPr anchor="ctr">
            <a:normAutofit/>
          </a:bodyPr>
          <a:lstStyle/>
          <a:p>
            <a:r>
              <a:rPr lang="en-GB" sz="4400" dirty="0"/>
              <a:t>Open Neural Networks (OpenNN) Library </a:t>
            </a:r>
          </a:p>
        </p:txBody>
      </p:sp>
      <p:sp>
        <p:nvSpPr>
          <p:cNvPr id="3" name="TextBox 2">
            <a:extLst>
              <a:ext uri="{FF2B5EF4-FFF2-40B4-BE49-F238E27FC236}">
                <a16:creationId xmlns:a16="http://schemas.microsoft.com/office/drawing/2014/main" id="{FE10A49A-9FCD-5F68-3696-0C865A388519}"/>
              </a:ext>
            </a:extLst>
          </p:cNvPr>
          <p:cNvSpPr txBox="1"/>
          <p:nvPr/>
        </p:nvSpPr>
        <p:spPr>
          <a:xfrm>
            <a:off x="2327562" y="2066636"/>
            <a:ext cx="7897091" cy="646331"/>
          </a:xfrm>
          <a:prstGeom prst="rect">
            <a:avLst/>
          </a:prstGeom>
          <a:noFill/>
        </p:spPr>
        <p:txBody>
          <a:bodyPr wrap="square" rtlCol="0">
            <a:spAutoFit/>
          </a:bodyPr>
          <a:lstStyle/>
          <a:p>
            <a:endParaRPr lang="en-GB" dirty="0"/>
          </a:p>
          <a:p>
            <a:pPr marL="285750" indent="-285750">
              <a:buFont typeface="Wingdings" panose="05000000000000000000" pitchFamily="2" charset="2"/>
              <a:buChar char="q"/>
            </a:pPr>
            <a:endParaRPr lang="en-GB" b="1" dirty="0"/>
          </a:p>
        </p:txBody>
      </p:sp>
      <p:sp>
        <p:nvSpPr>
          <p:cNvPr id="2" name="Rectangle 1"/>
          <p:cNvSpPr/>
          <p:nvPr/>
        </p:nvSpPr>
        <p:spPr>
          <a:xfrm>
            <a:off x="563173" y="1336539"/>
            <a:ext cx="7482072" cy="3970318"/>
          </a:xfrm>
          <a:prstGeom prst="rect">
            <a:avLst/>
          </a:prstGeom>
        </p:spPr>
        <p:txBody>
          <a:bodyPr wrap="square">
            <a:spAutoFit/>
          </a:bodyPr>
          <a:lstStyle/>
          <a:p>
            <a:pPr algn="just"/>
            <a:r>
              <a:rPr lang="en-GB" dirty="0"/>
              <a:t>Open Neural Networks (OpenNN) Library is a software library for machine learning and supports data analysis, with applications in many industries, for example, energy, and Fields, for example, marketing.</a:t>
            </a:r>
          </a:p>
          <a:p>
            <a:pPr algn="just"/>
            <a:endParaRPr lang="en-GB" dirty="0"/>
          </a:p>
          <a:p>
            <a:r>
              <a:rPr lang="en-GB" b="1" dirty="0"/>
              <a:t>Features</a:t>
            </a:r>
          </a:p>
          <a:p>
            <a:pPr marL="531813" indent="-265113">
              <a:buClr>
                <a:schemeClr val="accent4"/>
              </a:buClr>
              <a:buFont typeface="Arial" panose="020B0604020202020204" pitchFamily="34" charset="0"/>
              <a:buChar char="•"/>
            </a:pPr>
            <a:r>
              <a:rPr lang="en-GB" dirty="0"/>
              <a:t>Powerful C++ Implementation for builds highly efficient models</a:t>
            </a:r>
          </a:p>
          <a:p>
            <a:pPr marL="531813" indent="-265113">
              <a:buClr>
                <a:schemeClr val="accent4"/>
              </a:buClr>
              <a:buFont typeface="Arial" panose="020B0604020202020204" pitchFamily="34" charset="0"/>
              <a:buChar char="•"/>
            </a:pPr>
            <a:r>
              <a:rPr lang="en-GB" dirty="0"/>
              <a:t>Versatile applications to solves real-world problems in energy, marketing, health, and more</a:t>
            </a:r>
          </a:p>
          <a:p>
            <a:pPr marL="531813" indent="-265113">
              <a:buClr>
                <a:schemeClr val="accent4"/>
              </a:buClr>
              <a:buFont typeface="Arial" panose="020B0604020202020204" pitchFamily="34" charset="0"/>
              <a:buChar char="•"/>
            </a:pPr>
            <a:r>
              <a:rPr lang="en-GB" dirty="0"/>
              <a:t>Advanced algorithms, sophisticated tools for artificial intelligence solutions</a:t>
            </a:r>
          </a:p>
          <a:p>
            <a:endParaRPr lang="en-GB" dirty="0"/>
          </a:p>
          <a:p>
            <a:r>
              <a:rPr lang="en-GB" b="1" dirty="0"/>
              <a:t>Performance Advantages</a:t>
            </a:r>
          </a:p>
          <a:p>
            <a:pPr marL="531813" indent="-265113">
              <a:buClr>
                <a:schemeClr val="accent4"/>
              </a:buClr>
              <a:buFont typeface="Arial" panose="020B0604020202020204" pitchFamily="34" charset="0"/>
              <a:buChar char="•"/>
            </a:pPr>
            <a:r>
              <a:rPr lang="en-GB" dirty="0"/>
              <a:t>Data Handling: Manages 1.8 times larger datasets compared to TensorFlow and PyTorch</a:t>
            </a:r>
          </a:p>
        </p:txBody>
      </p:sp>
      <p:pic>
        <p:nvPicPr>
          <p:cNvPr id="5" name="Picture 4"/>
          <p:cNvPicPr>
            <a:picLocks noChangeAspect="1"/>
          </p:cNvPicPr>
          <p:nvPr/>
        </p:nvPicPr>
        <p:blipFill>
          <a:blip r:embed="rId3"/>
          <a:stretch>
            <a:fillRect/>
          </a:stretch>
        </p:blipFill>
        <p:spPr>
          <a:xfrm>
            <a:off x="7152067" y="1166182"/>
            <a:ext cx="4682134" cy="4865030"/>
          </a:xfrm>
          <a:prstGeom prst="rect">
            <a:avLst/>
          </a:prstGeom>
        </p:spPr>
      </p:pic>
    </p:spTree>
    <p:extLst>
      <p:ext uri="{BB962C8B-B14F-4D97-AF65-F5344CB8AC3E}">
        <p14:creationId xmlns:p14="http://schemas.microsoft.com/office/powerpoint/2010/main" val="42857354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9AF5EF5-7F37-32D6-97AA-ED45863C3E92}"/>
              </a:ext>
            </a:extLst>
          </p:cNvPr>
          <p:cNvSpPr>
            <a:spLocks noGrp="1"/>
          </p:cNvSpPr>
          <p:nvPr>
            <p:ph type="title"/>
          </p:nvPr>
        </p:nvSpPr>
        <p:spPr>
          <a:xfrm>
            <a:off x="563173" y="63542"/>
            <a:ext cx="10925014" cy="1102640"/>
          </a:xfrm>
        </p:spPr>
        <p:txBody>
          <a:bodyPr anchor="ctr">
            <a:normAutofit/>
          </a:bodyPr>
          <a:lstStyle/>
          <a:p>
            <a:r>
              <a:rPr lang="en-GB" sz="4400" dirty="0"/>
              <a:t>Open Neural Networks (OpenNN) Library </a:t>
            </a:r>
          </a:p>
        </p:txBody>
      </p:sp>
      <p:sp>
        <p:nvSpPr>
          <p:cNvPr id="3" name="TextBox 2">
            <a:extLst>
              <a:ext uri="{FF2B5EF4-FFF2-40B4-BE49-F238E27FC236}">
                <a16:creationId xmlns:a16="http://schemas.microsoft.com/office/drawing/2014/main" id="{FE10A49A-9FCD-5F68-3696-0C865A388519}"/>
              </a:ext>
            </a:extLst>
          </p:cNvPr>
          <p:cNvSpPr txBox="1"/>
          <p:nvPr/>
        </p:nvSpPr>
        <p:spPr>
          <a:xfrm>
            <a:off x="2327562" y="2066636"/>
            <a:ext cx="7897091" cy="646331"/>
          </a:xfrm>
          <a:prstGeom prst="rect">
            <a:avLst/>
          </a:prstGeom>
          <a:noFill/>
        </p:spPr>
        <p:txBody>
          <a:bodyPr wrap="square" rtlCol="0">
            <a:spAutoFit/>
          </a:bodyPr>
          <a:lstStyle/>
          <a:p>
            <a:endParaRPr lang="en-GB" dirty="0"/>
          </a:p>
          <a:p>
            <a:pPr marL="285750" indent="-285750">
              <a:buFont typeface="Wingdings" panose="05000000000000000000" pitchFamily="2" charset="2"/>
              <a:buChar char="q"/>
            </a:pPr>
            <a:endParaRPr lang="en-GB" b="1" dirty="0"/>
          </a:p>
        </p:txBody>
      </p:sp>
      <p:sp>
        <p:nvSpPr>
          <p:cNvPr id="2" name="Rectangle 1"/>
          <p:cNvSpPr/>
          <p:nvPr/>
        </p:nvSpPr>
        <p:spPr>
          <a:xfrm>
            <a:off x="964274" y="1382313"/>
            <a:ext cx="6550431" cy="3693319"/>
          </a:xfrm>
          <a:prstGeom prst="rect">
            <a:avLst/>
          </a:prstGeom>
        </p:spPr>
        <p:txBody>
          <a:bodyPr wrap="square">
            <a:spAutoFit/>
          </a:bodyPr>
          <a:lstStyle/>
          <a:p>
            <a:r>
              <a:rPr lang="en-GB" b="1" dirty="0"/>
              <a:t>Industry Applications</a:t>
            </a:r>
          </a:p>
          <a:p>
            <a:pPr marL="531813" indent="-265113">
              <a:buClr>
                <a:schemeClr val="accent4"/>
              </a:buClr>
              <a:buFont typeface="Arial" panose="020B0604020202020204" pitchFamily="34" charset="0"/>
              <a:buChar char="•"/>
            </a:pPr>
            <a:r>
              <a:rPr lang="en-GB" dirty="0"/>
              <a:t>Energy Sector: Data-driven solutions for energy management</a:t>
            </a:r>
          </a:p>
          <a:p>
            <a:pPr marL="531813" indent="-265113">
              <a:buClr>
                <a:schemeClr val="accent4"/>
              </a:buClr>
              <a:buFont typeface="Arial" panose="020B0604020202020204" pitchFamily="34" charset="0"/>
              <a:buChar char="•"/>
            </a:pPr>
            <a:r>
              <a:rPr lang="en-GB" dirty="0"/>
              <a:t>Marketing: Advanced analytics for customer insights</a:t>
            </a:r>
          </a:p>
          <a:p>
            <a:pPr marL="531813" indent="-265113">
              <a:buClr>
                <a:schemeClr val="accent4"/>
              </a:buClr>
              <a:buFont typeface="Arial" panose="020B0604020202020204" pitchFamily="34" charset="0"/>
              <a:buChar char="•"/>
            </a:pPr>
            <a:r>
              <a:rPr lang="en-GB" dirty="0"/>
              <a:t>Healthcare: Predictive modelling and data analysis</a:t>
            </a:r>
          </a:p>
          <a:p>
            <a:pPr marL="531813" indent="-265113">
              <a:buClr>
                <a:schemeClr val="accent4"/>
              </a:buClr>
              <a:buFont typeface="Arial" panose="020B0604020202020204" pitchFamily="34" charset="0"/>
              <a:buChar char="•"/>
            </a:pPr>
            <a:endParaRPr lang="en-GB" dirty="0"/>
          </a:p>
          <a:p>
            <a:r>
              <a:rPr lang="en-GB" b="1" dirty="0"/>
              <a:t>Tools and Services</a:t>
            </a:r>
          </a:p>
          <a:p>
            <a:pPr marL="531813" indent="-265113">
              <a:buClr>
                <a:schemeClr val="accent4"/>
              </a:buClr>
              <a:buFont typeface="Arial" panose="020B0604020202020204" pitchFamily="34" charset="0"/>
              <a:buChar char="•"/>
            </a:pPr>
            <a:r>
              <a:rPr lang="en-GB" dirty="0"/>
              <a:t>Neural Designer: User-friendly interface for building neural network models without programming</a:t>
            </a:r>
          </a:p>
          <a:p>
            <a:endParaRPr lang="en-GB" dirty="0"/>
          </a:p>
          <a:p>
            <a:r>
              <a:rPr lang="en-GB" b="1" dirty="0"/>
              <a:t>Benefits for Researchers</a:t>
            </a:r>
          </a:p>
          <a:p>
            <a:pPr marL="531813" indent="-265113">
              <a:buClr>
                <a:schemeClr val="accent4"/>
              </a:buClr>
              <a:buFont typeface="Arial" panose="020B0604020202020204" pitchFamily="34" charset="0"/>
              <a:buChar char="•"/>
            </a:pPr>
            <a:r>
              <a:rPr lang="en-GB" dirty="0"/>
              <a:t>Efficiency: Faster training and larger dataset handling</a:t>
            </a:r>
          </a:p>
          <a:p>
            <a:pPr marL="531813" indent="-265113">
              <a:buClr>
                <a:schemeClr val="accent4"/>
              </a:buClr>
              <a:buFont typeface="Arial" panose="020B0604020202020204" pitchFamily="34" charset="0"/>
              <a:buChar char="•"/>
            </a:pPr>
            <a:r>
              <a:rPr lang="en-GB" dirty="0"/>
              <a:t>Flexibility: Applicable across various fields and industries</a:t>
            </a:r>
          </a:p>
          <a:p>
            <a:pPr marL="531813" indent="-265113">
              <a:buClr>
                <a:schemeClr val="accent4"/>
              </a:buClr>
              <a:buFont typeface="Arial" panose="020B0604020202020204" pitchFamily="34" charset="0"/>
              <a:buChar char="•"/>
            </a:pPr>
            <a:r>
              <a:rPr lang="en-GB" dirty="0"/>
              <a:t>Support: Access to expert consulting services</a:t>
            </a:r>
          </a:p>
        </p:txBody>
      </p:sp>
      <p:pic>
        <p:nvPicPr>
          <p:cNvPr id="5" name="Picture 4"/>
          <p:cNvPicPr>
            <a:picLocks noChangeAspect="1"/>
          </p:cNvPicPr>
          <p:nvPr/>
        </p:nvPicPr>
        <p:blipFill>
          <a:blip r:embed="rId3"/>
          <a:stretch>
            <a:fillRect/>
          </a:stretch>
        </p:blipFill>
        <p:spPr>
          <a:xfrm>
            <a:off x="7152067" y="1166182"/>
            <a:ext cx="4682134" cy="4865030"/>
          </a:xfrm>
          <a:prstGeom prst="rect">
            <a:avLst/>
          </a:prstGeom>
        </p:spPr>
      </p:pic>
    </p:spTree>
    <p:extLst>
      <p:ext uri="{BB962C8B-B14F-4D97-AF65-F5344CB8AC3E}">
        <p14:creationId xmlns:p14="http://schemas.microsoft.com/office/powerpoint/2010/main" val="25947948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ECEC7B-9358-61EF-8D42-0FC1835CE28D}"/>
              </a:ext>
            </a:extLst>
          </p:cNvPr>
          <p:cNvSpPr>
            <a:spLocks noGrp="1"/>
          </p:cNvSpPr>
          <p:nvPr>
            <p:ph type="title"/>
          </p:nvPr>
        </p:nvSpPr>
        <p:spPr>
          <a:xfrm>
            <a:off x="841248" y="365760"/>
            <a:ext cx="10515600" cy="1325880"/>
          </a:xfrm>
        </p:spPr>
        <p:txBody>
          <a:bodyPr anchor="ctr">
            <a:normAutofit/>
          </a:bodyPr>
          <a:lstStyle/>
          <a:p>
            <a:pPr algn="ctr"/>
            <a:r>
              <a:rPr lang="en-US" sz="4800" dirty="0">
                <a:solidFill>
                  <a:schemeClr val="tx1"/>
                </a:solidFill>
              </a:rPr>
              <a:t> </a:t>
            </a:r>
            <a:endParaRPr lang="en-GB" sz="4800" dirty="0">
              <a:solidFill>
                <a:schemeClr val="tx1"/>
              </a:solidFill>
            </a:endParaRPr>
          </a:p>
        </p:txBody>
      </p:sp>
      <p:pic>
        <p:nvPicPr>
          <p:cNvPr id="4" name="Picture 3">
            <a:extLst>
              <a:ext uri="{FF2B5EF4-FFF2-40B4-BE49-F238E27FC236}">
                <a16:creationId xmlns:a16="http://schemas.microsoft.com/office/drawing/2014/main" id="{48CA1113-4524-2852-6B70-9C62F99B7CB6}"/>
              </a:ext>
            </a:extLst>
          </p:cNvPr>
          <p:cNvPicPr>
            <a:picLocks noChangeAspect="1"/>
          </p:cNvPicPr>
          <p:nvPr/>
        </p:nvPicPr>
        <p:blipFill>
          <a:blip r:embed="rId3"/>
          <a:srcRect t="-480" r="-2" b="-2"/>
          <a:stretch/>
        </p:blipFill>
        <p:spPr>
          <a:xfrm>
            <a:off x="244901" y="200771"/>
            <a:ext cx="1704194" cy="1849971"/>
          </a:xfrm>
          <a:prstGeom prst="rect">
            <a:avLst/>
          </a:prstGeom>
          <a:noFill/>
        </p:spPr>
      </p:pic>
      <p:sp>
        <p:nvSpPr>
          <p:cNvPr id="2" name="Content Placeholder 1">
            <a:extLst>
              <a:ext uri="{FF2B5EF4-FFF2-40B4-BE49-F238E27FC236}">
                <a16:creationId xmlns:a16="http://schemas.microsoft.com/office/drawing/2014/main" id="{15B5FFB2-A5AC-699F-29F2-299D023C83C6}"/>
              </a:ext>
            </a:extLst>
          </p:cNvPr>
          <p:cNvSpPr>
            <a:spLocks noGrp="1"/>
          </p:cNvSpPr>
          <p:nvPr>
            <p:ph sz="quarter" idx="4294967295"/>
          </p:nvPr>
        </p:nvSpPr>
        <p:spPr>
          <a:xfrm>
            <a:off x="2246051" y="200771"/>
            <a:ext cx="8753126" cy="6269614"/>
          </a:xfrm>
          <a:prstGeom prst="rect">
            <a:avLst/>
          </a:prstGeom>
        </p:spPr>
        <p:txBody>
          <a:bodyPr anchor="t">
            <a:normAutofit fontScale="92500" lnSpcReduction="10000"/>
          </a:bodyPr>
          <a:lstStyle/>
          <a:p>
            <a:pPr marL="0" indent="0" algn="ctr">
              <a:buNone/>
            </a:pPr>
            <a:r>
              <a:rPr lang="en-US" sz="3600" b="1" dirty="0">
                <a:solidFill>
                  <a:srgbClr val="003300"/>
                </a:solidFill>
                <a:effectLst>
                  <a:outerShdw blurRad="38100" dist="38100" dir="2700000" algn="tl">
                    <a:srgbClr val="000000">
                      <a:alpha val="43137"/>
                    </a:srgbClr>
                  </a:outerShdw>
                </a:effectLst>
              </a:rPr>
              <a:t>AI Data Collection</a:t>
            </a:r>
            <a:endParaRPr lang="en-US" sz="3600" b="1" kern="1200" dirty="0">
              <a:solidFill>
                <a:srgbClr val="003300"/>
              </a:solidFill>
              <a:effectLst>
                <a:outerShdw blurRad="38100" dist="38100" dir="2700000" algn="tl">
                  <a:srgbClr val="000000">
                    <a:alpha val="43137"/>
                  </a:srgbClr>
                </a:outerShdw>
              </a:effectLst>
            </a:endParaRPr>
          </a:p>
          <a:p>
            <a:pPr marL="0" indent="0" algn="ctr">
              <a:buNone/>
            </a:pPr>
            <a:r>
              <a:rPr lang="en-US" sz="1600" b="1" kern="1200" dirty="0">
                <a:solidFill>
                  <a:schemeClr val="tx1"/>
                </a:solidFill>
              </a:rPr>
              <a:t>Duration: </a:t>
            </a:r>
            <a:r>
              <a:rPr lang="en-US" sz="1600" b="1" dirty="0">
                <a:solidFill>
                  <a:schemeClr val="tx1"/>
                </a:solidFill>
              </a:rPr>
              <a:t>40</a:t>
            </a:r>
            <a:r>
              <a:rPr lang="en-US" sz="1600" b="1" kern="1200" dirty="0">
                <a:solidFill>
                  <a:schemeClr val="tx1"/>
                </a:solidFill>
              </a:rPr>
              <a:t> minutes </a:t>
            </a:r>
          </a:p>
          <a:p>
            <a:pPr marL="714375" indent="-714375">
              <a:buNone/>
            </a:pPr>
            <a:r>
              <a:rPr lang="en-GB" sz="1600" b="1" dirty="0"/>
              <a:t>Objective: To help students identify different AI data collection platforms and understand their relevance in research. To encourage students to explore and classify AI platforms based on their data collection methods and discuss how these methods can be adapted or improved.</a:t>
            </a:r>
          </a:p>
          <a:p>
            <a:pPr marL="0" indent="0" algn="ctr">
              <a:buNone/>
            </a:pPr>
            <a:r>
              <a:rPr lang="en-GB" sz="1600" b="1" dirty="0"/>
              <a:t>Task Description</a:t>
            </a:r>
          </a:p>
          <a:p>
            <a:pPr marL="0" indent="0">
              <a:buNone/>
            </a:pPr>
            <a:r>
              <a:rPr lang="en-GB" sz="1600" b="1" dirty="0"/>
              <a:t>Each group will research one of the AI data collection platforms (e.g., Amazon </a:t>
            </a:r>
            <a:r>
              <a:rPr lang="en-GB" sz="1600" b="1" dirty="0" err="1"/>
              <a:t>SageMaker</a:t>
            </a:r>
            <a:r>
              <a:rPr lang="en-GB" sz="1600" b="1" dirty="0"/>
              <a:t>, Microsoft Azure ML, Google Cloud AI, IBM Watson).</a:t>
            </a:r>
          </a:p>
          <a:p>
            <a:pPr marL="0" indent="0">
              <a:buNone/>
            </a:pPr>
            <a:r>
              <a:rPr lang="en-GB" sz="1600" b="1" dirty="0"/>
              <a:t>For each platform, categorize it based on: Field (e.g., CS, IS, CY)</a:t>
            </a:r>
          </a:p>
          <a:p>
            <a:pPr marL="365125" indent="-182563"/>
            <a:r>
              <a:rPr lang="en-GB" sz="1600" b="1" dirty="0"/>
              <a:t>Provide a brief justification for each categorization, highlighting key features of the platform.</a:t>
            </a:r>
          </a:p>
          <a:p>
            <a:pPr marL="0" indent="0">
              <a:buNone/>
            </a:pPr>
            <a:r>
              <a:rPr lang="en-GB" sz="1600" b="1" dirty="0"/>
              <a:t>For each platform, identify and describe, </a:t>
            </a:r>
          </a:p>
          <a:p>
            <a:pPr marL="365125" indent="-182563"/>
            <a:r>
              <a:rPr lang="en-GB" sz="1600" b="1" dirty="0"/>
              <a:t>The main data collection techniques used</a:t>
            </a:r>
          </a:p>
          <a:p>
            <a:pPr marL="365125" indent="-182563"/>
            <a:r>
              <a:rPr lang="en-GB" sz="1600" b="1" dirty="0"/>
              <a:t>Types of data collected (e.g., structured, unstructured, semi-structured)</a:t>
            </a:r>
          </a:p>
          <a:p>
            <a:pPr marL="365125" indent="-182563"/>
            <a:r>
              <a:rPr lang="en-GB" sz="1600" b="1" dirty="0"/>
              <a:t>Any unique or innovative data collection methods</a:t>
            </a:r>
          </a:p>
          <a:p>
            <a:pPr marL="365125" indent="-182563"/>
            <a:r>
              <a:rPr lang="en-GB" sz="1600" b="1" dirty="0"/>
              <a:t>Do they support functions for some of the QUAN methods discussed earlier</a:t>
            </a:r>
          </a:p>
          <a:p>
            <a:pPr marL="0" indent="0">
              <a:buNone/>
            </a:pPr>
            <a:r>
              <a:rPr lang="en-GB" sz="1600" b="1" dirty="0"/>
              <a:t>Brainstorm potential improvements or alternative data collection methods for each platform. For example, if a platform primarily uses web scraping, discuss how it could incorporate </a:t>
            </a:r>
            <a:r>
              <a:rPr lang="en-GB" sz="1600" b="1" dirty="0" err="1"/>
              <a:t>IoT</a:t>
            </a:r>
            <a:r>
              <a:rPr lang="en-GB" sz="1600" b="1" dirty="0"/>
              <a:t> sensors or social media APIs to enhance data collection.</a:t>
            </a:r>
          </a:p>
          <a:p>
            <a:pPr marL="0" indent="0">
              <a:buNone/>
            </a:pPr>
            <a:r>
              <a:rPr lang="en-GB" sz="1600" b="1" dirty="0"/>
              <a:t>Compare the platforms in terms of their data collection capabilities, ease of use, and suitability for different types of AI research.</a:t>
            </a:r>
          </a:p>
          <a:p>
            <a:pPr marL="0" indent="0">
              <a:buNone/>
            </a:pPr>
            <a:r>
              <a:rPr lang="en-GB" sz="1600" b="1" dirty="0"/>
              <a:t>Present your findings to the class, highlighting the strengths and weaknesses of each platform's data collection approach.</a:t>
            </a:r>
          </a:p>
          <a:p>
            <a:pPr marL="0" indent="0" algn="ctr">
              <a:buNone/>
            </a:pPr>
            <a:endParaRPr lang="en-US" sz="1600" b="1" kern="1200" dirty="0">
              <a:solidFill>
                <a:schemeClr val="tx1"/>
              </a:solidFill>
            </a:endParaRPr>
          </a:p>
        </p:txBody>
      </p:sp>
    </p:spTree>
    <p:extLst>
      <p:ext uri="{BB962C8B-B14F-4D97-AF65-F5344CB8AC3E}">
        <p14:creationId xmlns:p14="http://schemas.microsoft.com/office/powerpoint/2010/main" val="18244991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D40FB369-654E-689F-059B-8EDE18627CC7}"/>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a:stretch/>
        </p:blipFill>
        <p:spPr>
          <a:xfrm>
            <a:off x="81117" y="-110613"/>
            <a:ext cx="12192000" cy="6858000"/>
          </a:xfrm>
          <a:prstGeom prst="rect">
            <a:avLst/>
          </a:prstGeom>
          <a:noFill/>
        </p:spPr>
      </p:pic>
      <p:sp>
        <p:nvSpPr>
          <p:cNvPr id="4" name="Title 3">
            <a:extLst>
              <a:ext uri="{FF2B5EF4-FFF2-40B4-BE49-F238E27FC236}">
                <a16:creationId xmlns:a16="http://schemas.microsoft.com/office/drawing/2014/main" id="{30C1D0E0-1A33-E61C-6285-DCE942B4F6DE}"/>
              </a:ext>
            </a:extLst>
          </p:cNvPr>
          <p:cNvSpPr>
            <a:spLocks noGrp="1"/>
          </p:cNvSpPr>
          <p:nvPr>
            <p:ph type="title"/>
          </p:nvPr>
        </p:nvSpPr>
        <p:spPr>
          <a:xfrm>
            <a:off x="1721291" y="1898030"/>
            <a:ext cx="3924935" cy="1695637"/>
          </a:xfrm>
        </p:spPr>
        <p:txBody>
          <a:bodyPr>
            <a:noAutofit/>
          </a:bodyPr>
          <a:lstStyle/>
          <a:p>
            <a:r>
              <a:rPr lang="en-GB" dirty="0"/>
              <a:t>From this point on…you’re a scientific  researcher!</a:t>
            </a:r>
          </a:p>
        </p:txBody>
      </p:sp>
      <p:sp>
        <p:nvSpPr>
          <p:cNvPr id="16" name="Text Placeholder 3">
            <a:extLst>
              <a:ext uri="{FF2B5EF4-FFF2-40B4-BE49-F238E27FC236}">
                <a16:creationId xmlns:a16="http://schemas.microsoft.com/office/drawing/2014/main" id="{C7336734-6E1B-86C1-1C89-0DF6BC77D000}"/>
              </a:ext>
            </a:extLst>
          </p:cNvPr>
          <p:cNvSpPr>
            <a:spLocks noGrp="1"/>
          </p:cNvSpPr>
          <p:nvPr>
            <p:ph type="body" sz="quarter" idx="11"/>
          </p:nvPr>
        </p:nvSpPr>
        <p:spPr>
          <a:xfrm>
            <a:off x="1099124" y="985096"/>
            <a:ext cx="3924934" cy="490538"/>
          </a:xfrm>
        </p:spPr>
        <p:txBody>
          <a:bodyPr/>
          <a:lstStyle/>
          <a:p>
            <a:r>
              <a:rPr lang="en-US" dirty="0"/>
              <a:t>Congratulations</a:t>
            </a:r>
          </a:p>
        </p:txBody>
      </p:sp>
      <p:sp>
        <p:nvSpPr>
          <p:cNvPr id="18" name="Text Placeholder 4">
            <a:extLst>
              <a:ext uri="{FF2B5EF4-FFF2-40B4-BE49-F238E27FC236}">
                <a16:creationId xmlns:a16="http://schemas.microsoft.com/office/drawing/2014/main" id="{CC0C9F82-91C8-08F9-00DA-6E459334C7A9}"/>
              </a:ext>
            </a:extLst>
          </p:cNvPr>
          <p:cNvSpPr>
            <a:spLocks noGrp="1"/>
          </p:cNvSpPr>
          <p:nvPr>
            <p:ph type="body" sz="quarter" idx="13"/>
          </p:nvPr>
        </p:nvSpPr>
        <p:spPr>
          <a:xfrm>
            <a:off x="3061591" y="4816192"/>
            <a:ext cx="3222836" cy="1168530"/>
          </a:xfrm>
        </p:spPr>
        <p:txBody>
          <a:bodyPr/>
          <a:lstStyle/>
          <a:p>
            <a:r>
              <a:rPr lang="en-US" dirty="0"/>
              <a:t>Mad or otherwise </a:t>
            </a:r>
          </a:p>
        </p:txBody>
      </p:sp>
      <p:pic>
        <p:nvPicPr>
          <p:cNvPr id="2050" name="Picture 2">
            <a:extLst>
              <a:ext uri="{FF2B5EF4-FFF2-40B4-BE49-F238E27FC236}">
                <a16:creationId xmlns:a16="http://schemas.microsoft.com/office/drawing/2014/main" id="{E5BCBF50-310C-979F-353E-27A1303B56E3}"/>
              </a:ext>
            </a:extLst>
          </p:cNvPr>
          <p:cNvPicPr>
            <a:picLocks noChangeAspect="1" noChangeArrowheads="1"/>
          </p:cNvPicPr>
          <p:nvPr/>
        </p:nvPicPr>
        <p:blipFill>
          <a:blip r:embed="rId4"/>
          <a:srcRect/>
          <a:stretch/>
        </p:blipFill>
        <p:spPr bwMode="auto">
          <a:xfrm>
            <a:off x="430363" y="1056071"/>
            <a:ext cx="6946470" cy="4524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94388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14EB77E-0C3E-FCCA-E05D-971D1F911504}"/>
              </a:ext>
            </a:extLst>
          </p:cNvPr>
          <p:cNvPicPr>
            <a:picLocks noChangeAspect="1"/>
          </p:cNvPicPr>
          <p:nvPr/>
        </p:nvPicPr>
        <p:blipFill>
          <a:blip r:embed="rId2"/>
          <a:srcRect t="2429" r="-3" b="1397"/>
          <a:stretch/>
        </p:blipFill>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a:noFill/>
        </p:spPr>
      </p:pic>
      <p:sp>
        <p:nvSpPr>
          <p:cNvPr id="21" name="Text Placeholder 2">
            <a:extLst>
              <a:ext uri="{FF2B5EF4-FFF2-40B4-BE49-F238E27FC236}">
                <a16:creationId xmlns:a16="http://schemas.microsoft.com/office/drawing/2014/main" id="{5008B246-BC91-8BA6-FD45-2FA834E18CAE}"/>
              </a:ext>
            </a:extLst>
          </p:cNvPr>
          <p:cNvSpPr>
            <a:spLocks noGrp="1"/>
          </p:cNvSpPr>
          <p:nvPr>
            <p:ph type="body" sz="quarter" idx="12"/>
          </p:nvPr>
        </p:nvSpPr>
        <p:spPr>
          <a:xfrm>
            <a:off x="660400" y="2044700"/>
            <a:ext cx="4275138" cy="3560763"/>
          </a:xfrm>
        </p:spPr>
        <p:txBody>
          <a:bodyPr/>
          <a:lstStyle/>
          <a:p>
            <a:r>
              <a:rPr lang="en-US" dirty="0"/>
              <a:t>Spend 10 mins just writing, you can either reflect on today’s lesson, capture ideas for a dissertation, reflect on today’s topics and how can they be </a:t>
            </a:r>
            <a:r>
              <a:rPr lang="en-GB" dirty="0"/>
              <a:t>applied to your research </a:t>
            </a:r>
          </a:p>
          <a:p>
            <a:r>
              <a:rPr lang="en-GB" dirty="0"/>
              <a:t>Free write if you like also – just simply write. </a:t>
            </a:r>
          </a:p>
          <a:p>
            <a:endParaRPr lang="en-US" dirty="0"/>
          </a:p>
        </p:txBody>
      </p:sp>
      <p:sp>
        <p:nvSpPr>
          <p:cNvPr id="16" name="Title 2">
            <a:extLst>
              <a:ext uri="{FF2B5EF4-FFF2-40B4-BE49-F238E27FC236}">
                <a16:creationId xmlns:a16="http://schemas.microsoft.com/office/drawing/2014/main" id="{9109154A-ED81-F668-8C52-27D453698BEB}"/>
              </a:ext>
            </a:extLst>
          </p:cNvPr>
          <p:cNvSpPr>
            <a:spLocks noGrp="1"/>
          </p:cNvSpPr>
          <p:nvPr>
            <p:ph type="title"/>
          </p:nvPr>
        </p:nvSpPr>
        <p:spPr>
          <a:xfrm>
            <a:off x="660400" y="805213"/>
            <a:ext cx="4275138" cy="830997"/>
          </a:xfrm>
        </p:spPr>
        <p:txBody>
          <a:bodyPr>
            <a:normAutofit/>
          </a:bodyPr>
          <a:lstStyle/>
          <a:p>
            <a:r>
              <a:rPr lang="en-US" sz="2600" dirty="0"/>
              <a:t>Reflection &amp; Writing – 10 Mins</a:t>
            </a:r>
          </a:p>
        </p:txBody>
      </p:sp>
    </p:spTree>
    <p:extLst>
      <p:ext uri="{BB962C8B-B14F-4D97-AF65-F5344CB8AC3E}">
        <p14:creationId xmlns:p14="http://schemas.microsoft.com/office/powerpoint/2010/main" val="18910198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8">
            <a:extLst>
              <a:ext uri="{FF2B5EF4-FFF2-40B4-BE49-F238E27FC236}">
                <a16:creationId xmlns:a16="http://schemas.microsoft.com/office/drawing/2014/main" id="{2EC47CED-7A85-4080-9C7C-3921E48924A7}"/>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t="7746" b="7746"/>
          <a:stretch/>
        </p:blipFill>
        <p:spPr>
          <a:xfrm>
            <a:off x="20" y="10"/>
            <a:ext cx="12191980" cy="6857990"/>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a:noFill/>
        </p:spPr>
      </p:pic>
      <p:sp>
        <p:nvSpPr>
          <p:cNvPr id="6" name="Text Placeholder 5">
            <a:extLst>
              <a:ext uri="{FF2B5EF4-FFF2-40B4-BE49-F238E27FC236}">
                <a16:creationId xmlns:a16="http://schemas.microsoft.com/office/drawing/2014/main" id="{83BCC5C9-D87D-55FC-86B8-0613C32EE263}"/>
              </a:ext>
            </a:extLst>
          </p:cNvPr>
          <p:cNvSpPr>
            <a:spLocks noGrp="1"/>
          </p:cNvSpPr>
          <p:nvPr>
            <p:ph type="body" sz="quarter" idx="11"/>
          </p:nvPr>
        </p:nvSpPr>
        <p:spPr>
          <a:xfrm>
            <a:off x="8154609" y="6201251"/>
            <a:ext cx="3924934" cy="490538"/>
          </a:xfrm>
        </p:spPr>
        <p:txBody>
          <a:bodyPr>
            <a:normAutofit/>
          </a:bodyPr>
          <a:lstStyle/>
          <a:p>
            <a:r>
              <a:rPr lang="en-GB" dirty="0"/>
              <a:t>Or answers ?</a:t>
            </a:r>
          </a:p>
        </p:txBody>
      </p:sp>
      <p:sp>
        <p:nvSpPr>
          <p:cNvPr id="25" name="Title 3">
            <a:extLst>
              <a:ext uri="{FF2B5EF4-FFF2-40B4-BE49-F238E27FC236}">
                <a16:creationId xmlns:a16="http://schemas.microsoft.com/office/drawing/2014/main" id="{0EB3CC0A-22A0-5855-9B31-36F6CFB0B297}"/>
              </a:ext>
            </a:extLst>
          </p:cNvPr>
          <p:cNvSpPr>
            <a:spLocks noGrp="1"/>
          </p:cNvSpPr>
          <p:nvPr>
            <p:ph type="title"/>
          </p:nvPr>
        </p:nvSpPr>
        <p:spPr>
          <a:xfrm>
            <a:off x="392148" y="287293"/>
            <a:ext cx="3924934" cy="1695637"/>
          </a:xfrm>
        </p:spPr>
        <p:txBody>
          <a:bodyPr/>
          <a:lstStyle/>
          <a:p>
            <a:r>
              <a:rPr lang="en-US" dirty="0"/>
              <a:t>Questions??</a:t>
            </a:r>
          </a:p>
        </p:txBody>
      </p:sp>
    </p:spTree>
    <p:extLst>
      <p:ext uri="{BB962C8B-B14F-4D97-AF65-F5344CB8AC3E}">
        <p14:creationId xmlns:p14="http://schemas.microsoft.com/office/powerpoint/2010/main" val="715534863"/>
      </p:ext>
    </p:extLst>
  </p:cSld>
  <p:clrMapOvr>
    <a:masterClrMapping/>
  </p:clrMapOvr>
</p:sld>
</file>

<file path=ppt/theme/theme1.xml><?xml version="1.0" encoding="utf-8"?>
<a:theme xmlns:a="http://schemas.openxmlformats.org/drawingml/2006/main" name="COM7302 - Lecture Notes Template ">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OM7302 - Lecture Notes Template .potx" id="{F4A8A639-34D0-4C88-9902-803DFD3E5723}" vid="{36ADB6EE-DFE0-4DC5-A99F-4E2E0D56D73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A9014-ED64-4558-B1E1-D03F0EE32BEB}">
  <ds:schemaRefs>
    <ds:schemaRef ds:uri="http://schemas.microsoft.com/office/2006/documentManagement/types"/>
    <ds:schemaRef ds:uri="16c05727-aa75-4e4a-9b5f-8a80a1165891"/>
    <ds:schemaRef ds:uri="http://purl.org/dc/terms/"/>
    <ds:schemaRef ds:uri="http://www.w3.org/XML/1998/namespace"/>
    <ds:schemaRef ds:uri="http://schemas.openxmlformats.org/package/2006/metadata/core-properties"/>
    <ds:schemaRef ds:uri="http://purl.org/dc/elements/1.1/"/>
    <ds:schemaRef ds:uri="http://schemas.microsoft.com/office/2006/metadata/properties"/>
    <ds:schemaRef ds:uri="http://purl.org/dc/dcmitype/"/>
    <ds:schemaRef ds:uri="71af3243-3dd4-4a8d-8c0d-dd76da1f02a5"/>
    <ds:schemaRef ds:uri="http://schemas.microsoft.com/office/infopath/2007/PartnerControls"/>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5556</TotalTime>
  <Words>3702</Words>
  <Application>Microsoft Office PowerPoint</Application>
  <PresentationFormat>Widescreen</PresentationFormat>
  <Paragraphs>447</Paragraphs>
  <Slides>34</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Calibri Light</vt:lpstr>
      <vt:lpstr>Corbel</vt:lpstr>
      <vt:lpstr>Google Sans</vt:lpstr>
      <vt:lpstr>Helvetica Neue</vt:lpstr>
      <vt:lpstr>Wingdings</vt:lpstr>
      <vt:lpstr>COM7302 - Lecture Notes Template </vt:lpstr>
      <vt:lpstr> Research Design &amp; Methods  QUAN</vt:lpstr>
      <vt:lpstr>Quantitative Data Analysis Techniques</vt:lpstr>
      <vt:lpstr>By the end of the session, you should be able to…</vt:lpstr>
      <vt:lpstr>All the resources will be posted to the Moodle page </vt:lpstr>
      <vt:lpstr>Data Analysis</vt:lpstr>
      <vt:lpstr>Quantitative Data Analysis Techniques</vt:lpstr>
      <vt:lpstr>Statistical Data Analysis Techniques</vt:lpstr>
      <vt:lpstr>Descriptive Analysis Techniques</vt:lpstr>
      <vt:lpstr>Dispersion Analysis Techniques</vt:lpstr>
      <vt:lpstr>Regression Analysis Techniques</vt:lpstr>
      <vt:lpstr>Factor Analysis Techniques</vt:lpstr>
      <vt:lpstr>Discriminant Analysis Techniques</vt:lpstr>
      <vt:lpstr>Time Series Analysis Techniques</vt:lpstr>
      <vt:lpstr>Techniques based on AI &amp; Machine Learning</vt:lpstr>
      <vt:lpstr>Techniques based on AI &amp; Machine Learning</vt:lpstr>
      <vt:lpstr>Techniques based on AI &amp; Machine Learning</vt:lpstr>
      <vt:lpstr>PowerPoint Presentation</vt:lpstr>
      <vt:lpstr>Techniques based on Data Visualization</vt:lpstr>
      <vt:lpstr>Techniques based on Data Visualization</vt:lpstr>
      <vt:lpstr>Data Visualization Tools</vt:lpstr>
      <vt:lpstr>Techniques used in Quantitative Data Analysis</vt:lpstr>
      <vt:lpstr>Data Mining Techniques</vt:lpstr>
      <vt:lpstr>Meta Analysis Techniques</vt:lpstr>
      <vt:lpstr>Artificial Intelligence (AI) Data Collection, Presentation and Analysis Platforms</vt:lpstr>
      <vt:lpstr>Amazon Machine learning &amp; SageMaker</vt:lpstr>
      <vt:lpstr>Google TensorFlow</vt:lpstr>
      <vt:lpstr>IBM Watson Machine Learning Cloud Service </vt:lpstr>
      <vt:lpstr>Microsoft Azure Machine Learning for Research</vt:lpstr>
      <vt:lpstr>Open Neural Networks (OpenNN) Library </vt:lpstr>
      <vt:lpstr>Open Neural Networks (OpenNN) Library </vt:lpstr>
      <vt:lpstr> </vt:lpstr>
      <vt:lpstr>From this point on…you’re a scientific  researcher!</vt:lpstr>
      <vt:lpstr>Reflection &amp; Writing – 10 Mins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Overview</dc:title>
  <dc:creator>Tighe, Bren</dc:creator>
  <cp:lastModifiedBy>Tighe, Bren</cp:lastModifiedBy>
  <cp:revision>105</cp:revision>
  <dcterms:created xsi:type="dcterms:W3CDTF">2023-01-23T08:43:55Z</dcterms:created>
  <dcterms:modified xsi:type="dcterms:W3CDTF">2025-03-21T13:04:00Z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