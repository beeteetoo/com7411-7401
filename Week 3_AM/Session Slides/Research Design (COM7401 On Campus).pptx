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05" r:id="rId5"/>
  </p:sldMasterIdLst>
  <p:notesMasterIdLst>
    <p:notesMasterId r:id="rId34"/>
  </p:notesMasterIdLst>
  <p:handoutMasterIdLst>
    <p:handoutMasterId r:id="rId35"/>
  </p:handoutMasterIdLst>
  <p:sldIdLst>
    <p:sldId id="324" r:id="rId6"/>
    <p:sldId id="354" r:id="rId7"/>
    <p:sldId id="417" r:id="rId29"/>
    <p:sldId id="418" r:id="rId26"/>
    <p:sldId id="419" r:id="rId23"/>
    <p:sldId id="420" r:id="rId22"/>
    <p:sldId id="421" r:id="rId21"/>
    <p:sldId id="422" r:id="rId20"/>
    <p:sldId id="423" r:id="rId19"/>
    <p:sldId id="424" r:id="rId18"/>
    <p:sldId id="425" r:id="rId17"/>
    <p:sldId id="426" r:id="rId16"/>
    <p:sldId id="427" r:id="rId15"/>
    <p:sldId id="428" r:id="rId12"/>
    <p:sldId id="429" r:id="rId10"/>
    <p:sldId id="430" r:id="rId9"/>
    <p:sldId id="339" r:id="rId31"/>
    <p:sldId id="382" r:id="rId32"/>
    <p:sldId id="383" r:id="rId33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F2B7"/>
    <a:srgbClr val="AAAAAA"/>
    <a:srgbClr val="44546A"/>
    <a:srgbClr val="0F4761"/>
    <a:srgbClr val="FEA82D"/>
    <a:srgbClr val="D9F7DC"/>
    <a:srgbClr val="C25EBB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81919" autoAdjust="0"/>
  </p:normalViewPr>
  <p:slideViewPr>
    <p:cSldViewPr snapToGrid="0">
      <p:cViewPr varScale="1">
        <p:scale>
          <a:sx n="155" d="100"/>
          <a:sy n="155" d="100"/>
        </p:scale>
        <p:origin x="2592" y="15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9" Type="http://schemas.openxmlformats.org/officeDocument/2006/relationships/slide" Target="slides/slide33.xml"/><Relationship Id="rId10" Type="http://schemas.openxmlformats.org/officeDocument/2006/relationships/slide" Target="slides/slide32.xml"/><Relationship Id="rId12" Type="http://schemas.openxmlformats.org/officeDocument/2006/relationships/slide" Target="slides/slide31.xml"/><Relationship Id="rId15" Type="http://schemas.openxmlformats.org/officeDocument/2006/relationships/slide" Target="slides/slide30.xml"/><Relationship Id="rId16" Type="http://schemas.openxmlformats.org/officeDocument/2006/relationships/slide" Target="slides/slide29.xml"/><Relationship Id="rId17" Type="http://schemas.openxmlformats.org/officeDocument/2006/relationships/slide" Target="slides/slide28.xml"/><Relationship Id="rId18" Type="http://schemas.openxmlformats.org/officeDocument/2006/relationships/slide" Target="slides/slide27.xml"/><Relationship Id="rId19" Type="http://schemas.openxmlformats.org/officeDocument/2006/relationships/slide" Target="slides/slide26.xml"/><Relationship Id="rId20" Type="http://schemas.openxmlformats.org/officeDocument/2006/relationships/slide" Target="slides/slide25.xml"/><Relationship Id="rId21" Type="http://schemas.openxmlformats.org/officeDocument/2006/relationships/slide" Target="slides/slide24.xml"/><Relationship Id="rId22" Type="http://schemas.openxmlformats.org/officeDocument/2006/relationships/slide" Target="slides/slide23.xml"/><Relationship Id="rId23" Type="http://schemas.openxmlformats.org/officeDocument/2006/relationships/slide" Target="slides/slide22.xml"/><Relationship Id="rId26" Type="http://schemas.openxmlformats.org/officeDocument/2006/relationships/slide" Target="slides/slide21.xml"/><Relationship Id="rId29" Type="http://schemas.openxmlformats.org/officeDocument/2006/relationships/slide" Target="slides/slide20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35" Type="http://schemas.openxmlformats.org/officeDocument/2006/relationships/handoutMaster" Target="handoutMasters/handout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91AB1A-C669-4C56-AA7A-D7DE065A4843}" type="datetime1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046ED-6F38-493D-8BA0-9E754A816323}" type="datetime1">
              <a:rPr lang="en-GB" smtClean="0"/>
              <a:pPr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GB" alt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76044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moodle.bolton.ac.uk/course/view.php?id=23108" TargetMode="External"/><Relationship Id="rId3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701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4422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414557" y="4493758"/>
            <a:ext cx="3655522" cy="2361018"/>
          </a:xfrm>
          <a:prstGeom prst="rect">
            <a:avLst/>
          </a:prstGeom>
        </p:spPr>
      </p:pic>
      <p:sp>
        <p:nvSpPr>
          <p:cNvPr id="4" name="Hexagon 3">
            <a:extLst>
              <a:ext uri="{FF2B5EF4-FFF2-40B4-BE49-F238E27FC236}">
                <a16:creationId xmlns:a16="http://schemas.microsoft.com/office/drawing/2014/main" id="{02EFDB6D-A908-36D7-35D8-AB8FD9008337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9AE87C3-49B8-1C89-4D2B-8F65D68539B9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D94E2D36-2BEB-9F15-F2E3-84FEAB512991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AA0B740B-2FE0-19FB-9199-41E8FB6371E1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2782235E-6025-12F9-8881-306369DB7C6B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D1A6C30-9E69-C642-8AE1-30A8CEC2A28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1" name="Picture 10">
            <a:hlinkClick r:id="rId2"/>
            <a:extLst>
              <a:ext uri="{FF2B5EF4-FFF2-40B4-BE49-F238E27FC236}">
                <a16:creationId xmlns:a16="http://schemas.microsoft.com/office/drawing/2014/main" id="{F62EE852-B994-CAD3-56BB-7699FA84C3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202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5" name="Rectangle 4" descr="Tall office building looking up">
            <a:extLst>
              <a:ext uri="{FF2B5EF4-FFF2-40B4-BE49-F238E27FC236}">
                <a16:creationId xmlns:a16="http://schemas.microsoft.com/office/drawing/2014/main" id="{083ED6C1-B896-0EE1-0EB4-70D463229E1B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2C5E802-5A33-10B1-00C1-FDD2A058D40D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28B9E23B-EC53-A54A-D68B-4DE461EA51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536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Custom Layout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5606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rgbClr val="7030A0">
              <a:alpha val="40000"/>
            </a:srgb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  <p:sp>
        <p:nvSpPr>
          <p:cNvPr id="6" name="Oval 5" descr="Tall office building looking up">
            <a:extLst>
              <a:ext uri="{FF2B5EF4-FFF2-40B4-BE49-F238E27FC236}">
                <a16:creationId xmlns:a16="http://schemas.microsoft.com/office/drawing/2014/main" id="{DD4EA124-ED41-ED8F-A0D9-A44B1A06F87D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1AD970E-C52F-C6BC-9937-32C889405FB4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0B8C96-B41F-8535-3716-1E878FEDCC6F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257809-DB42-5B9A-ECAE-338D697DCCDD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2764E1D-14C7-954C-925F-75B8EDD9107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16" name="Picture 15">
            <a:hlinkClick r:id="rId2"/>
            <a:extLst>
              <a:ext uri="{FF2B5EF4-FFF2-40B4-BE49-F238E27FC236}">
                <a16:creationId xmlns:a16="http://schemas.microsoft.com/office/drawing/2014/main" id="{82AD0F96-3697-FF35-4CA4-B06D47CB23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590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800AAB-297F-072F-EB54-1320773DC342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CC3AD9-AEB3-02EC-1CC1-2AC54487BB35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B94151-B597-BF9E-A282-F052320680B6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17149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504">
          <p15:clr>
            <a:srgbClr val="FBAE40"/>
          </p15:clr>
        </p15:guide>
        <p15:guide id="5" pos="3840">
          <p15:clr>
            <a:srgbClr val="FBAE40"/>
          </p15:clr>
        </p15:guide>
        <p15:guide id="6" orient="horz" pos="141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573ECC6-14C6-5675-355F-F3E33088BECC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58D6F0-8200-47F7-8A3C-8D72A49F60CF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FD7A81C-1120-7827-F9B5-40E3A2932699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39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08475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7ECF9BC1-9710-8066-D8F0-9A364F14DD6E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B101F1A2-2A5D-DAAD-08BC-B70C60C99436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4147B027-BA88-EC0D-B295-6CEC0B55EDC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C4C61D9-C668-CF96-8B2A-9C0A54BC0957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93781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5281028A-12C2-5C9C-4B0F-A005E8B5CA0A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B0A491FE-8686-1E36-8F8D-0053ADE3F85F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482B3B29-735C-82BF-92B5-1FD3E5F764DB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7845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893646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927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3F41645-0093-1ABA-9570-1D8070EC9D55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98CF0B3-BFB7-DA61-98B1-3EA565BD04C2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1D4E483-67D5-E854-4960-9CDF1369CAB5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5464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272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424ACC82-4D1F-BBEC-8CED-3B78CD4AAFDE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1A6161CF-7ADC-7809-147B-486701FC832E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7" name="Hexagon 6">
            <a:extLst>
              <a:ext uri="{FF2B5EF4-FFF2-40B4-BE49-F238E27FC236}">
                <a16:creationId xmlns:a16="http://schemas.microsoft.com/office/drawing/2014/main" id="{F9241FBE-9EE0-D6B5-67DF-24381A2423BB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8021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rgbClr val="C25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FF3E98C-9CC3-2BF7-BAD0-9DDDF7ACAA54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402D312-514B-7332-35D6-F379B3D8075D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54B703C-4A3A-D244-6A9D-A072DBF1B83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46644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5579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ED35F2F-8C21-5F48-2B3B-23BBD44A2261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3" name="Picture 2">
            <a:hlinkClick r:id="rId2"/>
            <a:extLst>
              <a:ext uri="{FF2B5EF4-FFF2-40B4-BE49-F238E27FC236}">
                <a16:creationId xmlns:a16="http://schemas.microsoft.com/office/drawing/2014/main" id="{FD8C6198-408D-9AE3-605C-0D30B6501C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6419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20A320-06A7-7F4F-3C09-D207765810C4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6A69585D-99AE-FA50-823D-9FD3DB0FB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813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E603573-ED16-E955-1321-B6812B9EAA50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SWE7004</a:t>
            </a:r>
            <a:r>
              <a:rPr lang="en-GB" sz="1100" b="1" noProof="0">
                <a:solidFill>
                  <a:srgbClr val="9454C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GB" sz="1100" b="1" i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8AD4BB78-2FD8-FDAD-6CAC-E0E659AEE0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</a:blip>
          <a:srcRect r="39275" b="37247"/>
          <a:stretch/>
        </p:blipFill>
        <p:spPr>
          <a:xfrm>
            <a:off x="8536478" y="4496982"/>
            <a:ext cx="3655522" cy="236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566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2529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23743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75647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79385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80785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90920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en-GB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8211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55842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37034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25428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64BC-01BF-B4A6-FCD0-9336213A6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44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2522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hyperlink" Target="https://moodle.bolton.ac.uk/course/view.php?id=23108" TargetMode="External"/><Relationship Id="rId1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33.xml"/><Relationship Id="rId20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38.xml"/><Relationship Id="rId25" Type="http://schemas.openxmlformats.org/officeDocument/2006/relationships/slideLayout" Target="../slideLayouts/slideLayout39.xml"/><Relationship Id="rId26" Type="http://schemas.openxmlformats.org/officeDocument/2006/relationships/slideLayout" Target="../slideLayouts/slideLayout40.xml"/><Relationship Id="rId27" Type="http://schemas.openxmlformats.org/officeDocument/2006/relationships/slideLayout" Target="../slideLayouts/slideLayout41.xml"/><Relationship Id="rId28" Type="http://schemas.openxmlformats.org/officeDocument/2006/relationships/slideLayout" Target="../slideLayouts/slideLayout42.xml"/><Relationship Id="rId29" Type="http://schemas.openxmlformats.org/officeDocument/2006/relationships/theme" Target="../theme/theme2.xml"/><Relationship Id="rId30" Type="http://schemas.openxmlformats.org/officeDocument/2006/relationships/hyperlink" Target="https://moodle.bolton.ac.uk/course/view.php?id=23108" TargetMode="External"/><Relationship Id="rId3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16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  <p:sldLayoutId id="214748370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A56F2-8AAA-49B3-034C-0A11337F00E3}"/>
              </a:ext>
            </a:extLst>
          </p:cNvPr>
          <p:cNvSpPr txBox="1"/>
          <p:nvPr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6" name="Picture 5">
            <a:hlinkClick r:id="rId30"/>
            <a:extLst>
              <a:ext uri="{FF2B5EF4-FFF2-40B4-BE49-F238E27FC236}">
                <a16:creationId xmlns:a16="http://schemas.microsoft.com/office/drawing/2014/main" id="{8E68A7DE-B583-DD36-413D-10F7AA7F3877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4CA3EC1-26DA-C60F-3E7B-54795CFBAC85}"/>
              </a:ext>
            </a:extLst>
          </p:cNvPr>
          <p:cNvSpPr txBox="1">
            <a:spLocks/>
          </p:cNvSpPr>
          <p:nvPr userDrawn="1"/>
        </p:nvSpPr>
        <p:spPr>
          <a:xfrm>
            <a:off x="215242" y="6389628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100" b="1" noProof="0" dirty="0">
                <a:solidFill>
                  <a:schemeClr val="accent2"/>
                </a:solidFill>
              </a:rPr>
              <a:t>COM7401</a:t>
            </a:r>
            <a:r>
              <a:rPr lang="en-GB" sz="1100" b="1" noProof="0" dirty="0">
                <a:solidFill>
                  <a:srgbClr val="9454C3"/>
                </a:solidFill>
              </a:rPr>
              <a:t> </a:t>
            </a:r>
            <a:r>
              <a:rPr lang="en-GB" sz="1100" b="1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 Methods</a:t>
            </a:r>
            <a:endParaRPr lang="en-GB" sz="1100" b="1" i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4755C-F02F-1E14-47EF-91EA16DAF6B6}"/>
              </a:ext>
            </a:extLst>
          </p:cNvPr>
          <p:cNvSpPr txBox="1"/>
          <p:nvPr userDrawn="1"/>
        </p:nvSpPr>
        <p:spPr>
          <a:xfrm>
            <a:off x="5382839" y="6433690"/>
            <a:ext cx="2288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>
                <a:solidFill>
                  <a:schemeClr val="bg1"/>
                </a:solidFill>
                <a:latin typeface="Helvetica Neue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Moodle Page</a:t>
            </a:r>
            <a:endParaRPr lang="en-GB" sz="1200">
              <a:solidFill>
                <a:schemeClr val="bg1"/>
              </a:solidFill>
              <a:latin typeface="Helvetica Neue"/>
            </a:endParaRPr>
          </a:p>
        </p:txBody>
      </p:sp>
      <p:pic>
        <p:nvPicPr>
          <p:cNvPr id="7" name="Picture 6">
            <a:hlinkClick r:id="rId30"/>
            <a:extLst>
              <a:ext uri="{FF2B5EF4-FFF2-40B4-BE49-F238E27FC236}">
                <a16:creationId xmlns:a16="http://schemas.microsoft.com/office/drawing/2014/main" id="{314EDD93-667C-6B79-9896-AB233E430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1">
            <a:alphaModFix amt="35000"/>
          </a:blip>
          <a:srcRect r="39275" b="37247"/>
          <a:stretch/>
        </p:blipFill>
        <p:spPr>
          <a:xfrm>
            <a:off x="8077200" y="4200345"/>
            <a:ext cx="4114800" cy="265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4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hyperlink" Target="https://www.vecteezy.com/vector-art/11431565-aim-achievement-business-motivation-finance-target-solution-searching-goals-and-objectives-business-grow-business-plan-goal-setting-concept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g"/><Relationship Id="rId3" Type="http://schemas.openxmlformats.org/officeDocument/2006/relationships/hyperlink" Target="https://wallpaperaccess.com/funny-science" TargetMode="External"/><Relationship Id="rId4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jpg"/><Relationship Id="rId4" Type="http://schemas.openxmlformats.org/officeDocument/2006/relationships/hyperlink" Target="http://culturefit.com/developing-2016-trends-computer-sciences-bradley-university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69164" y="5646852"/>
            <a:ext cx="3222836" cy="1168530"/>
          </a:xfrm>
        </p:spPr>
        <p:txBody>
          <a:bodyPr rtlCol="0"/>
          <a:lstStyle/>
          <a:p>
            <a:pPr rtl="0"/>
            <a:r>
              <a:rPr lang="en-GB" dirty="0"/>
              <a:t>Week 3 – Session 1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592" y="2480689"/>
            <a:ext cx="8584027" cy="1695637"/>
          </a:xfrm>
        </p:spPr>
        <p:txBody>
          <a:bodyPr rtlCol="0"/>
          <a:lstStyle/>
          <a:p>
            <a:pPr algn="ctr"/>
            <a:r>
              <a:rPr lang="en-GB" dirty="0"/>
              <a:t>COM7401 Research Methods</a:t>
            </a:r>
            <a:br>
              <a:rPr lang="en-GB" dirty="0"/>
            </a:br>
            <a:br>
              <a:rPr lang="en-GB" dirty="0"/>
            </a:br>
            <a:r>
              <a:rPr lang="en-GB" sz="4800" dirty="0"/>
              <a:t>Research Design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1CE2008D-DBCE-465F-90DA-B28A4E5251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8439" t="3605" r="12155" b="-3605"/>
          <a:stretch/>
        </p:blipFill>
        <p:spPr>
          <a:xfrm>
            <a:off x="5733416" y="624239"/>
            <a:ext cx="5855754" cy="5631571"/>
          </a:xfrm>
          <a:noFill/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737510" cy="3560763"/>
          </a:xfrm>
        </p:spPr>
        <p:txBody>
          <a:bodyPr rtlCol="0">
            <a:normAutofit/>
          </a:bodyPr>
          <a:lstStyle/>
          <a:p>
            <a:pPr rtl="0">
              <a:lnSpc>
                <a:spcPct val="140000"/>
              </a:lnSpc>
            </a:pPr>
            <a:r>
              <a:rPr lang="en-GB" sz="1800" dirty="0"/>
              <a:t>Explain the role of research design in producing valid, reliable and actionable results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Distinguish quantitative, qualitative and mixed methodologies and match them to a research question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Build the first draft of the design for your own proposal</a:t>
            </a:r>
            <a:endParaRPr lang="en-US" sz="1700" dirty="0"/>
          </a:p>
          <a:p>
            <a:pPr rtl="0">
              <a:lnSpc>
                <a:spcPct val="140000"/>
              </a:lnSpc>
            </a:pPr>
            <a:r>
              <a:rPr lang="en-GB" sz="1800" dirty="0"/>
              <a:t>Identify the ethical and governance implications of your design</a:t>
            </a:r>
            <a:endParaRPr lang="en-US" sz="17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 rtlCol="0">
            <a:normAutofit/>
          </a:bodyPr>
          <a:lstStyle/>
          <a:p>
            <a:pPr rtl="0"/>
            <a:r>
              <a:rPr lang="en-GB" sz="2600"/>
              <a:t>By the end of the session, you should be able to…</a:t>
            </a:r>
          </a:p>
        </p:txBody>
      </p:sp>
    </p:spTree>
    <p:extLst>
      <p:ext uri="{BB962C8B-B14F-4D97-AF65-F5344CB8AC3E}">
        <p14:creationId xmlns:p14="http://schemas.microsoft.com/office/powerpoint/2010/main" val="965681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40FB369-654E-689F-059B-8EDE18627C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0C1D0E0-1A33-E61C-6285-DCE942B4F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291" y="1898030"/>
            <a:ext cx="3924935" cy="1695637"/>
          </a:xfrm>
        </p:spPr>
        <p:txBody>
          <a:bodyPr>
            <a:noAutofit/>
          </a:bodyPr>
          <a:lstStyle/>
          <a:p>
            <a:r>
              <a:rPr lang="en-GB" dirty="0"/>
              <a:t>From this point on…you’re a scientific  researcher!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7336734-6E1B-86C1-1C89-0DF6BC77D0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99124" y="985096"/>
            <a:ext cx="3924934" cy="490538"/>
          </a:xfrm>
        </p:spPr>
        <p:txBody>
          <a:bodyPr/>
          <a:lstStyle/>
          <a:p>
            <a:r>
              <a:rPr lang="en-US" dirty="0"/>
              <a:t>Congratulations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C0C9F82-91C8-08F9-00DA-6E459334C7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1591" y="4816192"/>
            <a:ext cx="3222836" cy="1168530"/>
          </a:xfrm>
        </p:spPr>
        <p:txBody>
          <a:bodyPr/>
          <a:lstStyle/>
          <a:p>
            <a:r>
              <a:rPr lang="en-US" dirty="0"/>
              <a:t>Mad or otherwise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C5B108-6B9D-49AD-A45B-858019675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592" y="58338"/>
            <a:ext cx="5234966" cy="674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38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14EB77E-0C3E-FCCA-E05D-971D1F9115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29" r="-3" b="1397"/>
          <a:stretch/>
        </p:blipFill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  <a:noFill/>
        </p:spPr>
      </p:pic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008B246-BC91-8BA6-FD45-2FA834E18C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</p:spPr>
        <p:txBody>
          <a:bodyPr/>
          <a:lstStyle/>
          <a:p>
            <a:r>
              <a:rPr lang="en-US" dirty="0"/>
              <a:t>Spend 10 minutes just writing</a:t>
            </a:r>
          </a:p>
          <a:p>
            <a:r>
              <a:rPr lang="en-US" dirty="0"/>
              <a:t>Capture the design choices you made today and the ethical considerations that shaped them. Free write if you like.</a:t>
            </a:r>
          </a:p>
        </p:txBody>
      </p:sp>
      <p:sp>
        <p:nvSpPr>
          <p:cNvPr id="16" name="Title 2">
            <a:extLst>
              <a:ext uri="{FF2B5EF4-FFF2-40B4-BE49-F238E27FC236}">
                <a16:creationId xmlns:a16="http://schemas.microsoft.com/office/drawing/2014/main" id="{9109154A-ED81-F668-8C52-27D453698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</p:spPr>
        <p:txBody>
          <a:bodyPr>
            <a:normAutofit/>
          </a:bodyPr>
          <a:lstStyle/>
          <a:p>
            <a:r>
              <a:rPr lang="en-US" sz="2600" dirty="0"/>
              <a:t>Reflection &amp; Writing – 10 Mins</a:t>
            </a:r>
          </a:p>
        </p:txBody>
      </p:sp>
    </p:spTree>
    <p:extLst>
      <p:ext uri="{BB962C8B-B14F-4D97-AF65-F5344CB8AC3E}">
        <p14:creationId xmlns:p14="http://schemas.microsoft.com/office/powerpoint/2010/main" val="1891019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Placeholder 8">
            <a:extLst>
              <a:ext uri="{FF2B5EF4-FFF2-40B4-BE49-F238E27FC236}">
                <a16:creationId xmlns:a16="http://schemas.microsoft.com/office/drawing/2014/main" id="{2EC47CED-7A85-4080-9C7C-3921E48924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746" b="7746"/>
          <a:stretch/>
        </p:blipFill>
        <p:spPr>
          <a:xfrm>
            <a:off x="20" y="10"/>
            <a:ext cx="12191980" cy="6857990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  <a:noFill/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BCC5C9-D87D-55FC-86B8-0613C32EE2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154609" y="6201251"/>
            <a:ext cx="3924934" cy="490538"/>
          </a:xfrm>
        </p:spPr>
        <p:txBody>
          <a:bodyPr>
            <a:normAutofit/>
          </a:bodyPr>
          <a:lstStyle/>
          <a:p>
            <a:r>
              <a:rPr lang="en-GB" dirty="0"/>
              <a:t>Or answers ?</a:t>
            </a:r>
          </a:p>
        </p:txBody>
      </p:sp>
      <p:sp>
        <p:nvSpPr>
          <p:cNvPr id="25" name="Title 3">
            <a:extLst>
              <a:ext uri="{FF2B5EF4-FFF2-40B4-BE49-F238E27FC236}">
                <a16:creationId xmlns:a16="http://schemas.microsoft.com/office/drawing/2014/main" id="{0EB3CC0A-22A0-5855-9B31-36F6CFB0B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148" y="287293"/>
            <a:ext cx="3924934" cy="1695637"/>
          </a:xfrm>
        </p:spPr>
        <p:txBody>
          <a:bodyPr/>
          <a:lstStyle/>
          <a:p>
            <a:r>
              <a:rPr lang="en-US" dirty="0"/>
              <a:t>Questions??</a:t>
            </a:r>
          </a:p>
        </p:txBody>
      </p:sp>
    </p:spTree>
    <p:extLst>
      <p:ext uri="{BB962C8B-B14F-4D97-AF65-F5344CB8AC3E}">
        <p14:creationId xmlns:p14="http://schemas.microsoft.com/office/powerpoint/2010/main" val="2793046589"/>
      </p:ext>
    </p:extLst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Where we are in the portfolio</a:t>
            </a:r>
          </a:p>
        </p:txBody>
      </p:sp>
      <p:sp>
        <p:nvSpPr>
          <p:cNvPr id="4" name="Pentagon 3"/>
          <p:cNvSpPr/>
          <p:nvPr/>
        </p:nvSpPr>
        <p:spPr>
          <a:xfrm>
            <a:off x="822960" y="1828800"/>
            <a:ext cx="2029967" cy="1005840"/>
          </a:xfrm>
          <a:prstGeom prst="homePlate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Research question
(Week 2)</a:t>
            </a:r>
          </a:p>
        </p:txBody>
      </p:sp>
      <p:sp>
        <p:nvSpPr>
          <p:cNvPr id="5" name="Chevron 4"/>
          <p:cNvSpPr/>
          <p:nvPr/>
        </p:nvSpPr>
        <p:spPr>
          <a:xfrm>
            <a:off x="2944368" y="1828800"/>
            <a:ext cx="2029967" cy="1005840"/>
          </a:xfrm>
          <a:prstGeom prst="chevron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Literature review
(Week 2)</a:t>
            </a:r>
          </a:p>
        </p:txBody>
      </p:sp>
      <p:sp>
        <p:nvSpPr>
          <p:cNvPr id="6" name="Chevron 5"/>
          <p:cNvSpPr/>
          <p:nvPr/>
        </p:nvSpPr>
        <p:spPr>
          <a:xfrm>
            <a:off x="5065776" y="1828800"/>
            <a:ext cx="2029967" cy="1005840"/>
          </a:xfrm>
          <a:prstGeom prst="chevron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Research design
(today)</a:t>
            </a:r>
          </a:p>
        </p:txBody>
      </p:sp>
      <p:sp>
        <p:nvSpPr>
          <p:cNvPr id="7" name="Chevron 6"/>
          <p:cNvSpPr/>
          <p:nvPr/>
        </p:nvSpPr>
        <p:spPr>
          <a:xfrm>
            <a:off x="7187183" y="1828800"/>
            <a:ext cx="2029967" cy="1005840"/>
          </a:xfrm>
          <a:prstGeom prst="chevron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Data collection
(Week 3, Session 2)</a:t>
            </a:r>
          </a:p>
        </p:txBody>
      </p:sp>
      <p:sp>
        <p:nvSpPr>
          <p:cNvPr id="8" name="Chevron 7"/>
          <p:cNvSpPr/>
          <p:nvPr/>
        </p:nvSpPr>
        <p:spPr>
          <a:xfrm>
            <a:off x="9308592" y="1828800"/>
            <a:ext cx="2029967" cy="1005840"/>
          </a:xfrm>
          <a:prstGeom prst="chevron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Analysis
(Week 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A3B70"/>
                </a:solidFill>
              </a:rPr>
              <a:t>Have to hand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10515600" cy="2011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Your Funnel output and your Literature Review start from Week 2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Your completed Ethics Self-Assessment answers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000" b="0" i="0">
                <a:solidFill>
                  <a:srgbClr val="26324A"/>
                </a:solidFill>
              </a:rPr>
              <a:t>Your Stance Card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4864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Today builds the skeleton of your Methodology section (about 900 words).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4864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What is research design?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34747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A structured plan for collecting, measuring and analysing the data you need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The blueprint that links your question, your stance and your methods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It makes sure the research problem is investigated thoroughly and logically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In computing, complex problems need well-thought-out designs to produce reliable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39496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Today: designing the study. Next session: sampling and data collection.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39496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Four purposes of a study: RIDA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2468880" cy="30175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2468880" cy="64008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</a:rPr>
              <a:t>Recreate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2377440" cy="22859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324A"/>
                </a:solidFill>
              </a:rPr>
              <a:t>Repeat an existing study or system to see whether the result holds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828800"/>
            <a:ext cx="2468880" cy="301752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</a:rPr>
              <a:t>Improve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39" y="2514600"/>
            <a:ext cx="2377440" cy="22859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324A"/>
                </a:solidFill>
              </a:rPr>
              <a:t>Change something and measure whether it is better (plan, do, study, act)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828800"/>
            <a:ext cx="2468880" cy="301752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468880" cy="64008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</a:rPr>
              <a:t>Disprove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514600"/>
            <a:ext cx="2377440" cy="22859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324A"/>
                </a:solidFill>
              </a:rPr>
              <a:t>Try to show that a claim or an assumption is false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1828800"/>
            <a:ext cx="2468880" cy="30175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78240" y="1828800"/>
            <a:ext cx="2468880" cy="640080"/>
          </a:xfrm>
          <a:prstGeom prst="rect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</a:rPr>
              <a:t>Approve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2514600"/>
            <a:ext cx="2377440" cy="22859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6324A"/>
                </a:solidFill>
              </a:rPr>
              <a:t>Test whether something meets a standard so it can be accepted or signed off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2120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Which of R, I, D or A is closest to your study?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2120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Validity and reliability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5120640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12064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Validity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5029200" cy="96011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i="0">
                <a:solidFill>
                  <a:srgbClr val="26324A"/>
                </a:solidFill>
              </a:rPr>
              <a:t>Does the study measure what it claims to measure?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783080"/>
            <a:ext cx="5120640" cy="15544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783080"/>
            <a:ext cx="512064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Reliability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5029200" cy="96011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 i="0">
                <a:solidFill>
                  <a:srgbClr val="26324A"/>
                </a:solidFill>
              </a:rPr>
              <a:t>Would repeating the study give the same result?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A3B70"/>
                </a:solidFill>
              </a:rPr>
              <a:t>What poor design looks 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10515600" cy="13716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Computer science: an algorithm is tested on one narrow dataset, so its performance is overestimated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800" b="0" i="0">
                <a:solidFill>
                  <a:srgbClr val="26324A"/>
                </a:solidFill>
              </a:rPr>
              <a:t>Cybersecurity: a small, unrepresentative sample of incidents misses critical threats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4864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Good design also allows replication: other researchers can repeat what you did.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4864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Four common research designs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5166360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16636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Experimental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5074920" cy="14630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Manipulates a variable to test cause and effect, usually with a control group.</a:t>
            </a:r>
          </a:p>
          <a:p>
            <a:pPr algn="l">
              <a:spcAft>
                <a:spcPts val="500"/>
              </a:spcAft>
            </a:pPr>
            <a:r>
              <a:rPr sz="1700" b="0" i="1">
                <a:solidFill>
                  <a:srgbClr val="2C599D"/>
                </a:solidFill>
              </a:rPr>
              <a:t>CS: test a new algorithm against the current 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783080"/>
            <a:ext cx="5166360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783080"/>
            <a:ext cx="516636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Comparative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331720"/>
            <a:ext cx="5074920" cy="14630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Compares two or more groups, cases or tools.</a:t>
            </a:r>
          </a:p>
          <a:p>
            <a:pPr algn="l">
              <a:spcAft>
                <a:spcPts val="500"/>
              </a:spcAft>
            </a:pPr>
            <a:r>
              <a:rPr sz="1700" b="0" i="1">
                <a:solidFill>
                  <a:srgbClr val="2C599D"/>
                </a:solidFill>
              </a:rPr>
              <a:t>CY: compare encryption algorithms for performance and security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977639"/>
            <a:ext cx="5166360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5C8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977639"/>
            <a:ext cx="5166360" cy="502920"/>
          </a:xfrm>
          <a:prstGeom prst="rect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Correlational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26279"/>
            <a:ext cx="5074920" cy="14630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Examines the relationship between variables without manipulating them.</a:t>
            </a:r>
          </a:p>
          <a:p>
            <a:pPr algn="l">
              <a:spcAft>
                <a:spcPts val="500"/>
              </a:spcAft>
            </a:pPr>
            <a:r>
              <a:rPr sz="1700" b="0" i="1">
                <a:solidFill>
                  <a:srgbClr val="2C599D"/>
                </a:solidFill>
              </a:rPr>
              <a:t>CY: training hours and the number of security breaches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977639"/>
            <a:ext cx="5166360" cy="205740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3977639"/>
            <a:ext cx="516636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Case 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526279"/>
            <a:ext cx="5074920" cy="146303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In-depth study of one case in its real-life context.</a:t>
            </a:r>
          </a:p>
          <a:p>
            <a:pPr algn="l">
              <a:spcAft>
                <a:spcPts val="500"/>
              </a:spcAft>
            </a:pPr>
            <a:r>
              <a:rPr sz="1700" b="0" i="1">
                <a:solidFill>
                  <a:srgbClr val="2C599D"/>
                </a:solidFill>
              </a:rPr>
              <a:t>CS: how a successful open-source project was developed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Matching design to question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2880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286000"/>
                <a:gridCol w="457200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If your question asks…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Consider…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Typical wording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Does X cause or improve Y?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Experimental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"What is the effect of X on Y?"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How does A differ from B?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Comparative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"How do A and B compare on…?"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Is X related to Y?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Correlational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"What is the relationship between X and Y?"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26324A"/>
                          </a:solidFill>
                        </a:rPr>
                        <a:t>What happened here, and why?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Case study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6324A"/>
                          </a:solidFill>
                        </a:rPr>
                        <a:t>"How and why did… in this case?"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" y="52120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Designs can be combined. Your stance and your question decide, not convenience.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2120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The three methodologies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3383280" cy="41605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338328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Quantitative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3291840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Structured methods: surveys, experiments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Statistical analysis to test hypotheses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Data: surveys, structured interviews, experiments, existing data</a:t>
            </a:r>
          </a:p>
          <a:p>
            <a:pPr algn="l">
              <a:spcAft>
                <a:spcPts val="500"/>
              </a:spcAft>
            </a:pPr>
            <a:r>
              <a:rPr sz="1700" b="0" i="1">
                <a:solidFill>
                  <a:srgbClr val="2C599D"/>
                </a:solidFill>
              </a:rPr>
              <a:t>CS: measure algorithm efficiency using time and space complexity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783080"/>
            <a:ext cx="3383280" cy="416052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783080"/>
            <a:ext cx="338328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Qualitative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331720"/>
            <a:ext cx="3291840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Unstructured or semi-structured methods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Focus on meanings and experiences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Data: open-ended interviews, focus groups, observation</a:t>
            </a:r>
          </a:p>
          <a:p>
            <a:pPr algn="l">
              <a:spcAft>
                <a:spcPts val="500"/>
              </a:spcAft>
            </a:pPr>
            <a:r>
              <a:rPr sz="1700" b="0" i="1">
                <a:solidFill>
                  <a:srgbClr val="2C599D"/>
                </a:solidFill>
              </a:rPr>
              <a:t>CY: interview IT professionals about the challenges of implementing security protocols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383280" cy="416052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783080"/>
            <a:ext cx="3383280" cy="502920"/>
          </a:xfrm>
          <a:prstGeom prst="rect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Mixed methods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331720"/>
            <a:ext cx="3291840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Combines quantitative and qualitative approaches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The strengths of one balance the weaknesses of the other</a:t>
            </a:r>
          </a:p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Gives a more complete understanding</a:t>
            </a:r>
          </a:p>
          <a:p>
            <a:pPr algn="l">
              <a:spcAft>
                <a:spcPts val="500"/>
              </a:spcAft>
            </a:pPr>
            <a:r>
              <a:rPr sz="1700" b="0" i="1">
                <a:solidFill>
                  <a:srgbClr val="2C599D"/>
                </a:solidFill>
              </a:rPr>
              <a:t>CY: analyse breach statistics and gather feedback from affected organisations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Ways to mix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5166360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166360" cy="45720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Explanatory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507492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6324A"/>
                </a:solidFill>
              </a:rPr>
              <a:t>Numbers first, then explain them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971800"/>
            <a:ext cx="1417320" cy="502920"/>
          </a:xfrm>
          <a:prstGeom prst="round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QUAN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14600" y="3081528"/>
            <a:ext cx="411480" cy="274320"/>
          </a:xfrm>
          <a:prstGeom prst="rightArrow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7520" y="2971800"/>
            <a:ext cx="1417320" cy="502920"/>
          </a:xfrm>
          <a:prstGeom prst="roundRect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qual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783080"/>
            <a:ext cx="5166360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783080"/>
            <a:ext cx="5166360" cy="45720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Exploratory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86000"/>
            <a:ext cx="507492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6324A"/>
                </a:solidFill>
              </a:rPr>
              <a:t>Explore first, then measure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971800"/>
            <a:ext cx="1417320" cy="502920"/>
          </a:xfrm>
          <a:prstGeom prst="round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QUAL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63840" y="3081528"/>
            <a:ext cx="411480" cy="274320"/>
          </a:xfrm>
          <a:prstGeom prst="rightArrow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66760" y="2971800"/>
            <a:ext cx="1417320" cy="502920"/>
          </a:xfrm>
          <a:prstGeom prst="roundRect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quan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931920"/>
            <a:ext cx="5166360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931920"/>
            <a:ext cx="5166360" cy="45720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Triangulation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34840"/>
            <a:ext cx="507492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6324A"/>
                </a:solidFill>
              </a:rPr>
              <a:t>Collect both at the same time and compare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5120640"/>
            <a:ext cx="1417320" cy="502920"/>
          </a:xfrm>
          <a:prstGeom prst="round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QUAN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5120640"/>
            <a:ext cx="1417320" cy="502920"/>
          </a:xfrm>
          <a:prstGeom prst="round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QUAL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5166359"/>
            <a:ext cx="594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11224E"/>
                </a:solidFill>
              </a:rPr>
              <a:t>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931920"/>
            <a:ext cx="5166360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931920"/>
            <a:ext cx="5166360" cy="45720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Embedded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434840"/>
            <a:ext cx="5074920" cy="1463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6324A"/>
                </a:solidFill>
              </a:rPr>
              <a:t>One type of data sits inside a larger design of the other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5074920"/>
            <a:ext cx="3429000" cy="685800"/>
          </a:xfrm>
          <a:prstGeom prst="round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QUAN design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5321807"/>
            <a:ext cx="1417320" cy="502920"/>
          </a:xfrm>
          <a:prstGeom prst="roundRect">
            <a:avLst/>
          </a:prstGeom>
          <a:solidFill>
            <a:srgbClr val="5C8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</a:rPr>
              <a:t>qual inside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2C599D"/>
                </a:solidFill>
              </a:rPr>
              <a:t>Choose a pattern only if your question needs both kinds of evidence.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Choosing the right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37360"/>
            <a:ext cx="8595360" cy="73152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Start with your research question: it decides whether numbers, meanings or both are needed.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109728" cy="7315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697480"/>
            <a:ext cx="3383280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97480"/>
            <a:ext cx="338328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Quantitative when…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3291840" cy="1417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You are measuring variables and testing hypotheses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697480"/>
            <a:ext cx="3383280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697480"/>
            <a:ext cx="338328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Qualitative when…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3246120"/>
            <a:ext cx="3291840" cy="1417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You are exploring concepts and understanding meanings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2697480"/>
            <a:ext cx="3383280" cy="201168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2697480"/>
            <a:ext cx="3383280" cy="502920"/>
          </a:xfrm>
          <a:prstGeom prst="rect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Mixed when…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246120"/>
            <a:ext cx="3291840" cy="1417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You need both numerical measurement and in-depth understanding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A3B70"/>
                </a:solidFill>
              </a:rPr>
              <a:t>Then check: </a:t>
            </a:r>
            <a:r>
              <a:rPr sz="1800" b="0" i="0">
                <a:solidFill>
                  <a:srgbClr val="26324A"/>
                </a:solidFill>
              </a:rPr>
              <a:t>resources and constraints (time, access to data, expertise) and that your choice fits your stance.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Ethics is part of the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516636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5166360" cy="45720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Participants and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5074920" cy="11430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Who is involved? Are any of them vulnerable? How will consent be gained?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783080"/>
            <a:ext cx="516636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1783080"/>
            <a:ext cx="5166360" cy="4572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Risk of harm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286000"/>
            <a:ext cx="5074920" cy="11430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Could the study harm participants, organisations or you? How will you reduce that risk?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611880"/>
            <a:ext cx="516636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611880"/>
            <a:ext cx="5166360" cy="45720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Data and privacy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14800"/>
            <a:ext cx="5074920" cy="11430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What personal data do you need? How will it be stored, anonymised and deleted?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611880"/>
            <a:ext cx="5166360" cy="1691640"/>
          </a:xfrm>
          <a:prstGeom prst="rect">
            <a:avLst/>
          </a:prstGeom>
          <a:solidFill>
            <a:srgbClr val="FFFFFF"/>
          </a:solidFill>
          <a:ln w="15875">
            <a:solidFill>
              <a:srgbClr val="2E8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3611880"/>
            <a:ext cx="5166360" cy="457200"/>
          </a:xfrm>
          <a:prstGeom prst="rect">
            <a:avLst/>
          </a:prstGeom>
          <a:solidFill>
            <a:srgbClr val="2E8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</a:rPr>
              <a:t>Approval and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114800"/>
            <a:ext cx="5074920" cy="11430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6324A"/>
                </a:solidFill>
              </a:rPr>
              <a:t>Which approval do you need, and who must say yes before any data is collected?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4864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1224E"/>
                </a:solidFill>
              </a:rPr>
              <a:t>Use your Self-Assessment answers. Be specific to your proposal: generic ethics text scores badly.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4864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Three worked designs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737360"/>
          <a:ext cx="10515598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124"/>
                <a:gridCol w="3082158"/>
                <a:gridCol w="3082158"/>
                <a:gridCol w="3082158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Cybersecurity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Data analytics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Computer science</a:t>
                      </a:r>
                    </a:p>
                  </a:txBody>
                  <a:tcPr marL="73152" marR="73152" marT="36576" marB="36576" anchor="ctr">
                    <a:solidFill>
                      <a:srgbClr val="1A3B7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324A"/>
                          </a:solidFill>
                        </a:rPr>
                        <a:t>Problem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Does employee training reduce phishing attacks?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Predict customer lifetime value with machine learning models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Improve the efficiency of distributed computing systems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324A"/>
                          </a:solidFill>
                        </a:rPr>
                        <a:t>Philosophy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Pragmatism (mixed methods)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Positivism (quantitative)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Positivism (quantitative)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324A"/>
                          </a:solidFill>
                        </a:rPr>
                        <a:t>Design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Incidents before and after training (quan) plus interviews on awareness (qual)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Experimental comparison of different ML algorithms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Experimental testing of new algorithms in simulated environments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324A"/>
                          </a:solidFill>
                        </a:rPr>
                        <a:t>Data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Incident reports, surveys, interviews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Historical sales and customer interaction data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Performance metrics such as latency and throughput</a:t>
                      </a:r>
                    </a:p>
                  </a:txBody>
                  <a:tcPr marL="73152" marR="73152" marT="36576" marB="36576" anchor="ctr">
                    <a:solidFill>
                      <a:srgbClr val="E4ECF8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6324A"/>
                          </a:solidFill>
                        </a:rPr>
                        <a:t>Evaluation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Statistical analysis of incident reduction; thematic analysis of interviews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RMSE, MAE and cross-validation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6324A"/>
                          </a:solidFill>
                        </a:rPr>
                        <a:t>Statistical comparison with existing algorithms; scalability analysis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Your design, step by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3383280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1A3B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3383280" cy="502920"/>
          </a:xfrm>
          <a:prstGeom prst="rect">
            <a:avLst/>
          </a:prstGeom>
          <a:solidFill>
            <a:srgbClr val="1A3B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Frame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3291840" cy="25145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1. Define the problem</a:t>
            </a:r>
          </a:p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2. Review the literature</a:t>
            </a:r>
          </a:p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3. Formulate questions</a:t>
            </a:r>
          </a:p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4. Choose a philosophy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783080"/>
            <a:ext cx="3383280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2C59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783080"/>
            <a:ext cx="3383280" cy="502920"/>
          </a:xfrm>
          <a:prstGeom prst="rect">
            <a:avLst/>
          </a:prstGeom>
          <a:solidFill>
            <a:srgbClr val="2C5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Design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331720"/>
            <a:ext cx="3291840" cy="25145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5. Select a design</a:t>
            </a:r>
          </a:p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6. Determine methodology</a:t>
            </a:r>
          </a:p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7. Plan data collection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783080"/>
            <a:ext cx="3383280" cy="3108960"/>
          </a:xfrm>
          <a:prstGeom prst="rect">
            <a:avLst/>
          </a:prstGeom>
          <a:solidFill>
            <a:srgbClr val="FFFFFF"/>
          </a:solidFill>
          <a:ln w="15875">
            <a:solidFill>
              <a:srgbClr val="FA6F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1783080"/>
            <a:ext cx="3383280" cy="50292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</a:rPr>
              <a:t>Protect and test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331720"/>
            <a:ext cx="3291840" cy="251459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8. Address ethics</a:t>
            </a:r>
          </a:p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9. Plan data analysis</a:t>
            </a:r>
          </a:p>
          <a:p>
            <a:pPr algn="l">
              <a:spcAft>
                <a:spcPts val="500"/>
              </a:spcAft>
            </a:pPr>
            <a:r>
              <a:rPr sz="1900" b="0" i="0">
                <a:solidFill>
                  <a:srgbClr val="26324A"/>
                </a:solidFill>
              </a:rPr>
              <a:t>10. Validate the 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21208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For your proposal, work through steps 1 to 10 of the Research Design Framework.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21208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Main task: Research Design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Work through the stepwise framework for your own proposal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Start from your Funnel question and your literature start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Write one or two lines per step, specific to your study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Finish with your design type, your quant / qual / mixed choice and why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Note the ethical considerations that shape your choices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864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Flag one sticking point as you go. We will return to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864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400"/>
              <a:t>Next: sampling and data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566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Later today: choosing and justifying a data collection method for your study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Bring your finished design framework: the next task builds directly on it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2200" b="0" i="0">
                <a:solidFill>
                  <a:srgbClr val="26324A"/>
                </a:solidFill>
              </a:rPr>
              <a:t>Read the sampling and data collection primer before or after the session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486400"/>
            <a:ext cx="8595360" cy="685800"/>
          </a:xfrm>
          <a:prstGeom prst="rect">
            <a:avLst/>
          </a:prstGeom>
          <a:solidFill>
            <a:srgbClr val="E4E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73152" tIns="36576" bIns="36576"/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1224E"/>
                </a:solidFill>
              </a:rPr>
              <a:t>Zoom 3 later this week: tools for analysis, referencing and AI.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486400"/>
            <a:ext cx="109728" cy="685800"/>
          </a:xfrm>
          <a:prstGeom prst="rect">
            <a:avLst/>
          </a:prstGeom>
          <a:solidFill>
            <a:srgbClr val="FA6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2.xml><?xml version="1.0" encoding="utf-8"?>
<a:theme xmlns:a="http://schemas.openxmlformats.org/drawingml/2006/main" name="COM7302 - Lecture Notes Template 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OM7302 - Lecture Notes Template .potx" id="{F4A8A639-34D0-4C88-9902-803DFD3E5723}" vid="{36ADB6EE-DFE0-4DC5-A99F-4E2E0D56D73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89f7b614-c64b-4738-997e-aac1eab42931" xsi:nil="true"/>
    <_activity xmlns="89f7b614-c64b-4738-997e-aac1eab4293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7C986513D50A4C9143007A1A38EF2E" ma:contentTypeVersion="18" ma:contentTypeDescription="Create a new document." ma:contentTypeScope="" ma:versionID="21e1fbfe0a6ca7a30510918adfd9cbd6">
  <xsd:schema xmlns:xsd="http://www.w3.org/2001/XMLSchema" xmlns:xs="http://www.w3.org/2001/XMLSchema" xmlns:p="http://schemas.microsoft.com/office/2006/metadata/properties" xmlns:ns3="d1f5d9b0-cdb0-4c3a-b058-450b9d105468" xmlns:ns4="89f7b614-c64b-4738-997e-aac1eab42931" targetNamespace="http://schemas.microsoft.com/office/2006/metadata/properties" ma:root="true" ma:fieldsID="573784e5b50c325d55c9015ced130b1b" ns3:_="" ns4:_="">
    <xsd:import namespace="d1f5d9b0-cdb0-4c3a-b058-450b9d105468"/>
    <xsd:import namespace="89f7b614-c64b-4738-997e-aac1eab4293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f5d9b0-cdb0-4c3a-b058-450b9d10546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7b614-c64b-4738-997e-aac1eab429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d1f5d9b0-cdb0-4c3a-b058-450b9d105468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89f7b614-c64b-4738-997e-aac1eab42931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E790DD2-A406-4046-8BA6-E72EEDCE07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f5d9b0-cdb0-4c3a-b058-450b9d105468"/>
    <ds:schemaRef ds:uri="89f7b614-c64b-4738-997e-aac1eab429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COM7302 - Lecture Notes Template </Template>
  <TotalTime>2134</TotalTime>
  <Words>2656</Words>
  <Application>Microsoft Office PowerPoint</Application>
  <PresentationFormat>Widescreen</PresentationFormat>
  <Paragraphs>225</Paragraphs>
  <Slides>28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Aptos</vt:lpstr>
      <vt:lpstr>Arial</vt:lpstr>
      <vt:lpstr>Biome Light</vt:lpstr>
      <vt:lpstr>Calibri</vt:lpstr>
      <vt:lpstr>Calibri Light</vt:lpstr>
      <vt:lpstr>Helvetica Neue</vt:lpstr>
      <vt:lpstr>Times New Roman</vt:lpstr>
      <vt:lpstr>Wingdings</vt:lpstr>
      <vt:lpstr>Office Theme</vt:lpstr>
      <vt:lpstr>COM7302 - Lecture Notes Template </vt:lpstr>
      <vt:lpstr>Research Methods  Research Philosophy and Paradigms</vt:lpstr>
      <vt:lpstr>By the end of the session, you should be able to…</vt:lpstr>
      <vt:lpstr>What’s it all about</vt:lpstr>
      <vt:lpstr>All the resources will be posted to the Moodle page </vt:lpstr>
      <vt:lpstr>What is a research problem</vt:lpstr>
      <vt:lpstr>What is a Research Problem?</vt:lpstr>
      <vt:lpstr>Research in CS, DA, and CY </vt:lpstr>
      <vt:lpstr>Interdisciplinary Nature of Research</vt:lpstr>
      <vt:lpstr> </vt:lpstr>
      <vt:lpstr>There’s more than one type of question?</vt:lpstr>
      <vt:lpstr>Yup, There sure is!</vt:lpstr>
      <vt:lpstr>Types of Research Questions </vt:lpstr>
      <vt:lpstr>A question of Philosophy</vt:lpstr>
      <vt:lpstr>Recap from last week?  </vt:lpstr>
      <vt:lpstr>Ontology and Research Question Formulation</vt:lpstr>
      <vt:lpstr>Epistemology and Research Questions</vt:lpstr>
      <vt:lpstr>Axiology and the Ethical Dimension of Research Questions</vt:lpstr>
      <vt:lpstr>Doxology and Beliefs Guiding Research</vt:lpstr>
      <vt:lpstr>Constructing Effective Research Questions – A Checklist </vt:lpstr>
      <vt:lpstr>Examples of Well-Constructed Research Questions</vt:lpstr>
      <vt:lpstr>The Funnel Stratagem </vt:lpstr>
      <vt:lpstr>The Funnel Stratagem</vt:lpstr>
      <vt:lpstr>Applying The Funnel Stratagem</vt:lpstr>
      <vt:lpstr>PowerPoint Presentation</vt:lpstr>
      <vt:lpstr>Summary of Key Concepts</vt:lpstr>
      <vt:lpstr>From this point on…you’re a scientific  researcher!</vt:lpstr>
      <vt:lpstr>Reflection &amp; Writing – 10 Mins</vt:lpstr>
      <vt:lpstr>Questions??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COM7302 – Research Methods  Research Philosophy and Paradigms</dc:title>
  <dc:creator>Tighe, Bren</dc:creator>
  <cp:lastModifiedBy>Tighe, Bren</cp:lastModifiedBy>
  <cp:revision>7</cp:revision>
  <dcterms:created xsi:type="dcterms:W3CDTF">2024-09-04T09:10:35Z</dcterms:created>
  <dcterms:modified xsi:type="dcterms:W3CDTF">2026-09-24T11:26:09Z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0x010100D17C986513D50A4C9143007A1A38EF2E</vt:lpwstr>
  </property>
</Properties>
</file>