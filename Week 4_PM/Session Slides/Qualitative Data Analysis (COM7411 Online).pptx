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34"/>
  </p:notesMasterIdLst>
  <p:handoutMasterIdLst>
    <p:handoutMasterId r:id="rId35"/>
  </p:handoutMasterIdLst>
  <p:sldIdLst>
    <p:sldId id="324" r:id="rId6"/>
    <p:sldId id="354" r:id="rId7"/>
    <p:sldId id="417" r:id="rId29"/>
    <p:sldId id="418" r:id="rId26"/>
    <p:sldId id="419" r:id="rId23"/>
    <p:sldId id="420" r:id="rId22"/>
    <p:sldId id="421" r:id="rId21"/>
    <p:sldId id="422" r:id="rId20"/>
    <p:sldId id="423" r:id="rId19"/>
    <p:sldId id="424" r:id="rId18"/>
    <p:sldId id="425" r:id="rId17"/>
    <p:sldId id="426" r:id="rId16"/>
    <p:sldId id="427" r:id="rId15"/>
    <p:sldId id="428" r:id="rId12"/>
    <p:sldId id="429" r:id="rId10"/>
    <p:sldId id="430" r:id="rId9"/>
    <p:sldId id="431" r:id="rId45"/>
    <p:sldId id="432" r:id="rId46"/>
    <p:sldId id="433" r:id="rId47"/>
    <p:sldId id="339" r:id="rId31"/>
    <p:sldId id="382" r:id="rId32"/>
    <p:sldId id="383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F2B7"/>
    <a:srgbClr val="AAAAAA"/>
    <a:srgbClr val="44546A"/>
    <a:srgbClr val="0F4761"/>
    <a:srgbClr val="FEA82D"/>
    <a:srgbClr val="D9F7DC"/>
    <a:srgbClr val="C25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81919" autoAdjust="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9" Type="http://schemas.openxmlformats.org/officeDocument/2006/relationships/slide" Target="slides/slide33.xml"/><Relationship Id="rId10" Type="http://schemas.openxmlformats.org/officeDocument/2006/relationships/slide" Target="slides/slide32.xml"/><Relationship Id="rId12" Type="http://schemas.openxmlformats.org/officeDocument/2006/relationships/slide" Target="slides/slide31.xml"/><Relationship Id="rId15" Type="http://schemas.openxmlformats.org/officeDocument/2006/relationships/slide" Target="slides/slide30.xml"/><Relationship Id="rId16" Type="http://schemas.openxmlformats.org/officeDocument/2006/relationships/slide" Target="slides/slide29.xml"/><Relationship Id="rId17" Type="http://schemas.openxmlformats.org/officeDocument/2006/relationships/slide" Target="slides/slide28.xml"/><Relationship Id="rId18" Type="http://schemas.openxmlformats.org/officeDocument/2006/relationships/slide" Target="slides/slide27.xml"/><Relationship Id="rId19" Type="http://schemas.openxmlformats.org/officeDocument/2006/relationships/slide" Target="slides/slide26.xml"/><Relationship Id="rId20" Type="http://schemas.openxmlformats.org/officeDocument/2006/relationships/slide" Target="slides/slide25.xml"/><Relationship Id="rId21" Type="http://schemas.openxmlformats.org/officeDocument/2006/relationships/slide" Target="slides/slide24.xml"/><Relationship Id="rId22" Type="http://schemas.openxmlformats.org/officeDocument/2006/relationships/slide" Target="slides/slide23.xml"/><Relationship Id="rId23" Type="http://schemas.openxmlformats.org/officeDocument/2006/relationships/slide" Target="slides/slide22.xml"/><Relationship Id="rId26" Type="http://schemas.openxmlformats.org/officeDocument/2006/relationships/slide" Target="slides/slide21.xml"/><Relationship Id="rId29" Type="http://schemas.openxmlformats.org/officeDocument/2006/relationships/slide" Target="slides/slide20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04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2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2C5E802-5A33-10B1-00C1-FDD2A058D40D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3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714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47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3781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84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936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2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4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6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579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1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8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6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2529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374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564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7938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078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092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584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0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54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52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moodle.bolton.ac.uk/course/view.php?id=23108" TargetMode="Externa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2.xml"/><Relationship Id="rId29" Type="http://schemas.openxmlformats.org/officeDocument/2006/relationships/theme" Target="../theme/theme2.xml"/><Relationship Id="rId30" Type="http://schemas.openxmlformats.org/officeDocument/2006/relationships/hyperlink" Target="https://moodle.bolton.ac.uk/course/view.php?id=23108" TargetMode="External"/><Relationship Id="rId3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16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0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CA3EC1-26DA-C60F-3E7B-54795CFBAC8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0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vecteezy.com/vector-art/11431565-aim-achievement-business-motivation-finance-target-solution-searching-goals-and-objectives-business-grow-business-plan-goal-setting-concep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hyperlink" Target="https://wallpaperaccess.com/funny-science" TargetMode="External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hyperlink" Target="http://culturefit.com/developing-2016-trends-computer-sciences-bradley-universit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Week 4 – Session 2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COM7411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Qualitative Data Analysis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39" t="3605" r="12155" b="-3605"/>
          <a:stretch/>
        </p:blipFill>
        <p:spPr>
          <a:xfrm>
            <a:off x="5733416" y="624239"/>
            <a:ext cx="5855754" cy="5631571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37510" cy="3560763"/>
          </a:xfrm>
        </p:spPr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1800" dirty="0"/>
              <a:t>Explain what qualitative data analysis is and how it differs from quantitative analysis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Apply thematic analysis to a short extract: chunk, code, form concepts and categories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Judge how thematic analysis does or does not fit your own design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Submit a report that is ready, with your declaration of software and AI use</a:t>
            </a:r>
            <a:endParaRPr lang="en-US" sz="1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 rtlCol="0">
            <a:normAutofit/>
          </a:bodyPr>
          <a:lstStyle/>
          <a:p>
            <a:pPr rtl="0"/>
            <a:r>
              <a:rPr lang="en-GB" sz="260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96568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91" y="1898030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9124" y="985096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1591" y="4816192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C5B108-6B9D-49AD-A45B-858019675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92" y="58338"/>
            <a:ext cx="5234966" cy="67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4EB77E-0C3E-FCCA-E05D-971D1F91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9" r="-3" b="1397"/>
          <a:stretch/>
        </p:blipFill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  <a:noFill/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8B246-BC91-8BA6-FD45-2FA834E18C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</p:spPr>
        <p:txBody>
          <a:bodyPr/>
          <a:lstStyle/>
          <a:p>
            <a:r>
              <a:rPr lang="en-US" dirty="0"/>
              <a:t>Spend 10 minutes just writing</a:t>
            </a:r>
          </a:p>
          <a:p>
            <a:r>
              <a:rPr lang="en-US" dirty="0"/>
              <a:t>Reflect on what thematic analysis showed you, where it fits or does not fit your design, and how you would show your analysis is rigorous. Free write if you like.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9109154A-ED81-F668-8C52-27D45369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>
            <a:normAutofit/>
          </a:bodyPr>
          <a:lstStyle/>
          <a:p>
            <a:r>
              <a:rPr lang="en-US" sz="2600" dirty="0"/>
              <a:t>Reflection &amp; Writing – 10 Mins</a:t>
            </a:r>
          </a:p>
        </p:txBody>
      </p:sp>
    </p:spTree>
    <p:extLst>
      <p:ext uri="{BB962C8B-B14F-4D97-AF65-F5344CB8AC3E}">
        <p14:creationId xmlns:p14="http://schemas.microsoft.com/office/powerpoint/2010/main" val="189101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46" b="7746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CC5C9-D87D-55FC-86B8-0613C32EE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4609" y="6201251"/>
            <a:ext cx="3924934" cy="490538"/>
          </a:xfrm>
        </p:spPr>
        <p:txBody>
          <a:bodyPr>
            <a:normAutofit/>
          </a:bodyPr>
          <a:lstStyle/>
          <a:p>
            <a:r>
              <a:rPr lang="en-GB" dirty="0"/>
              <a:t>Or answers ?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EB3CC0A-22A0-5855-9B31-36F6CFB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48" y="287293"/>
            <a:ext cx="3924934" cy="1695637"/>
          </a:xfrm>
        </p:spPr>
        <p:txBody>
          <a:bodyPr/>
          <a:lstStyle/>
          <a:p>
            <a:r>
              <a:rPr lang="en-US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9304658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Today</a:t>
            </a:r>
          </a:p>
        </p:txBody>
      </p:sp>
      <p:sp>
        <p:nvSpPr>
          <p:cNvPr id="4" name="Pentagon 3"/>
          <p:cNvSpPr/>
          <p:nvPr/>
        </p:nvSpPr>
        <p:spPr>
          <a:xfrm>
            <a:off x="822960" y="1828800"/>
            <a:ext cx="2560320" cy="914400"/>
          </a:xfrm>
          <a:prstGeom prst="homePlate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Qualitative analysis</a:t>
            </a:r>
          </a:p>
        </p:txBody>
      </p:sp>
      <p:sp>
        <p:nvSpPr>
          <p:cNvPr id="5" name="Chevron 4"/>
          <p:cNvSpPr/>
          <p:nvPr/>
        </p:nvSpPr>
        <p:spPr>
          <a:xfrm>
            <a:off x="3474720" y="1828800"/>
            <a:ext cx="2560320" cy="91440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Report surgery</a:t>
            </a:r>
          </a:p>
        </p:txBody>
      </p:sp>
      <p:sp>
        <p:nvSpPr>
          <p:cNvPr id="6" name="Chevron 5"/>
          <p:cNvSpPr/>
          <p:nvPr/>
        </p:nvSpPr>
        <p:spPr>
          <a:xfrm>
            <a:off x="6126480" y="1828800"/>
            <a:ext cx="2560320" cy="91440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Issue of your check</a:t>
            </a:r>
          </a:p>
        </p:txBody>
      </p:sp>
      <p:sp>
        <p:nvSpPr>
          <p:cNvPr id="7" name="Chevron 6"/>
          <p:cNvSpPr/>
          <p:nvPr/>
        </p:nvSpPr>
        <p:spPr>
          <a:xfrm>
            <a:off x="8778240" y="1828800"/>
            <a:ext cx="2560320" cy="914400"/>
          </a:xfrm>
          <a:prstGeom prst="chevron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Your report is due today, Saturday 28 November. The deadline time and submission route are on Moodle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Aim to submit before you leave the session, if you can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Drop-in help for upload problems runs at the end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is qualitative research?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Examines non-numeric data: interview transcripts, open responses, text, images, audio and video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Explores situations where numbers alone cannot give insight: stories, social patterns, perspectives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An inductive approach: the findings are not decided in advance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Goal: turn unstructured data into a structured form that can be analysed and reported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Three stages of qualitative research</a:t>
            </a:r>
          </a:p>
        </p:txBody>
      </p:sp>
      <p:sp>
        <p:nvSpPr>
          <p:cNvPr id="4" name="Pentagon 3"/>
          <p:cNvSpPr/>
          <p:nvPr/>
        </p:nvSpPr>
        <p:spPr>
          <a:xfrm>
            <a:off x="822960" y="1828800"/>
            <a:ext cx="3444240" cy="1005840"/>
          </a:xfrm>
          <a:prstGeom prst="homePlate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1. Select or create the data</a:t>
            </a:r>
          </a:p>
        </p:txBody>
      </p:sp>
      <p:sp>
        <p:nvSpPr>
          <p:cNvPr id="5" name="Chevron 4"/>
          <p:cNvSpPr/>
          <p:nvPr/>
        </p:nvSpPr>
        <p:spPr>
          <a:xfrm>
            <a:off x="4358640" y="1828800"/>
            <a:ext cx="3444240" cy="100584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2. Analyse systematically</a:t>
            </a:r>
          </a:p>
        </p:txBody>
      </p:sp>
      <p:sp>
        <p:nvSpPr>
          <p:cNvPr id="6" name="Chevron 5"/>
          <p:cNvSpPr/>
          <p:nvPr/>
        </p:nvSpPr>
        <p:spPr>
          <a:xfrm>
            <a:off x="7894320" y="1828800"/>
            <a:ext cx="3444240" cy="100584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3. Generate 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3B70"/>
                </a:solidFill>
              </a:rPr>
              <a:t>Example: voice commands to a smart speaker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1051560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Stage 1: obtain recordings of the commands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Stage 2: decide the purpose of each command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Stage 3: find the most common types of command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Collecting qualitative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36576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Advantage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Limitation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Questionnaires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Cheap and easy to administer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Rigid; no chance to follow up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Interviews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Deep, rich single perspective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Costly to collect a lot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Focus groups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Cost-effective; group dynamics give new 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Dominant members can take over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Field studies (involved)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Natural setting; engaged participants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Biased analysis; may alter behaviour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Observation (detached)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Outsider can see patterns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Limited ability to probe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Internet-based observation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Large amounts of data on many topics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Consent and data protection concerns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Diary studies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Long-term; good when privacy matters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Needs incentives; high effort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Approaches you may meet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256032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Content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1965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Code text into categories, then look for patterns and 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256032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Narrative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1965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Analyse the stories people tell, their structure, context and meaning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256032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Grounded theory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1965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Build a theory from data through open, axial and selective coding, collecting and analysing in tandem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663440"/>
            <a:ext cx="1051560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1224E"/>
                </a:solidFill>
              </a:rPr>
              <a:t>Read about these in your pre-reading. Today we learn one method well: thematic analysis.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66344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Thematic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324A"/>
                </a:solidFill>
              </a:rPr>
              <a:t>A systematic way of breaking down rich data by tagging observations with codes, so that significant themes can be found. The themes come from the data.</a:t>
            </a:r>
          </a:p>
        </p:txBody>
      </p:sp>
      <p:sp>
        <p:nvSpPr>
          <p:cNvPr id="5" name="Pentagon 4"/>
          <p:cNvSpPr/>
          <p:nvPr/>
        </p:nvSpPr>
        <p:spPr>
          <a:xfrm>
            <a:off x="822960" y="2926080"/>
            <a:ext cx="2029967" cy="1005840"/>
          </a:xfrm>
          <a:prstGeom prst="homePlate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</a:rPr>
              <a:t>Read and understand</a:t>
            </a:r>
          </a:p>
        </p:txBody>
      </p:sp>
      <p:sp>
        <p:nvSpPr>
          <p:cNvPr id="6" name="Chevron 5"/>
          <p:cNvSpPr/>
          <p:nvPr/>
        </p:nvSpPr>
        <p:spPr>
          <a:xfrm>
            <a:off x="2944368" y="2926080"/>
            <a:ext cx="2029967" cy="100584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</a:rPr>
              <a:t>Chunk</a:t>
            </a:r>
          </a:p>
        </p:txBody>
      </p:sp>
      <p:sp>
        <p:nvSpPr>
          <p:cNvPr id="7" name="Chevron 6"/>
          <p:cNvSpPr/>
          <p:nvPr/>
        </p:nvSpPr>
        <p:spPr>
          <a:xfrm>
            <a:off x="5065776" y="2926080"/>
            <a:ext cx="2029967" cy="1005840"/>
          </a:xfrm>
          <a:prstGeom prst="chevron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8" name="Chevron 7"/>
          <p:cNvSpPr/>
          <p:nvPr/>
        </p:nvSpPr>
        <p:spPr>
          <a:xfrm>
            <a:off x="7187183" y="2926080"/>
            <a:ext cx="2029967" cy="100584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</a:rPr>
              <a:t>Concepts</a:t>
            </a:r>
          </a:p>
        </p:txBody>
      </p:sp>
      <p:sp>
        <p:nvSpPr>
          <p:cNvPr id="9" name="Chevron 8"/>
          <p:cNvSpPr/>
          <p:nvPr/>
        </p:nvSpPr>
        <p:spPr>
          <a:xfrm>
            <a:off x="9308592" y="2926080"/>
            <a:ext cx="2029967" cy="1005840"/>
          </a:xfrm>
          <a:prstGeom prst="chevron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</a:rPr>
              <a:t>Categories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572000"/>
            <a:ext cx="1051560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1224E"/>
                </a:solidFill>
              </a:rPr>
              <a:t>Example question: why do fewer elderly people buy smartphones?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5720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Step 1: read and chunk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6324A"/>
                </a:solidFill>
              </a:rPr>
              <a:t>Split big blocks of text into smaller ones. Each chunk is one idea, usually a sentence. Read closely and more than once. We care about meaning, not the exact words: what is this person telling 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11224E"/>
                </a:solidFill>
              </a:rPr>
              <a:t>"I love how many different cases it comes with. I enjoy switching them up now and then, and I always choose the sleek, modern colours. When my neighbour drops by for cake, I often get compliments. However, the text on the screen is a bit small, and if I increase the size, there's only space for a few words. But my daughter is always there to help if I need it, so it's not really an issue. Plus, I don't do much reading on it anyway."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578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1224E"/>
                </a:solidFill>
              </a:rPr>
              <a:t>What is the key point here?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2578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Step 2: code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2C599D"/>
                </a:solidFill>
              </a:rPr>
              <a:t>Feedback from adults about their experience of technology. Select the chunks that matter.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1224E"/>
                </a:solidFill>
              </a:rPr>
              <a:t>"</a:t>
            </a:r>
            <a:r>
              <a:rPr sz="1700" b="0" i="0">
                <a:solidFill>
                  <a:srgbClr val="11224E"/>
                </a:solidFill>
              </a:rPr>
              <a:t>I find the size of the </a:t>
            </a:r>
            <a:r>
              <a:rPr sz="1700" b="1" i="0">
                <a:solidFill>
                  <a:srgbClr val="FA6F1A"/>
                </a:solidFill>
              </a:rPr>
              <a:t>text on the iPhone screen too small</a:t>
            </a:r>
            <a:r>
              <a:rPr sz="1700" b="0" i="0">
                <a:solidFill>
                  <a:srgbClr val="11224E"/>
                </a:solidFill>
              </a:rPr>
              <a:t>, and if you make it bigger, then there's not a lot of space for more than a few words. It's just not practical.</a:t>
            </a:r>
            <a:r>
              <a:rPr sz="1700" b="0" i="0">
                <a:solidFill>
                  <a:srgbClr val="11224E"/>
                </a:solidFill>
              </a:rPr>
              <a:t>"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1224E"/>
                </a:solidFill>
              </a:rPr>
              <a:t>"</a:t>
            </a:r>
            <a:r>
              <a:rPr sz="1700" b="0" i="0">
                <a:solidFill>
                  <a:srgbClr val="11224E"/>
                </a:solidFill>
              </a:rPr>
              <a:t>I've yet to find a desk chair that doesn't </a:t>
            </a:r>
            <a:r>
              <a:rPr sz="1700" b="1" i="0">
                <a:solidFill>
                  <a:srgbClr val="FA6F1A"/>
                </a:solidFill>
              </a:rPr>
              <a:t>make my back hurt</a:t>
            </a:r>
            <a:r>
              <a:rPr sz="1700" b="0" i="0">
                <a:solidFill>
                  <a:srgbClr val="11224E"/>
                </a:solidFill>
              </a:rPr>
              <a:t> more than it already does.</a:t>
            </a:r>
            <a:r>
              <a:rPr sz="1700" b="0" i="0">
                <a:solidFill>
                  <a:srgbClr val="11224E"/>
                </a:solidFill>
              </a:rPr>
              <a:t>"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1224E"/>
                </a:solidFill>
              </a:rPr>
              <a:t>"</a:t>
            </a:r>
            <a:r>
              <a:rPr sz="1700" b="0" i="0">
                <a:solidFill>
                  <a:srgbClr val="11224E"/>
                </a:solidFill>
              </a:rPr>
              <a:t>I love </a:t>
            </a:r>
            <a:r>
              <a:rPr sz="1700" b="1" i="0">
                <a:solidFill>
                  <a:srgbClr val="FA6F1A"/>
                </a:solidFill>
              </a:rPr>
              <a:t>Skype</a:t>
            </a:r>
            <a:r>
              <a:rPr sz="1700" b="0" i="0">
                <a:solidFill>
                  <a:srgbClr val="11224E"/>
                </a:solidFill>
              </a:rPr>
              <a:t> most of all. Sometimes I have to </a:t>
            </a:r>
            <a:r>
              <a:rPr sz="1700" b="1" i="0">
                <a:solidFill>
                  <a:srgbClr val="FA6F1A"/>
                </a:solidFill>
              </a:rPr>
              <a:t>ask my daughter to get it to work</a:t>
            </a:r>
            <a:r>
              <a:rPr sz="1700" b="0" i="0">
                <a:solidFill>
                  <a:srgbClr val="11224E"/>
                </a:solidFill>
              </a:rPr>
              <a:t>, but when it does it's so </a:t>
            </a:r>
            <a:r>
              <a:rPr sz="1700" b="1" i="0">
                <a:solidFill>
                  <a:srgbClr val="FA6F1A"/>
                </a:solidFill>
              </a:rPr>
              <a:t>convenient</a:t>
            </a:r>
            <a:r>
              <a:rPr sz="1700" b="0" i="0">
                <a:solidFill>
                  <a:srgbClr val="11224E"/>
                </a:solidFill>
              </a:rPr>
              <a:t> and lets me connect with my grandkids.</a:t>
            </a:r>
            <a:r>
              <a:rPr sz="1700" b="0" i="0">
                <a:solidFill>
                  <a:srgbClr val="11224E"/>
                </a:solidFill>
              </a:rPr>
              <a:t>"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1224E"/>
                </a:solidFill>
              </a:rPr>
              <a:t>"</a:t>
            </a:r>
            <a:r>
              <a:rPr sz="1700" b="0" i="0">
                <a:solidFill>
                  <a:srgbClr val="11224E"/>
                </a:solidFill>
              </a:rPr>
              <a:t>I can't get it to work. </a:t>
            </a:r>
            <a:r>
              <a:rPr sz="1700" b="1" i="0">
                <a:solidFill>
                  <a:srgbClr val="FA6F1A"/>
                </a:solidFill>
              </a:rPr>
              <a:t>SMS, email and now whatsapp and facebook</a:t>
            </a:r>
            <a:r>
              <a:rPr sz="1700" b="0" i="0">
                <a:solidFill>
                  <a:srgbClr val="11224E"/>
                </a:solidFill>
              </a:rPr>
              <a:t>… </a:t>
            </a:r>
            <a:r>
              <a:rPr sz="1700" b="1" i="0">
                <a:solidFill>
                  <a:srgbClr val="FA6F1A"/>
                </a:solidFill>
              </a:rPr>
              <a:t>It's all too confusing</a:t>
            </a:r>
            <a:r>
              <a:rPr sz="1700" b="0" i="0">
                <a:solidFill>
                  <a:srgbClr val="11224E"/>
                </a:solidFill>
              </a:rPr>
              <a:t>.</a:t>
            </a:r>
            <a:r>
              <a:rPr sz="1700" b="0" i="0">
                <a:solidFill>
                  <a:srgbClr val="11224E"/>
                </a:solidFill>
              </a:rPr>
              <a:t>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Step 3: from chunks to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2C599D"/>
                </a:solidFill>
              </a:rPr>
              <a:t>Strip out the specific content and name the idea behind each chunk.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37744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9360"/>
                <a:gridCol w="42062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Chunk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text on the iPhone screen too small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Not practical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make my back hurt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Physical discomfort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Skype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Useful apps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ask my daughter to get it to work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Require assistance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convenient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Convenient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SMS, email and now whatsapp and facebook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Complex app ecosystem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It's all too confusing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Confusing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Step 4: from concepts to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2C599D"/>
                </a:solidFill>
              </a:rPr>
              <a:t>Axial coding: relate concepts to categories, and separate Barriers from Opportunities.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331720"/>
          <a:ext cx="1051559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7263"/>
                <a:gridCol w="3874168"/>
                <a:gridCol w="3874168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Barriers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Opportunities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Physical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Physical discomfort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Avoid physical activity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Practicality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Not practical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Convenient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Applications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Complex app ecosystem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Useful apps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Ease of use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Confusing</a:t>
                      </a:r>
                    </a:p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Require assistance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580644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We moved from unstructured text to structured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80644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Step 5: generate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In this tiny sample, Ease of use has the most barriers, so it is the place to focus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With dozens of participants the pattern would be stronger and more reliable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Conclusions depend on the data and your question: a comparison between groups, or a recommendation for design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Here: put effort into documentation and tutorials rather than only into the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The same approach works on transcripts of audio, and on coded video behaviour.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Main task: apply thematic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Take the extract from your task sheet (or an excerpt of your own data if you are qualitative or mixed)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Chunk it, then code the chunks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Turn codes into concepts, then group them into categories with Barriers and Opportunities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Write two or three sentences on what the pattern suggests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Record every step: your table is your evidence of rigour.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Share your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108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Which categories did you find, and why those?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Where did you and your group disagree about a code?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What would a second coder have done differently?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2120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Disagreement about codes is useful: it is where rigour comes from.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Does it fit your design?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108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What data would you code, and from whom?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What might your chunks and concepts look like?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Which rigour or trustworthiness standard fits your paradigm? This is the heart of your Reflection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2120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Be specific to your own design: generic reflection scores badly.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Report surgery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6324A"/>
                </a:solidFill>
              </a:rPr>
              <a:t>In your room, by section: Background, Literature Review, Methodology, Reflection. Read one paragraph aloud and test it against the criteria.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3774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097280"/>
                <a:gridCol w="557784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the marker checks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324A"/>
                          </a:solidFill>
                        </a:rPr>
                        <a:t>Critical evaluation (Literature Review)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25%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Evaluated and compared, not just described; paradigm justified against an alternative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324A"/>
                          </a:solidFill>
                        </a:rPr>
                        <a:t>Research design and ethics (Methodology)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30%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Method justified against the evidence your question needs; ethics specific, not generic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324A"/>
                          </a:solidFill>
                        </a:rPr>
                        <a:t>Writing, structure, referencing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15%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Fixed structure, accurate referencing, one coherent argument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324A"/>
                          </a:solidFill>
                        </a:rPr>
                        <a:t>Reflection and research quality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10%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Engages with your own design; names a fitting rigour standard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Your oral-defence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6324A"/>
                </a:solidFill>
              </a:rPr>
              <a:t>Part B is a recorded oral defence of your own proposal against one of four fixed methodological checks: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514600"/>
            <a:ext cx="51663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5166360" cy="77724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Build vs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5074920" cy="-91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6324A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514600"/>
            <a:ext cx="51663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2514600"/>
            <a:ext cx="5166360" cy="77724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Collapse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337560"/>
            <a:ext cx="5074920" cy="-91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6324A"/>
                </a:solidFill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429000"/>
            <a:ext cx="51663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5C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429000"/>
            <a:ext cx="5166360" cy="777240"/>
          </a:xfrm>
          <a:prstGeom prst="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No/Undefined-Word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51959"/>
            <a:ext cx="5074920" cy="-91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6324A"/>
                </a:solidFill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429000"/>
            <a:ext cx="51663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429000"/>
            <a:ext cx="5166360" cy="77724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"To…"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51959"/>
            <a:ext cx="5074920" cy="-91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6324A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10515600" cy="1737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600" b="0" i="0">
                <a:solidFill>
                  <a:srgbClr val="26324A"/>
                </a:solidFill>
              </a:rPr>
              <a:t>4 minutes, plus or minus 30 seconds. State your research question as submitted, name your check, and defend your proposal against it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600" b="0" i="0">
                <a:solidFill>
                  <a:srgbClr val="26324A"/>
                </a:solidFill>
              </a:rPr>
              <a:t>No generative AI and no scripts. Due Saturday 5 December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600" b="0" i="0">
                <a:solidFill>
                  <a:srgbClr val="26324A"/>
                </a:solidFill>
              </a:rPr>
              <a:t>Next Monday we work through what each check asks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Submit your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Check the deadline time and the submission route on Moodle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Report is final once submitted: read it once more first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Include your declaration of software and generative AI use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Stay in the session for drop-in help if the upload gives you any trouble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Due today: Saturday 28 November 2026.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d1f5d9b0-cdb0-4c3a-b058-450b9d105468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89f7b614-c64b-4738-997e-aac1eab429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790DD2-A406-4046-8BA6-E72EEDCE0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2134</TotalTime>
  <Words>2656</Words>
  <Application>Microsoft Office PowerPoint</Application>
  <PresentationFormat>Widescreen</PresentationFormat>
  <Paragraphs>225</Paragraphs>
  <Slides>28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Biome Light</vt:lpstr>
      <vt:lpstr>Calibri</vt:lpstr>
      <vt:lpstr>Calibri Light</vt:lpstr>
      <vt:lpstr>Helvetica Neue</vt:lpstr>
      <vt:lpstr>Times New Roman</vt:lpstr>
      <vt:lpstr>Wingdings</vt:lpstr>
      <vt:lpstr>Office Theme</vt:lpstr>
      <vt:lpstr>COM7302 - Lecture Notes Template </vt:lpstr>
      <vt:lpstr>Research Methods  Research Philosophy and Paradigms</vt:lpstr>
      <vt:lpstr>By the end of the session, you should be able to…</vt:lpstr>
      <vt:lpstr>What’s it all about</vt:lpstr>
      <vt:lpstr>All the resources will be posted to the Moodle page </vt:lpstr>
      <vt:lpstr>What is a research problem</vt:lpstr>
      <vt:lpstr>What is a Research Problem?</vt:lpstr>
      <vt:lpstr>Research in CS, DA, and CY </vt:lpstr>
      <vt:lpstr>Interdisciplinary Nature of Research</vt:lpstr>
      <vt:lpstr> </vt:lpstr>
      <vt:lpstr>There’s more than one type of question?</vt:lpstr>
      <vt:lpstr>Yup, There sure is!</vt:lpstr>
      <vt:lpstr>Types of Research Questions </vt:lpstr>
      <vt:lpstr>A question of Philosophy</vt:lpstr>
      <vt:lpstr>Recap from last week?  </vt:lpstr>
      <vt:lpstr>Ontology and Research Question Formulation</vt:lpstr>
      <vt:lpstr>Epistemology and Research Questions</vt:lpstr>
      <vt:lpstr>Axiology and the Ethical Dimension of Research Questions</vt:lpstr>
      <vt:lpstr>Doxology and Beliefs Guiding Research</vt:lpstr>
      <vt:lpstr>Constructing Effective Research Questions – A Checklist </vt:lpstr>
      <vt:lpstr>Examples of Well-Constructed Research Questions</vt:lpstr>
      <vt:lpstr>The Funnel Stratagem </vt:lpstr>
      <vt:lpstr>The Funnel Stratagem</vt:lpstr>
      <vt:lpstr>Applying The Funnel Stratagem</vt:lpstr>
      <vt:lpstr>PowerPoint Presentation</vt:lpstr>
      <vt:lpstr>Summary of Key Concepts</vt:lpstr>
      <vt:lpstr>From this point on…you’re a scientific  researcher!</vt:lpstr>
      <vt:lpstr>Reflection &amp; Writing – 10 Mins</vt:lpstr>
      <vt:lpstr>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COM7302 – Research Methods  Research Philosophy and Paradigms</dc:title>
  <dc:creator>Tighe, Bren</dc:creator>
  <cp:lastModifiedBy>Tighe, Bren</cp:lastModifiedBy>
  <cp:revision>7</cp:revision>
  <dcterms:created xsi:type="dcterms:W3CDTF">2024-09-04T09:10:35Z</dcterms:created>
  <dcterms:modified xsi:type="dcterms:W3CDTF">2026-09-24T11:26:09Z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