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media/image18.jpg" ContentType="image/jpg"/>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5" r:id="rId4"/>
  </p:sldMasterIdLst>
  <p:notesMasterIdLst>
    <p:notesMasterId r:id="rId42"/>
  </p:notesMasterIdLst>
  <p:handoutMasterIdLst>
    <p:handoutMasterId r:id="rId43"/>
  </p:handoutMasterIdLst>
  <p:sldIdLst>
    <p:sldId id="324" r:id="rId5"/>
    <p:sldId id="376" r:id="rId6"/>
    <p:sldId id="302" r:id="rId7"/>
    <p:sldId id="325" r:id="rId8"/>
    <p:sldId id="315" r:id="rId9"/>
    <p:sldId id="362" r:id="rId10"/>
    <p:sldId id="437" r:id="rId11"/>
    <p:sldId id="408" r:id="rId12"/>
    <p:sldId id="428" r:id="rId13"/>
    <p:sldId id="417" r:id="rId14"/>
    <p:sldId id="435" r:id="rId15"/>
    <p:sldId id="414" r:id="rId16"/>
    <p:sldId id="409" r:id="rId17"/>
    <p:sldId id="429" r:id="rId18"/>
    <p:sldId id="430" r:id="rId19"/>
    <p:sldId id="431" r:id="rId20"/>
    <p:sldId id="432" r:id="rId21"/>
    <p:sldId id="433" r:id="rId22"/>
    <p:sldId id="436" r:id="rId23"/>
    <p:sldId id="438" r:id="rId24"/>
    <p:sldId id="410" r:id="rId25"/>
    <p:sldId id="411" r:id="rId26"/>
    <p:sldId id="418" r:id="rId27"/>
    <p:sldId id="419" r:id="rId28"/>
    <p:sldId id="412" r:id="rId29"/>
    <p:sldId id="420" r:id="rId30"/>
    <p:sldId id="421" r:id="rId31"/>
    <p:sldId id="422" r:id="rId32"/>
    <p:sldId id="423" r:id="rId33"/>
    <p:sldId id="424" r:id="rId34"/>
    <p:sldId id="425" r:id="rId35"/>
    <p:sldId id="426" r:id="rId36"/>
    <p:sldId id="427" r:id="rId37"/>
    <p:sldId id="339" r:id="rId38"/>
    <p:sldId id="363" r:id="rId39"/>
    <p:sldId id="372" r:id="rId40"/>
    <p:sldId id="313" r:id="rId41"/>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D9D9D9"/>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7B8C3E-E17C-45AE-B0E2-1C8EEA9C24AD}" v="23" dt="2024-11-08T11:16:33.626"/>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82944" autoAdjust="0"/>
  </p:normalViewPr>
  <p:slideViewPr>
    <p:cSldViewPr snapToGrid="0">
      <p:cViewPr varScale="1">
        <p:scale>
          <a:sx n="130" d="100"/>
          <a:sy n="130" d="100"/>
        </p:scale>
        <p:origin x="3684" y="126"/>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7E77A6-DE31-42A5-ABB0-4AE6992873D5}" type="doc">
      <dgm:prSet loTypeId="urn:microsoft.com/office/officeart/2005/8/layout/default" loCatId="list" qsTypeId="urn:microsoft.com/office/officeart/2005/8/quickstyle/simple1" qsCatId="simple" csTypeId="urn:microsoft.com/office/officeart/2005/8/colors/accent2_2" csCatId="accent2"/>
      <dgm:spPr/>
      <dgm:t>
        <a:bodyPr/>
        <a:lstStyle/>
        <a:p>
          <a:endParaRPr lang="en-US"/>
        </a:p>
      </dgm:t>
    </dgm:pt>
    <dgm:pt modelId="{AAAA9196-9CA9-4E57-843F-5C684D953015}">
      <dgm:prSet/>
      <dgm:spPr/>
      <dgm:t>
        <a:bodyPr/>
        <a:lstStyle/>
        <a:p>
          <a:r>
            <a:rPr lang="en-GB" b="1"/>
            <a:t>Advantages of content analysis process</a:t>
          </a:r>
          <a:endParaRPr lang="en-US"/>
        </a:p>
      </dgm:t>
    </dgm:pt>
    <dgm:pt modelId="{53CFA63C-0256-4552-BC8A-79749E30B5A9}" type="parTrans" cxnId="{7F0B1141-82C7-4DA0-BF2A-C1190A38506F}">
      <dgm:prSet/>
      <dgm:spPr/>
      <dgm:t>
        <a:bodyPr/>
        <a:lstStyle/>
        <a:p>
          <a:endParaRPr lang="en-US"/>
        </a:p>
      </dgm:t>
    </dgm:pt>
    <dgm:pt modelId="{268421B9-675F-4C6E-8930-B6FB70879AEC}" type="sibTrans" cxnId="{7F0B1141-82C7-4DA0-BF2A-C1190A38506F}">
      <dgm:prSet/>
      <dgm:spPr/>
      <dgm:t>
        <a:bodyPr/>
        <a:lstStyle/>
        <a:p>
          <a:endParaRPr lang="en-US"/>
        </a:p>
      </dgm:t>
    </dgm:pt>
    <dgm:pt modelId="{82C52369-CC44-4B5A-BD79-C949E0C64352}">
      <dgm:prSet/>
      <dgm:spPr/>
      <dgm:t>
        <a:bodyPr/>
        <a:lstStyle/>
        <a:p>
          <a:r>
            <a:rPr lang="en-GB" dirty="0"/>
            <a:t>Rich insights: Content analysis can provide rich, in-depth insights into how customers feel about your product, what their unmet needs are, and their motives.</a:t>
          </a:r>
          <a:endParaRPr lang="en-US" dirty="0"/>
        </a:p>
      </dgm:t>
    </dgm:pt>
    <dgm:pt modelId="{F05F7C29-4AA0-494A-97CC-91F7B8168024}" type="parTrans" cxnId="{EB2E8EE0-4EC4-436A-A23D-F11FA2073BE6}">
      <dgm:prSet/>
      <dgm:spPr/>
      <dgm:t>
        <a:bodyPr/>
        <a:lstStyle/>
        <a:p>
          <a:endParaRPr lang="en-US"/>
        </a:p>
      </dgm:t>
    </dgm:pt>
    <dgm:pt modelId="{A9D2657A-05E0-4488-BF0C-F421896342A6}" type="sibTrans" cxnId="{EB2E8EE0-4EC4-436A-A23D-F11FA2073BE6}">
      <dgm:prSet/>
      <dgm:spPr/>
      <dgm:t>
        <a:bodyPr/>
        <a:lstStyle/>
        <a:p>
          <a:endParaRPr lang="en-US"/>
        </a:p>
      </dgm:t>
    </dgm:pt>
    <dgm:pt modelId="{0B6253F6-FFA1-4450-9FCF-C2EC45BE80DB}">
      <dgm:prSet/>
      <dgm:spPr/>
      <dgm:t>
        <a:bodyPr/>
        <a:lstStyle/>
        <a:p>
          <a:r>
            <a:rPr lang="en-GB"/>
            <a:t>Easily replicable: Once you have developed a coding system, content analysis is relatively quick and easy because it’s a systematic process.</a:t>
          </a:r>
          <a:endParaRPr lang="en-US"/>
        </a:p>
      </dgm:t>
    </dgm:pt>
    <dgm:pt modelId="{5078CB35-9174-4D8D-A172-BDA6E6D54C45}" type="parTrans" cxnId="{66052C96-81A7-4751-AB12-F3F008A44373}">
      <dgm:prSet/>
      <dgm:spPr/>
      <dgm:t>
        <a:bodyPr/>
        <a:lstStyle/>
        <a:p>
          <a:endParaRPr lang="en-US"/>
        </a:p>
      </dgm:t>
    </dgm:pt>
    <dgm:pt modelId="{2EA92846-5F09-4E86-BDD5-CD44C189CEA9}" type="sibTrans" cxnId="{66052C96-81A7-4751-AB12-F3F008A44373}">
      <dgm:prSet/>
      <dgm:spPr/>
      <dgm:t>
        <a:bodyPr/>
        <a:lstStyle/>
        <a:p>
          <a:endParaRPr lang="en-US"/>
        </a:p>
      </dgm:t>
    </dgm:pt>
    <dgm:pt modelId="{7D345D55-6C92-4975-AE08-9CF6D35A26A1}">
      <dgm:prSet/>
      <dgm:spPr/>
      <dgm:t>
        <a:bodyPr/>
        <a:lstStyle/>
        <a:p>
          <a:r>
            <a:rPr lang="en-GB"/>
            <a:t>Affordable: Content analysis requires very little investment since all you need is a good understanding of the data, and it doesn’t require any special software.</a:t>
          </a:r>
          <a:endParaRPr lang="en-US"/>
        </a:p>
      </dgm:t>
    </dgm:pt>
    <dgm:pt modelId="{489429F6-E852-45CD-8BA9-67839BD08653}" type="parTrans" cxnId="{CFA17C8F-BC4F-4D17-A4C1-0ADAB2BE17C8}">
      <dgm:prSet/>
      <dgm:spPr/>
      <dgm:t>
        <a:bodyPr/>
        <a:lstStyle/>
        <a:p>
          <a:endParaRPr lang="en-US"/>
        </a:p>
      </dgm:t>
    </dgm:pt>
    <dgm:pt modelId="{82DA7AD3-B993-49AB-9A3F-C04B06055D07}" type="sibTrans" cxnId="{CFA17C8F-BC4F-4D17-A4C1-0ADAB2BE17C8}">
      <dgm:prSet/>
      <dgm:spPr/>
      <dgm:t>
        <a:bodyPr/>
        <a:lstStyle/>
        <a:p>
          <a:endParaRPr lang="en-US"/>
        </a:p>
      </dgm:t>
    </dgm:pt>
    <dgm:pt modelId="{611015A8-549F-4AAC-A2D3-C831D094B4AD}">
      <dgm:prSet/>
      <dgm:spPr/>
      <dgm:t>
        <a:bodyPr/>
        <a:lstStyle/>
        <a:p>
          <a:r>
            <a:rPr lang="en-GB" b="1"/>
            <a:t>Disadvantages of content analysis process</a:t>
          </a:r>
          <a:endParaRPr lang="en-US"/>
        </a:p>
      </dgm:t>
    </dgm:pt>
    <dgm:pt modelId="{C426A538-26E4-4307-909F-D34E522D95C6}" type="parTrans" cxnId="{1E54F3D5-2960-4F49-A6DA-CB64860893D1}">
      <dgm:prSet/>
      <dgm:spPr/>
      <dgm:t>
        <a:bodyPr/>
        <a:lstStyle/>
        <a:p>
          <a:endParaRPr lang="en-US"/>
        </a:p>
      </dgm:t>
    </dgm:pt>
    <dgm:pt modelId="{B891102D-CD1E-4BAF-A38A-C05152A70182}" type="sibTrans" cxnId="{1E54F3D5-2960-4F49-A6DA-CB64860893D1}">
      <dgm:prSet/>
      <dgm:spPr/>
      <dgm:t>
        <a:bodyPr/>
        <a:lstStyle/>
        <a:p>
          <a:endParaRPr lang="en-US"/>
        </a:p>
      </dgm:t>
    </dgm:pt>
    <dgm:pt modelId="{FF5E8DCB-5CC2-40CF-8005-C60FB71AE643}">
      <dgm:prSet/>
      <dgm:spPr/>
      <dgm:t>
        <a:bodyPr/>
        <a:lstStyle/>
        <a:p>
          <a:r>
            <a:rPr lang="en-GB"/>
            <a:t>Time-consuming: Coding the data is time-consuming, particularly if you have a large amount of data to analyse.</a:t>
          </a:r>
          <a:endParaRPr lang="en-US"/>
        </a:p>
      </dgm:t>
    </dgm:pt>
    <dgm:pt modelId="{61AEB5E1-291D-43CD-8AE1-B9C5F440EF6F}" type="parTrans" cxnId="{E528F55A-5BE3-4F42-9794-37B0BACAB0EC}">
      <dgm:prSet/>
      <dgm:spPr/>
      <dgm:t>
        <a:bodyPr/>
        <a:lstStyle/>
        <a:p>
          <a:endParaRPr lang="en-US"/>
        </a:p>
      </dgm:t>
    </dgm:pt>
    <dgm:pt modelId="{AF1B8BF4-7A53-44A1-8E65-ED8B012F0903}" type="sibTrans" cxnId="{E528F55A-5BE3-4F42-9794-37B0BACAB0EC}">
      <dgm:prSet/>
      <dgm:spPr/>
      <dgm:t>
        <a:bodyPr/>
        <a:lstStyle/>
        <a:p>
          <a:endParaRPr lang="en-US"/>
        </a:p>
      </dgm:t>
    </dgm:pt>
    <dgm:pt modelId="{AFE8674F-5980-40C1-85F3-DE6EA612F4D8}">
      <dgm:prSet/>
      <dgm:spPr/>
      <dgm:t>
        <a:bodyPr/>
        <a:lstStyle/>
        <a:p>
          <a:r>
            <a:rPr lang="en-GB"/>
            <a:t>Ignores context: Content analysis can ignore the context in which the data was collected which may lead to misinterpretations.</a:t>
          </a:r>
          <a:endParaRPr lang="en-US"/>
        </a:p>
      </dgm:t>
    </dgm:pt>
    <dgm:pt modelId="{C9FF6334-1321-4765-94ED-51010466D95F}" type="parTrans" cxnId="{273168A3-6BB7-4356-AB64-23D21D0E4B38}">
      <dgm:prSet/>
      <dgm:spPr/>
      <dgm:t>
        <a:bodyPr/>
        <a:lstStyle/>
        <a:p>
          <a:endParaRPr lang="en-US"/>
        </a:p>
      </dgm:t>
    </dgm:pt>
    <dgm:pt modelId="{1AC62FEB-DDBA-4018-AA6C-008582743D56}" type="sibTrans" cxnId="{273168A3-6BB7-4356-AB64-23D21D0E4B38}">
      <dgm:prSet/>
      <dgm:spPr/>
      <dgm:t>
        <a:bodyPr/>
        <a:lstStyle/>
        <a:p>
          <a:endParaRPr lang="en-US"/>
        </a:p>
      </dgm:t>
    </dgm:pt>
    <dgm:pt modelId="{A05772A6-2AA2-475C-B4D7-288D721BDF70}">
      <dgm:prSet/>
      <dgm:spPr/>
      <dgm:t>
        <a:bodyPr/>
        <a:lstStyle/>
        <a:p>
          <a:r>
            <a:rPr lang="en-GB"/>
            <a:t>Reductive approach: Some people argue that content analysis is a reductive approach to qualitative data because it involves breaking the data down into smaller pieces.</a:t>
          </a:r>
          <a:endParaRPr lang="en-US"/>
        </a:p>
      </dgm:t>
    </dgm:pt>
    <dgm:pt modelId="{549BD1F0-4D98-49D9-94E3-3B4D57B4FC2F}" type="parTrans" cxnId="{B86D4C4B-7EE9-4534-A837-8983AA5F6148}">
      <dgm:prSet/>
      <dgm:spPr/>
      <dgm:t>
        <a:bodyPr/>
        <a:lstStyle/>
        <a:p>
          <a:endParaRPr lang="en-US"/>
        </a:p>
      </dgm:t>
    </dgm:pt>
    <dgm:pt modelId="{5D1BA0BC-D76C-43CE-A1EB-729EF15D127A}" type="sibTrans" cxnId="{B86D4C4B-7EE9-4534-A837-8983AA5F6148}">
      <dgm:prSet/>
      <dgm:spPr/>
      <dgm:t>
        <a:bodyPr/>
        <a:lstStyle/>
        <a:p>
          <a:endParaRPr lang="en-US"/>
        </a:p>
      </dgm:t>
    </dgm:pt>
    <dgm:pt modelId="{4C8979A8-9123-43B2-84F1-562A38787904}" type="pres">
      <dgm:prSet presAssocID="{C17E77A6-DE31-42A5-ABB0-4AE6992873D5}" presName="diagram" presStyleCnt="0">
        <dgm:presLayoutVars>
          <dgm:dir/>
          <dgm:resizeHandles val="exact"/>
        </dgm:presLayoutVars>
      </dgm:prSet>
      <dgm:spPr/>
    </dgm:pt>
    <dgm:pt modelId="{E3B17655-77E8-47CB-AAC9-641EBE01DBEF}" type="pres">
      <dgm:prSet presAssocID="{AAAA9196-9CA9-4E57-843F-5C684D953015}" presName="node" presStyleLbl="node1" presStyleIdx="0" presStyleCnt="2">
        <dgm:presLayoutVars>
          <dgm:bulletEnabled val="1"/>
        </dgm:presLayoutVars>
      </dgm:prSet>
      <dgm:spPr/>
    </dgm:pt>
    <dgm:pt modelId="{0AB70FD4-BA8C-498E-9B66-5CAD030520B4}" type="pres">
      <dgm:prSet presAssocID="{268421B9-675F-4C6E-8930-B6FB70879AEC}" presName="sibTrans" presStyleCnt="0"/>
      <dgm:spPr/>
    </dgm:pt>
    <dgm:pt modelId="{79E56CD8-BF3E-4C47-B854-662677B8998F}" type="pres">
      <dgm:prSet presAssocID="{611015A8-549F-4AAC-A2D3-C831D094B4AD}" presName="node" presStyleLbl="node1" presStyleIdx="1" presStyleCnt="2">
        <dgm:presLayoutVars>
          <dgm:bulletEnabled val="1"/>
        </dgm:presLayoutVars>
      </dgm:prSet>
      <dgm:spPr/>
    </dgm:pt>
  </dgm:ptLst>
  <dgm:cxnLst>
    <dgm:cxn modelId="{8731BC06-34A6-418C-A1F5-2B97B66B8675}" type="presOf" srcId="{0B6253F6-FFA1-4450-9FCF-C2EC45BE80DB}" destId="{E3B17655-77E8-47CB-AAC9-641EBE01DBEF}" srcOrd="0" destOrd="2" presId="urn:microsoft.com/office/officeart/2005/8/layout/default"/>
    <dgm:cxn modelId="{BC48D613-768F-49FD-9840-FDDFA8379C0B}" type="presOf" srcId="{611015A8-549F-4AAC-A2D3-C831D094B4AD}" destId="{79E56CD8-BF3E-4C47-B854-662677B8998F}" srcOrd="0" destOrd="0" presId="urn:microsoft.com/office/officeart/2005/8/layout/default"/>
    <dgm:cxn modelId="{9B87331C-D980-4A0F-B9BE-8A870E269569}" type="presOf" srcId="{A05772A6-2AA2-475C-B4D7-288D721BDF70}" destId="{79E56CD8-BF3E-4C47-B854-662677B8998F}" srcOrd="0" destOrd="3" presId="urn:microsoft.com/office/officeart/2005/8/layout/default"/>
    <dgm:cxn modelId="{6F61692E-DA67-46D3-BBAD-AE5F0973F5A4}" type="presOf" srcId="{AFE8674F-5980-40C1-85F3-DE6EA612F4D8}" destId="{79E56CD8-BF3E-4C47-B854-662677B8998F}" srcOrd="0" destOrd="2" presId="urn:microsoft.com/office/officeart/2005/8/layout/default"/>
    <dgm:cxn modelId="{7F0B1141-82C7-4DA0-BF2A-C1190A38506F}" srcId="{C17E77A6-DE31-42A5-ABB0-4AE6992873D5}" destId="{AAAA9196-9CA9-4E57-843F-5C684D953015}" srcOrd="0" destOrd="0" parTransId="{53CFA63C-0256-4552-BC8A-79749E30B5A9}" sibTransId="{268421B9-675F-4C6E-8930-B6FB70879AEC}"/>
    <dgm:cxn modelId="{B86D4C4B-7EE9-4534-A837-8983AA5F6148}" srcId="{611015A8-549F-4AAC-A2D3-C831D094B4AD}" destId="{A05772A6-2AA2-475C-B4D7-288D721BDF70}" srcOrd="2" destOrd="0" parTransId="{549BD1F0-4D98-49D9-94E3-3B4D57B4FC2F}" sibTransId="{5D1BA0BC-D76C-43CE-A1EB-729EF15D127A}"/>
    <dgm:cxn modelId="{E9A5BD4E-FFCC-4003-B459-EAF2CC742C20}" type="presOf" srcId="{82C52369-CC44-4B5A-BD79-C949E0C64352}" destId="{E3B17655-77E8-47CB-AAC9-641EBE01DBEF}" srcOrd="0" destOrd="1" presId="urn:microsoft.com/office/officeart/2005/8/layout/default"/>
    <dgm:cxn modelId="{E528F55A-5BE3-4F42-9794-37B0BACAB0EC}" srcId="{611015A8-549F-4AAC-A2D3-C831D094B4AD}" destId="{FF5E8DCB-5CC2-40CF-8005-C60FB71AE643}" srcOrd="0" destOrd="0" parTransId="{61AEB5E1-291D-43CD-8AE1-B9C5F440EF6F}" sibTransId="{AF1B8BF4-7A53-44A1-8E65-ED8B012F0903}"/>
    <dgm:cxn modelId="{924C4E7E-2B63-4E94-BEF0-4863BFE923BC}" type="presOf" srcId="{AAAA9196-9CA9-4E57-843F-5C684D953015}" destId="{E3B17655-77E8-47CB-AAC9-641EBE01DBEF}" srcOrd="0" destOrd="0" presId="urn:microsoft.com/office/officeart/2005/8/layout/default"/>
    <dgm:cxn modelId="{CFA17C8F-BC4F-4D17-A4C1-0ADAB2BE17C8}" srcId="{AAAA9196-9CA9-4E57-843F-5C684D953015}" destId="{7D345D55-6C92-4975-AE08-9CF6D35A26A1}" srcOrd="2" destOrd="0" parTransId="{489429F6-E852-45CD-8BA9-67839BD08653}" sibTransId="{82DA7AD3-B993-49AB-9A3F-C04B06055D07}"/>
    <dgm:cxn modelId="{66052C96-81A7-4751-AB12-F3F008A44373}" srcId="{AAAA9196-9CA9-4E57-843F-5C684D953015}" destId="{0B6253F6-FFA1-4450-9FCF-C2EC45BE80DB}" srcOrd="1" destOrd="0" parTransId="{5078CB35-9174-4D8D-A172-BDA6E6D54C45}" sibTransId="{2EA92846-5F09-4E86-BDD5-CD44C189CEA9}"/>
    <dgm:cxn modelId="{273168A3-6BB7-4356-AB64-23D21D0E4B38}" srcId="{611015A8-549F-4AAC-A2D3-C831D094B4AD}" destId="{AFE8674F-5980-40C1-85F3-DE6EA612F4D8}" srcOrd="1" destOrd="0" parTransId="{C9FF6334-1321-4765-94ED-51010466D95F}" sibTransId="{1AC62FEB-DDBA-4018-AA6C-008582743D56}"/>
    <dgm:cxn modelId="{335F47AA-EADD-4307-8BCF-1CFE8CBFC282}" type="presOf" srcId="{7D345D55-6C92-4975-AE08-9CF6D35A26A1}" destId="{E3B17655-77E8-47CB-AAC9-641EBE01DBEF}" srcOrd="0" destOrd="3" presId="urn:microsoft.com/office/officeart/2005/8/layout/default"/>
    <dgm:cxn modelId="{A75646D5-32B6-4871-8DB6-98F36FEB4BAD}" type="presOf" srcId="{FF5E8DCB-5CC2-40CF-8005-C60FB71AE643}" destId="{79E56CD8-BF3E-4C47-B854-662677B8998F}" srcOrd="0" destOrd="1" presId="urn:microsoft.com/office/officeart/2005/8/layout/default"/>
    <dgm:cxn modelId="{1E54F3D5-2960-4F49-A6DA-CB64860893D1}" srcId="{C17E77A6-DE31-42A5-ABB0-4AE6992873D5}" destId="{611015A8-549F-4AAC-A2D3-C831D094B4AD}" srcOrd="1" destOrd="0" parTransId="{C426A538-26E4-4307-909F-D34E522D95C6}" sibTransId="{B891102D-CD1E-4BAF-A38A-C05152A70182}"/>
    <dgm:cxn modelId="{EB2E8EE0-4EC4-436A-A23D-F11FA2073BE6}" srcId="{AAAA9196-9CA9-4E57-843F-5C684D953015}" destId="{82C52369-CC44-4B5A-BD79-C949E0C64352}" srcOrd="0" destOrd="0" parTransId="{F05F7C29-4AA0-494A-97CC-91F7B8168024}" sibTransId="{A9D2657A-05E0-4488-BF0C-F421896342A6}"/>
    <dgm:cxn modelId="{6CAAF8F5-3A11-4E33-87B3-5C5F32898EA2}" type="presOf" srcId="{C17E77A6-DE31-42A5-ABB0-4AE6992873D5}" destId="{4C8979A8-9123-43B2-84F1-562A38787904}" srcOrd="0" destOrd="0" presId="urn:microsoft.com/office/officeart/2005/8/layout/default"/>
    <dgm:cxn modelId="{87793A84-7D43-4DC4-BA28-E79AA638F208}" type="presParOf" srcId="{4C8979A8-9123-43B2-84F1-562A38787904}" destId="{E3B17655-77E8-47CB-AAC9-641EBE01DBEF}" srcOrd="0" destOrd="0" presId="urn:microsoft.com/office/officeart/2005/8/layout/default"/>
    <dgm:cxn modelId="{2649767C-5373-4645-AFB7-F72E3C96D070}" type="presParOf" srcId="{4C8979A8-9123-43B2-84F1-562A38787904}" destId="{0AB70FD4-BA8C-498E-9B66-5CAD030520B4}" srcOrd="1" destOrd="0" presId="urn:microsoft.com/office/officeart/2005/8/layout/default"/>
    <dgm:cxn modelId="{AC3D28BE-E2A4-43BB-B991-71149C97A5D9}" type="presParOf" srcId="{4C8979A8-9123-43B2-84F1-562A38787904}" destId="{79E56CD8-BF3E-4C47-B854-662677B8998F}"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17655-77E8-47CB-AAC9-641EBE01DBEF}">
      <dsp:nvSpPr>
        <dsp:cNvPr id="0" name=""/>
        <dsp:cNvSpPr/>
      </dsp:nvSpPr>
      <dsp:spPr>
        <a:xfrm>
          <a:off x="1401" y="817832"/>
          <a:ext cx="5466102" cy="32796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b="1" kern="1200"/>
            <a:t>Advantages of content analysis process</a:t>
          </a:r>
          <a:endParaRPr lang="en-US" sz="2300" kern="1200"/>
        </a:p>
        <a:p>
          <a:pPr marL="171450" lvl="1" indent="-171450" algn="l" defTabSz="800100">
            <a:lnSpc>
              <a:spcPct val="90000"/>
            </a:lnSpc>
            <a:spcBef>
              <a:spcPct val="0"/>
            </a:spcBef>
            <a:spcAft>
              <a:spcPct val="15000"/>
            </a:spcAft>
            <a:buChar char="•"/>
          </a:pPr>
          <a:r>
            <a:rPr lang="en-GB" sz="1800" kern="1200" dirty="0"/>
            <a:t>Rich insights: Content analysis can provide rich, in-depth insights into how customers feel about your product, what their unmet needs are, and their motives.</a:t>
          </a:r>
          <a:endParaRPr lang="en-US" sz="1800" kern="1200" dirty="0"/>
        </a:p>
        <a:p>
          <a:pPr marL="171450" lvl="1" indent="-171450" algn="l" defTabSz="800100">
            <a:lnSpc>
              <a:spcPct val="90000"/>
            </a:lnSpc>
            <a:spcBef>
              <a:spcPct val="0"/>
            </a:spcBef>
            <a:spcAft>
              <a:spcPct val="15000"/>
            </a:spcAft>
            <a:buChar char="•"/>
          </a:pPr>
          <a:r>
            <a:rPr lang="en-GB" sz="1800" kern="1200"/>
            <a:t>Easily replicable: Once you have developed a coding system, content analysis is relatively quick and easy because it’s a systematic process.</a:t>
          </a:r>
          <a:endParaRPr lang="en-US" sz="1800" kern="1200"/>
        </a:p>
        <a:p>
          <a:pPr marL="171450" lvl="1" indent="-171450" algn="l" defTabSz="800100">
            <a:lnSpc>
              <a:spcPct val="90000"/>
            </a:lnSpc>
            <a:spcBef>
              <a:spcPct val="0"/>
            </a:spcBef>
            <a:spcAft>
              <a:spcPct val="15000"/>
            </a:spcAft>
            <a:buChar char="•"/>
          </a:pPr>
          <a:r>
            <a:rPr lang="en-GB" sz="1800" kern="1200"/>
            <a:t>Affordable: Content analysis requires very little investment since all you need is a good understanding of the data, and it doesn’t require any special software.</a:t>
          </a:r>
          <a:endParaRPr lang="en-US" sz="1800" kern="1200"/>
        </a:p>
      </dsp:txBody>
      <dsp:txXfrm>
        <a:off x="1401" y="817832"/>
        <a:ext cx="5466102" cy="3279661"/>
      </dsp:txXfrm>
    </dsp:sp>
    <dsp:sp modelId="{79E56CD8-BF3E-4C47-B854-662677B8998F}">
      <dsp:nvSpPr>
        <dsp:cNvPr id="0" name=""/>
        <dsp:cNvSpPr/>
      </dsp:nvSpPr>
      <dsp:spPr>
        <a:xfrm>
          <a:off x="6014114" y="817832"/>
          <a:ext cx="5466102" cy="32796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b="1" kern="1200"/>
            <a:t>Disadvantages of content analysis process</a:t>
          </a:r>
          <a:endParaRPr lang="en-US" sz="2300" kern="1200"/>
        </a:p>
        <a:p>
          <a:pPr marL="171450" lvl="1" indent="-171450" algn="l" defTabSz="800100">
            <a:lnSpc>
              <a:spcPct val="90000"/>
            </a:lnSpc>
            <a:spcBef>
              <a:spcPct val="0"/>
            </a:spcBef>
            <a:spcAft>
              <a:spcPct val="15000"/>
            </a:spcAft>
            <a:buChar char="•"/>
          </a:pPr>
          <a:r>
            <a:rPr lang="en-GB" sz="1800" kern="1200"/>
            <a:t>Time-consuming: Coding the data is time-consuming, particularly if you have a large amount of data to analyse.</a:t>
          </a:r>
          <a:endParaRPr lang="en-US" sz="1800" kern="1200"/>
        </a:p>
        <a:p>
          <a:pPr marL="171450" lvl="1" indent="-171450" algn="l" defTabSz="800100">
            <a:lnSpc>
              <a:spcPct val="90000"/>
            </a:lnSpc>
            <a:spcBef>
              <a:spcPct val="0"/>
            </a:spcBef>
            <a:spcAft>
              <a:spcPct val="15000"/>
            </a:spcAft>
            <a:buChar char="•"/>
          </a:pPr>
          <a:r>
            <a:rPr lang="en-GB" sz="1800" kern="1200"/>
            <a:t>Ignores context: Content analysis can ignore the context in which the data was collected which may lead to misinterpretations.</a:t>
          </a:r>
          <a:endParaRPr lang="en-US" sz="1800" kern="1200"/>
        </a:p>
        <a:p>
          <a:pPr marL="171450" lvl="1" indent="-171450" algn="l" defTabSz="800100">
            <a:lnSpc>
              <a:spcPct val="90000"/>
            </a:lnSpc>
            <a:spcBef>
              <a:spcPct val="0"/>
            </a:spcBef>
            <a:spcAft>
              <a:spcPct val="15000"/>
            </a:spcAft>
            <a:buChar char="•"/>
          </a:pPr>
          <a:r>
            <a:rPr lang="en-GB" sz="1800" kern="1200"/>
            <a:t>Reductive approach: Some people argue that content analysis is a reductive approach to qualitative data because it involves breaking the data down into smaller pieces.</a:t>
          </a:r>
          <a:endParaRPr lang="en-US" sz="1800" kern="1200"/>
        </a:p>
      </dsp:txBody>
      <dsp:txXfrm>
        <a:off x="6014114" y="817832"/>
        <a:ext cx="5466102" cy="327966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91AB1A-C669-4C56-AA7A-D7DE065A4843}" type="datetime1">
              <a:rPr lang="en-GB" smtClean="0"/>
              <a:t>11/11/2024</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046ED-6F38-493D-8BA0-9E754A816323}" type="datetime1">
              <a:rPr lang="en-GB" smtClean="0"/>
              <a:pPr/>
              <a:t>11/11/2024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1</a:t>
            </a:fld>
            <a:endParaRPr lang="en-GB"/>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3</a:t>
            </a:fld>
            <a:endParaRPr lang="en-GB"/>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4</a:t>
            </a:fld>
            <a:endParaRPr lang="en-GB"/>
          </a:p>
        </p:txBody>
      </p:sp>
    </p:spTree>
    <p:extLst>
      <p:ext uri="{BB962C8B-B14F-4D97-AF65-F5344CB8AC3E}">
        <p14:creationId xmlns:p14="http://schemas.microsoft.com/office/powerpoint/2010/main" val="1766743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5</a:t>
            </a:fld>
            <a:endParaRPr lang="en-GB"/>
          </a:p>
        </p:txBody>
      </p:sp>
    </p:spTree>
    <p:extLst>
      <p:ext uri="{BB962C8B-B14F-4D97-AF65-F5344CB8AC3E}">
        <p14:creationId xmlns:p14="http://schemas.microsoft.com/office/powerpoint/2010/main" val="1024761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Techniques Based on Mathematics &amp; Statistics such as: </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6</a:t>
            </a:fld>
            <a:endParaRPr lang="en-GB" noProof="0"/>
          </a:p>
        </p:txBody>
      </p:sp>
    </p:spTree>
    <p:extLst>
      <p:ext uri="{BB962C8B-B14F-4D97-AF65-F5344CB8AC3E}">
        <p14:creationId xmlns:p14="http://schemas.microsoft.com/office/powerpoint/2010/main" val="3821894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7</a:t>
            </a:fld>
            <a:endParaRPr lang="en-GB" noProof="0"/>
          </a:p>
        </p:txBody>
      </p:sp>
    </p:spTree>
    <p:extLst>
      <p:ext uri="{BB962C8B-B14F-4D97-AF65-F5344CB8AC3E}">
        <p14:creationId xmlns:p14="http://schemas.microsoft.com/office/powerpoint/2010/main" val="350006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8</a:t>
            </a:fld>
            <a:endParaRPr lang="en-GB" noProof="0"/>
          </a:p>
        </p:txBody>
      </p:sp>
    </p:spTree>
    <p:extLst>
      <p:ext uri="{BB962C8B-B14F-4D97-AF65-F5344CB8AC3E}">
        <p14:creationId xmlns:p14="http://schemas.microsoft.com/office/powerpoint/2010/main" val="1008192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 us look at two examples of techniques used in quantitative data analysis:</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9</a:t>
            </a:fld>
            <a:endParaRPr lang="en-GB" noProof="0"/>
          </a:p>
        </p:txBody>
      </p:sp>
    </p:spTree>
    <p:extLst>
      <p:ext uri="{BB962C8B-B14F-4D97-AF65-F5344CB8AC3E}">
        <p14:creationId xmlns:p14="http://schemas.microsoft.com/office/powerpoint/2010/main" val="1883327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10</a:t>
            </a:fld>
            <a:endParaRPr lang="en-GB" noProof="0"/>
          </a:p>
        </p:txBody>
      </p:sp>
    </p:spTree>
    <p:extLst>
      <p:ext uri="{BB962C8B-B14F-4D97-AF65-F5344CB8AC3E}">
        <p14:creationId xmlns:p14="http://schemas.microsoft.com/office/powerpoint/2010/main" val="3123815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11</a:t>
            </a:fld>
            <a:endParaRPr lang="en-GB" noProof="0"/>
          </a:p>
        </p:txBody>
      </p:sp>
    </p:spTree>
    <p:extLst>
      <p:ext uri="{BB962C8B-B14F-4D97-AF65-F5344CB8AC3E}">
        <p14:creationId xmlns:p14="http://schemas.microsoft.com/office/powerpoint/2010/main" val="840846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There are different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 techniques</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of qualitative data analysis. Which one you choose will depend on the type of data you collect, your preferences, and your research goals.</a:t>
            </a:r>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12</a:t>
            </a:fld>
            <a:endParaRPr lang="en-GB" noProof="0"/>
          </a:p>
        </p:txBody>
      </p:sp>
    </p:spTree>
    <p:extLst>
      <p:ext uri="{BB962C8B-B14F-4D97-AF65-F5344CB8AC3E}">
        <p14:creationId xmlns:p14="http://schemas.microsoft.com/office/powerpoint/2010/main" val="2559208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13</a:t>
            </a:fld>
            <a:endParaRPr lang="en-GB" noProof="0"/>
          </a:p>
        </p:txBody>
      </p:sp>
    </p:spTree>
    <p:extLst>
      <p:ext uri="{BB962C8B-B14F-4D97-AF65-F5344CB8AC3E}">
        <p14:creationId xmlns:p14="http://schemas.microsoft.com/office/powerpoint/2010/main" val="2497065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14</a:t>
            </a:fld>
            <a:endParaRPr lang="en-GB" noProof="0"/>
          </a:p>
        </p:txBody>
      </p:sp>
    </p:spTree>
    <p:extLst>
      <p:ext uri="{BB962C8B-B14F-4D97-AF65-F5344CB8AC3E}">
        <p14:creationId xmlns:p14="http://schemas.microsoft.com/office/powerpoint/2010/main" val="2847003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15</a:t>
            </a:fld>
            <a:endParaRPr lang="en-GB" noProof="0"/>
          </a:p>
        </p:txBody>
      </p:sp>
    </p:spTree>
    <p:extLst>
      <p:ext uri="{BB962C8B-B14F-4D97-AF65-F5344CB8AC3E}">
        <p14:creationId xmlns:p14="http://schemas.microsoft.com/office/powerpoint/2010/main" val="2063343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16</a:t>
            </a:fld>
            <a:endParaRPr lang="en-GB" noProof="0"/>
          </a:p>
        </p:txBody>
      </p:sp>
    </p:spTree>
    <p:extLst>
      <p:ext uri="{BB962C8B-B14F-4D97-AF65-F5344CB8AC3E}">
        <p14:creationId xmlns:p14="http://schemas.microsoft.com/office/powerpoint/2010/main" val="4236126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Is a qualitative research method that focuses on the stories people tell to understand how they make sense of their experiences. Rather than simply examining what people say, it looks at how they structure their accounts, what themes emerge, and the meanings behind their narratives. </a:t>
            </a:r>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17</a:t>
            </a:fld>
            <a:endParaRPr lang="en-GB" noProof="0"/>
          </a:p>
        </p:txBody>
      </p:sp>
    </p:spTree>
    <p:extLst>
      <p:ext uri="{BB962C8B-B14F-4D97-AF65-F5344CB8AC3E}">
        <p14:creationId xmlns:p14="http://schemas.microsoft.com/office/powerpoint/2010/main" val="3685054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Is a qualitative research method that focuses on the stories people tell to understand how they make sense of their experiences. Rather than simply examining what people say, it looks at how they structure their accounts, what themes emerge, and the meanings behind their narratives. </a:t>
            </a:r>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18</a:t>
            </a:fld>
            <a:endParaRPr lang="en-GB" noProof="0"/>
          </a:p>
        </p:txBody>
      </p:sp>
    </p:spTree>
    <p:extLst>
      <p:ext uri="{BB962C8B-B14F-4D97-AF65-F5344CB8AC3E}">
        <p14:creationId xmlns:p14="http://schemas.microsoft.com/office/powerpoint/2010/main" val="2006445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19</a:t>
            </a:fld>
            <a:endParaRPr lang="en-GB" noProof="0"/>
          </a:p>
        </p:txBody>
      </p:sp>
    </p:spTree>
    <p:extLst>
      <p:ext uri="{BB962C8B-B14F-4D97-AF65-F5344CB8AC3E}">
        <p14:creationId xmlns:p14="http://schemas.microsoft.com/office/powerpoint/2010/main" val="3975192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Grounded Theory is a systematic approach to qualitative data analysis that aims to develop theories based on data collected. Useful when no pre-existing theory adequately explains the data. It allows researchers to construct new theories directly from empirical data.</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20</a:t>
            </a:fld>
            <a:endParaRPr lang="en-GB" noProof="0"/>
          </a:p>
        </p:txBody>
      </p:sp>
    </p:spTree>
    <p:extLst>
      <p:ext uri="{BB962C8B-B14F-4D97-AF65-F5344CB8AC3E}">
        <p14:creationId xmlns:p14="http://schemas.microsoft.com/office/powerpoint/2010/main" val="14797999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21</a:t>
            </a:fld>
            <a:endParaRPr lang="en-GB" noProof="0"/>
          </a:p>
        </p:txBody>
      </p:sp>
    </p:spTree>
    <p:extLst>
      <p:ext uri="{BB962C8B-B14F-4D97-AF65-F5344CB8AC3E}">
        <p14:creationId xmlns:p14="http://schemas.microsoft.com/office/powerpoint/2010/main" val="2523929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22</a:t>
            </a:fld>
            <a:endParaRPr lang="en-GB" noProof="0"/>
          </a:p>
        </p:txBody>
      </p:sp>
    </p:spTree>
    <p:extLst>
      <p:ext uri="{BB962C8B-B14F-4D97-AF65-F5344CB8AC3E}">
        <p14:creationId xmlns:p14="http://schemas.microsoft.com/office/powerpoint/2010/main" val="26633776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23</a:t>
            </a:fld>
            <a:endParaRPr lang="en-GB" noProof="0"/>
          </a:p>
        </p:txBody>
      </p:sp>
    </p:spTree>
    <p:extLst>
      <p:ext uri="{BB962C8B-B14F-4D97-AF65-F5344CB8AC3E}">
        <p14:creationId xmlns:p14="http://schemas.microsoft.com/office/powerpoint/2010/main" val="6302995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Aesthetic and Customization Satisfaction</a:t>
            </a:r>
          </a:p>
          <a:p>
            <a:pPr>
              <a:buFont typeface="Arial" panose="020B0604020202020204" pitchFamily="34" charset="0"/>
              <a:buChar char="•"/>
            </a:pPr>
            <a:r>
              <a:rPr lang="en-US" b="1" dirty="0"/>
              <a:t>Theme:</a:t>
            </a:r>
            <a:r>
              <a:rPr lang="en-US" dirty="0"/>
              <a:t> Enjoyment of Appearance and Variety</a:t>
            </a:r>
          </a:p>
          <a:p>
            <a:pPr>
              <a:buFont typeface="Arial" panose="020B0604020202020204" pitchFamily="34" charset="0"/>
              <a:buChar char="•"/>
            </a:pPr>
            <a:r>
              <a:rPr lang="en-US" b="1" dirty="0"/>
              <a:t>Evidence:</a:t>
            </a:r>
            <a:r>
              <a:rPr lang="en-US" dirty="0"/>
              <a:t> The user expresses enjoyment in the number of cases available and takes pleasure in changing them up frequently. They also favor “sleek, modern colors,” indicating an appreciation for the aesthetic appeal and the ability to personalize the device.</a:t>
            </a:r>
          </a:p>
          <a:p>
            <a:pPr>
              <a:buFont typeface="Arial" panose="020B0604020202020204" pitchFamily="34" charset="0"/>
              <a:buChar char="•"/>
            </a:pPr>
            <a:r>
              <a:rPr lang="en-US" b="1" dirty="0"/>
              <a:t>Interpretation:</a:t>
            </a:r>
            <a:r>
              <a:rPr lang="en-US" dirty="0"/>
              <a:t> The customization aspect of the device is important to the user, suggesting that they value aesthetics and the option to make their device feel unique or adaptable to their mood or environment.</a:t>
            </a:r>
          </a:p>
          <a:p>
            <a:r>
              <a:rPr lang="en-US" b="1" dirty="0"/>
              <a:t>2. Social Interaction and Validation</a:t>
            </a:r>
          </a:p>
          <a:p>
            <a:pPr>
              <a:buFont typeface="Arial" panose="020B0604020202020204" pitchFamily="34" charset="0"/>
              <a:buChar char="•"/>
            </a:pPr>
            <a:r>
              <a:rPr lang="en-US" b="1" dirty="0"/>
              <a:t>Theme:</a:t>
            </a:r>
            <a:r>
              <a:rPr lang="en-US" dirty="0"/>
              <a:t> Social Approval and Positive Feedback</a:t>
            </a:r>
          </a:p>
          <a:p>
            <a:pPr>
              <a:buFont typeface="Arial" panose="020B0604020202020204" pitchFamily="34" charset="0"/>
              <a:buChar char="•"/>
            </a:pPr>
            <a:r>
              <a:rPr lang="en-US" b="1" dirty="0"/>
              <a:t>Evidence:</a:t>
            </a:r>
            <a:r>
              <a:rPr lang="en-US" dirty="0"/>
              <a:t> The user mentions receiving compliments from their neighbor when they visit, which may imply that social interactions are enhanced by the appearance of the device.</a:t>
            </a:r>
          </a:p>
          <a:p>
            <a:pPr>
              <a:buFont typeface="Arial" panose="020B0604020202020204" pitchFamily="34" charset="0"/>
              <a:buChar char="•"/>
            </a:pPr>
            <a:r>
              <a:rPr lang="en-US" b="1" dirty="0"/>
              <a:t>Interpretation:</a:t>
            </a:r>
            <a:r>
              <a:rPr lang="en-US" dirty="0"/>
              <a:t> Positive feedback from others may reinforce the user’s satisfaction with the device, linking social approval to their enjoyment. This also suggests that the user enjoys sharing aspects of their device experience with others, making social validation a subtle motivator in their preferences.</a:t>
            </a:r>
          </a:p>
          <a:p>
            <a:r>
              <a:rPr lang="en-US" b="1" dirty="0"/>
              <a:t>3. User Experience Challenges</a:t>
            </a:r>
          </a:p>
          <a:p>
            <a:pPr>
              <a:buFont typeface="Arial" panose="020B0604020202020204" pitchFamily="34" charset="0"/>
              <a:buChar char="•"/>
            </a:pPr>
            <a:r>
              <a:rPr lang="en-US" b="1" dirty="0"/>
              <a:t>Theme:</a:t>
            </a:r>
            <a:r>
              <a:rPr lang="en-US" dirty="0"/>
              <a:t> Issues with Text Display Size</a:t>
            </a:r>
          </a:p>
          <a:p>
            <a:pPr>
              <a:buFont typeface="Arial" panose="020B0604020202020204" pitchFamily="34" charset="0"/>
              <a:buChar char="•"/>
            </a:pPr>
            <a:r>
              <a:rPr lang="en-US" b="1" dirty="0"/>
              <a:t>Evidence:</a:t>
            </a:r>
            <a:r>
              <a:rPr lang="en-US" dirty="0"/>
              <a:t> The user mentions that the “text on the screen is a bit small” and notes a limitation in displaying text if they increase its size, leading to fewer words fitting on the screen.</a:t>
            </a:r>
          </a:p>
          <a:p>
            <a:pPr>
              <a:buFont typeface="Arial" panose="020B0604020202020204" pitchFamily="34" charset="0"/>
              <a:buChar char="•"/>
            </a:pPr>
            <a:r>
              <a:rPr lang="en-US" b="1" dirty="0"/>
              <a:t>Interpretation:</a:t>
            </a:r>
            <a:r>
              <a:rPr lang="en-US" dirty="0"/>
              <a:t> This theme highlights a usability challenge, particularly regarding readability. Although the user doesn't view it as a major issue, this limitation could impact users who require larger text sizes for comfortable reading.</a:t>
            </a:r>
          </a:p>
          <a:p>
            <a:r>
              <a:rPr lang="en-US" b="1" dirty="0"/>
              <a:t>4. Support from Family</a:t>
            </a:r>
          </a:p>
          <a:p>
            <a:pPr>
              <a:buFont typeface="Arial" panose="020B0604020202020204" pitchFamily="34" charset="0"/>
              <a:buChar char="•"/>
            </a:pPr>
            <a:r>
              <a:rPr lang="en-US" b="1" dirty="0"/>
              <a:t>Theme:</a:t>
            </a:r>
            <a:r>
              <a:rPr lang="en-US" dirty="0"/>
              <a:t> Reliance on Assistance</a:t>
            </a:r>
          </a:p>
          <a:p>
            <a:pPr>
              <a:buFont typeface="Arial" panose="020B0604020202020204" pitchFamily="34" charset="0"/>
              <a:buChar char="•"/>
            </a:pPr>
            <a:r>
              <a:rPr lang="en-US" b="1" dirty="0"/>
              <a:t>Evidence:</a:t>
            </a:r>
            <a:r>
              <a:rPr lang="en-US" dirty="0"/>
              <a:t> The user mentions that their daughter is available to help if needed, especially with any difficulties that may arise due to the small text.</a:t>
            </a:r>
          </a:p>
          <a:p>
            <a:pPr>
              <a:buFont typeface="Arial" panose="020B0604020202020204" pitchFamily="34" charset="0"/>
              <a:buChar char="•"/>
            </a:pPr>
            <a:r>
              <a:rPr lang="en-US" b="1" dirty="0"/>
              <a:t>Interpretation:</a:t>
            </a:r>
            <a:r>
              <a:rPr lang="en-US" dirty="0"/>
              <a:t> This suggests a dependency on family support for certain tasks, implying that while the device may have usability issues, the user can overcome them with assistance from loved ones. It also hints at a familial bond, where the daughter plays a role in making the device accessible.</a:t>
            </a:r>
          </a:p>
          <a:p>
            <a:r>
              <a:rPr lang="en-US" b="1" dirty="0"/>
              <a:t>5. Limited Purpose and Usage</a:t>
            </a:r>
          </a:p>
          <a:p>
            <a:pPr>
              <a:buFont typeface="Arial" panose="020B0604020202020204" pitchFamily="34" charset="0"/>
              <a:buChar char="•"/>
            </a:pPr>
            <a:r>
              <a:rPr lang="en-US" b="1" dirty="0"/>
              <a:t>Theme:</a:t>
            </a:r>
            <a:r>
              <a:rPr lang="en-US" dirty="0"/>
              <a:t> Minimal Use for Reading</a:t>
            </a:r>
          </a:p>
          <a:p>
            <a:pPr>
              <a:buFont typeface="Arial" panose="020B0604020202020204" pitchFamily="34" charset="0"/>
              <a:buChar char="•"/>
            </a:pPr>
            <a:r>
              <a:rPr lang="en-US" b="1" dirty="0"/>
              <a:t>Evidence:</a:t>
            </a:r>
            <a:r>
              <a:rPr lang="en-US" dirty="0"/>
              <a:t> The user states that they don’t do much reading on the device, which downplays the importance of the small text issue.</a:t>
            </a:r>
          </a:p>
          <a:p>
            <a:pPr>
              <a:buFont typeface="Arial" panose="020B0604020202020204" pitchFamily="34" charset="0"/>
              <a:buChar char="•"/>
            </a:pPr>
            <a:r>
              <a:rPr lang="en-US" b="1" dirty="0"/>
              <a:t>Interpretation:</a:t>
            </a:r>
            <a:r>
              <a:rPr lang="en-US" dirty="0"/>
              <a:t> This shows that the user primarily uses the device for purposes other than reading, which could make aesthetic and social aspects more important to them than functionality for reading. This could also indicate a user who engages in lighter or non-intensive tasks on the device.</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24</a:t>
            </a:fld>
            <a:endParaRPr lang="en-GB" noProof="0"/>
          </a:p>
        </p:txBody>
      </p:sp>
    </p:spTree>
    <p:extLst>
      <p:ext uri="{BB962C8B-B14F-4D97-AF65-F5344CB8AC3E}">
        <p14:creationId xmlns:p14="http://schemas.microsoft.com/office/powerpoint/2010/main" val="4439885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25</a:t>
            </a:fld>
            <a:endParaRPr lang="en-GB" noProof="0"/>
          </a:p>
        </p:txBody>
      </p:sp>
    </p:spTree>
    <p:extLst>
      <p:ext uri="{BB962C8B-B14F-4D97-AF65-F5344CB8AC3E}">
        <p14:creationId xmlns:p14="http://schemas.microsoft.com/office/powerpoint/2010/main" val="3444906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26</a:t>
            </a:fld>
            <a:endParaRPr lang="en-GB" noProof="0"/>
          </a:p>
        </p:txBody>
      </p:sp>
    </p:spTree>
    <p:extLst>
      <p:ext uri="{BB962C8B-B14F-4D97-AF65-F5344CB8AC3E}">
        <p14:creationId xmlns:p14="http://schemas.microsoft.com/office/powerpoint/2010/main" val="12339070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27</a:t>
            </a:fld>
            <a:endParaRPr lang="en-GB" noProof="0"/>
          </a:p>
        </p:txBody>
      </p:sp>
    </p:spTree>
    <p:extLst>
      <p:ext uri="{BB962C8B-B14F-4D97-AF65-F5344CB8AC3E}">
        <p14:creationId xmlns:p14="http://schemas.microsoft.com/office/powerpoint/2010/main" val="38541728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35</a:t>
            </a:fld>
            <a:endParaRPr lang="en-GB" noProof="0"/>
          </a:p>
        </p:txBody>
      </p:sp>
    </p:spTree>
    <p:extLst>
      <p:ext uri="{BB962C8B-B14F-4D97-AF65-F5344CB8AC3E}">
        <p14:creationId xmlns:p14="http://schemas.microsoft.com/office/powerpoint/2010/main" val="1957802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37</a:t>
            </a:fld>
            <a:endParaRPr lang="en-GB"/>
          </a:p>
        </p:txBody>
      </p:sp>
    </p:spTree>
    <p:extLst>
      <p:ext uri="{BB962C8B-B14F-4D97-AF65-F5344CB8AC3E}">
        <p14:creationId xmlns:p14="http://schemas.microsoft.com/office/powerpoint/2010/main" val="42676044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4422"/>
            <a:ext cx="12192000" cy="6858000"/>
          </a:xfrm>
          <a:prstGeom prst="rect">
            <a:avLst/>
          </a:prstGeom>
        </p:spPr>
        <p:txBody>
          <a:bodyPr rtlCol="0"/>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p:nvPicPr>
        <p:blipFill rotWithShape="1">
          <a:blip r:embed="rId3">
            <a:alphaModFix amt="35000"/>
          </a:blip>
          <a:srcRect r="39275" b="37247"/>
          <a:stretch/>
        </p:blipFill>
        <p:spPr>
          <a:xfrm>
            <a:off x="8414557" y="4493758"/>
            <a:ext cx="3655522" cy="2361018"/>
          </a:xfrm>
          <a:prstGeom prst="rect">
            <a:avLst/>
          </a:prstGeom>
        </p:spPr>
      </p:pic>
      <p:sp>
        <p:nvSpPr>
          <p:cNvPr id="4" name="Hexagon 3">
            <a:extLst>
              <a:ext uri="{FF2B5EF4-FFF2-40B4-BE49-F238E27FC236}">
                <a16:creationId xmlns:a16="http://schemas.microsoft.com/office/drawing/2014/main" id="{02EFDB6D-A908-36D7-35D8-AB8FD9008337}"/>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9AE87C3-49B8-1C89-4D2B-8F65D68539B9}"/>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Hexagon 6">
            <a:extLst>
              <a:ext uri="{FF2B5EF4-FFF2-40B4-BE49-F238E27FC236}">
                <a16:creationId xmlns:a16="http://schemas.microsoft.com/office/drawing/2014/main" id="{D94E2D36-2BEB-9F15-F2E3-84FEAB512991}"/>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Hexagon 7">
            <a:extLst>
              <a:ext uri="{FF2B5EF4-FFF2-40B4-BE49-F238E27FC236}">
                <a16:creationId xmlns:a16="http://schemas.microsoft.com/office/drawing/2014/main" id="{AA0B740B-2FE0-19FB-9199-41E8FB6371E1}"/>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Hexagon 8">
            <a:extLst>
              <a:ext uri="{FF2B5EF4-FFF2-40B4-BE49-F238E27FC236}">
                <a16:creationId xmlns:a16="http://schemas.microsoft.com/office/drawing/2014/main" id="{2782235E-6025-12F9-8881-306369DB7C6B}"/>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Footer Placeholder 4">
            <a:extLst>
              <a:ext uri="{FF2B5EF4-FFF2-40B4-BE49-F238E27FC236}">
                <a16:creationId xmlns:a16="http://schemas.microsoft.com/office/drawing/2014/main" id="{8D1A6C30-9E69-C642-8AE1-30A8CEC2A28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1" name="Picture 10">
            <a:hlinkClick r:id="rId2"/>
            <a:extLst>
              <a:ext uri="{FF2B5EF4-FFF2-40B4-BE49-F238E27FC236}">
                <a16:creationId xmlns:a16="http://schemas.microsoft.com/office/drawing/2014/main" id="{F62EE852-B994-CAD3-56BB-7699FA84C3BB}"/>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1251661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5" name="Rectangle 4" descr="Tall office building looking up">
            <a:extLst>
              <a:ext uri="{FF2B5EF4-FFF2-40B4-BE49-F238E27FC236}">
                <a16:creationId xmlns:a16="http://schemas.microsoft.com/office/drawing/2014/main" id="{083ED6C1-B896-0EE1-0EB4-70D463229E1B}"/>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Footer Placeholder 4">
            <a:extLst>
              <a:ext uri="{FF2B5EF4-FFF2-40B4-BE49-F238E27FC236}">
                <a16:creationId xmlns:a16="http://schemas.microsoft.com/office/drawing/2014/main" id="{F2C5E802-5A33-10B1-00C1-FDD2A058D40D}"/>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8" name="Picture 7">
            <a:hlinkClick r:id="rId2"/>
            <a:extLst>
              <a:ext uri="{FF2B5EF4-FFF2-40B4-BE49-F238E27FC236}">
                <a16:creationId xmlns:a16="http://schemas.microsoft.com/office/drawing/2014/main" id="{28B9E23B-EC53-A54A-D68B-4DE461EA5171}"/>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222612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6" name="Oval 5" descr="Tall office building looking up">
            <a:extLst>
              <a:ext uri="{FF2B5EF4-FFF2-40B4-BE49-F238E27FC236}">
                <a16:creationId xmlns:a16="http://schemas.microsoft.com/office/drawing/2014/main" id="{DD4EA124-ED41-ED8F-A0D9-A44B1A06F87D}"/>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Oval 6">
            <a:extLst>
              <a:ext uri="{FF2B5EF4-FFF2-40B4-BE49-F238E27FC236}">
                <a16:creationId xmlns:a16="http://schemas.microsoft.com/office/drawing/2014/main" id="{61AD970E-C52F-C6BC-9937-32C889405FB4}"/>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Oval 7">
            <a:extLst>
              <a:ext uri="{FF2B5EF4-FFF2-40B4-BE49-F238E27FC236}">
                <a16:creationId xmlns:a16="http://schemas.microsoft.com/office/drawing/2014/main" id="{7C0B8C96-B41F-8535-3716-1E878FEDCC6F}"/>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Oval 9">
            <a:extLst>
              <a:ext uri="{FF2B5EF4-FFF2-40B4-BE49-F238E27FC236}">
                <a16:creationId xmlns:a16="http://schemas.microsoft.com/office/drawing/2014/main" id="{82257809-DB42-5B9A-ECAE-338D697DCCDD}"/>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Footer Placeholder 4">
            <a:extLst>
              <a:ext uri="{FF2B5EF4-FFF2-40B4-BE49-F238E27FC236}">
                <a16:creationId xmlns:a16="http://schemas.microsoft.com/office/drawing/2014/main" id="{22764E1D-14C7-954C-925F-75B8EDD9107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6" name="Picture 15">
            <a:hlinkClick r:id="rId2"/>
            <a:extLst>
              <a:ext uri="{FF2B5EF4-FFF2-40B4-BE49-F238E27FC236}">
                <a16:creationId xmlns:a16="http://schemas.microsoft.com/office/drawing/2014/main" id="{82AD0F96-3697-FF35-4CA4-B06D47CB234A}"/>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1162279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3" name="Rectangle 2">
            <a:extLst>
              <a:ext uri="{FF2B5EF4-FFF2-40B4-BE49-F238E27FC236}">
                <a16:creationId xmlns:a16="http://schemas.microsoft.com/office/drawing/2014/main" id="{69800AAB-297F-072F-EB54-1320773DC342}"/>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Rectangle 3">
            <a:extLst>
              <a:ext uri="{FF2B5EF4-FFF2-40B4-BE49-F238E27FC236}">
                <a16:creationId xmlns:a16="http://schemas.microsoft.com/office/drawing/2014/main" id="{F4CC3AD9-AEB3-02EC-1CC1-2AC54487BB35}"/>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Rectangle 4">
            <a:extLst>
              <a:ext uri="{FF2B5EF4-FFF2-40B4-BE49-F238E27FC236}">
                <a16:creationId xmlns:a16="http://schemas.microsoft.com/office/drawing/2014/main" id="{13B94151-B597-BF9E-A282-F052320680B6}"/>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517882944"/>
      </p:ext>
    </p:extLst>
  </p:cSld>
  <p:clrMapOvr>
    <a:masterClrMapping/>
  </p:clrMapOvr>
  <p:extLst>
    <p:ext uri="{DCECCB84-F9BA-43D5-87BE-67443E8EF086}">
      <p15:sldGuideLst xmlns:p15="http://schemas.microsoft.com/office/powerpoint/2012/main">
        <p15:guide id="4" orient="horz" pos="504" userDrawn="1">
          <p15:clr>
            <a:srgbClr val="FBAE40"/>
          </p15:clr>
        </p15:guide>
        <p15:guide id="5" pos="3840" userDrawn="1">
          <p15:clr>
            <a:srgbClr val="FBAE40"/>
          </p15:clr>
        </p15:guide>
        <p15:guide id="6"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4573ECC6-14C6-5675-355F-F3E33088BECC}"/>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6658D6F0-8200-47F7-8A3C-8D72A49F60CF}"/>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5FD7A81C-1120-7827-F9B5-40E3A2932699}"/>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361238298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130762644"/>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
        <p:nvSpPr>
          <p:cNvPr id="3" name="Hexagon 2">
            <a:extLst>
              <a:ext uri="{FF2B5EF4-FFF2-40B4-BE49-F238E27FC236}">
                <a16:creationId xmlns:a16="http://schemas.microsoft.com/office/drawing/2014/main" id="{7ECF9BC1-9710-8066-D8F0-9A364F14DD6E}"/>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B101F1A2-2A5D-DAAD-08BC-B70C60C99436}"/>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147B027-BA88-EC0D-B295-6CEC0B55EDC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EC4C61D9-C668-CF96-8B2A-9C0A54BC0957}"/>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702842343"/>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5281028A-12C2-5C9C-4B0F-A005E8B5CA0A}"/>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Hexagon 2">
            <a:extLst>
              <a:ext uri="{FF2B5EF4-FFF2-40B4-BE49-F238E27FC236}">
                <a16:creationId xmlns:a16="http://schemas.microsoft.com/office/drawing/2014/main" id="{B0A491FE-8686-1E36-8F8D-0053ADE3F85F}"/>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482B3B29-735C-82BF-92B5-1FD3E5F764DB}"/>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912919237"/>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270313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3091080582"/>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23F41645-0093-1ABA-9570-1D8070EC9D55}"/>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E98CF0B3-BFB7-DA61-98B1-3EA565BD04C2}"/>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B1D4E483-67D5-E854-4960-9CDF1369CAB5}"/>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1093257948"/>
      </p:ext>
    </p:extLst>
  </p:cSld>
  <p:clrMapOvr>
    <a:masterClrMapping/>
  </p:clrMapOvr>
  <p:extLst>
    <p:ext uri="{DCECCB84-F9BA-43D5-87BE-67443E8EF086}">
      <p15:sldGuideLst xmlns:p15="http://schemas.microsoft.com/office/powerpoint/2012/main">
        <p15:guide id="3" orient="horz" pos="1272" userDrawn="1">
          <p15:clr>
            <a:srgbClr val="FBAE40"/>
          </p15:clr>
        </p15:guide>
        <p15:guide id="4"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424ACC82-4D1F-BBEC-8CED-3B78CD4AAFDE}"/>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1A6161CF-7ADC-7809-147B-486701FC832E}"/>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7" name="Hexagon 6">
            <a:extLst>
              <a:ext uri="{FF2B5EF4-FFF2-40B4-BE49-F238E27FC236}">
                <a16:creationId xmlns:a16="http://schemas.microsoft.com/office/drawing/2014/main" id="{F9241FBE-9EE0-D6B5-67DF-24381A2423BB}"/>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Tree>
    <p:extLst>
      <p:ext uri="{BB962C8B-B14F-4D97-AF65-F5344CB8AC3E}">
        <p14:creationId xmlns:p14="http://schemas.microsoft.com/office/powerpoint/2010/main" val="400115686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5FF3E98C-9CC3-2BF7-BAD0-9DDDF7ACAA54}"/>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Oval 2">
            <a:extLst>
              <a:ext uri="{FF2B5EF4-FFF2-40B4-BE49-F238E27FC236}">
                <a16:creationId xmlns:a16="http://schemas.microsoft.com/office/drawing/2014/main" id="{4402D312-514B-7332-35D6-F379B3D8075D}"/>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Oval 3">
            <a:extLst>
              <a:ext uri="{FF2B5EF4-FFF2-40B4-BE49-F238E27FC236}">
                <a16:creationId xmlns:a16="http://schemas.microsoft.com/office/drawing/2014/main" id="{B54B703C-4A3A-D244-6A9D-A072DBF1B83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4677673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822035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781487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143995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6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686324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782706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187016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hyperlink" Target="https://moodle.bolton.ac.uk/course/view.php?id=23108"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93E0959-6855-4447-BAEC-D32B47712F07}"/>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COM7302</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30">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sp>
        <p:nvSpPr>
          <p:cNvPr id="4" name="TextBox 3">
            <a:extLst>
              <a:ext uri="{FF2B5EF4-FFF2-40B4-BE49-F238E27FC236}">
                <a16:creationId xmlns:a16="http://schemas.microsoft.com/office/drawing/2014/main" id="{5F9A56F2-8AAA-49B3-034C-0A11337F00E3}"/>
              </a:ext>
            </a:extLst>
          </p:cNvPr>
          <p:cNvSpPr txBox="1"/>
          <p:nvPr/>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30"/>
            <a:extLst>
              <a:ext uri="{FF2B5EF4-FFF2-40B4-BE49-F238E27FC236}">
                <a16:creationId xmlns:a16="http://schemas.microsoft.com/office/drawing/2014/main" id="{8E68A7DE-B583-DD36-413D-10F7AA7F3877}"/>
              </a:ext>
            </a:extLst>
          </p:cNvPr>
          <p:cNvPicPr>
            <a:picLocks noChangeAspect="1"/>
          </p:cNvPicPr>
          <p:nvPr/>
        </p:nvPicPr>
        <p:blipFill rotWithShape="1">
          <a:blip r:embed="rId31">
            <a:alphaModFix amt="35000"/>
          </a:blip>
          <a:srcRect r="39275" b="37247"/>
          <a:stretch/>
        </p:blipFill>
        <p:spPr>
          <a:xfrm>
            <a:off x="8077200" y="4200345"/>
            <a:ext cx="4114800" cy="2657655"/>
          </a:xfrm>
          <a:prstGeom prst="rect">
            <a:avLst/>
          </a:prstGeom>
        </p:spPr>
      </p:pic>
      <p:sp>
        <p:nvSpPr>
          <p:cNvPr id="2" name="Footer Placeholder 4">
            <a:extLst>
              <a:ext uri="{FF2B5EF4-FFF2-40B4-BE49-F238E27FC236}">
                <a16:creationId xmlns:a16="http://schemas.microsoft.com/office/drawing/2014/main" id="{94CA3EC1-26DA-C60F-3E7B-54795CFBAC8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COM7302</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30">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sp>
        <p:nvSpPr>
          <p:cNvPr id="3" name="TextBox 2">
            <a:extLst>
              <a:ext uri="{FF2B5EF4-FFF2-40B4-BE49-F238E27FC236}">
                <a16:creationId xmlns:a16="http://schemas.microsoft.com/office/drawing/2014/main" id="{3DD4755C-F02F-1E14-47EF-91EA16DAF6B6}"/>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7" name="Picture 6">
            <a:hlinkClick r:id="rId30"/>
            <a:extLst>
              <a:ext uri="{FF2B5EF4-FFF2-40B4-BE49-F238E27FC236}">
                <a16:creationId xmlns:a16="http://schemas.microsoft.com/office/drawing/2014/main" id="{314EDD93-667C-6B79-9896-AB233E43041B}"/>
              </a:ext>
            </a:extLst>
          </p:cNvPr>
          <p:cNvPicPr>
            <a:picLocks noChangeAspect="1"/>
          </p:cNvPicPr>
          <p:nvPr userDrawn="1"/>
        </p:nvPicPr>
        <p:blipFill rotWithShape="1">
          <a:blip r:embed="rId31">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1054295729"/>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 id="2147483689" r:id="rId15"/>
    <p:sldLayoutId id="2147483690" r:id="rId16"/>
    <p:sldLayoutId id="2147483688" r:id="rId17"/>
    <p:sldLayoutId id="2147483681" r:id="rId18"/>
    <p:sldLayoutId id="2147483680" r:id="rId19"/>
    <p:sldLayoutId id="2147483682" r:id="rId20"/>
    <p:sldLayoutId id="2147483677" r:id="rId21"/>
    <p:sldLayoutId id="2147483654" r:id="rId22"/>
    <p:sldLayoutId id="2147483685" r:id="rId23"/>
    <p:sldLayoutId id="2147483684" r:id="rId24"/>
    <p:sldLayoutId id="2147483686" r:id="rId25"/>
    <p:sldLayoutId id="2147483687" r:id="rId26"/>
    <p:sldLayoutId id="2147483675" r:id="rId27"/>
    <p:sldLayoutId id="2147483704" r:id="rId28"/>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modules.bolton.ac.uk/COM7302/2024-25"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moodle.bolton.ac.uk/course/view.php?id=32407"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hyperlink" Target="https://www.youtube.com/watch?v=1ragLf_TbNo"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hyperlink" Target="https://www.pinterest.com/pin/148126275219944040/"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hyperlink" Target="https://userpilot.com/blog/user-feedback-best-practices/" TargetMode="External"/><Relationship Id="rId2" Type="http://schemas.openxmlformats.org/officeDocument/2006/relationships/notesSlide" Target="../notesSlides/notesSlide13.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0.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0.xml"/><Relationship Id="rId4" Type="http://schemas.openxmlformats.org/officeDocument/2006/relationships/hyperlink" Target="https://www.mauricioag.com/posts/what-is-a-narrative-analysis"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4.xml"/><Relationship Id="rId4" Type="http://schemas.openxmlformats.org/officeDocument/2006/relationships/hyperlink" Target="https://www.animalia-life.club/qa/pictures/qualitative-data.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2.xml"/><Relationship Id="rId1" Type="http://schemas.openxmlformats.org/officeDocument/2006/relationships/slideLayout" Target="../slideLayouts/slideLayout20.xml"/><Relationship Id="rId4" Type="http://schemas.openxmlformats.org/officeDocument/2006/relationships/hyperlink" Target="https://www.pinterest.com/pin/441563938464071213/"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wallpaperaccess.com/funny-science" TargetMode="External"/><Relationship Id="rId2" Type="http://schemas.openxmlformats.org/officeDocument/2006/relationships/image" Target="../media/image23.jp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hyperlink" Target="http://culturefit.com/developing-2016-trends-computer-sciences-bradley-univers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8969164" y="5646852"/>
            <a:ext cx="3222836" cy="1168530"/>
          </a:xfrm>
        </p:spPr>
        <p:txBody>
          <a:bodyPr rtlCol="0"/>
          <a:lstStyle/>
          <a:p>
            <a:pPr rtl="0"/>
            <a:r>
              <a:rPr lang="en-GB" dirty="0"/>
              <a:t>Session 1</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2133592" y="2480689"/>
            <a:ext cx="8584027" cy="1695637"/>
          </a:xfrm>
        </p:spPr>
        <p:txBody>
          <a:bodyPr rtlCol="0"/>
          <a:lstStyle/>
          <a:p>
            <a:pPr algn="ctr"/>
            <a:r>
              <a:rPr lang="en-GB" dirty="0">
                <a:hlinkClick r:id="rId4">
                  <a:extLst>
                    <a:ext uri="{A12FA001-AC4F-418D-AE19-62706E023703}">
                      <ahyp:hlinkClr xmlns:ahyp="http://schemas.microsoft.com/office/drawing/2018/hyperlinkcolor" val="tx"/>
                    </a:ext>
                  </a:extLst>
                </a:hlinkClick>
              </a:rPr>
              <a:t>COM7302 – Research Methods</a:t>
            </a:r>
            <a:br>
              <a:rPr lang="en-GB" dirty="0"/>
            </a:br>
            <a:br>
              <a:rPr lang="en-GB" dirty="0"/>
            </a:br>
            <a:r>
              <a:rPr lang="en-GB" sz="4800" dirty="0"/>
              <a:t>Welcome</a:t>
            </a:r>
            <a:endParaRPr lang="en-GB" dirty="0"/>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 of magazines on table">
            <a:extLst>
              <a:ext uri="{FF2B5EF4-FFF2-40B4-BE49-F238E27FC236}">
                <a16:creationId xmlns:a16="http://schemas.microsoft.com/office/drawing/2014/main" id="{90064EA3-F8A2-BEDD-270C-568CC3279CA5}"/>
              </a:ext>
            </a:extLst>
          </p:cNvPr>
          <p:cNvPicPr>
            <a:picLocks noChangeAspect="1"/>
          </p:cNvPicPr>
          <p:nvPr/>
        </p:nvPicPr>
        <p:blipFill>
          <a:blip r:embed="rId2"/>
          <a:srcRect t="13056" b="2675"/>
          <a:stretch/>
        </p:blipFill>
        <p:spPr>
          <a:xfrm>
            <a:off x="20" y="0"/>
            <a:ext cx="12191980" cy="6857990"/>
          </a:xfrm>
          <a:prstGeom prst="rect">
            <a:avLst/>
          </a:prstGeom>
          <a:noFill/>
        </p:spPr>
      </p:pic>
      <p:sp>
        <p:nvSpPr>
          <p:cNvPr id="2" name="Title 1">
            <a:extLst>
              <a:ext uri="{FF2B5EF4-FFF2-40B4-BE49-F238E27FC236}">
                <a16:creationId xmlns:a16="http://schemas.microsoft.com/office/drawing/2014/main" id="{F3DAD0F6-6A3B-16A5-4F4C-79D9D2DE98F6}"/>
              </a:ext>
            </a:extLst>
          </p:cNvPr>
          <p:cNvSpPr>
            <a:spLocks noGrp="1"/>
          </p:cNvSpPr>
          <p:nvPr>
            <p:ph type="title"/>
          </p:nvPr>
        </p:nvSpPr>
        <p:spPr>
          <a:xfrm>
            <a:off x="2510726" y="2576760"/>
            <a:ext cx="7702658" cy="1695637"/>
          </a:xfrm>
        </p:spPr>
        <p:txBody>
          <a:bodyPr>
            <a:normAutofit/>
          </a:bodyPr>
          <a:lstStyle/>
          <a:p>
            <a:pPr algn="ctr"/>
            <a:r>
              <a:rPr lang="en-GB" dirty="0">
                <a:solidFill>
                  <a:srgbClr val="242424"/>
                </a:solidFill>
                <a:latin typeface="inherit"/>
                <a:ea typeface="Times New Roman" panose="02020603050405020304" pitchFamily="18" charset="0"/>
                <a:cs typeface="Arial" panose="020B0604020202020204" pitchFamily="34" charset="0"/>
              </a:rPr>
              <a:t>Qualitative Data Analysis Techniques</a:t>
            </a:r>
            <a:endParaRPr lang="en-GB" dirty="0">
              <a:solidFill>
                <a:schemeClr val="tx1"/>
              </a:solidFill>
            </a:endParaRPr>
          </a:p>
        </p:txBody>
      </p:sp>
      <p:sp>
        <p:nvSpPr>
          <p:cNvPr id="12" name="Text Placeholder 4">
            <a:extLst>
              <a:ext uri="{FF2B5EF4-FFF2-40B4-BE49-F238E27FC236}">
                <a16:creationId xmlns:a16="http://schemas.microsoft.com/office/drawing/2014/main" id="{094D27C3-D109-4500-2CCD-048AC14779BD}"/>
              </a:ext>
            </a:extLst>
          </p:cNvPr>
          <p:cNvSpPr>
            <a:spLocks noGrp="1"/>
          </p:cNvSpPr>
          <p:nvPr>
            <p:ph type="body" sz="quarter" idx="13"/>
          </p:nvPr>
        </p:nvSpPr>
        <p:spPr>
          <a:xfrm>
            <a:off x="3487450" y="4396668"/>
            <a:ext cx="5217100" cy="1168530"/>
          </a:xfrm>
        </p:spPr>
        <p:txBody>
          <a:bodyPr/>
          <a:lstStyle/>
          <a:p>
            <a:pPr algn="ctr"/>
            <a:r>
              <a:rPr lang="en-US" sz="2400" dirty="0">
                <a:solidFill>
                  <a:schemeClr val="tx1"/>
                </a:solidFill>
              </a:rPr>
              <a:t>Lecturer 8</a:t>
            </a:r>
          </a:p>
        </p:txBody>
      </p:sp>
    </p:spTree>
    <p:extLst>
      <p:ext uri="{BB962C8B-B14F-4D97-AF65-F5344CB8AC3E}">
        <p14:creationId xmlns:p14="http://schemas.microsoft.com/office/powerpoint/2010/main" val="35195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Placeholder 10" descr="close up of building">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a:blip r:embed="rId3"/>
          <a:srcRect l="15351" r="15351"/>
          <a:stretch>
            <a:fillRect/>
          </a:stretch>
        </p:blipFill>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522177" y="2151782"/>
            <a:ext cx="6164349" cy="3560763"/>
          </a:xfrm>
        </p:spPr>
        <p:txBody>
          <a:bodyPr rtlCol="0">
            <a:normAutofit fontScale="85000" lnSpcReduction="20000"/>
          </a:bodyPr>
          <a:lstStyle/>
          <a:p>
            <a:r>
              <a:rPr lang="en-GB" sz="2800" dirty="0"/>
              <a:t>…understand and apply qualitative data analysis techniques specifically relevant to fields like Computer Science, Information Systems, and Cybersecurity.</a:t>
            </a:r>
          </a:p>
          <a:p>
            <a:r>
              <a:rPr lang="en-GB" sz="2800" dirty="0"/>
              <a:t>you'll be able to identify and apply key qualitative data analysis methods in your research projects.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400" y="805213"/>
            <a:ext cx="4784436" cy="830997"/>
          </a:xfrm>
        </p:spPr>
        <p:txBody>
          <a:bodyPr rtlCol="0"/>
          <a:lstStyle/>
          <a:p>
            <a:pPr rtl="0"/>
            <a:r>
              <a:rPr lang="en-GB" sz="2400" dirty="0"/>
              <a:t>By the end of the session, you should be able to…</a:t>
            </a:r>
          </a:p>
        </p:txBody>
      </p:sp>
    </p:spTree>
    <p:extLst>
      <p:ext uri="{BB962C8B-B14F-4D97-AF65-F5344CB8AC3E}">
        <p14:creationId xmlns:p14="http://schemas.microsoft.com/office/powerpoint/2010/main" val="1341901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Placeholder 9" descr="Escalators">
            <a:extLst>
              <a:ext uri="{FF2B5EF4-FFF2-40B4-BE49-F238E27FC236}">
                <a16:creationId xmlns:a16="http://schemas.microsoft.com/office/drawing/2014/main" id="{067ABCFB-135D-465A-8D06-3042F9E75BB6}"/>
              </a:ext>
            </a:extLst>
          </p:cNvPr>
          <p:cNvPicPr>
            <a:picLocks noGrp="1" noChangeAspect="1"/>
          </p:cNvPicPr>
          <p:nvPr>
            <p:ph type="pic" sz="quarter" idx="10"/>
          </p:nvPr>
        </p:nvPicPr>
        <p:blipFill rotWithShape="1">
          <a:blip r:embed="rId3">
            <a:alphaModFix amt="60000"/>
          </a:blip>
          <a:srcRect t="10193" b="10193"/>
          <a:stretch/>
        </p:blipFill>
        <p:spPr/>
      </p:pic>
      <p:sp>
        <p:nvSpPr>
          <p:cNvPr id="11" name="Title 10">
            <a:extLst>
              <a:ext uri="{FF2B5EF4-FFF2-40B4-BE49-F238E27FC236}">
                <a16:creationId xmlns:a16="http://schemas.microsoft.com/office/drawing/2014/main" id="{3D9E7E43-0082-4819-947F-94AD5664FC83}"/>
              </a:ext>
            </a:extLst>
          </p:cNvPr>
          <p:cNvSpPr>
            <a:spLocks noGrp="1"/>
          </p:cNvSpPr>
          <p:nvPr>
            <p:ph type="title"/>
          </p:nvPr>
        </p:nvSpPr>
        <p:spPr>
          <a:xfrm>
            <a:off x="3857105" y="1529685"/>
            <a:ext cx="4563688" cy="1695637"/>
          </a:xfrm>
        </p:spPr>
        <p:txBody>
          <a:bodyPr rtlCol="0"/>
          <a:lstStyle/>
          <a:p>
            <a:pPr rtl="0" eaLnBrk="1" latinLnBrk="0" hangingPunct="1"/>
            <a:r>
              <a:rPr lang="en-GB" sz="4800" kern="1200">
                <a:effectLst/>
                <a:latin typeface="Calibri Light" panose="020F0302020204030204" pitchFamily="34" charset="0"/>
                <a:ea typeface="+mn-ea"/>
                <a:cs typeface="+mn-cs"/>
              </a:rPr>
              <a:t>All the resources will be posted to the Moodle page </a:t>
            </a:r>
            <a:endParaRPr lang="en-GB"/>
          </a:p>
        </p:txBody>
      </p:sp>
      <p:sp>
        <p:nvSpPr>
          <p:cNvPr id="3" name="Rectangle 2">
            <a:extLst>
              <a:ext uri="{FF2B5EF4-FFF2-40B4-BE49-F238E27FC236}">
                <a16:creationId xmlns:a16="http://schemas.microsoft.com/office/drawing/2014/main" id="{47310966-9752-4035-9DD5-FFBC93FC094D}"/>
              </a:ext>
              <a:ext uri="{C183D7F6-B498-43B3-948B-1728B52AA6E4}">
                <adec:decorative xmlns:adec="http://schemas.microsoft.com/office/drawing/2017/decorative" val="1"/>
              </a:ext>
            </a:extLst>
          </p:cNvPr>
          <p:cNvSpPr/>
          <p:nvPr/>
        </p:nvSpPr>
        <p:spPr>
          <a:xfrm>
            <a:off x="3451167" y="1002041"/>
            <a:ext cx="5289665" cy="4853917"/>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Rectangle 5">
            <a:extLst>
              <a:ext uri="{FF2B5EF4-FFF2-40B4-BE49-F238E27FC236}">
                <a16:creationId xmlns:a16="http://schemas.microsoft.com/office/drawing/2014/main" id="{BFF64F07-1F8D-4F69-87E4-03E837E975EE}"/>
              </a:ext>
              <a:ext uri="{C183D7F6-B498-43B3-948B-1728B52AA6E4}">
                <adec:decorative xmlns:adec="http://schemas.microsoft.com/office/drawing/2017/decorative" val="1"/>
              </a:ext>
            </a:extLst>
          </p:cNvPr>
          <p:cNvSpPr/>
          <p:nvPr/>
        </p:nvSpPr>
        <p:spPr>
          <a:xfrm>
            <a:off x="2665371" y="1181122"/>
            <a:ext cx="459924" cy="4599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8" name="Rectangle 7">
            <a:extLst>
              <a:ext uri="{FF2B5EF4-FFF2-40B4-BE49-F238E27FC236}">
                <a16:creationId xmlns:a16="http://schemas.microsoft.com/office/drawing/2014/main" id="{FD0393EC-C7F4-46AA-8768-FF7CD4DE0552}"/>
              </a:ext>
              <a:ext uri="{C183D7F6-B498-43B3-948B-1728B52AA6E4}">
                <adec:decorative xmlns:adec="http://schemas.microsoft.com/office/drawing/2017/decorative" val="1"/>
              </a:ext>
            </a:extLst>
          </p:cNvPr>
          <p:cNvSpPr/>
          <p:nvPr/>
        </p:nvSpPr>
        <p:spPr>
          <a:xfrm>
            <a:off x="8897680" y="6035039"/>
            <a:ext cx="284372" cy="2843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4" name="Text Placeholder 3">
            <a:extLst>
              <a:ext uri="{FF2B5EF4-FFF2-40B4-BE49-F238E27FC236}">
                <a16:creationId xmlns:a16="http://schemas.microsoft.com/office/drawing/2014/main" id="{05CF12A4-176A-9361-7643-296916ED5F8D}"/>
              </a:ext>
            </a:extLst>
          </p:cNvPr>
          <p:cNvSpPr>
            <a:spLocks noGrp="1"/>
          </p:cNvSpPr>
          <p:nvPr>
            <p:ph type="body" sz="quarter" idx="11"/>
          </p:nvPr>
        </p:nvSpPr>
        <p:spPr>
          <a:xfrm>
            <a:off x="2750679" y="4227363"/>
            <a:ext cx="5902715" cy="490538"/>
          </a:xfrm>
        </p:spPr>
        <p:txBody>
          <a:bodyPr/>
          <a:lstStyle/>
          <a:p>
            <a:r>
              <a:rPr lang="en-GB" sz="1600" dirty="0">
                <a:hlinkClick r:id="rId4"/>
              </a:rPr>
              <a:t>https://moodle.bolton.ac.uk/course/view.php?id=32407</a:t>
            </a:r>
            <a:endParaRPr lang="en-GB" sz="1600" dirty="0"/>
          </a:p>
        </p:txBody>
      </p:sp>
    </p:spTree>
    <p:extLst>
      <p:ext uri="{BB962C8B-B14F-4D97-AF65-F5344CB8AC3E}">
        <p14:creationId xmlns:p14="http://schemas.microsoft.com/office/powerpoint/2010/main" val="111025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605905" y="1767089"/>
            <a:ext cx="5690062" cy="3819064"/>
          </a:xfrm>
        </p:spPr>
        <p:txBody>
          <a:bodyPr rtlCol="0"/>
          <a:lstStyle/>
          <a:p>
            <a:pPr algn="just"/>
            <a:r>
              <a:rPr lang="en-GB" dirty="0"/>
              <a:t>What is qualitative research? </a:t>
            </a:r>
          </a:p>
          <a:p>
            <a:pPr algn="just"/>
            <a:r>
              <a:rPr lang="en-GB" dirty="0"/>
              <a:t>Qualitative data collection. </a:t>
            </a:r>
          </a:p>
          <a:p>
            <a:pPr algn="just"/>
            <a:r>
              <a:rPr lang="en-GB" dirty="0"/>
              <a:t>Qualitative data analysis.</a:t>
            </a:r>
          </a:p>
          <a:p>
            <a:pPr algn="just"/>
            <a:endParaRPr lang="en-GB" dirty="0"/>
          </a:p>
          <a:p>
            <a:pPr marL="0" indent="0" algn="just">
              <a:buNone/>
            </a:pPr>
            <a:endParaRPr lang="en-GB" dirty="0"/>
          </a:p>
          <a:p>
            <a:pPr marL="0" indent="0" algn="just">
              <a:buNone/>
            </a:pPr>
            <a:endParaRPr lang="en-GB" dirty="0"/>
          </a:p>
          <a:p>
            <a:pPr marL="0" indent="0" algn="just">
              <a:buNone/>
            </a:pPr>
            <a:endParaRPr lang="en-GB" dirty="0"/>
          </a:p>
          <a:p>
            <a:pPr marL="0" indent="0" algn="just">
              <a:buNone/>
            </a:pPr>
            <a:endParaRPr lang="en-GB" dirty="0"/>
          </a:p>
          <a:p>
            <a:pPr marL="0" indent="0" algn="just">
              <a:buNone/>
            </a:pPr>
            <a:endParaRPr lang="en-GB" dirty="0"/>
          </a:p>
          <a:p>
            <a:pPr marL="0" indent="0" algn="just">
              <a:buNone/>
            </a:pPr>
            <a:endParaRPr lang="en-GB" dirty="0"/>
          </a:p>
        </p:txBody>
      </p:sp>
      <p:pic>
        <p:nvPicPr>
          <p:cNvPr id="4" name="Picture Placeholder 3" descr="close up of building">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a:blip r:embed="rId3"/>
          <a:srcRect l="22544" r="22544"/>
          <a:stretch>
            <a:fillRect/>
          </a:stretch>
        </p:blipFill>
        <p:spPr/>
      </p:pic>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605905" y="503831"/>
            <a:ext cx="6804429" cy="980625"/>
          </a:xfrm>
        </p:spPr>
        <p:txBody>
          <a:bodyPr rtlCol="0"/>
          <a:lstStyle/>
          <a:p>
            <a:r>
              <a:rPr lang="en-GB" sz="3600" dirty="0"/>
              <a:t>Qualitative Research - Plan</a:t>
            </a:r>
          </a:p>
        </p:txBody>
      </p:sp>
    </p:spTree>
    <p:extLst>
      <p:ext uri="{BB962C8B-B14F-4D97-AF65-F5344CB8AC3E}">
        <p14:creationId xmlns:p14="http://schemas.microsoft.com/office/powerpoint/2010/main" val="3696770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20981" y="0"/>
            <a:ext cx="6842759" cy="1102640"/>
          </a:xfrm>
        </p:spPr>
        <p:txBody>
          <a:bodyPr anchor="ctr">
            <a:normAutofit fontScale="90000"/>
          </a:bodyPr>
          <a:lstStyle/>
          <a:p>
            <a:r>
              <a:rPr lang="en-GB" sz="4400" dirty="0"/>
              <a:t>What is Qualitative Research?</a:t>
            </a:r>
          </a:p>
        </p:txBody>
      </p:sp>
      <p:sp>
        <p:nvSpPr>
          <p:cNvPr id="2" name="Rectangle 1"/>
          <p:cNvSpPr/>
          <p:nvPr/>
        </p:nvSpPr>
        <p:spPr>
          <a:xfrm>
            <a:off x="7714212" y="5052817"/>
            <a:ext cx="6096000" cy="923330"/>
          </a:xfrm>
          <a:prstGeom prst="rect">
            <a:avLst/>
          </a:prstGeom>
        </p:spPr>
        <p:txBody>
          <a:bodyPr>
            <a:spAutoFit/>
          </a:bodyPr>
          <a:lstStyle/>
          <a:p>
            <a:r>
              <a:rPr lang="fr-FR" dirty="0" err="1"/>
              <a:t>Text</a:t>
            </a:r>
            <a:r>
              <a:rPr lang="fr-FR" dirty="0"/>
              <a:t> – </a:t>
            </a:r>
            <a:r>
              <a:rPr lang="fr-FR" dirty="0" err="1"/>
              <a:t>transcripts</a:t>
            </a:r>
            <a:r>
              <a:rPr lang="fr-FR" dirty="0"/>
              <a:t>,</a:t>
            </a:r>
          </a:p>
          <a:p>
            <a:r>
              <a:rPr lang="fr-FR" dirty="0"/>
              <a:t>Open question </a:t>
            </a:r>
            <a:r>
              <a:rPr lang="fr-FR" dirty="0" err="1"/>
              <a:t>responses</a:t>
            </a:r>
            <a:r>
              <a:rPr lang="fr-FR" dirty="0"/>
              <a:t>,</a:t>
            </a:r>
          </a:p>
          <a:p>
            <a:r>
              <a:rPr lang="fr-FR" dirty="0"/>
              <a:t>Images, </a:t>
            </a:r>
            <a:r>
              <a:rPr lang="fr-FR" dirty="0" err="1"/>
              <a:t>Video</a:t>
            </a:r>
            <a:r>
              <a:rPr lang="fr-FR" dirty="0"/>
              <a:t>, Audio</a:t>
            </a:r>
            <a:endParaRPr lang="en-GB" dirty="0"/>
          </a:p>
        </p:txBody>
      </p:sp>
      <p:pic>
        <p:nvPicPr>
          <p:cNvPr id="5" name="Picture 4"/>
          <p:cNvPicPr>
            <a:picLocks noChangeAspect="1"/>
          </p:cNvPicPr>
          <p:nvPr/>
        </p:nvPicPr>
        <p:blipFill>
          <a:blip r:embed="rId3">
            <a:grayscl/>
          </a:blip>
          <a:stretch>
            <a:fillRect/>
          </a:stretch>
        </p:blipFill>
        <p:spPr>
          <a:xfrm>
            <a:off x="7714212" y="1374544"/>
            <a:ext cx="4045527" cy="3551277"/>
          </a:xfrm>
          <a:prstGeom prst="rect">
            <a:avLst/>
          </a:prstGeom>
        </p:spPr>
      </p:pic>
      <p:sp>
        <p:nvSpPr>
          <p:cNvPr id="4" name="Rectangle 1">
            <a:extLst>
              <a:ext uri="{FF2B5EF4-FFF2-40B4-BE49-F238E27FC236}">
                <a16:creationId xmlns:a16="http://schemas.microsoft.com/office/drawing/2014/main" id="{7B9EA16E-A186-1949-316A-EC4D0B3C5A4B}"/>
              </a:ext>
            </a:extLst>
          </p:cNvPr>
          <p:cNvSpPr>
            <a:spLocks noChangeArrowheads="1"/>
          </p:cNvSpPr>
          <p:nvPr/>
        </p:nvSpPr>
        <p:spPr bwMode="auto">
          <a:xfrm>
            <a:off x="660494" y="1307924"/>
            <a:ext cx="587538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Definition</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Qualitative research involves examining non-numeric data sources such as texts, videos, or interviews to gain an in-depth understanding of complex situations.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Purpose</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To explore scenarios and phenomena where numbers alone can’t provide insight. This may include personal stories, social patterns, or cultural perspectives.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Examples of Data Sources</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Text responses, interview transcripts, videos, images, and audio files.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Goal:</a:t>
            </a:r>
            <a:r>
              <a:rPr kumimoji="0" lang="en-US"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Translate unstructured data into a structured format for deeper analysis, often leading to findings that can be adapted for quantitative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6057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9CD82F77-E265-C369-420F-A181953340F3}"/>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91" t="-1912" r="49906" b="12031"/>
          <a:stretch/>
        </p:blipFill>
        <p:spPr>
          <a:xfrm>
            <a:off x="6561755" y="968189"/>
            <a:ext cx="5024231" cy="5061711"/>
          </a:xfrm>
        </p:spPr>
      </p:pic>
      <p:sp>
        <p:nvSpPr>
          <p:cNvPr id="5" name="Text Placeholder 4">
            <a:extLst>
              <a:ext uri="{FF2B5EF4-FFF2-40B4-BE49-F238E27FC236}">
                <a16:creationId xmlns:a16="http://schemas.microsoft.com/office/drawing/2014/main" id="{78702E4C-29FF-DB45-3C3C-3E65328EAA00}"/>
              </a:ext>
            </a:extLst>
          </p:cNvPr>
          <p:cNvSpPr>
            <a:spLocks noGrp="1"/>
          </p:cNvSpPr>
          <p:nvPr>
            <p:ph type="body" sz="quarter" idx="12"/>
          </p:nvPr>
        </p:nvSpPr>
        <p:spPr>
          <a:xfrm>
            <a:off x="265543" y="1514764"/>
            <a:ext cx="5522191" cy="4927600"/>
          </a:xfrm>
        </p:spPr>
        <p:txBody>
          <a:bodyPr>
            <a:normAutofit lnSpcReduction="10000"/>
          </a:bodyPr>
          <a:lstStyle/>
          <a:p>
            <a:pPr marL="182563" lvl="0" indent="-182563" algn="just">
              <a:lnSpc>
                <a:spcPct val="90000"/>
              </a:lnSpc>
              <a:spcBef>
                <a:spcPts val="1000"/>
              </a:spcBef>
              <a:buClr>
                <a:srgbClr val="FA6F1A"/>
              </a:buClr>
              <a:buFont typeface="Wingdings" panose="05000000000000000000" pitchFamily="2" charset="2"/>
              <a:buChar char="§"/>
            </a:pPr>
            <a:r>
              <a:rPr lang="en-GB" altLang="en-US" dirty="0">
                <a:solidFill>
                  <a:prstClr val="black">
                    <a:lumMod val="75000"/>
                    <a:lumOff val="25000"/>
                  </a:prstClr>
                </a:solidFill>
              </a:rPr>
              <a:t>Qualitative is an inductive approach. </a:t>
            </a:r>
            <a:r>
              <a:rPr lang="en-GB" dirty="0">
                <a:solidFill>
                  <a:prstClr val="black">
                    <a:lumMod val="75000"/>
                    <a:lumOff val="25000"/>
                  </a:prstClr>
                </a:solidFill>
              </a:rPr>
              <a:t>In general terms, scientific research consists of an investigation that: </a:t>
            </a:r>
          </a:p>
          <a:p>
            <a:pPr marL="531813" lvl="0" indent="-265113" algn="just">
              <a:lnSpc>
                <a:spcPct val="90000"/>
              </a:lnSpc>
              <a:spcBef>
                <a:spcPts val="1000"/>
              </a:spcBef>
              <a:buClr>
                <a:srgbClr val="FA6F1A"/>
              </a:buClr>
              <a:buFont typeface="Arial" panose="020B0604020202020204" pitchFamily="34" charset="0"/>
              <a:buChar char="•"/>
            </a:pPr>
            <a:r>
              <a:rPr lang="en-GB" dirty="0">
                <a:solidFill>
                  <a:prstClr val="black">
                    <a:lumMod val="75000"/>
                    <a:lumOff val="25000"/>
                  </a:prstClr>
                </a:solidFill>
              </a:rPr>
              <a:t>Seeks answers to a question </a:t>
            </a:r>
          </a:p>
          <a:p>
            <a:pPr marL="531813" lvl="0" indent="-265113" algn="just">
              <a:lnSpc>
                <a:spcPct val="90000"/>
              </a:lnSpc>
              <a:spcBef>
                <a:spcPts val="1000"/>
              </a:spcBef>
              <a:buClr>
                <a:srgbClr val="FA6F1A"/>
              </a:buClr>
              <a:buFont typeface="Arial" panose="020B0604020202020204" pitchFamily="34" charset="0"/>
              <a:buChar char="•"/>
            </a:pPr>
            <a:r>
              <a:rPr lang="en-GB" dirty="0">
                <a:solidFill>
                  <a:prstClr val="black">
                    <a:lumMod val="75000"/>
                    <a:lumOff val="25000"/>
                  </a:prstClr>
                </a:solidFill>
              </a:rPr>
              <a:t>Systematically uses a predefined set of procedures to answer the question </a:t>
            </a:r>
          </a:p>
          <a:p>
            <a:pPr marL="531813" lvl="0" indent="-265113" algn="just">
              <a:lnSpc>
                <a:spcPct val="90000"/>
              </a:lnSpc>
              <a:spcBef>
                <a:spcPts val="1000"/>
              </a:spcBef>
              <a:buClr>
                <a:srgbClr val="FA6F1A"/>
              </a:buClr>
              <a:buFont typeface="Arial" panose="020B0604020202020204" pitchFamily="34" charset="0"/>
              <a:buChar char="•"/>
            </a:pPr>
            <a:r>
              <a:rPr lang="en-GB" dirty="0">
                <a:solidFill>
                  <a:prstClr val="black">
                    <a:lumMod val="75000"/>
                    <a:lumOff val="25000"/>
                  </a:prstClr>
                </a:solidFill>
              </a:rPr>
              <a:t>Collects evidence </a:t>
            </a:r>
          </a:p>
          <a:p>
            <a:pPr marL="531813" lvl="0" indent="-265113" algn="just">
              <a:lnSpc>
                <a:spcPct val="90000"/>
              </a:lnSpc>
              <a:spcBef>
                <a:spcPts val="1000"/>
              </a:spcBef>
              <a:buClr>
                <a:srgbClr val="FA6F1A"/>
              </a:buClr>
              <a:buFont typeface="Arial" panose="020B0604020202020204" pitchFamily="34" charset="0"/>
              <a:buChar char="•"/>
            </a:pPr>
            <a:r>
              <a:rPr lang="en-GB" dirty="0">
                <a:solidFill>
                  <a:prstClr val="black">
                    <a:lumMod val="75000"/>
                    <a:lumOff val="25000"/>
                  </a:prstClr>
                </a:solidFill>
              </a:rPr>
              <a:t>Produces findings that were not determined in advance </a:t>
            </a:r>
          </a:p>
          <a:p>
            <a:pPr marL="531813" lvl="0" indent="-265113" algn="just">
              <a:lnSpc>
                <a:spcPct val="90000"/>
              </a:lnSpc>
              <a:spcBef>
                <a:spcPts val="1000"/>
              </a:spcBef>
              <a:buClr>
                <a:srgbClr val="FA6F1A"/>
              </a:buClr>
              <a:buFont typeface="Arial" panose="020B0604020202020204" pitchFamily="34" charset="0"/>
              <a:buChar char="•"/>
            </a:pPr>
            <a:r>
              <a:rPr lang="en-GB" dirty="0">
                <a:solidFill>
                  <a:prstClr val="black">
                    <a:lumMod val="75000"/>
                    <a:lumOff val="25000"/>
                  </a:prstClr>
                </a:solidFill>
              </a:rPr>
              <a:t>Produces findings that are applicable beyond the immediate boundaries of the study </a:t>
            </a:r>
          </a:p>
          <a:p>
            <a:pPr marL="531813" lvl="0" indent="-265113" algn="just">
              <a:lnSpc>
                <a:spcPct val="90000"/>
              </a:lnSpc>
              <a:spcBef>
                <a:spcPts val="1000"/>
              </a:spcBef>
              <a:buClr>
                <a:srgbClr val="FA6F1A"/>
              </a:buClr>
              <a:buFont typeface="Arial" panose="020B0604020202020204" pitchFamily="34" charset="0"/>
              <a:buChar char="•"/>
            </a:pPr>
            <a:r>
              <a:rPr lang="en-GB" dirty="0">
                <a:solidFill>
                  <a:prstClr val="black">
                    <a:lumMod val="75000"/>
                    <a:lumOff val="25000"/>
                  </a:prstClr>
                </a:solidFill>
              </a:rPr>
              <a:t>Qualitative research is especially effective in obtaining culturally specific information about the values, opinions, behaviours, and social contexts of particular populations.</a:t>
            </a:r>
          </a:p>
          <a:p>
            <a:pPr marL="266700" lvl="0" indent="-266700" algn="just">
              <a:lnSpc>
                <a:spcPct val="90000"/>
              </a:lnSpc>
              <a:spcBef>
                <a:spcPts val="1000"/>
              </a:spcBef>
              <a:buClr>
                <a:srgbClr val="FA6F1A"/>
              </a:buClr>
              <a:buFont typeface="Wingdings" panose="05000000000000000000" pitchFamily="2" charset="2"/>
              <a:buChar char="§"/>
            </a:pPr>
            <a:endParaRPr lang="en-GB" dirty="0">
              <a:solidFill>
                <a:prstClr val="black">
                  <a:lumMod val="75000"/>
                  <a:lumOff val="25000"/>
                </a:prstClr>
              </a:solidFill>
            </a:endParaRPr>
          </a:p>
          <a:p>
            <a:pPr lvl="0" algn="just">
              <a:lnSpc>
                <a:spcPct val="90000"/>
              </a:lnSpc>
              <a:spcBef>
                <a:spcPts val="1000"/>
              </a:spcBef>
              <a:buClr>
                <a:srgbClr val="FA6F1A"/>
              </a:buClr>
            </a:pPr>
            <a:endParaRPr lang="en-GB" dirty="0">
              <a:solidFill>
                <a:prstClr val="black">
                  <a:lumMod val="75000"/>
                  <a:lumOff val="25000"/>
                </a:prstClr>
              </a:solidFill>
            </a:endParaRPr>
          </a:p>
          <a:p>
            <a:pPr>
              <a:buClr>
                <a:schemeClr val="accent4"/>
              </a:buClr>
            </a:pPr>
            <a:endParaRPr lang="en-GB" dirty="0"/>
          </a:p>
          <a:p>
            <a:endParaRPr lang="en-GB" dirty="0"/>
          </a:p>
        </p:txBody>
      </p:sp>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182418" y="212931"/>
            <a:ext cx="7527636" cy="830997"/>
          </a:xfrm>
        </p:spPr>
        <p:txBody>
          <a:bodyPr anchor="ctr">
            <a:normAutofit/>
          </a:bodyPr>
          <a:lstStyle/>
          <a:p>
            <a:r>
              <a:rPr lang="en-GB" sz="4400" dirty="0"/>
              <a:t>Qualitative Data Analysis</a:t>
            </a:r>
          </a:p>
        </p:txBody>
      </p:sp>
    </p:spTree>
    <p:extLst>
      <p:ext uri="{BB962C8B-B14F-4D97-AF65-F5344CB8AC3E}">
        <p14:creationId xmlns:p14="http://schemas.microsoft.com/office/powerpoint/2010/main" val="405246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1900352" y="0"/>
            <a:ext cx="13268987" cy="1102640"/>
          </a:xfrm>
        </p:spPr>
        <p:txBody>
          <a:bodyPr anchor="ctr">
            <a:normAutofit/>
          </a:bodyPr>
          <a:lstStyle/>
          <a:p>
            <a:r>
              <a:rPr lang="en-GB" sz="4400" dirty="0"/>
              <a:t>Three Stages of Qualitative Research</a:t>
            </a:r>
          </a:p>
        </p:txBody>
      </p:sp>
      <p:sp>
        <p:nvSpPr>
          <p:cNvPr id="3" name="TextBox 2">
            <a:extLst>
              <a:ext uri="{FF2B5EF4-FFF2-40B4-BE49-F238E27FC236}">
                <a16:creationId xmlns:a16="http://schemas.microsoft.com/office/drawing/2014/main" id="{FE10A49A-9FCD-5F68-3696-0C865A388519}"/>
              </a:ext>
            </a:extLst>
          </p:cNvPr>
          <p:cNvSpPr txBox="1"/>
          <p:nvPr/>
        </p:nvSpPr>
        <p:spPr>
          <a:xfrm>
            <a:off x="432317" y="875953"/>
            <a:ext cx="7743495" cy="3970318"/>
          </a:xfrm>
          <a:prstGeom prst="rect">
            <a:avLst/>
          </a:prstGeom>
          <a:noFill/>
        </p:spPr>
        <p:txBody>
          <a:bodyPr wrap="square" rtlCol="0">
            <a:spAutoFit/>
          </a:bodyPr>
          <a:lstStyle/>
          <a:p>
            <a:endParaRPr lang="en-GB" dirty="0"/>
          </a:p>
          <a:p>
            <a:pPr marL="342900" indent="-342900">
              <a:lnSpc>
                <a:spcPct val="150000"/>
              </a:lnSpc>
              <a:buAutoNum type="arabicPeriod"/>
            </a:pPr>
            <a:r>
              <a:rPr lang="en-GB" b="1" dirty="0">
                <a:effectLst>
                  <a:outerShdw blurRad="38100" dist="38100" dir="2700000" algn="tl">
                    <a:srgbClr val="000000">
                      <a:alpha val="43137"/>
                    </a:srgbClr>
                  </a:outerShdw>
                </a:effectLst>
              </a:rPr>
              <a:t>Data Selection or Creation: </a:t>
            </a:r>
            <a:r>
              <a:rPr lang="en-GB" dirty="0"/>
              <a:t>Identify or generate relevant qualitative data based on research questions.</a:t>
            </a:r>
          </a:p>
          <a:p>
            <a:pPr marL="342900" indent="-342900">
              <a:lnSpc>
                <a:spcPct val="150000"/>
              </a:lnSpc>
              <a:buAutoNum type="arabicPeriod"/>
            </a:pPr>
            <a:r>
              <a:rPr lang="en-GB" b="1" dirty="0">
                <a:effectLst>
                  <a:outerShdw blurRad="38100" dist="38100" dir="2700000" algn="tl">
                    <a:srgbClr val="000000">
                      <a:alpha val="43137"/>
                    </a:srgbClr>
                  </a:outerShdw>
                </a:effectLst>
              </a:rPr>
              <a:t>Data Analysis: </a:t>
            </a:r>
            <a:r>
              <a:rPr lang="en-GB" dirty="0"/>
              <a:t>Apply systematic techniques to extract themes, codes, or patterns.</a:t>
            </a:r>
          </a:p>
          <a:p>
            <a:pPr marL="342900" indent="-342900">
              <a:lnSpc>
                <a:spcPct val="150000"/>
              </a:lnSpc>
              <a:buAutoNum type="arabicPeriod"/>
            </a:pPr>
            <a:r>
              <a:rPr lang="en-GB" b="1" dirty="0">
                <a:effectLst>
                  <a:outerShdw blurRad="38100" dist="38100" dir="2700000" algn="tl">
                    <a:srgbClr val="000000">
                      <a:alpha val="43137"/>
                    </a:srgbClr>
                  </a:outerShdw>
                </a:effectLst>
              </a:rPr>
              <a:t>Conclusion Generation: </a:t>
            </a:r>
            <a:r>
              <a:rPr lang="en-GB" dirty="0"/>
              <a:t>Derive insights that are applicable beyond the immediate study context.</a:t>
            </a:r>
          </a:p>
          <a:p>
            <a:pPr lvl="1">
              <a:lnSpc>
                <a:spcPct val="150000"/>
              </a:lnSpc>
            </a:pPr>
            <a:r>
              <a:rPr lang="en-GB" b="1" dirty="0"/>
              <a:t>Example Activity: </a:t>
            </a:r>
            <a:r>
              <a:rPr lang="en-GB" dirty="0"/>
              <a:t>Analysing voice command data from devices like Google Home/Alexa to identify common usage patterns.</a:t>
            </a:r>
          </a:p>
          <a:p>
            <a:pPr marL="285750" indent="-285750">
              <a:buFont typeface="Arial" panose="020B0604020202020204" pitchFamily="34" charset="0"/>
              <a:buChar char="•"/>
            </a:pPr>
            <a:endParaRPr lang="en-GB" dirty="0"/>
          </a:p>
        </p:txBody>
      </p:sp>
      <p:pic>
        <p:nvPicPr>
          <p:cNvPr id="4" name="Picture 3"/>
          <p:cNvPicPr>
            <a:picLocks noChangeAspect="1"/>
          </p:cNvPicPr>
          <p:nvPr/>
        </p:nvPicPr>
        <p:blipFill>
          <a:blip r:embed="rId3">
            <a:extLst>
              <a:ext uri="{837473B0-CC2E-450A-ABE3-18F120FF3D39}">
                <a1611:picAttrSrcUrl xmlns:a1611="http://schemas.microsoft.com/office/drawing/2016/11/main" r:id="rId4"/>
              </a:ext>
            </a:extLst>
          </a:blip>
          <a:srcRect/>
          <a:stretch/>
        </p:blipFill>
        <p:spPr>
          <a:xfrm>
            <a:off x="7816885" y="1530085"/>
            <a:ext cx="4375115" cy="3380770"/>
          </a:xfrm>
          <a:prstGeom prst="ellipse">
            <a:avLst/>
          </a:prstGeom>
        </p:spPr>
      </p:pic>
      <p:sp>
        <p:nvSpPr>
          <p:cNvPr id="6" name="object 4"/>
          <p:cNvSpPr txBox="1"/>
          <p:nvPr/>
        </p:nvSpPr>
        <p:spPr>
          <a:xfrm>
            <a:off x="1182444" y="4854734"/>
            <a:ext cx="2039620" cy="1478280"/>
          </a:xfrm>
          <a:prstGeom prst="rect">
            <a:avLst/>
          </a:prstGeom>
          <a:solidFill>
            <a:schemeClr val="accent4"/>
          </a:solidFill>
          <a:ln w="12700">
            <a:solidFill>
              <a:srgbClr val="787878"/>
            </a:solidFill>
          </a:ln>
        </p:spPr>
        <p:txBody>
          <a:bodyPr vert="horz" wrap="square" lIns="0" tIns="31750" rIns="0" bIns="0" rtlCol="0">
            <a:spAutoFit/>
          </a:bodyPr>
          <a:lstStyle/>
          <a:p>
            <a:pPr marL="91440">
              <a:lnSpc>
                <a:spcPct val="100000"/>
              </a:lnSpc>
              <a:spcBef>
                <a:spcPts val="250"/>
              </a:spcBef>
            </a:pPr>
            <a:r>
              <a:rPr sz="1800" dirty="0">
                <a:solidFill>
                  <a:srgbClr val="FFFFFF"/>
                </a:solidFill>
                <a:latin typeface="Calibri"/>
                <a:cs typeface="Calibri"/>
              </a:rPr>
              <a:t>Stage</a:t>
            </a:r>
            <a:r>
              <a:rPr sz="1800" spc="-65" dirty="0">
                <a:solidFill>
                  <a:srgbClr val="FFFFFF"/>
                </a:solidFill>
                <a:latin typeface="Calibri"/>
                <a:cs typeface="Calibri"/>
              </a:rPr>
              <a:t> </a:t>
            </a:r>
            <a:r>
              <a:rPr sz="1800" spc="-25" dirty="0">
                <a:solidFill>
                  <a:srgbClr val="FFFFFF"/>
                </a:solidFill>
                <a:latin typeface="Calibri"/>
                <a:cs typeface="Calibri"/>
              </a:rPr>
              <a:t>1:</a:t>
            </a:r>
            <a:endParaRPr sz="1800" dirty="0">
              <a:latin typeface="Calibri"/>
              <a:cs typeface="Calibri"/>
            </a:endParaRPr>
          </a:p>
          <a:p>
            <a:pPr marL="91440" marR="139065">
              <a:lnSpc>
                <a:spcPct val="100000"/>
              </a:lnSpc>
              <a:spcBef>
                <a:spcPts val="2160"/>
              </a:spcBef>
            </a:pPr>
            <a:r>
              <a:rPr sz="1800" dirty="0">
                <a:solidFill>
                  <a:srgbClr val="FFFFFF"/>
                </a:solidFill>
                <a:latin typeface="Calibri"/>
                <a:cs typeface="Calibri"/>
              </a:rPr>
              <a:t>Obtain</a:t>
            </a:r>
            <a:r>
              <a:rPr sz="1800" spc="-75" dirty="0">
                <a:solidFill>
                  <a:srgbClr val="FFFFFF"/>
                </a:solidFill>
                <a:latin typeface="Calibri"/>
                <a:cs typeface="Calibri"/>
              </a:rPr>
              <a:t> </a:t>
            </a:r>
            <a:r>
              <a:rPr sz="1800" spc="-10" dirty="0">
                <a:solidFill>
                  <a:srgbClr val="FFFFFF"/>
                </a:solidFill>
                <a:latin typeface="Calibri"/>
                <a:cs typeface="Calibri"/>
              </a:rPr>
              <a:t>recordings </a:t>
            </a:r>
            <a:r>
              <a:rPr sz="1800" dirty="0">
                <a:solidFill>
                  <a:srgbClr val="FFFFFF"/>
                </a:solidFill>
                <a:latin typeface="Calibri"/>
                <a:cs typeface="Calibri"/>
              </a:rPr>
              <a:t>of</a:t>
            </a:r>
            <a:r>
              <a:rPr sz="1800" spc="-30" dirty="0">
                <a:solidFill>
                  <a:srgbClr val="FFFFFF"/>
                </a:solidFill>
                <a:latin typeface="Calibri"/>
                <a:cs typeface="Calibri"/>
              </a:rPr>
              <a:t> </a:t>
            </a:r>
            <a:r>
              <a:rPr sz="1800" dirty="0">
                <a:solidFill>
                  <a:srgbClr val="FFFFFF"/>
                </a:solidFill>
                <a:latin typeface="Calibri"/>
                <a:cs typeface="Calibri"/>
              </a:rPr>
              <a:t>voice</a:t>
            </a:r>
            <a:r>
              <a:rPr sz="1800" spc="-15" dirty="0">
                <a:solidFill>
                  <a:srgbClr val="FFFFFF"/>
                </a:solidFill>
                <a:latin typeface="Calibri"/>
                <a:cs typeface="Calibri"/>
              </a:rPr>
              <a:t> </a:t>
            </a:r>
            <a:r>
              <a:rPr sz="1800" spc="-10" dirty="0">
                <a:solidFill>
                  <a:srgbClr val="FFFFFF"/>
                </a:solidFill>
                <a:latin typeface="Calibri"/>
                <a:cs typeface="Calibri"/>
              </a:rPr>
              <a:t>commands </a:t>
            </a:r>
            <a:r>
              <a:rPr sz="1800" dirty="0">
                <a:solidFill>
                  <a:srgbClr val="FFFFFF"/>
                </a:solidFill>
                <a:latin typeface="Calibri"/>
                <a:cs typeface="Calibri"/>
              </a:rPr>
              <a:t>for</a:t>
            </a:r>
            <a:r>
              <a:rPr sz="1800" spc="-50" dirty="0">
                <a:solidFill>
                  <a:srgbClr val="FFFFFF"/>
                </a:solidFill>
                <a:latin typeface="Calibri"/>
                <a:cs typeface="Calibri"/>
              </a:rPr>
              <a:t> </a:t>
            </a:r>
            <a:r>
              <a:rPr sz="1800" dirty="0">
                <a:solidFill>
                  <a:srgbClr val="FFFFFF"/>
                </a:solidFill>
                <a:latin typeface="Calibri"/>
                <a:cs typeface="Calibri"/>
              </a:rPr>
              <a:t>Google</a:t>
            </a:r>
            <a:r>
              <a:rPr sz="1800" spc="-35" dirty="0">
                <a:solidFill>
                  <a:srgbClr val="FFFFFF"/>
                </a:solidFill>
                <a:latin typeface="Calibri"/>
                <a:cs typeface="Calibri"/>
              </a:rPr>
              <a:t> </a:t>
            </a:r>
            <a:r>
              <a:rPr sz="1800" spc="-20" dirty="0">
                <a:solidFill>
                  <a:srgbClr val="FFFFFF"/>
                </a:solidFill>
                <a:latin typeface="Calibri"/>
                <a:cs typeface="Calibri"/>
              </a:rPr>
              <a:t>Home</a:t>
            </a:r>
            <a:endParaRPr sz="1800" dirty="0">
              <a:latin typeface="Calibri"/>
              <a:cs typeface="Calibri"/>
            </a:endParaRPr>
          </a:p>
        </p:txBody>
      </p:sp>
      <p:sp>
        <p:nvSpPr>
          <p:cNvPr id="8" name="object 5"/>
          <p:cNvSpPr txBox="1"/>
          <p:nvPr/>
        </p:nvSpPr>
        <p:spPr>
          <a:xfrm>
            <a:off x="4187772" y="4854734"/>
            <a:ext cx="2082164" cy="1478280"/>
          </a:xfrm>
          <a:prstGeom prst="rect">
            <a:avLst/>
          </a:prstGeom>
          <a:solidFill>
            <a:schemeClr val="accent4"/>
          </a:solidFill>
          <a:ln w="12700">
            <a:solidFill>
              <a:srgbClr val="787878"/>
            </a:solidFill>
          </a:ln>
        </p:spPr>
        <p:txBody>
          <a:bodyPr vert="horz" wrap="square" lIns="0" tIns="31750" rIns="0" bIns="0" rtlCol="0">
            <a:spAutoFit/>
          </a:bodyPr>
          <a:lstStyle/>
          <a:p>
            <a:pPr marL="91440" algn="just">
              <a:lnSpc>
                <a:spcPct val="100000"/>
              </a:lnSpc>
              <a:spcBef>
                <a:spcPts val="250"/>
              </a:spcBef>
            </a:pPr>
            <a:r>
              <a:rPr sz="1800" dirty="0">
                <a:solidFill>
                  <a:srgbClr val="FFFFFF"/>
                </a:solidFill>
                <a:latin typeface="Calibri"/>
                <a:cs typeface="Calibri"/>
              </a:rPr>
              <a:t>Stage</a:t>
            </a:r>
            <a:r>
              <a:rPr sz="1800" spc="-65" dirty="0">
                <a:solidFill>
                  <a:srgbClr val="FFFFFF"/>
                </a:solidFill>
                <a:latin typeface="Calibri"/>
                <a:cs typeface="Calibri"/>
              </a:rPr>
              <a:t> </a:t>
            </a:r>
            <a:r>
              <a:rPr sz="1800" spc="-25" dirty="0">
                <a:solidFill>
                  <a:srgbClr val="FFFFFF"/>
                </a:solidFill>
                <a:latin typeface="Calibri"/>
                <a:cs typeface="Calibri"/>
              </a:rPr>
              <a:t>2:</a:t>
            </a:r>
            <a:endParaRPr sz="1800">
              <a:latin typeface="Calibri"/>
              <a:cs typeface="Calibri"/>
            </a:endParaRPr>
          </a:p>
          <a:p>
            <a:pPr marL="91440" marR="192405" algn="just">
              <a:lnSpc>
                <a:spcPct val="100000"/>
              </a:lnSpc>
              <a:spcBef>
                <a:spcPts val="2160"/>
              </a:spcBef>
            </a:pPr>
            <a:r>
              <a:rPr sz="1800" dirty="0">
                <a:solidFill>
                  <a:srgbClr val="FFFFFF"/>
                </a:solidFill>
                <a:latin typeface="Calibri"/>
                <a:cs typeface="Calibri"/>
              </a:rPr>
              <a:t>For</a:t>
            </a:r>
            <a:r>
              <a:rPr sz="1800" spc="-40" dirty="0">
                <a:solidFill>
                  <a:srgbClr val="FFFFFF"/>
                </a:solidFill>
                <a:latin typeface="Calibri"/>
                <a:cs typeface="Calibri"/>
              </a:rPr>
              <a:t> </a:t>
            </a:r>
            <a:r>
              <a:rPr sz="1800" dirty="0">
                <a:solidFill>
                  <a:srgbClr val="FFFFFF"/>
                </a:solidFill>
                <a:latin typeface="Calibri"/>
                <a:cs typeface="Calibri"/>
              </a:rPr>
              <a:t>each</a:t>
            </a:r>
            <a:r>
              <a:rPr sz="1800" spc="-25" dirty="0">
                <a:solidFill>
                  <a:srgbClr val="FFFFFF"/>
                </a:solidFill>
                <a:latin typeface="Calibri"/>
                <a:cs typeface="Calibri"/>
              </a:rPr>
              <a:t> </a:t>
            </a:r>
            <a:r>
              <a:rPr sz="1800" spc="-10" dirty="0">
                <a:solidFill>
                  <a:srgbClr val="FFFFFF"/>
                </a:solidFill>
                <a:latin typeface="Calibri"/>
                <a:cs typeface="Calibri"/>
              </a:rPr>
              <a:t>recording, </a:t>
            </a:r>
            <a:r>
              <a:rPr sz="1800" dirty="0">
                <a:solidFill>
                  <a:srgbClr val="FFFFFF"/>
                </a:solidFill>
                <a:latin typeface="Calibri"/>
                <a:cs typeface="Calibri"/>
              </a:rPr>
              <a:t>determine</a:t>
            </a:r>
            <a:r>
              <a:rPr sz="1800" spc="-65" dirty="0">
                <a:solidFill>
                  <a:srgbClr val="FFFFFF"/>
                </a:solidFill>
                <a:latin typeface="Calibri"/>
                <a:cs typeface="Calibri"/>
              </a:rPr>
              <a:t> </a:t>
            </a:r>
            <a:r>
              <a:rPr sz="1800" spc="-10" dirty="0">
                <a:solidFill>
                  <a:srgbClr val="FFFFFF"/>
                </a:solidFill>
                <a:latin typeface="Calibri"/>
                <a:cs typeface="Calibri"/>
              </a:rPr>
              <a:t>purpose </a:t>
            </a:r>
            <a:r>
              <a:rPr sz="1800" dirty="0">
                <a:solidFill>
                  <a:srgbClr val="FFFFFF"/>
                </a:solidFill>
                <a:latin typeface="Calibri"/>
                <a:cs typeface="Calibri"/>
              </a:rPr>
              <a:t>of</a:t>
            </a:r>
            <a:r>
              <a:rPr sz="1800" spc="-30" dirty="0">
                <a:solidFill>
                  <a:srgbClr val="FFFFFF"/>
                </a:solidFill>
                <a:latin typeface="Calibri"/>
                <a:cs typeface="Calibri"/>
              </a:rPr>
              <a:t> </a:t>
            </a:r>
            <a:r>
              <a:rPr sz="1800" dirty="0">
                <a:solidFill>
                  <a:srgbClr val="FFFFFF"/>
                </a:solidFill>
                <a:latin typeface="Calibri"/>
                <a:cs typeface="Calibri"/>
              </a:rPr>
              <a:t>the</a:t>
            </a:r>
            <a:r>
              <a:rPr sz="1800" spc="-5" dirty="0">
                <a:solidFill>
                  <a:srgbClr val="FFFFFF"/>
                </a:solidFill>
                <a:latin typeface="Calibri"/>
                <a:cs typeface="Calibri"/>
              </a:rPr>
              <a:t> </a:t>
            </a:r>
            <a:r>
              <a:rPr sz="1800" spc="-10" dirty="0">
                <a:solidFill>
                  <a:srgbClr val="FFFFFF"/>
                </a:solidFill>
                <a:latin typeface="Calibri"/>
                <a:cs typeface="Calibri"/>
              </a:rPr>
              <a:t>command</a:t>
            </a:r>
            <a:endParaRPr sz="1800">
              <a:latin typeface="Calibri"/>
              <a:cs typeface="Calibri"/>
            </a:endParaRPr>
          </a:p>
        </p:txBody>
      </p:sp>
      <p:sp>
        <p:nvSpPr>
          <p:cNvPr id="9" name="object 6"/>
          <p:cNvSpPr txBox="1"/>
          <p:nvPr/>
        </p:nvSpPr>
        <p:spPr>
          <a:xfrm>
            <a:off x="7233763" y="4928902"/>
            <a:ext cx="1999614" cy="1477010"/>
          </a:xfrm>
          <a:prstGeom prst="rect">
            <a:avLst/>
          </a:prstGeom>
          <a:solidFill>
            <a:schemeClr val="accent4"/>
          </a:solidFill>
          <a:ln w="12700">
            <a:solidFill>
              <a:srgbClr val="787878"/>
            </a:solidFill>
          </a:ln>
        </p:spPr>
        <p:txBody>
          <a:bodyPr vert="horz" wrap="square" lIns="0" tIns="31750" rIns="0" bIns="0" rtlCol="0">
            <a:spAutoFit/>
          </a:bodyPr>
          <a:lstStyle/>
          <a:p>
            <a:pPr marL="92075">
              <a:lnSpc>
                <a:spcPct val="100000"/>
              </a:lnSpc>
              <a:spcBef>
                <a:spcPts val="250"/>
              </a:spcBef>
            </a:pPr>
            <a:r>
              <a:rPr sz="1800" dirty="0">
                <a:solidFill>
                  <a:srgbClr val="FFFFFF"/>
                </a:solidFill>
                <a:latin typeface="Calibri"/>
                <a:cs typeface="Calibri"/>
              </a:rPr>
              <a:t>Stage</a:t>
            </a:r>
            <a:r>
              <a:rPr sz="1800" spc="-65" dirty="0">
                <a:solidFill>
                  <a:srgbClr val="FFFFFF"/>
                </a:solidFill>
                <a:latin typeface="Calibri"/>
                <a:cs typeface="Calibri"/>
              </a:rPr>
              <a:t> </a:t>
            </a:r>
            <a:r>
              <a:rPr sz="1800" spc="-25" dirty="0">
                <a:solidFill>
                  <a:srgbClr val="FFFFFF"/>
                </a:solidFill>
                <a:latin typeface="Calibri"/>
                <a:cs typeface="Calibri"/>
              </a:rPr>
              <a:t>3:</a:t>
            </a:r>
            <a:endParaRPr sz="1800" dirty="0">
              <a:latin typeface="Calibri"/>
              <a:cs typeface="Calibri"/>
            </a:endParaRPr>
          </a:p>
          <a:p>
            <a:pPr marL="92075" marR="109855">
              <a:lnSpc>
                <a:spcPct val="100000"/>
              </a:lnSpc>
              <a:spcBef>
                <a:spcPts val="2160"/>
              </a:spcBef>
            </a:pPr>
            <a:r>
              <a:rPr sz="1800" dirty="0">
                <a:solidFill>
                  <a:srgbClr val="FFFFFF"/>
                </a:solidFill>
                <a:latin typeface="Calibri"/>
                <a:cs typeface="Calibri"/>
              </a:rPr>
              <a:t>Find</a:t>
            </a:r>
            <a:r>
              <a:rPr sz="1800" spc="-30" dirty="0">
                <a:solidFill>
                  <a:srgbClr val="FFFFFF"/>
                </a:solidFill>
                <a:latin typeface="Calibri"/>
                <a:cs typeface="Calibri"/>
              </a:rPr>
              <a:t> </a:t>
            </a:r>
            <a:r>
              <a:rPr sz="1800" dirty="0">
                <a:solidFill>
                  <a:srgbClr val="FFFFFF"/>
                </a:solidFill>
                <a:latin typeface="Calibri"/>
                <a:cs typeface="Calibri"/>
              </a:rPr>
              <a:t>most</a:t>
            </a:r>
            <a:r>
              <a:rPr sz="1800" spc="-45" dirty="0">
                <a:solidFill>
                  <a:srgbClr val="FFFFFF"/>
                </a:solidFill>
                <a:latin typeface="Calibri"/>
                <a:cs typeface="Calibri"/>
              </a:rPr>
              <a:t> </a:t>
            </a:r>
            <a:r>
              <a:rPr sz="1800" spc="-10" dirty="0">
                <a:solidFill>
                  <a:srgbClr val="FFFFFF"/>
                </a:solidFill>
                <a:latin typeface="Calibri"/>
                <a:cs typeface="Calibri"/>
              </a:rPr>
              <a:t>common command</a:t>
            </a:r>
            <a:r>
              <a:rPr sz="1800" spc="-35" dirty="0">
                <a:solidFill>
                  <a:srgbClr val="FFFFFF"/>
                </a:solidFill>
                <a:latin typeface="Calibri"/>
                <a:cs typeface="Calibri"/>
              </a:rPr>
              <a:t> </a:t>
            </a:r>
            <a:r>
              <a:rPr sz="1800" spc="-10" dirty="0">
                <a:solidFill>
                  <a:srgbClr val="FFFFFF"/>
                </a:solidFill>
                <a:latin typeface="Calibri"/>
                <a:cs typeface="Calibri"/>
              </a:rPr>
              <a:t>types</a:t>
            </a:r>
            <a:endParaRPr sz="1800" dirty="0">
              <a:latin typeface="Calibri"/>
              <a:cs typeface="Calibri"/>
            </a:endParaRPr>
          </a:p>
        </p:txBody>
      </p:sp>
      <p:sp>
        <p:nvSpPr>
          <p:cNvPr id="10" name="object 7"/>
          <p:cNvSpPr/>
          <p:nvPr/>
        </p:nvSpPr>
        <p:spPr>
          <a:xfrm>
            <a:off x="3221555" y="5508148"/>
            <a:ext cx="965835" cy="171450"/>
          </a:xfrm>
          <a:custGeom>
            <a:avLst/>
            <a:gdLst/>
            <a:ahLst/>
            <a:cxnLst/>
            <a:rect l="l" t="t" r="r" b="b"/>
            <a:pathLst>
              <a:path w="965835" h="171450">
                <a:moveTo>
                  <a:pt x="794385" y="0"/>
                </a:moveTo>
                <a:lnTo>
                  <a:pt x="794385" y="171450"/>
                </a:lnTo>
                <a:lnTo>
                  <a:pt x="908685" y="114300"/>
                </a:lnTo>
                <a:lnTo>
                  <a:pt x="822960" y="114300"/>
                </a:lnTo>
                <a:lnTo>
                  <a:pt x="822960" y="57150"/>
                </a:lnTo>
                <a:lnTo>
                  <a:pt x="908685" y="57150"/>
                </a:lnTo>
                <a:lnTo>
                  <a:pt x="794385" y="0"/>
                </a:lnTo>
                <a:close/>
              </a:path>
              <a:path w="965835" h="171450">
                <a:moveTo>
                  <a:pt x="794385" y="57150"/>
                </a:moveTo>
                <a:lnTo>
                  <a:pt x="0" y="57150"/>
                </a:lnTo>
                <a:lnTo>
                  <a:pt x="0" y="114300"/>
                </a:lnTo>
                <a:lnTo>
                  <a:pt x="794385" y="114300"/>
                </a:lnTo>
                <a:lnTo>
                  <a:pt x="794385" y="57150"/>
                </a:lnTo>
                <a:close/>
              </a:path>
              <a:path w="965835" h="171450">
                <a:moveTo>
                  <a:pt x="908685" y="57150"/>
                </a:moveTo>
                <a:lnTo>
                  <a:pt x="822960" y="57150"/>
                </a:lnTo>
                <a:lnTo>
                  <a:pt x="822960" y="114300"/>
                </a:lnTo>
                <a:lnTo>
                  <a:pt x="908685" y="114300"/>
                </a:lnTo>
                <a:lnTo>
                  <a:pt x="965835" y="85725"/>
                </a:lnTo>
                <a:lnTo>
                  <a:pt x="908685" y="57150"/>
                </a:lnTo>
                <a:close/>
              </a:path>
            </a:pathLst>
          </a:custGeom>
          <a:solidFill>
            <a:schemeClr val="tx1"/>
          </a:solidFill>
        </p:spPr>
        <p:txBody>
          <a:bodyPr wrap="square" lIns="0" tIns="0" rIns="0" bIns="0" rtlCol="0"/>
          <a:lstStyle/>
          <a:p>
            <a:endParaRPr/>
          </a:p>
        </p:txBody>
      </p:sp>
      <p:sp>
        <p:nvSpPr>
          <p:cNvPr id="11" name="object 8"/>
          <p:cNvSpPr/>
          <p:nvPr/>
        </p:nvSpPr>
        <p:spPr>
          <a:xfrm>
            <a:off x="6269556" y="5495957"/>
            <a:ext cx="965835" cy="171450"/>
          </a:xfrm>
          <a:custGeom>
            <a:avLst/>
            <a:gdLst/>
            <a:ahLst/>
            <a:cxnLst/>
            <a:rect l="l" t="t" r="r" b="b"/>
            <a:pathLst>
              <a:path w="965834" h="171450">
                <a:moveTo>
                  <a:pt x="794385" y="0"/>
                </a:moveTo>
                <a:lnTo>
                  <a:pt x="794385" y="171450"/>
                </a:lnTo>
                <a:lnTo>
                  <a:pt x="908685" y="114300"/>
                </a:lnTo>
                <a:lnTo>
                  <a:pt x="822960" y="114300"/>
                </a:lnTo>
                <a:lnTo>
                  <a:pt x="822960" y="57150"/>
                </a:lnTo>
                <a:lnTo>
                  <a:pt x="908685" y="57150"/>
                </a:lnTo>
                <a:lnTo>
                  <a:pt x="794385" y="0"/>
                </a:lnTo>
                <a:close/>
              </a:path>
              <a:path w="965834" h="171450">
                <a:moveTo>
                  <a:pt x="794385" y="57150"/>
                </a:moveTo>
                <a:lnTo>
                  <a:pt x="0" y="57150"/>
                </a:lnTo>
                <a:lnTo>
                  <a:pt x="0" y="114300"/>
                </a:lnTo>
                <a:lnTo>
                  <a:pt x="794385" y="114300"/>
                </a:lnTo>
                <a:lnTo>
                  <a:pt x="794385" y="57150"/>
                </a:lnTo>
                <a:close/>
              </a:path>
              <a:path w="965834" h="171450">
                <a:moveTo>
                  <a:pt x="908685" y="57150"/>
                </a:moveTo>
                <a:lnTo>
                  <a:pt x="822960" y="57150"/>
                </a:lnTo>
                <a:lnTo>
                  <a:pt x="822960" y="114300"/>
                </a:lnTo>
                <a:lnTo>
                  <a:pt x="908685" y="114300"/>
                </a:lnTo>
                <a:lnTo>
                  <a:pt x="965835" y="85725"/>
                </a:lnTo>
                <a:lnTo>
                  <a:pt x="908685" y="57150"/>
                </a:lnTo>
                <a:close/>
              </a:path>
            </a:pathLst>
          </a:custGeom>
          <a:solidFill>
            <a:schemeClr val="tx1"/>
          </a:solidFill>
        </p:spPr>
        <p:txBody>
          <a:bodyPr wrap="square" lIns="0" tIns="0" rIns="0" bIns="0" rtlCol="0"/>
          <a:lstStyle/>
          <a:p>
            <a:endParaRPr/>
          </a:p>
        </p:txBody>
      </p:sp>
    </p:spTree>
    <p:extLst>
      <p:ext uri="{BB962C8B-B14F-4D97-AF65-F5344CB8AC3E}">
        <p14:creationId xmlns:p14="http://schemas.microsoft.com/office/powerpoint/2010/main" val="2133859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EA677B0-03AF-2215-38FD-9A1FCBE5E1E7}"/>
              </a:ext>
            </a:extLst>
          </p:cNvPr>
          <p:cNvSpPr>
            <a:spLocks noGrp="1"/>
          </p:cNvSpPr>
          <p:nvPr>
            <p:ph type="pic" sz="quarter" idx="10"/>
          </p:nvPr>
        </p:nvSpPr>
        <p:spPr>
          <a:xfrm>
            <a:off x="0" y="-16626"/>
            <a:ext cx="12192000" cy="6858000"/>
          </a:xfrm>
        </p:spPr>
        <p:txBody>
          <a:bodyPr/>
          <a:lstStyle/>
          <a:p>
            <a:endParaRPr lang="en-GB" dirty="0"/>
          </a:p>
        </p:txBody>
      </p:sp>
      <p:sp>
        <p:nvSpPr>
          <p:cNvPr id="3" name="Title 2">
            <a:extLst>
              <a:ext uri="{FF2B5EF4-FFF2-40B4-BE49-F238E27FC236}">
                <a16:creationId xmlns:a16="http://schemas.microsoft.com/office/drawing/2014/main" id="{FED8BB73-78B2-FC77-F1AE-F0F605DC6BA9}"/>
              </a:ext>
            </a:extLst>
          </p:cNvPr>
          <p:cNvSpPr>
            <a:spLocks noGrp="1"/>
          </p:cNvSpPr>
          <p:nvPr>
            <p:ph type="title"/>
          </p:nvPr>
        </p:nvSpPr>
        <p:spPr>
          <a:xfrm>
            <a:off x="3843027" y="2059022"/>
            <a:ext cx="4768959" cy="2374194"/>
          </a:xfrm>
        </p:spPr>
        <p:txBody>
          <a:bodyPr/>
          <a:lstStyle/>
          <a:p>
            <a:r>
              <a:rPr lang="en-GB" sz="6600" dirty="0"/>
              <a:t>Data Collection Methods</a:t>
            </a:r>
          </a:p>
        </p:txBody>
      </p:sp>
    </p:spTree>
    <p:extLst>
      <p:ext uri="{BB962C8B-B14F-4D97-AF65-F5344CB8AC3E}">
        <p14:creationId xmlns:p14="http://schemas.microsoft.com/office/powerpoint/2010/main" val="418261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298900" y="182600"/>
            <a:ext cx="6842759" cy="1102640"/>
          </a:xfrm>
        </p:spPr>
        <p:txBody>
          <a:bodyPr anchor="ctr">
            <a:normAutofit fontScale="90000"/>
          </a:bodyPr>
          <a:lstStyle/>
          <a:p>
            <a:r>
              <a:rPr lang="en-GB" sz="4400" dirty="0"/>
              <a:t>Comparison of different data collection methods</a:t>
            </a:r>
          </a:p>
        </p:txBody>
      </p:sp>
      <p:sp>
        <p:nvSpPr>
          <p:cNvPr id="3" name="TextBox 2">
            <a:extLst>
              <a:ext uri="{FF2B5EF4-FFF2-40B4-BE49-F238E27FC236}">
                <a16:creationId xmlns:a16="http://schemas.microsoft.com/office/drawing/2014/main" id="{FE10A49A-9FCD-5F68-3696-0C865A388519}"/>
              </a:ext>
            </a:extLst>
          </p:cNvPr>
          <p:cNvSpPr txBox="1"/>
          <p:nvPr/>
        </p:nvSpPr>
        <p:spPr>
          <a:xfrm>
            <a:off x="1088533" y="1693534"/>
            <a:ext cx="6666809" cy="923330"/>
          </a:xfrm>
          <a:prstGeom prst="rect">
            <a:avLst/>
          </a:prstGeom>
          <a:noFill/>
        </p:spPr>
        <p:txBody>
          <a:bodyPr wrap="square" rtlCol="0">
            <a:spAutoFit/>
          </a:bodyPr>
          <a:lstStyle/>
          <a:p>
            <a:endParaRPr lang="en-GB" dirty="0"/>
          </a:p>
          <a:p>
            <a:endParaRPr lang="en-GB" dirty="0"/>
          </a:p>
          <a:p>
            <a:pPr marL="285750" indent="-285750">
              <a:buFont typeface="Arial" panose="020B0604020202020204" pitchFamily="34" charset="0"/>
              <a:buChar char="•"/>
            </a:pPr>
            <a:endParaRPr lang="en-GB" dirty="0"/>
          </a:p>
        </p:txBody>
      </p:sp>
      <p:graphicFrame>
        <p:nvGraphicFramePr>
          <p:cNvPr id="8" name="object 3"/>
          <p:cNvGraphicFramePr>
            <a:graphicFrameLocks noGrp="1"/>
          </p:cNvGraphicFramePr>
          <p:nvPr>
            <p:extLst>
              <p:ext uri="{D42A27DB-BD31-4B8C-83A1-F6EECF244321}">
                <p14:modId xmlns:p14="http://schemas.microsoft.com/office/powerpoint/2010/main" val="1019512543"/>
              </p:ext>
            </p:extLst>
          </p:nvPr>
        </p:nvGraphicFramePr>
        <p:xfrm>
          <a:off x="1088533" y="1444151"/>
          <a:ext cx="9659389" cy="4790394"/>
        </p:xfrm>
        <a:graphic>
          <a:graphicData uri="http://schemas.openxmlformats.org/drawingml/2006/table">
            <a:tbl>
              <a:tblPr firstRow="1" firstCol="1" bandRow="1">
                <a:tableStyleId>{775DCB02-9BB8-47FD-8907-85C794F793BA}</a:tableStyleId>
              </a:tblPr>
              <a:tblGrid>
                <a:gridCol w="1733036">
                  <a:extLst>
                    <a:ext uri="{9D8B030D-6E8A-4147-A177-3AD203B41FA5}">
                      <a16:colId xmlns:a16="http://schemas.microsoft.com/office/drawing/2014/main" val="20000"/>
                    </a:ext>
                  </a:extLst>
                </a:gridCol>
                <a:gridCol w="3981259">
                  <a:extLst>
                    <a:ext uri="{9D8B030D-6E8A-4147-A177-3AD203B41FA5}">
                      <a16:colId xmlns:a16="http://schemas.microsoft.com/office/drawing/2014/main" val="20001"/>
                    </a:ext>
                  </a:extLst>
                </a:gridCol>
                <a:gridCol w="3945094">
                  <a:extLst>
                    <a:ext uri="{9D8B030D-6E8A-4147-A177-3AD203B41FA5}">
                      <a16:colId xmlns:a16="http://schemas.microsoft.com/office/drawing/2014/main" val="20002"/>
                    </a:ext>
                  </a:extLst>
                </a:gridCol>
              </a:tblGrid>
              <a:tr h="51731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68580" algn="ctr">
                        <a:lnSpc>
                          <a:spcPct val="100000"/>
                        </a:lnSpc>
                        <a:spcBef>
                          <a:spcPts val="234"/>
                        </a:spcBef>
                      </a:pPr>
                      <a:r>
                        <a:rPr sz="2000" spc="-10" dirty="0">
                          <a:solidFill>
                            <a:schemeClr val="tx1"/>
                          </a:solidFill>
                        </a:rPr>
                        <a:t>Method</a:t>
                      </a:r>
                      <a:endParaRPr sz="2000" dirty="0">
                        <a:solidFill>
                          <a:schemeClr val="tx1"/>
                        </a:solidFill>
                        <a:latin typeface="Calibri"/>
                        <a:cs typeface="Calibri"/>
                      </a:endParaRPr>
                    </a:p>
                  </a:txBody>
                  <a:tcPr marL="0" marR="0" marT="29844" marB="0"/>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154940" algn="ctr">
                        <a:lnSpc>
                          <a:spcPct val="100000"/>
                        </a:lnSpc>
                        <a:spcBef>
                          <a:spcPts val="234"/>
                        </a:spcBef>
                      </a:pPr>
                      <a:r>
                        <a:rPr sz="2000" spc="-10" dirty="0">
                          <a:solidFill>
                            <a:schemeClr val="tx1"/>
                          </a:solidFill>
                        </a:rPr>
                        <a:t>Advantages</a:t>
                      </a:r>
                      <a:endParaRPr sz="2000" dirty="0">
                        <a:solidFill>
                          <a:schemeClr val="tx1"/>
                        </a:solidFill>
                        <a:latin typeface="Calibri"/>
                        <a:cs typeface="Calibri"/>
                      </a:endParaRPr>
                    </a:p>
                  </a:txBody>
                  <a:tcPr marL="0" marR="0" marT="29844" marB="0"/>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97155" algn="ctr">
                        <a:lnSpc>
                          <a:spcPct val="100000"/>
                        </a:lnSpc>
                        <a:spcBef>
                          <a:spcPts val="234"/>
                        </a:spcBef>
                      </a:pPr>
                      <a:r>
                        <a:rPr sz="2000" spc="-10" dirty="0">
                          <a:solidFill>
                            <a:schemeClr val="tx1"/>
                          </a:solidFill>
                        </a:rPr>
                        <a:t>Limitations</a:t>
                      </a:r>
                      <a:endParaRPr sz="2000" dirty="0">
                        <a:solidFill>
                          <a:schemeClr val="tx1"/>
                        </a:solidFill>
                        <a:latin typeface="Calibri"/>
                        <a:cs typeface="Calibri"/>
                      </a:endParaRPr>
                    </a:p>
                  </a:txBody>
                  <a:tcPr marL="0" marR="0" marT="29844" marB="0"/>
                </a:tc>
                <a:extLst>
                  <a:ext uri="{0D108BD9-81ED-4DB2-BD59-A6C34878D82A}">
                    <a16:rowId xmlns:a16="http://schemas.microsoft.com/office/drawing/2014/main" val="10000"/>
                  </a:ext>
                </a:extLst>
              </a:tr>
              <a:tr h="50638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8580">
                        <a:lnSpc>
                          <a:spcPct val="100000"/>
                        </a:lnSpc>
                        <a:spcBef>
                          <a:spcPts val="185"/>
                        </a:spcBef>
                      </a:pPr>
                      <a:r>
                        <a:rPr sz="1400" spc="-10" dirty="0"/>
                        <a:t>Questionnaires</a:t>
                      </a:r>
                      <a:endParaRPr sz="1400" b="1" dirty="0">
                        <a:latin typeface="Calibri"/>
                        <a:cs typeface="Calibri"/>
                      </a:endParaRPr>
                    </a:p>
                  </a:txBody>
                  <a:tcPr marL="0" marR="0" marT="23495"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54940">
                        <a:lnSpc>
                          <a:spcPct val="100000"/>
                        </a:lnSpc>
                        <a:spcBef>
                          <a:spcPts val="185"/>
                        </a:spcBef>
                      </a:pPr>
                      <a:r>
                        <a:rPr sz="1400" dirty="0"/>
                        <a:t>Cheap</a:t>
                      </a:r>
                      <a:r>
                        <a:rPr sz="1400" spc="-20" dirty="0"/>
                        <a:t> </a:t>
                      </a:r>
                      <a:r>
                        <a:rPr sz="1400" dirty="0"/>
                        <a:t>and</a:t>
                      </a:r>
                      <a:r>
                        <a:rPr sz="1400" spc="-30" dirty="0"/>
                        <a:t> </a:t>
                      </a:r>
                      <a:r>
                        <a:rPr sz="1400" dirty="0"/>
                        <a:t>easy</a:t>
                      </a:r>
                      <a:r>
                        <a:rPr sz="1400" spc="-20" dirty="0"/>
                        <a:t> </a:t>
                      </a:r>
                      <a:r>
                        <a:rPr sz="1400" dirty="0"/>
                        <a:t>to</a:t>
                      </a:r>
                      <a:r>
                        <a:rPr sz="1400" spc="-15" dirty="0"/>
                        <a:t> </a:t>
                      </a:r>
                      <a:r>
                        <a:rPr sz="1400" spc="-10" dirty="0"/>
                        <a:t>administer</a:t>
                      </a:r>
                      <a:endParaRPr sz="1400" dirty="0">
                        <a:latin typeface="Calibri"/>
                        <a:cs typeface="Calibri"/>
                      </a:endParaRPr>
                    </a:p>
                  </a:txBody>
                  <a:tcPr marL="0" marR="0" marT="23495"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97155">
                        <a:lnSpc>
                          <a:spcPct val="100000"/>
                        </a:lnSpc>
                        <a:spcBef>
                          <a:spcPts val="185"/>
                        </a:spcBef>
                      </a:pPr>
                      <a:r>
                        <a:rPr sz="1400" dirty="0"/>
                        <a:t>Rigid</a:t>
                      </a:r>
                      <a:r>
                        <a:rPr sz="1400" spc="-35" dirty="0"/>
                        <a:t> </a:t>
                      </a:r>
                      <a:r>
                        <a:rPr sz="1400" dirty="0"/>
                        <a:t>structure</a:t>
                      </a:r>
                      <a:r>
                        <a:rPr sz="1400" spc="-5" dirty="0"/>
                        <a:t> </a:t>
                      </a:r>
                      <a:r>
                        <a:rPr sz="1400" dirty="0"/>
                        <a:t>with</a:t>
                      </a:r>
                      <a:r>
                        <a:rPr sz="1400" spc="-30" dirty="0"/>
                        <a:t> </a:t>
                      </a:r>
                      <a:r>
                        <a:rPr sz="1400" dirty="0"/>
                        <a:t>no</a:t>
                      </a:r>
                      <a:r>
                        <a:rPr sz="1400" spc="-25" dirty="0"/>
                        <a:t> </a:t>
                      </a:r>
                      <a:r>
                        <a:rPr sz="1400" dirty="0"/>
                        <a:t>chance</a:t>
                      </a:r>
                      <a:r>
                        <a:rPr sz="1400" spc="-30" dirty="0"/>
                        <a:t> </a:t>
                      </a:r>
                      <a:r>
                        <a:rPr sz="1400" dirty="0"/>
                        <a:t>to</a:t>
                      </a:r>
                      <a:r>
                        <a:rPr sz="1400" spc="-25" dirty="0"/>
                        <a:t> </a:t>
                      </a:r>
                      <a:r>
                        <a:rPr sz="1400" dirty="0"/>
                        <a:t>follow</a:t>
                      </a:r>
                      <a:r>
                        <a:rPr sz="1400" spc="-35" dirty="0"/>
                        <a:t> </a:t>
                      </a:r>
                      <a:r>
                        <a:rPr sz="1400" spc="-25" dirty="0"/>
                        <a:t>up</a:t>
                      </a:r>
                      <a:endParaRPr sz="1400">
                        <a:latin typeface="Calibri"/>
                        <a:cs typeface="Calibri"/>
                      </a:endParaRPr>
                    </a:p>
                  </a:txBody>
                  <a:tcPr marL="0" marR="0" marT="23495" marB="0"/>
                </a:tc>
                <a:extLst>
                  <a:ext uri="{0D108BD9-81ED-4DB2-BD59-A6C34878D82A}">
                    <a16:rowId xmlns:a16="http://schemas.microsoft.com/office/drawing/2014/main" val="10001"/>
                  </a:ext>
                </a:extLst>
              </a:tr>
              <a:tr h="51002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8580">
                        <a:lnSpc>
                          <a:spcPct val="100000"/>
                        </a:lnSpc>
                        <a:spcBef>
                          <a:spcPts val="210"/>
                        </a:spcBef>
                      </a:pPr>
                      <a:r>
                        <a:rPr sz="1400" spc="-10" dirty="0"/>
                        <a:t>Interviews</a:t>
                      </a:r>
                      <a:endParaRPr sz="1400" b="1" dirty="0">
                        <a:latin typeface="Calibri"/>
                        <a:cs typeface="Calibri"/>
                      </a:endParaRPr>
                    </a:p>
                  </a:txBody>
                  <a:tcPr marL="0" marR="0" marT="26670"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54940">
                        <a:lnSpc>
                          <a:spcPct val="100000"/>
                        </a:lnSpc>
                        <a:spcBef>
                          <a:spcPts val="210"/>
                        </a:spcBef>
                      </a:pPr>
                      <a:r>
                        <a:rPr sz="1400" dirty="0"/>
                        <a:t>Deep</a:t>
                      </a:r>
                      <a:r>
                        <a:rPr sz="1400" spc="-15" dirty="0"/>
                        <a:t> </a:t>
                      </a:r>
                      <a:r>
                        <a:rPr sz="1400" dirty="0"/>
                        <a:t>and</a:t>
                      </a:r>
                      <a:r>
                        <a:rPr sz="1400" spc="-35" dirty="0"/>
                        <a:t> </a:t>
                      </a:r>
                      <a:r>
                        <a:rPr sz="1400" dirty="0"/>
                        <a:t>rich</a:t>
                      </a:r>
                      <a:r>
                        <a:rPr sz="1400" spc="-25" dirty="0"/>
                        <a:t> </a:t>
                      </a:r>
                      <a:r>
                        <a:rPr sz="1400" dirty="0"/>
                        <a:t>single</a:t>
                      </a:r>
                      <a:r>
                        <a:rPr sz="1400" spc="-35" dirty="0"/>
                        <a:t> </a:t>
                      </a:r>
                      <a:r>
                        <a:rPr sz="1400" dirty="0"/>
                        <a:t>person</a:t>
                      </a:r>
                      <a:r>
                        <a:rPr sz="1400" spc="-25" dirty="0"/>
                        <a:t> </a:t>
                      </a:r>
                      <a:r>
                        <a:rPr sz="1400" spc="-10" dirty="0"/>
                        <a:t>perspective</a:t>
                      </a:r>
                      <a:endParaRPr sz="1400" dirty="0">
                        <a:latin typeface="Calibri"/>
                        <a:cs typeface="Calibri"/>
                      </a:endParaRPr>
                    </a:p>
                  </a:txBody>
                  <a:tcPr marL="0" marR="0" marT="26670"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97155">
                        <a:lnSpc>
                          <a:spcPct val="100000"/>
                        </a:lnSpc>
                        <a:spcBef>
                          <a:spcPts val="210"/>
                        </a:spcBef>
                      </a:pPr>
                      <a:r>
                        <a:rPr sz="1400" dirty="0"/>
                        <a:t>Costly</a:t>
                      </a:r>
                      <a:r>
                        <a:rPr sz="1400" spc="-25" dirty="0"/>
                        <a:t> </a:t>
                      </a:r>
                      <a:r>
                        <a:rPr sz="1400" dirty="0"/>
                        <a:t>to</a:t>
                      </a:r>
                      <a:r>
                        <a:rPr sz="1400" spc="-20" dirty="0"/>
                        <a:t> </a:t>
                      </a:r>
                      <a:r>
                        <a:rPr sz="1400" dirty="0"/>
                        <a:t>collect</a:t>
                      </a:r>
                      <a:r>
                        <a:rPr sz="1400" spc="-20" dirty="0"/>
                        <a:t> </a:t>
                      </a:r>
                      <a:r>
                        <a:rPr sz="1400" dirty="0"/>
                        <a:t>a</a:t>
                      </a:r>
                      <a:r>
                        <a:rPr sz="1400" spc="-20" dirty="0"/>
                        <a:t> </a:t>
                      </a:r>
                      <a:r>
                        <a:rPr sz="1400" dirty="0"/>
                        <a:t>large</a:t>
                      </a:r>
                      <a:r>
                        <a:rPr sz="1400" spc="-25" dirty="0"/>
                        <a:t> </a:t>
                      </a:r>
                      <a:r>
                        <a:rPr sz="1400" dirty="0"/>
                        <a:t>amount</a:t>
                      </a:r>
                      <a:r>
                        <a:rPr sz="1400" spc="-30" dirty="0"/>
                        <a:t> </a:t>
                      </a:r>
                      <a:r>
                        <a:rPr sz="1400" dirty="0"/>
                        <a:t>of</a:t>
                      </a:r>
                      <a:r>
                        <a:rPr sz="1400" spc="-30" dirty="0"/>
                        <a:t> </a:t>
                      </a:r>
                      <a:r>
                        <a:rPr sz="1400" spc="-20" dirty="0"/>
                        <a:t>data</a:t>
                      </a:r>
                      <a:endParaRPr sz="1400">
                        <a:latin typeface="Calibri"/>
                        <a:cs typeface="Calibri"/>
                      </a:endParaRPr>
                    </a:p>
                  </a:txBody>
                  <a:tcPr marL="0" marR="0" marT="26670" marB="0"/>
                </a:tc>
                <a:extLst>
                  <a:ext uri="{0D108BD9-81ED-4DB2-BD59-A6C34878D82A}">
                    <a16:rowId xmlns:a16="http://schemas.microsoft.com/office/drawing/2014/main" val="10002"/>
                  </a:ext>
                </a:extLst>
              </a:tr>
              <a:tr h="85830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8580">
                        <a:lnSpc>
                          <a:spcPct val="100000"/>
                        </a:lnSpc>
                        <a:spcBef>
                          <a:spcPts val="210"/>
                        </a:spcBef>
                      </a:pPr>
                      <a:r>
                        <a:rPr sz="1400" dirty="0"/>
                        <a:t>Focus</a:t>
                      </a:r>
                      <a:r>
                        <a:rPr sz="1400" spc="-45" dirty="0"/>
                        <a:t> </a:t>
                      </a:r>
                      <a:r>
                        <a:rPr sz="1400" spc="-10" dirty="0"/>
                        <a:t>Groups</a:t>
                      </a:r>
                      <a:endParaRPr sz="1400" b="1" dirty="0">
                        <a:latin typeface="Calibri"/>
                        <a:cs typeface="Calibri"/>
                      </a:endParaRPr>
                    </a:p>
                  </a:txBody>
                  <a:tcPr marL="0" marR="0" marT="26670"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54940" marR="260985">
                        <a:lnSpc>
                          <a:spcPct val="100000"/>
                        </a:lnSpc>
                        <a:spcBef>
                          <a:spcPts val="210"/>
                        </a:spcBef>
                      </a:pPr>
                      <a:r>
                        <a:rPr sz="1400" dirty="0"/>
                        <a:t>Cost</a:t>
                      </a:r>
                      <a:r>
                        <a:rPr sz="1400" spc="-10" dirty="0"/>
                        <a:t> </a:t>
                      </a:r>
                      <a:r>
                        <a:rPr sz="1400" dirty="0"/>
                        <a:t>effective, large</a:t>
                      </a:r>
                      <a:r>
                        <a:rPr sz="1400" spc="-10" dirty="0"/>
                        <a:t> amounts</a:t>
                      </a:r>
                      <a:r>
                        <a:rPr sz="1400" spc="-40" dirty="0"/>
                        <a:t> </a:t>
                      </a:r>
                      <a:r>
                        <a:rPr sz="1400" dirty="0"/>
                        <a:t>of</a:t>
                      </a:r>
                      <a:r>
                        <a:rPr sz="1400" spc="-30" dirty="0"/>
                        <a:t> </a:t>
                      </a:r>
                      <a:r>
                        <a:rPr sz="1400" dirty="0"/>
                        <a:t>data.</a:t>
                      </a:r>
                      <a:r>
                        <a:rPr sz="1400" spc="-40" dirty="0"/>
                        <a:t> </a:t>
                      </a:r>
                      <a:r>
                        <a:rPr sz="1400" dirty="0"/>
                        <a:t>Group</a:t>
                      </a:r>
                      <a:r>
                        <a:rPr sz="1400" spc="-20" dirty="0"/>
                        <a:t> </a:t>
                      </a:r>
                      <a:r>
                        <a:rPr sz="1400" dirty="0"/>
                        <a:t>dynamics</a:t>
                      </a:r>
                      <a:r>
                        <a:rPr sz="1400" spc="-35" dirty="0"/>
                        <a:t> </a:t>
                      </a:r>
                      <a:r>
                        <a:rPr sz="1400" spc="-25" dirty="0"/>
                        <a:t>can</a:t>
                      </a:r>
                      <a:r>
                        <a:rPr sz="1400" dirty="0"/>
                        <a:t> generate</a:t>
                      </a:r>
                      <a:r>
                        <a:rPr sz="1400" spc="5" dirty="0"/>
                        <a:t> </a:t>
                      </a:r>
                      <a:r>
                        <a:rPr sz="1400" spc="-10" dirty="0"/>
                        <a:t>interesting</a:t>
                      </a:r>
                      <a:r>
                        <a:rPr sz="1400" dirty="0"/>
                        <a:t> new</a:t>
                      </a:r>
                      <a:r>
                        <a:rPr sz="1400" spc="-10" dirty="0"/>
                        <a:t> data.</a:t>
                      </a:r>
                      <a:endParaRPr sz="1400" dirty="0">
                        <a:latin typeface="Calibri"/>
                        <a:cs typeface="Calibri"/>
                      </a:endParaRPr>
                    </a:p>
                  </a:txBody>
                  <a:tcPr marL="0" marR="0" marT="26670"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97155">
                        <a:lnSpc>
                          <a:spcPct val="100000"/>
                        </a:lnSpc>
                        <a:spcBef>
                          <a:spcPts val="210"/>
                        </a:spcBef>
                      </a:pPr>
                      <a:r>
                        <a:rPr sz="1400" dirty="0"/>
                        <a:t>Dominant</a:t>
                      </a:r>
                      <a:r>
                        <a:rPr sz="1400" spc="-35" dirty="0"/>
                        <a:t> </a:t>
                      </a:r>
                      <a:r>
                        <a:rPr sz="1400" dirty="0"/>
                        <a:t>members can</a:t>
                      </a:r>
                      <a:r>
                        <a:rPr sz="1400" spc="-30" dirty="0"/>
                        <a:t> </a:t>
                      </a:r>
                      <a:r>
                        <a:rPr sz="1400" dirty="0"/>
                        <a:t>take</a:t>
                      </a:r>
                      <a:r>
                        <a:rPr sz="1400" spc="-30" dirty="0"/>
                        <a:t> </a:t>
                      </a:r>
                      <a:r>
                        <a:rPr sz="1400" dirty="0"/>
                        <a:t>over</a:t>
                      </a:r>
                      <a:r>
                        <a:rPr sz="1400" spc="-15" dirty="0"/>
                        <a:t> </a:t>
                      </a:r>
                      <a:r>
                        <a:rPr sz="1400" dirty="0"/>
                        <a:t>the</a:t>
                      </a:r>
                      <a:r>
                        <a:rPr sz="1400" spc="-30" dirty="0"/>
                        <a:t> </a:t>
                      </a:r>
                      <a:r>
                        <a:rPr sz="1400" spc="-10" dirty="0"/>
                        <a:t>conversation.</a:t>
                      </a:r>
                      <a:endParaRPr sz="1400">
                        <a:latin typeface="Calibri"/>
                        <a:cs typeface="Calibri"/>
                      </a:endParaRPr>
                    </a:p>
                  </a:txBody>
                  <a:tcPr marL="0" marR="0" marT="26670" marB="0"/>
                </a:tc>
                <a:extLst>
                  <a:ext uri="{0D108BD9-81ED-4DB2-BD59-A6C34878D82A}">
                    <a16:rowId xmlns:a16="http://schemas.microsoft.com/office/drawing/2014/main" val="10003"/>
                  </a:ext>
                </a:extLst>
              </a:tr>
              <a:tr h="60110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8580">
                        <a:lnSpc>
                          <a:spcPct val="100000"/>
                        </a:lnSpc>
                        <a:spcBef>
                          <a:spcPts val="210"/>
                        </a:spcBef>
                      </a:pPr>
                      <a:r>
                        <a:rPr sz="1400" dirty="0"/>
                        <a:t>Field</a:t>
                      </a:r>
                      <a:r>
                        <a:rPr sz="1400" spc="-35" dirty="0"/>
                        <a:t> </a:t>
                      </a:r>
                      <a:r>
                        <a:rPr sz="1400" dirty="0"/>
                        <a:t>Studies</a:t>
                      </a:r>
                      <a:r>
                        <a:rPr sz="1400" spc="-30" dirty="0"/>
                        <a:t> </a:t>
                      </a:r>
                      <a:r>
                        <a:rPr sz="1400" spc="-10" dirty="0"/>
                        <a:t>(involved)</a:t>
                      </a:r>
                      <a:endParaRPr sz="1400" b="1" dirty="0">
                        <a:latin typeface="Calibri"/>
                        <a:cs typeface="Calibri"/>
                      </a:endParaRPr>
                    </a:p>
                  </a:txBody>
                  <a:tcPr marL="0" marR="0" marT="26670"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54940" marR="206375">
                        <a:lnSpc>
                          <a:spcPct val="100000"/>
                        </a:lnSpc>
                        <a:spcBef>
                          <a:spcPts val="210"/>
                        </a:spcBef>
                      </a:pPr>
                      <a:r>
                        <a:rPr sz="1400" spc="-10" dirty="0"/>
                        <a:t>Experienced-</a:t>
                      </a:r>
                      <a:r>
                        <a:rPr sz="1400" dirty="0"/>
                        <a:t>based</a:t>
                      </a:r>
                      <a:r>
                        <a:rPr sz="1400" spc="5" dirty="0"/>
                        <a:t> </a:t>
                      </a:r>
                      <a:r>
                        <a:rPr sz="1400" dirty="0"/>
                        <a:t>data</a:t>
                      </a:r>
                      <a:r>
                        <a:rPr sz="1400" spc="-15" dirty="0"/>
                        <a:t> </a:t>
                      </a:r>
                      <a:r>
                        <a:rPr sz="1400" spc="-10" dirty="0"/>
                        <a:t>collection.</a:t>
                      </a:r>
                      <a:r>
                        <a:rPr sz="1400" spc="-5" dirty="0"/>
                        <a:t> </a:t>
                      </a:r>
                      <a:r>
                        <a:rPr sz="1400" dirty="0"/>
                        <a:t>Natural</a:t>
                      </a:r>
                      <a:r>
                        <a:rPr sz="1400" spc="-20" dirty="0"/>
                        <a:t> </a:t>
                      </a:r>
                      <a:r>
                        <a:rPr sz="1400" dirty="0"/>
                        <a:t>setting.</a:t>
                      </a:r>
                      <a:r>
                        <a:rPr sz="1400" spc="5" dirty="0"/>
                        <a:t> </a:t>
                      </a:r>
                      <a:r>
                        <a:rPr sz="1400" spc="-10" dirty="0"/>
                        <a:t>Positive participant</a:t>
                      </a:r>
                      <a:r>
                        <a:rPr sz="1400" spc="30" dirty="0"/>
                        <a:t> </a:t>
                      </a:r>
                      <a:r>
                        <a:rPr sz="1400" spc="-10" dirty="0"/>
                        <a:t>engagement.</a:t>
                      </a:r>
                      <a:endParaRPr sz="1400" dirty="0">
                        <a:latin typeface="Calibri"/>
                        <a:cs typeface="Calibri"/>
                      </a:endParaRPr>
                    </a:p>
                  </a:txBody>
                  <a:tcPr marL="0" marR="0" marT="26670"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97155">
                        <a:lnSpc>
                          <a:spcPct val="100000"/>
                        </a:lnSpc>
                        <a:spcBef>
                          <a:spcPts val="210"/>
                        </a:spcBef>
                      </a:pPr>
                      <a:r>
                        <a:rPr sz="1400" dirty="0"/>
                        <a:t>Biased</a:t>
                      </a:r>
                      <a:r>
                        <a:rPr sz="1400" spc="-15" dirty="0"/>
                        <a:t> </a:t>
                      </a:r>
                      <a:r>
                        <a:rPr sz="1400" dirty="0"/>
                        <a:t>analysis.</a:t>
                      </a:r>
                      <a:r>
                        <a:rPr sz="1400" spc="-50" dirty="0"/>
                        <a:t> </a:t>
                      </a:r>
                      <a:r>
                        <a:rPr sz="1400" dirty="0"/>
                        <a:t>Alter</a:t>
                      </a:r>
                      <a:r>
                        <a:rPr sz="1400" spc="-30" dirty="0"/>
                        <a:t> </a:t>
                      </a:r>
                      <a:r>
                        <a:rPr sz="1400" dirty="0"/>
                        <a:t>behaviour</a:t>
                      </a:r>
                      <a:r>
                        <a:rPr sz="1400" spc="-25" dirty="0"/>
                        <a:t> </a:t>
                      </a:r>
                      <a:r>
                        <a:rPr sz="1400" dirty="0"/>
                        <a:t>of</a:t>
                      </a:r>
                      <a:r>
                        <a:rPr sz="1400" spc="-40" dirty="0"/>
                        <a:t> </a:t>
                      </a:r>
                      <a:r>
                        <a:rPr sz="1400" spc="-10" dirty="0"/>
                        <a:t>participants.</a:t>
                      </a:r>
                      <a:endParaRPr sz="1400" dirty="0">
                        <a:latin typeface="Calibri"/>
                        <a:cs typeface="Calibri"/>
                      </a:endParaRPr>
                    </a:p>
                  </a:txBody>
                  <a:tcPr marL="0" marR="0" marT="26670" marB="0"/>
                </a:tc>
                <a:extLst>
                  <a:ext uri="{0D108BD9-81ED-4DB2-BD59-A6C34878D82A}">
                    <a16:rowId xmlns:a16="http://schemas.microsoft.com/office/drawing/2014/main" val="10004"/>
                  </a:ext>
                </a:extLst>
              </a:tr>
              <a:tr h="60110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8580">
                        <a:lnSpc>
                          <a:spcPct val="100000"/>
                        </a:lnSpc>
                        <a:spcBef>
                          <a:spcPts val="210"/>
                        </a:spcBef>
                      </a:pPr>
                      <a:r>
                        <a:rPr sz="1400" spc="-10" dirty="0"/>
                        <a:t>Observations</a:t>
                      </a:r>
                      <a:r>
                        <a:rPr sz="1400" spc="55" dirty="0"/>
                        <a:t> </a:t>
                      </a:r>
                      <a:r>
                        <a:rPr sz="1400" spc="-10" dirty="0"/>
                        <a:t>(detached)</a:t>
                      </a:r>
                      <a:endParaRPr sz="1400" b="1" dirty="0">
                        <a:latin typeface="Calibri"/>
                        <a:cs typeface="Calibri"/>
                      </a:endParaRPr>
                    </a:p>
                  </a:txBody>
                  <a:tcPr marL="0" marR="0" marT="26670"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54940">
                        <a:lnSpc>
                          <a:spcPct val="100000"/>
                        </a:lnSpc>
                        <a:spcBef>
                          <a:spcPts val="210"/>
                        </a:spcBef>
                      </a:pPr>
                      <a:r>
                        <a:rPr sz="1400" dirty="0"/>
                        <a:t>Outsider</a:t>
                      </a:r>
                      <a:r>
                        <a:rPr sz="1400" spc="-40" dirty="0"/>
                        <a:t> </a:t>
                      </a:r>
                      <a:r>
                        <a:rPr sz="1400" dirty="0"/>
                        <a:t>view</a:t>
                      </a:r>
                      <a:r>
                        <a:rPr sz="1400" spc="-30" dirty="0"/>
                        <a:t> </a:t>
                      </a:r>
                      <a:r>
                        <a:rPr sz="1400" dirty="0"/>
                        <a:t>can</a:t>
                      </a:r>
                      <a:r>
                        <a:rPr sz="1400" spc="-35" dirty="0"/>
                        <a:t> </a:t>
                      </a:r>
                      <a:r>
                        <a:rPr sz="1400" dirty="0"/>
                        <a:t>see</a:t>
                      </a:r>
                      <a:r>
                        <a:rPr sz="1400" spc="-30" dirty="0"/>
                        <a:t> </a:t>
                      </a:r>
                      <a:r>
                        <a:rPr sz="1400" dirty="0"/>
                        <a:t>patterns</a:t>
                      </a:r>
                      <a:r>
                        <a:rPr sz="1400" spc="-35" dirty="0"/>
                        <a:t> </a:t>
                      </a:r>
                      <a:r>
                        <a:rPr sz="1400" spc="-10" dirty="0"/>
                        <a:t>easily.</a:t>
                      </a:r>
                      <a:endParaRPr sz="1400">
                        <a:latin typeface="Calibri"/>
                        <a:cs typeface="Calibri"/>
                      </a:endParaRPr>
                    </a:p>
                  </a:txBody>
                  <a:tcPr marL="0" marR="0" marT="26670"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97155">
                        <a:lnSpc>
                          <a:spcPct val="100000"/>
                        </a:lnSpc>
                        <a:spcBef>
                          <a:spcPts val="210"/>
                        </a:spcBef>
                      </a:pPr>
                      <a:r>
                        <a:rPr sz="1400" dirty="0"/>
                        <a:t>Limited</a:t>
                      </a:r>
                      <a:r>
                        <a:rPr sz="1400" spc="-15" dirty="0"/>
                        <a:t> </a:t>
                      </a:r>
                      <a:r>
                        <a:rPr sz="1400" dirty="0"/>
                        <a:t>ability</a:t>
                      </a:r>
                      <a:r>
                        <a:rPr sz="1400" spc="-35" dirty="0"/>
                        <a:t> </a:t>
                      </a:r>
                      <a:r>
                        <a:rPr sz="1400" dirty="0"/>
                        <a:t>to</a:t>
                      </a:r>
                      <a:r>
                        <a:rPr sz="1400" spc="-30" dirty="0"/>
                        <a:t> </a:t>
                      </a:r>
                      <a:r>
                        <a:rPr sz="1400" dirty="0"/>
                        <a:t>probe</a:t>
                      </a:r>
                      <a:r>
                        <a:rPr sz="1400" spc="-25" dirty="0"/>
                        <a:t> </a:t>
                      </a:r>
                      <a:r>
                        <a:rPr sz="1400" dirty="0"/>
                        <a:t>for</a:t>
                      </a:r>
                      <a:r>
                        <a:rPr sz="1400" spc="-20" dirty="0"/>
                        <a:t> </a:t>
                      </a:r>
                      <a:r>
                        <a:rPr sz="1400" spc="-10" dirty="0"/>
                        <a:t>details</a:t>
                      </a:r>
                      <a:endParaRPr sz="1400" dirty="0">
                        <a:latin typeface="Calibri"/>
                        <a:cs typeface="Calibri"/>
                      </a:endParaRPr>
                    </a:p>
                  </a:txBody>
                  <a:tcPr marL="0" marR="0" marT="26670" marB="0"/>
                </a:tc>
                <a:extLst>
                  <a:ext uri="{0D108BD9-81ED-4DB2-BD59-A6C34878D82A}">
                    <a16:rowId xmlns:a16="http://schemas.microsoft.com/office/drawing/2014/main" val="10005"/>
                  </a:ext>
                </a:extLst>
              </a:tr>
              <a:tr h="68613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8580">
                        <a:lnSpc>
                          <a:spcPct val="100000"/>
                        </a:lnSpc>
                        <a:spcBef>
                          <a:spcPts val="215"/>
                        </a:spcBef>
                      </a:pPr>
                      <a:r>
                        <a:rPr sz="1400" spc="-10" dirty="0"/>
                        <a:t>Internet-based</a:t>
                      </a:r>
                      <a:endParaRPr sz="1400" dirty="0"/>
                    </a:p>
                    <a:p>
                      <a:pPr marL="68580">
                        <a:lnSpc>
                          <a:spcPct val="100000"/>
                        </a:lnSpc>
                      </a:pPr>
                      <a:r>
                        <a:rPr sz="1400" spc="-10" dirty="0"/>
                        <a:t>observations</a:t>
                      </a:r>
                      <a:endParaRPr sz="1400" b="1" dirty="0">
                        <a:latin typeface="Calibri"/>
                        <a:cs typeface="Calibri"/>
                      </a:endParaRPr>
                    </a:p>
                  </a:txBody>
                  <a:tcPr marL="0" marR="0" marT="27305"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54940">
                        <a:lnSpc>
                          <a:spcPct val="100000"/>
                        </a:lnSpc>
                        <a:spcBef>
                          <a:spcPts val="215"/>
                        </a:spcBef>
                      </a:pPr>
                      <a:r>
                        <a:rPr sz="1400" dirty="0"/>
                        <a:t>Large</a:t>
                      </a:r>
                      <a:r>
                        <a:rPr sz="1400" spc="-15" dirty="0"/>
                        <a:t> </a:t>
                      </a:r>
                      <a:r>
                        <a:rPr sz="1400" dirty="0"/>
                        <a:t>amounts</a:t>
                      </a:r>
                      <a:r>
                        <a:rPr sz="1400" spc="-20" dirty="0"/>
                        <a:t> </a:t>
                      </a:r>
                      <a:r>
                        <a:rPr sz="1400" dirty="0"/>
                        <a:t>of</a:t>
                      </a:r>
                      <a:r>
                        <a:rPr sz="1400" spc="-35" dirty="0"/>
                        <a:t> </a:t>
                      </a:r>
                      <a:r>
                        <a:rPr sz="1400" dirty="0"/>
                        <a:t>readily</a:t>
                      </a:r>
                      <a:r>
                        <a:rPr sz="1400" spc="-25" dirty="0"/>
                        <a:t> </a:t>
                      </a:r>
                      <a:r>
                        <a:rPr sz="1400" dirty="0"/>
                        <a:t>available</a:t>
                      </a:r>
                      <a:r>
                        <a:rPr sz="1400" spc="-35" dirty="0"/>
                        <a:t> </a:t>
                      </a:r>
                      <a:r>
                        <a:rPr sz="1400" dirty="0"/>
                        <a:t>data</a:t>
                      </a:r>
                      <a:r>
                        <a:rPr sz="1400" spc="-25" dirty="0"/>
                        <a:t> </a:t>
                      </a:r>
                      <a:r>
                        <a:rPr sz="1400" dirty="0"/>
                        <a:t>about</a:t>
                      </a:r>
                      <a:r>
                        <a:rPr sz="1400" spc="-35" dirty="0"/>
                        <a:t> </a:t>
                      </a:r>
                      <a:r>
                        <a:rPr sz="1400" dirty="0"/>
                        <a:t>a</a:t>
                      </a:r>
                      <a:r>
                        <a:rPr sz="1400" spc="-15" dirty="0"/>
                        <a:t> </a:t>
                      </a:r>
                      <a:r>
                        <a:rPr sz="1400" dirty="0"/>
                        <a:t>wide</a:t>
                      </a:r>
                      <a:r>
                        <a:rPr sz="1400" spc="-20" dirty="0"/>
                        <a:t> </a:t>
                      </a:r>
                      <a:r>
                        <a:rPr sz="1400" dirty="0"/>
                        <a:t>range</a:t>
                      </a:r>
                      <a:r>
                        <a:rPr sz="1400" spc="-10" dirty="0"/>
                        <a:t> </a:t>
                      </a:r>
                      <a:r>
                        <a:rPr sz="1400" spc="-25" dirty="0"/>
                        <a:t>of</a:t>
                      </a:r>
                      <a:endParaRPr sz="1400"/>
                    </a:p>
                    <a:p>
                      <a:pPr marL="154940">
                        <a:lnSpc>
                          <a:spcPct val="100000"/>
                        </a:lnSpc>
                      </a:pPr>
                      <a:r>
                        <a:rPr sz="1400" spc="-10" dirty="0"/>
                        <a:t>topics</a:t>
                      </a:r>
                      <a:endParaRPr sz="1400">
                        <a:latin typeface="Calibri"/>
                        <a:cs typeface="Calibri"/>
                      </a:endParaRPr>
                    </a:p>
                  </a:txBody>
                  <a:tcPr marL="0" marR="0" marT="27305"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97155">
                        <a:lnSpc>
                          <a:spcPct val="100000"/>
                        </a:lnSpc>
                        <a:spcBef>
                          <a:spcPts val="215"/>
                        </a:spcBef>
                      </a:pPr>
                      <a:r>
                        <a:rPr sz="1400" dirty="0"/>
                        <a:t>Ethical</a:t>
                      </a:r>
                      <a:r>
                        <a:rPr sz="1400" spc="-35" dirty="0"/>
                        <a:t> </a:t>
                      </a:r>
                      <a:r>
                        <a:rPr sz="1400" dirty="0"/>
                        <a:t>concerns</a:t>
                      </a:r>
                      <a:r>
                        <a:rPr sz="1400" spc="-25" dirty="0"/>
                        <a:t> </a:t>
                      </a:r>
                      <a:r>
                        <a:rPr sz="1400" dirty="0"/>
                        <a:t>about</a:t>
                      </a:r>
                      <a:r>
                        <a:rPr sz="1400" spc="-45" dirty="0"/>
                        <a:t> </a:t>
                      </a:r>
                      <a:r>
                        <a:rPr sz="1400" dirty="0"/>
                        <a:t>consent</a:t>
                      </a:r>
                      <a:r>
                        <a:rPr sz="1400" spc="-20" dirty="0"/>
                        <a:t> </a:t>
                      </a:r>
                      <a:r>
                        <a:rPr sz="1400" dirty="0"/>
                        <a:t>and</a:t>
                      </a:r>
                      <a:r>
                        <a:rPr sz="1400" spc="-35" dirty="0"/>
                        <a:t> </a:t>
                      </a:r>
                      <a:r>
                        <a:rPr sz="1400" dirty="0"/>
                        <a:t>data</a:t>
                      </a:r>
                      <a:r>
                        <a:rPr sz="1400" spc="-35" dirty="0"/>
                        <a:t> </a:t>
                      </a:r>
                      <a:r>
                        <a:rPr sz="1400" spc="-10" dirty="0"/>
                        <a:t>protection</a:t>
                      </a:r>
                      <a:endParaRPr sz="1400" dirty="0">
                        <a:latin typeface="Calibri"/>
                        <a:cs typeface="Calibri"/>
                      </a:endParaRPr>
                    </a:p>
                  </a:txBody>
                  <a:tcPr marL="0" marR="0" marT="27305" marB="0"/>
                </a:tc>
                <a:extLst>
                  <a:ext uri="{0D108BD9-81ED-4DB2-BD59-A6C34878D82A}">
                    <a16:rowId xmlns:a16="http://schemas.microsoft.com/office/drawing/2014/main" val="10006"/>
                  </a:ext>
                </a:extLst>
              </a:tr>
              <a:tr h="51002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8580">
                        <a:lnSpc>
                          <a:spcPct val="100000"/>
                        </a:lnSpc>
                        <a:spcBef>
                          <a:spcPts val="215"/>
                        </a:spcBef>
                      </a:pPr>
                      <a:r>
                        <a:rPr sz="1400" dirty="0"/>
                        <a:t>Diary</a:t>
                      </a:r>
                      <a:r>
                        <a:rPr sz="1400" spc="-5" dirty="0"/>
                        <a:t> </a:t>
                      </a:r>
                      <a:r>
                        <a:rPr sz="1400" spc="-10" dirty="0"/>
                        <a:t>Studies</a:t>
                      </a:r>
                      <a:endParaRPr sz="1400" b="1" dirty="0">
                        <a:latin typeface="Calibri"/>
                        <a:cs typeface="Calibri"/>
                      </a:endParaRPr>
                    </a:p>
                  </a:txBody>
                  <a:tcPr marL="0" marR="0" marT="27305"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54940">
                        <a:lnSpc>
                          <a:spcPct val="100000"/>
                        </a:lnSpc>
                        <a:spcBef>
                          <a:spcPts val="215"/>
                        </a:spcBef>
                      </a:pPr>
                      <a:r>
                        <a:rPr sz="1400" dirty="0"/>
                        <a:t>Good</a:t>
                      </a:r>
                      <a:r>
                        <a:rPr sz="1400" spc="-25" dirty="0"/>
                        <a:t> </a:t>
                      </a:r>
                      <a:r>
                        <a:rPr sz="1400" dirty="0"/>
                        <a:t>for</a:t>
                      </a:r>
                      <a:r>
                        <a:rPr sz="1400" spc="-10" dirty="0"/>
                        <a:t> long-</a:t>
                      </a:r>
                      <a:r>
                        <a:rPr sz="1400" dirty="0"/>
                        <a:t>term</a:t>
                      </a:r>
                      <a:r>
                        <a:rPr sz="1400" spc="-5" dirty="0"/>
                        <a:t> </a:t>
                      </a:r>
                      <a:r>
                        <a:rPr sz="1400" dirty="0"/>
                        <a:t>studies</a:t>
                      </a:r>
                      <a:r>
                        <a:rPr sz="1400" spc="-20" dirty="0"/>
                        <a:t> </a:t>
                      </a:r>
                      <a:r>
                        <a:rPr sz="1400" dirty="0"/>
                        <a:t>and</a:t>
                      </a:r>
                      <a:r>
                        <a:rPr sz="1400" spc="-20" dirty="0"/>
                        <a:t> </a:t>
                      </a:r>
                      <a:r>
                        <a:rPr sz="1400" dirty="0"/>
                        <a:t>when</a:t>
                      </a:r>
                      <a:r>
                        <a:rPr sz="1400" spc="-15" dirty="0"/>
                        <a:t> </a:t>
                      </a:r>
                      <a:r>
                        <a:rPr sz="1400" dirty="0"/>
                        <a:t>privacy</a:t>
                      </a:r>
                      <a:r>
                        <a:rPr sz="1400" spc="-10" dirty="0"/>
                        <a:t> </a:t>
                      </a:r>
                      <a:r>
                        <a:rPr sz="1400" dirty="0"/>
                        <a:t>is</a:t>
                      </a:r>
                      <a:r>
                        <a:rPr sz="1400" spc="-20" dirty="0"/>
                        <a:t> </a:t>
                      </a:r>
                      <a:r>
                        <a:rPr sz="1400" dirty="0"/>
                        <a:t>of</a:t>
                      </a:r>
                      <a:r>
                        <a:rPr sz="1400" spc="-25" dirty="0"/>
                        <a:t> </a:t>
                      </a:r>
                      <a:r>
                        <a:rPr sz="1400" spc="-10" dirty="0"/>
                        <a:t>concern.</a:t>
                      </a:r>
                      <a:endParaRPr sz="1400">
                        <a:latin typeface="Calibri"/>
                        <a:cs typeface="Calibri"/>
                      </a:endParaRPr>
                    </a:p>
                  </a:txBody>
                  <a:tcPr marL="0" marR="0" marT="27305"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97155" marR="601345">
                        <a:lnSpc>
                          <a:spcPct val="100000"/>
                        </a:lnSpc>
                        <a:spcBef>
                          <a:spcPts val="215"/>
                        </a:spcBef>
                      </a:pPr>
                      <a:r>
                        <a:rPr sz="1400" dirty="0"/>
                        <a:t>Normally</a:t>
                      </a:r>
                      <a:r>
                        <a:rPr sz="1400" spc="-35" dirty="0"/>
                        <a:t> </a:t>
                      </a:r>
                      <a:r>
                        <a:rPr sz="1400" dirty="0"/>
                        <a:t>requires</a:t>
                      </a:r>
                      <a:r>
                        <a:rPr sz="1400" spc="-20" dirty="0"/>
                        <a:t> </a:t>
                      </a:r>
                      <a:r>
                        <a:rPr sz="1400" dirty="0"/>
                        <a:t>incentives</a:t>
                      </a:r>
                      <a:r>
                        <a:rPr sz="1400" spc="-20" dirty="0"/>
                        <a:t> </a:t>
                      </a:r>
                      <a:r>
                        <a:rPr sz="1400" dirty="0"/>
                        <a:t>due</a:t>
                      </a:r>
                      <a:r>
                        <a:rPr sz="1400" spc="-35" dirty="0"/>
                        <a:t> </a:t>
                      </a:r>
                      <a:r>
                        <a:rPr sz="1400" dirty="0"/>
                        <a:t>to</a:t>
                      </a:r>
                      <a:r>
                        <a:rPr sz="1400" spc="-25" dirty="0"/>
                        <a:t> </a:t>
                      </a:r>
                      <a:r>
                        <a:rPr sz="1400" dirty="0"/>
                        <a:t>high</a:t>
                      </a:r>
                      <a:r>
                        <a:rPr sz="1400" spc="-25" dirty="0"/>
                        <a:t> </a:t>
                      </a:r>
                      <a:r>
                        <a:rPr sz="1400" dirty="0"/>
                        <a:t>effort</a:t>
                      </a:r>
                      <a:r>
                        <a:rPr sz="1400" spc="-25" dirty="0"/>
                        <a:t> </a:t>
                      </a:r>
                      <a:r>
                        <a:rPr sz="1400" spc="-20" dirty="0"/>
                        <a:t>from </a:t>
                      </a:r>
                      <a:r>
                        <a:rPr sz="1400" spc="-10" dirty="0"/>
                        <a:t>participants</a:t>
                      </a:r>
                      <a:endParaRPr sz="1400" dirty="0">
                        <a:latin typeface="Calibri"/>
                        <a:cs typeface="Calibri"/>
                      </a:endParaRPr>
                    </a:p>
                  </a:txBody>
                  <a:tcPr marL="0" marR="0" marT="27305"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19946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ECEC7B-9358-61EF-8D42-0FC1835CE28D}"/>
              </a:ext>
            </a:extLst>
          </p:cNvPr>
          <p:cNvSpPr>
            <a:spLocks noGrp="1"/>
          </p:cNvSpPr>
          <p:nvPr>
            <p:ph type="title"/>
          </p:nvPr>
        </p:nvSpPr>
        <p:spPr>
          <a:xfrm>
            <a:off x="841248" y="365760"/>
            <a:ext cx="10515600" cy="1325880"/>
          </a:xfrm>
        </p:spPr>
        <p:txBody>
          <a:bodyPr anchor="ctr">
            <a:normAutofit/>
          </a:bodyPr>
          <a:lstStyle/>
          <a:p>
            <a:pPr algn="ctr"/>
            <a:r>
              <a:rPr lang="en-US" sz="4800" dirty="0">
                <a:solidFill>
                  <a:schemeClr val="tx1"/>
                </a:solidFill>
              </a:rPr>
              <a:t> </a:t>
            </a:r>
            <a:endParaRPr lang="en-GB" sz="4800" dirty="0">
              <a:solidFill>
                <a:schemeClr val="tx1"/>
              </a:solidFill>
            </a:endParaRPr>
          </a:p>
        </p:txBody>
      </p:sp>
      <p:pic>
        <p:nvPicPr>
          <p:cNvPr id="4" name="Picture 3">
            <a:extLst>
              <a:ext uri="{FF2B5EF4-FFF2-40B4-BE49-F238E27FC236}">
                <a16:creationId xmlns:a16="http://schemas.microsoft.com/office/drawing/2014/main" id="{48CA1113-4524-2852-6B70-9C62F99B7CB6}"/>
              </a:ext>
            </a:extLst>
          </p:cNvPr>
          <p:cNvPicPr>
            <a:picLocks noChangeAspect="1"/>
          </p:cNvPicPr>
          <p:nvPr/>
        </p:nvPicPr>
        <p:blipFill>
          <a:blip r:embed="rId3"/>
          <a:srcRect t="-480" r="-2" b="-2"/>
          <a:stretch/>
        </p:blipFill>
        <p:spPr>
          <a:xfrm>
            <a:off x="244900" y="200771"/>
            <a:ext cx="2973847" cy="3228230"/>
          </a:xfrm>
          <a:prstGeom prst="rect">
            <a:avLst/>
          </a:prstGeom>
          <a:noFill/>
        </p:spPr>
      </p:pic>
      <p:sp>
        <p:nvSpPr>
          <p:cNvPr id="2" name="Content Placeholder 1">
            <a:extLst>
              <a:ext uri="{FF2B5EF4-FFF2-40B4-BE49-F238E27FC236}">
                <a16:creationId xmlns:a16="http://schemas.microsoft.com/office/drawing/2014/main" id="{15B5FFB2-A5AC-699F-29F2-299D023C83C6}"/>
              </a:ext>
            </a:extLst>
          </p:cNvPr>
          <p:cNvSpPr>
            <a:spLocks noGrp="1"/>
          </p:cNvSpPr>
          <p:nvPr>
            <p:ph sz="quarter" idx="4294967295"/>
          </p:nvPr>
        </p:nvSpPr>
        <p:spPr>
          <a:xfrm>
            <a:off x="3635630" y="539418"/>
            <a:ext cx="8199951" cy="5779163"/>
          </a:xfrm>
          <a:prstGeom prst="rect">
            <a:avLst/>
          </a:prstGeom>
          <a:solidFill>
            <a:srgbClr val="F2F2F2"/>
          </a:solidFill>
        </p:spPr>
        <p:txBody>
          <a:bodyPr anchor="t">
            <a:normAutofit/>
          </a:bodyPr>
          <a:lstStyle/>
          <a:p>
            <a:pPr marL="0" indent="0">
              <a:buNone/>
            </a:pPr>
            <a:r>
              <a:rPr lang="en-US" sz="3600" b="1" dirty="0">
                <a:solidFill>
                  <a:srgbClr val="003300"/>
                </a:solidFill>
                <a:effectLst>
                  <a:outerShdw blurRad="38100" dist="38100" dir="2700000" algn="tl">
                    <a:srgbClr val="000000">
                      <a:alpha val="43137"/>
                    </a:srgbClr>
                  </a:outerShdw>
                </a:effectLst>
                <a:latin typeface="Aptos Display" panose="020B0004020202020204" pitchFamily="34" charset="0"/>
              </a:rPr>
              <a:t>Data Collection Methods</a:t>
            </a:r>
            <a:endParaRPr lang="en-US" sz="3600" b="1" kern="1200" dirty="0">
              <a:solidFill>
                <a:srgbClr val="003300"/>
              </a:solidFill>
              <a:effectLst>
                <a:outerShdw blurRad="38100" dist="38100" dir="2700000" algn="tl">
                  <a:srgbClr val="000000">
                    <a:alpha val="43137"/>
                  </a:srgbClr>
                </a:outerShdw>
              </a:effectLst>
              <a:latin typeface="Aptos Display" panose="020B0004020202020204" pitchFamily="34" charset="0"/>
            </a:endParaRPr>
          </a:p>
          <a:p>
            <a:pPr marL="0" indent="0">
              <a:buNone/>
            </a:pPr>
            <a:r>
              <a:rPr lang="en-US" sz="1600" b="1" kern="1200" dirty="0">
                <a:solidFill>
                  <a:schemeClr val="tx1"/>
                </a:solidFill>
                <a:latin typeface="Aptos Display" panose="020B0004020202020204" pitchFamily="34" charset="0"/>
              </a:rPr>
              <a:t>Duration: </a:t>
            </a:r>
            <a:r>
              <a:rPr lang="en-US" sz="1600" dirty="0">
                <a:solidFill>
                  <a:schemeClr val="tx1"/>
                </a:solidFill>
                <a:latin typeface="Aptos Display" panose="020B0004020202020204" pitchFamily="34" charset="0"/>
              </a:rPr>
              <a:t>20 -25</a:t>
            </a:r>
            <a:r>
              <a:rPr lang="en-US" sz="1600" kern="1200" dirty="0">
                <a:solidFill>
                  <a:schemeClr val="tx1"/>
                </a:solidFill>
                <a:latin typeface="Aptos Display" panose="020B0004020202020204" pitchFamily="34" charset="0"/>
              </a:rPr>
              <a:t> minutes </a:t>
            </a:r>
          </a:p>
          <a:p>
            <a:pPr marL="714375" indent="-714375">
              <a:buNone/>
            </a:pPr>
            <a:r>
              <a:rPr lang="en-GB" sz="1200" b="1" dirty="0">
                <a:solidFill>
                  <a:prstClr val="black"/>
                </a:solidFill>
                <a:latin typeface="Aptos Display" panose="020B0004020202020204" pitchFamily="34" charset="0"/>
              </a:rPr>
              <a:t>Objective: To</a:t>
            </a:r>
            <a:r>
              <a:rPr lang="en-GB" sz="1200" dirty="0">
                <a:solidFill>
                  <a:prstClr val="black"/>
                </a:solidFill>
                <a:latin typeface="Aptos Display" panose="020B0004020202020204" pitchFamily="34" charset="0"/>
              </a:rPr>
              <a:t> help you explore real-world examples of how different qualitative data collection methods are used in research, by analysing academic papers...</a:t>
            </a:r>
          </a:p>
          <a:p>
            <a:pPr marL="0" indent="0">
              <a:buNone/>
            </a:pPr>
            <a:r>
              <a:rPr lang="en-GB" sz="1200" b="1" dirty="0">
                <a:solidFill>
                  <a:prstClr val="black"/>
                </a:solidFill>
                <a:latin typeface="Aptos Display" panose="020B0004020202020204" pitchFamily="34" charset="0"/>
              </a:rPr>
              <a:t>Task Description</a:t>
            </a:r>
          </a:p>
          <a:p>
            <a:pPr marL="0" lvl="0" indent="0">
              <a:lnSpc>
                <a:spcPct val="100000"/>
              </a:lnSpc>
              <a:spcBef>
                <a:spcPts val="0"/>
              </a:spcBef>
              <a:buNone/>
            </a:pPr>
            <a:endParaRPr lang="en-GB" sz="1200" dirty="0">
              <a:solidFill>
                <a:prstClr val="black"/>
              </a:solidFill>
              <a:latin typeface="Aptos Display" panose="020B0004020202020204" pitchFamily="34" charset="0"/>
            </a:endParaRPr>
          </a:p>
          <a:p>
            <a:pPr marL="0" lvl="0" indent="0">
              <a:lnSpc>
                <a:spcPct val="100000"/>
              </a:lnSpc>
              <a:spcBef>
                <a:spcPts val="0"/>
              </a:spcBef>
              <a:buNone/>
            </a:pPr>
            <a:r>
              <a:rPr lang="en-GB" sz="1200" b="1" dirty="0">
                <a:solidFill>
                  <a:prstClr val="black"/>
                </a:solidFill>
                <a:latin typeface="Aptos Display" panose="020B0004020202020204" pitchFamily="34" charset="0"/>
              </a:rPr>
              <a:t>Paper Search and Review (15 minutes):</a:t>
            </a:r>
            <a:endParaRPr lang="en-GB" sz="1200" dirty="0">
              <a:solidFill>
                <a:prstClr val="black"/>
              </a:solidFill>
              <a:latin typeface="Aptos Display" panose="020B0004020202020204" pitchFamily="34" charset="0"/>
            </a:endParaRPr>
          </a:p>
          <a:p>
            <a:pPr marL="0" lvl="0" indent="0">
              <a:lnSpc>
                <a:spcPct val="100000"/>
              </a:lnSpc>
              <a:spcBef>
                <a:spcPts val="0"/>
              </a:spcBef>
              <a:buNone/>
            </a:pPr>
            <a:r>
              <a:rPr lang="en-GB" sz="1200" dirty="0">
                <a:solidFill>
                  <a:prstClr val="black"/>
                </a:solidFill>
                <a:latin typeface="Aptos Display" panose="020B0004020202020204" pitchFamily="34" charset="0"/>
              </a:rPr>
              <a:t>Divide the students into small groups (2-3 students per group).</a:t>
            </a:r>
          </a:p>
          <a:p>
            <a:pPr marL="0" lvl="0" indent="0">
              <a:lnSpc>
                <a:spcPct val="100000"/>
              </a:lnSpc>
              <a:spcBef>
                <a:spcPts val="0"/>
              </a:spcBef>
              <a:buNone/>
            </a:pPr>
            <a:r>
              <a:rPr lang="en-GB" sz="1200" dirty="0">
                <a:solidFill>
                  <a:prstClr val="black"/>
                </a:solidFill>
                <a:latin typeface="Aptos Display" panose="020B0004020202020204" pitchFamily="34" charset="0"/>
              </a:rPr>
              <a:t>Each group must choose one of the QUAL methods (</a:t>
            </a:r>
            <a:r>
              <a:rPr lang="en-GB" sz="1200" b="1" dirty="0">
                <a:solidFill>
                  <a:prstClr val="black"/>
                </a:solidFill>
                <a:latin typeface="Aptos Display" panose="020B0004020202020204" pitchFamily="34" charset="0"/>
              </a:rPr>
              <a:t>Interviews</a:t>
            </a:r>
            <a:r>
              <a:rPr lang="en-GB" sz="1200" dirty="0">
                <a:solidFill>
                  <a:prstClr val="black"/>
                </a:solidFill>
                <a:latin typeface="Aptos Display" panose="020B0004020202020204" pitchFamily="34" charset="0"/>
              </a:rPr>
              <a:t>, </a:t>
            </a:r>
            <a:r>
              <a:rPr lang="en-GB" sz="1200" b="1" dirty="0">
                <a:solidFill>
                  <a:prstClr val="black"/>
                </a:solidFill>
                <a:latin typeface="Aptos Display" panose="020B0004020202020204" pitchFamily="34" charset="0"/>
              </a:rPr>
              <a:t>Focus Groups</a:t>
            </a:r>
            <a:r>
              <a:rPr lang="en-GB" sz="1200" dirty="0">
                <a:solidFill>
                  <a:prstClr val="black"/>
                </a:solidFill>
                <a:latin typeface="Aptos Display" panose="020B0004020202020204" pitchFamily="34" charset="0"/>
              </a:rPr>
              <a:t>, or </a:t>
            </a:r>
            <a:r>
              <a:rPr lang="en-GB" sz="1200" b="1" dirty="0">
                <a:solidFill>
                  <a:prstClr val="black"/>
                </a:solidFill>
                <a:latin typeface="Aptos Display" panose="020B0004020202020204" pitchFamily="34" charset="0"/>
              </a:rPr>
              <a:t>Observations etc from the cheat sheet</a:t>
            </a:r>
            <a:r>
              <a:rPr lang="en-GB" sz="1200" dirty="0">
                <a:solidFill>
                  <a:prstClr val="black"/>
                </a:solidFill>
                <a:latin typeface="Aptos Display" panose="020B0004020202020204" pitchFamily="34" charset="0"/>
              </a:rPr>
              <a:t>).</a:t>
            </a:r>
          </a:p>
          <a:p>
            <a:pPr marL="0" lvl="0" indent="0">
              <a:lnSpc>
                <a:spcPct val="100000"/>
              </a:lnSpc>
              <a:spcBef>
                <a:spcPts val="0"/>
              </a:spcBef>
              <a:buNone/>
            </a:pPr>
            <a:r>
              <a:rPr lang="en-GB" sz="1200" b="1" dirty="0">
                <a:solidFill>
                  <a:prstClr val="black"/>
                </a:solidFill>
                <a:latin typeface="Aptos Display" panose="020B0004020202020204" pitchFamily="34" charset="0"/>
              </a:rPr>
              <a:t>Task:</a:t>
            </a:r>
            <a:endParaRPr lang="en-GB" sz="1200" dirty="0">
              <a:solidFill>
                <a:prstClr val="black"/>
              </a:solidFill>
              <a:latin typeface="Aptos Display" panose="020B0004020202020204" pitchFamily="34" charset="0"/>
            </a:endParaRPr>
          </a:p>
          <a:p>
            <a:pPr marL="628650" lvl="1" indent="-171450">
              <a:lnSpc>
                <a:spcPct val="100000"/>
              </a:lnSpc>
              <a:spcBef>
                <a:spcPts val="0"/>
              </a:spcBef>
              <a:buFont typeface="Wingdings" panose="05000000000000000000" pitchFamily="2" charset="2"/>
              <a:buChar char="§"/>
            </a:pPr>
            <a:r>
              <a:rPr lang="en-GB" sz="1200" dirty="0">
                <a:solidFill>
                  <a:prstClr val="black"/>
                </a:solidFill>
                <a:latin typeface="Aptos Display" panose="020B0004020202020204" pitchFamily="34" charset="0"/>
              </a:rPr>
              <a:t>In your group quickly search for an academic paper (e.g., from Google Scholar, university databases) that uses their assigned method.</a:t>
            </a:r>
          </a:p>
          <a:p>
            <a:pPr marL="628650" lvl="1" indent="-171450">
              <a:lnSpc>
                <a:spcPct val="100000"/>
              </a:lnSpc>
              <a:spcBef>
                <a:spcPts val="0"/>
              </a:spcBef>
              <a:buFont typeface="Wingdings" panose="05000000000000000000" pitchFamily="2" charset="2"/>
              <a:buChar char="§"/>
            </a:pPr>
            <a:r>
              <a:rPr lang="en-GB" sz="1200" dirty="0">
                <a:solidFill>
                  <a:prstClr val="black"/>
                </a:solidFill>
                <a:latin typeface="Aptos Display" panose="020B0004020202020204" pitchFamily="34" charset="0"/>
              </a:rPr>
              <a:t>After finding a relevant paper, students will:</a:t>
            </a:r>
          </a:p>
          <a:p>
            <a:pPr marL="1085850" lvl="2" indent="-171450">
              <a:lnSpc>
                <a:spcPct val="100000"/>
              </a:lnSpc>
              <a:spcBef>
                <a:spcPts val="0"/>
              </a:spcBef>
            </a:pPr>
            <a:r>
              <a:rPr lang="en-GB" sz="1200" b="1" dirty="0">
                <a:solidFill>
                  <a:prstClr val="black"/>
                </a:solidFill>
                <a:latin typeface="Aptos Display" panose="020B0004020202020204" pitchFamily="34" charset="0"/>
              </a:rPr>
              <a:t>Summarize</a:t>
            </a:r>
            <a:r>
              <a:rPr lang="en-GB" sz="1200" dirty="0">
                <a:solidFill>
                  <a:prstClr val="black"/>
                </a:solidFill>
                <a:latin typeface="Aptos Display" panose="020B0004020202020204" pitchFamily="34" charset="0"/>
              </a:rPr>
              <a:t> the research question the paper addresses.</a:t>
            </a:r>
          </a:p>
          <a:p>
            <a:pPr marL="1085850" lvl="2" indent="-171450">
              <a:lnSpc>
                <a:spcPct val="100000"/>
              </a:lnSpc>
              <a:spcBef>
                <a:spcPts val="0"/>
              </a:spcBef>
            </a:pPr>
            <a:r>
              <a:rPr lang="en-GB" sz="1200" b="1" dirty="0">
                <a:solidFill>
                  <a:prstClr val="black"/>
                </a:solidFill>
                <a:latin typeface="Aptos Display" panose="020B0004020202020204" pitchFamily="34" charset="0"/>
              </a:rPr>
              <a:t>Describe</a:t>
            </a:r>
            <a:r>
              <a:rPr lang="en-GB" sz="1200" dirty="0">
                <a:solidFill>
                  <a:prstClr val="black"/>
                </a:solidFill>
                <a:latin typeface="Aptos Display" panose="020B0004020202020204" pitchFamily="34" charset="0"/>
              </a:rPr>
              <a:t> how the data collection method is applied in the study.</a:t>
            </a:r>
          </a:p>
          <a:p>
            <a:pPr marL="1085850" lvl="2" indent="-171450">
              <a:lnSpc>
                <a:spcPct val="100000"/>
              </a:lnSpc>
              <a:spcBef>
                <a:spcPts val="0"/>
              </a:spcBef>
            </a:pPr>
            <a:r>
              <a:rPr lang="en-GB" sz="1200" dirty="0">
                <a:solidFill>
                  <a:prstClr val="black"/>
                </a:solidFill>
                <a:latin typeface="Aptos Display" panose="020B0004020202020204" pitchFamily="34" charset="0"/>
              </a:rPr>
              <a:t>Identify any </a:t>
            </a:r>
            <a:r>
              <a:rPr lang="en-GB" sz="1200" b="1" dirty="0">
                <a:solidFill>
                  <a:prstClr val="black"/>
                </a:solidFill>
                <a:latin typeface="Aptos Display" panose="020B0004020202020204" pitchFamily="34" charset="0"/>
              </a:rPr>
              <a:t>strengths</a:t>
            </a:r>
            <a:r>
              <a:rPr lang="en-GB" sz="1200" dirty="0">
                <a:solidFill>
                  <a:prstClr val="black"/>
                </a:solidFill>
                <a:latin typeface="Aptos Display" panose="020B0004020202020204" pitchFamily="34" charset="0"/>
              </a:rPr>
              <a:t> and </a:t>
            </a:r>
            <a:r>
              <a:rPr lang="en-GB" sz="1200" b="1" dirty="0">
                <a:solidFill>
                  <a:prstClr val="black"/>
                </a:solidFill>
                <a:latin typeface="Aptos Display" panose="020B0004020202020204" pitchFamily="34" charset="0"/>
              </a:rPr>
              <a:t>challenges</a:t>
            </a:r>
            <a:r>
              <a:rPr lang="en-GB" sz="1200" dirty="0">
                <a:solidFill>
                  <a:prstClr val="black"/>
                </a:solidFill>
                <a:latin typeface="Aptos Display" panose="020B0004020202020204" pitchFamily="34" charset="0"/>
              </a:rPr>
              <a:t> mentioned in the paper regarding the method's use.</a:t>
            </a:r>
          </a:p>
          <a:p>
            <a:pPr marL="1085850" lvl="2" indent="-171450">
              <a:lnSpc>
                <a:spcPct val="100000"/>
              </a:lnSpc>
              <a:spcBef>
                <a:spcPts val="0"/>
              </a:spcBef>
            </a:pPr>
            <a:r>
              <a:rPr lang="en-GB" sz="1200" dirty="0">
                <a:solidFill>
                  <a:prstClr val="black"/>
                </a:solidFill>
                <a:latin typeface="Aptos Display" panose="020B0004020202020204" pitchFamily="34" charset="0"/>
              </a:rPr>
              <a:t>Provide an appraisal of the data analysis methods </a:t>
            </a:r>
          </a:p>
          <a:p>
            <a:pPr marL="0" lvl="0" indent="0">
              <a:lnSpc>
                <a:spcPct val="100000"/>
              </a:lnSpc>
              <a:spcBef>
                <a:spcPts val="0"/>
              </a:spcBef>
              <a:buNone/>
            </a:pPr>
            <a:endParaRPr lang="en-GB" sz="1200" b="1" dirty="0">
              <a:solidFill>
                <a:prstClr val="black"/>
              </a:solidFill>
              <a:latin typeface="Aptos Display" panose="020B0004020202020204" pitchFamily="34" charset="0"/>
            </a:endParaRPr>
          </a:p>
          <a:p>
            <a:pPr marL="0" lvl="0" indent="0">
              <a:lnSpc>
                <a:spcPct val="100000"/>
              </a:lnSpc>
              <a:spcBef>
                <a:spcPts val="0"/>
              </a:spcBef>
              <a:buNone/>
            </a:pPr>
            <a:r>
              <a:rPr lang="en-GB" sz="1200" b="1" dirty="0">
                <a:solidFill>
                  <a:prstClr val="black"/>
                </a:solidFill>
                <a:latin typeface="Aptos Display" panose="020B0004020202020204" pitchFamily="34" charset="0"/>
              </a:rPr>
              <a:t>Group Presentations (5 minutes): (OPTION – Deliver the presentation through the Medium of </a:t>
            </a:r>
            <a:r>
              <a:rPr lang="en-GB" sz="12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ptos Display" panose="020B0004020202020204" pitchFamily="34" charset="0"/>
              </a:rPr>
              <a:t>DANCE</a:t>
            </a:r>
            <a:r>
              <a:rPr lang="en-GB" sz="1200" dirty="0">
                <a:ln w="12700">
                  <a:solidFill>
                    <a:schemeClr val="tx2">
                      <a:lumMod val="75000"/>
                    </a:schemeClr>
                  </a:solidFill>
                  <a:prstDash val="solid"/>
                </a:ln>
                <a:pattFill prst="dkUpDiag">
                  <a:fgClr>
                    <a:schemeClr val="tx2"/>
                  </a:fgClr>
                  <a:bgClr>
                    <a:schemeClr val="tx2">
                      <a:lumMod val="20000"/>
                      <a:lumOff val="80000"/>
                    </a:schemeClr>
                  </a:bgClr>
                </a:pattFill>
                <a:latin typeface="Aptos Display" panose="020B0004020202020204" pitchFamily="34" charset="0"/>
              </a:rPr>
              <a:t>)</a:t>
            </a:r>
            <a:endParaRPr lang="en-GB" sz="1200" dirty="0">
              <a:solidFill>
                <a:prstClr val="black"/>
              </a:solidFill>
              <a:latin typeface="Aptos Display" panose="020B0004020202020204" pitchFamily="34" charset="0"/>
            </a:endParaRPr>
          </a:p>
          <a:p>
            <a:pPr lvl="0">
              <a:lnSpc>
                <a:spcPct val="100000"/>
              </a:lnSpc>
              <a:spcBef>
                <a:spcPts val="0"/>
              </a:spcBef>
              <a:buFont typeface="Wingdings" panose="05000000000000000000" pitchFamily="2" charset="2"/>
              <a:buChar char="§"/>
            </a:pPr>
            <a:r>
              <a:rPr lang="en-GB" sz="1200" dirty="0">
                <a:solidFill>
                  <a:prstClr val="black"/>
                </a:solidFill>
                <a:latin typeface="Aptos Display" panose="020B0004020202020204" pitchFamily="34" charset="0"/>
              </a:rPr>
              <a:t>Each group will briefly Discuss:</a:t>
            </a:r>
          </a:p>
          <a:p>
            <a:pPr marL="628650" lvl="1" indent="-171450">
              <a:lnSpc>
                <a:spcPct val="100000"/>
              </a:lnSpc>
              <a:spcBef>
                <a:spcPts val="0"/>
              </a:spcBef>
            </a:pPr>
            <a:r>
              <a:rPr lang="en-GB" sz="1200" dirty="0">
                <a:solidFill>
                  <a:prstClr val="black"/>
                </a:solidFill>
                <a:latin typeface="Aptos Display" panose="020B0004020202020204" pitchFamily="34" charset="0"/>
              </a:rPr>
              <a:t>The key points from the paper they found.</a:t>
            </a:r>
          </a:p>
          <a:p>
            <a:pPr marL="628650" lvl="1" indent="-171450">
              <a:lnSpc>
                <a:spcPct val="100000"/>
              </a:lnSpc>
              <a:spcBef>
                <a:spcPts val="0"/>
              </a:spcBef>
            </a:pPr>
            <a:r>
              <a:rPr lang="en-GB" sz="1200" dirty="0">
                <a:solidFill>
                  <a:prstClr val="black"/>
                </a:solidFill>
                <a:latin typeface="Aptos Display" panose="020B0004020202020204" pitchFamily="34" charset="0"/>
              </a:rPr>
              <a:t>How the method was applied and any challenges faced by the researchers.</a:t>
            </a:r>
          </a:p>
          <a:p>
            <a:pPr marL="628650" lvl="1" indent="-171450">
              <a:lnSpc>
                <a:spcPct val="100000"/>
              </a:lnSpc>
              <a:spcBef>
                <a:spcPts val="0"/>
              </a:spcBef>
            </a:pPr>
            <a:r>
              <a:rPr lang="en-GB" sz="1200" dirty="0">
                <a:solidFill>
                  <a:prstClr val="black"/>
                </a:solidFill>
                <a:latin typeface="Aptos Display" panose="020B0004020202020204" pitchFamily="34" charset="0"/>
              </a:rPr>
              <a:t>How they approaches the Analysis of the data </a:t>
            </a:r>
          </a:p>
          <a:p>
            <a:pPr marL="628650" lvl="1" indent="-171450">
              <a:lnSpc>
                <a:spcPct val="100000"/>
              </a:lnSpc>
              <a:spcBef>
                <a:spcPts val="0"/>
              </a:spcBef>
            </a:pPr>
            <a:endParaRPr lang="en-GB" sz="1200" dirty="0">
              <a:solidFill>
                <a:prstClr val="black"/>
              </a:solidFill>
              <a:latin typeface="Aptos Display" panose="020B0004020202020204" pitchFamily="34" charset="0"/>
            </a:endParaRPr>
          </a:p>
          <a:p>
            <a:pPr marL="0" lvl="0" indent="0">
              <a:lnSpc>
                <a:spcPct val="100000"/>
              </a:lnSpc>
              <a:spcBef>
                <a:spcPts val="0"/>
              </a:spcBef>
              <a:buNone/>
            </a:pPr>
            <a:r>
              <a:rPr lang="en-GB" sz="1200" b="1" dirty="0">
                <a:solidFill>
                  <a:prstClr val="black"/>
                </a:solidFill>
                <a:latin typeface="Aptos Display" panose="020B0004020202020204" pitchFamily="34" charset="0"/>
              </a:rPr>
              <a:t>Class Discussion:</a:t>
            </a:r>
            <a:r>
              <a:rPr lang="en-GB" sz="1200" dirty="0">
                <a:solidFill>
                  <a:prstClr val="black"/>
                </a:solidFill>
                <a:latin typeface="Aptos Display" panose="020B0004020202020204" pitchFamily="34" charset="0"/>
              </a:rPr>
              <a:t> Reflect on how the use of data collection methods differs depending on the research context and study needs.</a:t>
            </a:r>
          </a:p>
          <a:p>
            <a:pPr marL="0" indent="0">
              <a:buNone/>
            </a:pPr>
            <a:endParaRPr lang="en-US" sz="1600" kern="1200" dirty="0">
              <a:solidFill>
                <a:schemeClr val="tx1"/>
              </a:solidFill>
              <a:latin typeface="Aptos Display" panose="020B0004020202020204" pitchFamily="34" charset="0"/>
            </a:endParaRPr>
          </a:p>
        </p:txBody>
      </p:sp>
    </p:spTree>
    <p:extLst>
      <p:ext uri="{BB962C8B-B14F-4D97-AF65-F5344CB8AC3E}">
        <p14:creationId xmlns:p14="http://schemas.microsoft.com/office/powerpoint/2010/main" val="3425284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EA677B0-03AF-2215-38FD-9A1FCBE5E1E7}"/>
              </a:ext>
            </a:extLst>
          </p:cNvPr>
          <p:cNvSpPr>
            <a:spLocks noGrp="1"/>
          </p:cNvSpPr>
          <p:nvPr>
            <p:ph type="pic" sz="quarter" idx="10"/>
          </p:nvPr>
        </p:nvSpPr>
        <p:spPr>
          <a:xfrm>
            <a:off x="0" y="-16625"/>
            <a:ext cx="12192000" cy="6858000"/>
          </a:xfrm>
        </p:spPr>
        <p:txBody>
          <a:bodyPr/>
          <a:lstStyle/>
          <a:p>
            <a:endParaRPr lang="en-GB" dirty="0"/>
          </a:p>
        </p:txBody>
      </p:sp>
      <p:sp>
        <p:nvSpPr>
          <p:cNvPr id="3" name="Title 2">
            <a:extLst>
              <a:ext uri="{FF2B5EF4-FFF2-40B4-BE49-F238E27FC236}">
                <a16:creationId xmlns:a16="http://schemas.microsoft.com/office/drawing/2014/main" id="{FED8BB73-78B2-FC77-F1AE-F0F605DC6BA9}"/>
              </a:ext>
            </a:extLst>
          </p:cNvPr>
          <p:cNvSpPr>
            <a:spLocks noGrp="1"/>
          </p:cNvSpPr>
          <p:nvPr>
            <p:ph type="title"/>
          </p:nvPr>
        </p:nvSpPr>
        <p:spPr>
          <a:xfrm>
            <a:off x="3711520" y="2075648"/>
            <a:ext cx="4768959" cy="2374194"/>
          </a:xfrm>
        </p:spPr>
        <p:txBody>
          <a:bodyPr/>
          <a:lstStyle/>
          <a:p>
            <a:r>
              <a:rPr lang="en-GB" sz="6600" dirty="0">
                <a:latin typeface="Arial MT"/>
                <a:cs typeface="Arial MT"/>
              </a:rPr>
              <a:t>Data</a:t>
            </a:r>
            <a:r>
              <a:rPr lang="en-GB" sz="6600" spc="-30" dirty="0">
                <a:latin typeface="Arial MT"/>
                <a:cs typeface="Arial MT"/>
              </a:rPr>
              <a:t> </a:t>
            </a:r>
            <a:br>
              <a:rPr lang="en-GB" sz="6600" dirty="0">
                <a:latin typeface="Arial MT"/>
                <a:cs typeface="Arial MT"/>
              </a:rPr>
            </a:br>
            <a:r>
              <a:rPr lang="en-GB" sz="6600" dirty="0">
                <a:latin typeface="Arial MT"/>
                <a:cs typeface="Arial MT"/>
              </a:rPr>
              <a:t>Analysis</a:t>
            </a:r>
            <a:br>
              <a:rPr lang="en-GB" sz="6600" dirty="0">
                <a:latin typeface="Arial MT"/>
                <a:cs typeface="Arial MT"/>
              </a:rPr>
            </a:br>
            <a:r>
              <a:rPr lang="en-GB" sz="6600" dirty="0">
                <a:latin typeface="Arial MT"/>
                <a:cs typeface="Arial MT"/>
              </a:rPr>
              <a:t>Techniques</a:t>
            </a:r>
          </a:p>
        </p:txBody>
      </p:sp>
    </p:spTree>
    <p:extLst>
      <p:ext uri="{BB962C8B-B14F-4D97-AF65-F5344CB8AC3E}">
        <p14:creationId xmlns:p14="http://schemas.microsoft.com/office/powerpoint/2010/main" val="1172982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8ABA27-DF0A-316D-950D-AE93362794D9}"/>
              </a:ext>
            </a:extLst>
          </p:cNvPr>
          <p:cNvGrpSpPr/>
          <p:nvPr/>
        </p:nvGrpSpPr>
        <p:grpSpPr>
          <a:xfrm>
            <a:off x="439995" y="2510949"/>
            <a:ext cx="10776152" cy="4107426"/>
            <a:chOff x="6760464" y="2397310"/>
            <a:chExt cx="4949055" cy="2119883"/>
          </a:xfrm>
        </p:grpSpPr>
        <p:grpSp>
          <p:nvGrpSpPr>
            <p:cNvPr id="6" name="object 4"/>
            <p:cNvGrpSpPr/>
            <p:nvPr/>
          </p:nvGrpSpPr>
          <p:grpSpPr>
            <a:xfrm>
              <a:off x="6760464" y="2397310"/>
              <a:ext cx="3062986" cy="2119883"/>
              <a:chOff x="3834384" y="2491739"/>
              <a:chExt cx="3062986" cy="2119883"/>
            </a:xfrm>
          </p:grpSpPr>
          <p:sp>
            <p:nvSpPr>
              <p:cNvPr id="8" name="object 5"/>
              <p:cNvSpPr/>
              <p:nvPr/>
            </p:nvSpPr>
            <p:spPr>
              <a:xfrm>
                <a:off x="5899785" y="3379469"/>
                <a:ext cx="997585" cy="352425"/>
              </a:xfrm>
              <a:custGeom>
                <a:avLst/>
                <a:gdLst/>
                <a:ahLst/>
                <a:cxnLst/>
                <a:rect l="l" t="t" r="r" b="b"/>
                <a:pathLst>
                  <a:path w="997584" h="352425">
                    <a:moveTo>
                      <a:pt x="881764" y="117093"/>
                    </a:moveTo>
                    <a:lnTo>
                      <a:pt x="702944" y="117093"/>
                    </a:lnTo>
                    <a:lnTo>
                      <a:pt x="703707" y="234568"/>
                    </a:lnTo>
                    <a:lnTo>
                      <a:pt x="645075" y="234992"/>
                    </a:lnTo>
                    <a:lnTo>
                      <a:pt x="645921" y="352424"/>
                    </a:lnTo>
                    <a:lnTo>
                      <a:pt x="997076" y="173735"/>
                    </a:lnTo>
                    <a:lnTo>
                      <a:pt x="881764" y="117093"/>
                    </a:lnTo>
                    <a:close/>
                  </a:path>
                  <a:path w="997584" h="352425">
                    <a:moveTo>
                      <a:pt x="644228" y="117518"/>
                    </a:moveTo>
                    <a:lnTo>
                      <a:pt x="0" y="122174"/>
                    </a:lnTo>
                    <a:lnTo>
                      <a:pt x="762" y="239648"/>
                    </a:lnTo>
                    <a:lnTo>
                      <a:pt x="645075" y="234992"/>
                    </a:lnTo>
                    <a:lnTo>
                      <a:pt x="644228" y="117518"/>
                    </a:lnTo>
                    <a:close/>
                  </a:path>
                  <a:path w="997584" h="352425">
                    <a:moveTo>
                      <a:pt x="702944" y="117093"/>
                    </a:moveTo>
                    <a:lnTo>
                      <a:pt x="644228" y="117518"/>
                    </a:lnTo>
                    <a:lnTo>
                      <a:pt x="645075" y="234992"/>
                    </a:lnTo>
                    <a:lnTo>
                      <a:pt x="703707" y="234568"/>
                    </a:lnTo>
                    <a:lnTo>
                      <a:pt x="702944" y="117093"/>
                    </a:lnTo>
                    <a:close/>
                  </a:path>
                  <a:path w="997584" h="352425">
                    <a:moveTo>
                      <a:pt x="643382" y="0"/>
                    </a:moveTo>
                    <a:lnTo>
                      <a:pt x="644228" y="117518"/>
                    </a:lnTo>
                    <a:lnTo>
                      <a:pt x="881764" y="117093"/>
                    </a:lnTo>
                    <a:lnTo>
                      <a:pt x="643382" y="0"/>
                    </a:lnTo>
                    <a:close/>
                  </a:path>
                </a:pathLst>
              </a:custGeom>
              <a:solidFill>
                <a:srgbClr val="000000"/>
              </a:solidFill>
            </p:spPr>
            <p:txBody>
              <a:bodyPr wrap="square" lIns="0" tIns="0" rIns="0" bIns="0" rtlCol="0"/>
              <a:lstStyle/>
              <a:p>
                <a:endParaRPr/>
              </a:p>
            </p:txBody>
          </p:sp>
          <p:pic>
            <p:nvPicPr>
              <p:cNvPr id="9" name="object 6"/>
              <p:cNvPicPr/>
              <p:nvPr/>
            </p:nvPicPr>
            <p:blipFill>
              <a:blip r:embed="rId3" cstate="print">
                <a:duotone>
                  <a:prstClr val="black"/>
                  <a:schemeClr val="accent4">
                    <a:tint val="45000"/>
                    <a:satMod val="400000"/>
                  </a:schemeClr>
                </a:duotone>
              </a:blip>
              <a:stretch>
                <a:fillRect/>
              </a:stretch>
            </p:blipFill>
            <p:spPr>
              <a:xfrm>
                <a:off x="3834384" y="2491739"/>
                <a:ext cx="2063495" cy="2119883"/>
              </a:xfrm>
              <a:prstGeom prst="rect">
                <a:avLst/>
              </a:prstGeom>
            </p:spPr>
          </p:pic>
        </p:grpSp>
        <p:pic>
          <p:nvPicPr>
            <p:cNvPr id="10" name="object 7"/>
            <p:cNvPicPr/>
            <p:nvPr/>
          </p:nvPicPr>
          <p:blipFill>
            <a:blip r:embed="rId4" cstate="print">
              <a:duotone>
                <a:schemeClr val="accent4">
                  <a:shade val="45000"/>
                  <a:satMod val="135000"/>
                </a:schemeClr>
                <a:prstClr val="white"/>
              </a:duotone>
            </a:blip>
            <a:stretch>
              <a:fillRect/>
            </a:stretch>
          </p:blipFill>
          <p:spPr>
            <a:xfrm>
              <a:off x="9823450" y="2610919"/>
              <a:ext cx="1886069" cy="1884548"/>
            </a:xfrm>
            <a:prstGeom prst="rect">
              <a:avLst/>
            </a:prstGeom>
          </p:spPr>
        </p:pic>
      </p:grpSp>
      <p:sp>
        <p:nvSpPr>
          <p:cNvPr id="3" name="TextBox 2">
            <a:extLst>
              <a:ext uri="{FF2B5EF4-FFF2-40B4-BE49-F238E27FC236}">
                <a16:creationId xmlns:a16="http://schemas.microsoft.com/office/drawing/2014/main" id="{FE10A49A-9FCD-5F68-3696-0C865A388519}"/>
              </a:ext>
            </a:extLst>
          </p:cNvPr>
          <p:cNvSpPr txBox="1"/>
          <p:nvPr/>
        </p:nvSpPr>
        <p:spPr>
          <a:xfrm>
            <a:off x="3694099" y="1329005"/>
            <a:ext cx="5191805" cy="490538"/>
          </a:xfrm>
          <a:prstGeom prst="rect">
            <a:avLst/>
          </a:prstGeom>
        </p:spPr>
        <p:txBody>
          <a:bodyPr rtlCol="0">
            <a:noAutofit/>
          </a:bodyPr>
          <a:lstStyle/>
          <a:p>
            <a:pPr marL="342900" indent="-342900">
              <a:lnSpc>
                <a:spcPct val="90000"/>
              </a:lnSpc>
              <a:spcBef>
                <a:spcPts val="1000"/>
              </a:spcBef>
              <a:buClr>
                <a:schemeClr val="accent4"/>
              </a:buClr>
              <a:buFont typeface="+mj-lt"/>
              <a:buAutoNum type="arabicPeriod"/>
              <a:tabLst>
                <a:tab pos="240029" algn="l"/>
              </a:tabLst>
            </a:pPr>
            <a:r>
              <a:rPr lang="en-GB" b="1" kern="1200" spc="-60" dirty="0">
                <a:solidFill>
                  <a:schemeClr val="accent4"/>
                </a:solidFill>
                <a:latin typeface="Aptos Display" panose="020B0004020202020204" pitchFamily="34" charset="0"/>
                <a:cs typeface="Calibri" panose="020F0502020204030204" pitchFamily="34" charset="0"/>
              </a:rPr>
              <a:t>Take</a:t>
            </a:r>
            <a:r>
              <a:rPr lang="en-GB" b="1" kern="1200" spc="-75" dirty="0">
                <a:solidFill>
                  <a:schemeClr val="accent4"/>
                </a:solidFill>
                <a:latin typeface="Aptos Display" panose="020B0004020202020204" pitchFamily="34" charset="0"/>
                <a:cs typeface="Calibri" panose="020F0502020204030204" pitchFamily="34" charset="0"/>
              </a:rPr>
              <a:t> </a:t>
            </a:r>
            <a:r>
              <a:rPr lang="en-GB" b="1" kern="1200" dirty="0">
                <a:solidFill>
                  <a:schemeClr val="accent4"/>
                </a:solidFill>
                <a:latin typeface="Aptos Display" panose="020B0004020202020204" pitchFamily="34" charset="0"/>
                <a:cs typeface="Calibri" panose="020F0502020204030204" pitchFamily="34" charset="0"/>
              </a:rPr>
              <a:t>unstructured</a:t>
            </a:r>
            <a:r>
              <a:rPr lang="en-GB" b="1" kern="1200" spc="-100" dirty="0">
                <a:solidFill>
                  <a:schemeClr val="accent4"/>
                </a:solidFill>
                <a:latin typeface="Aptos Display" panose="020B0004020202020204" pitchFamily="34" charset="0"/>
                <a:cs typeface="Calibri" panose="020F0502020204030204" pitchFamily="34" charset="0"/>
              </a:rPr>
              <a:t> </a:t>
            </a:r>
            <a:r>
              <a:rPr lang="en-GB" b="1" kern="1200" spc="-20" dirty="0">
                <a:solidFill>
                  <a:schemeClr val="accent4"/>
                </a:solidFill>
                <a:latin typeface="Aptos Display" panose="020B0004020202020204" pitchFamily="34" charset="0"/>
                <a:cs typeface="Calibri" panose="020F0502020204030204" pitchFamily="34" charset="0"/>
              </a:rPr>
              <a:t>data (</a:t>
            </a:r>
            <a:r>
              <a:rPr lang="en-GB" b="1" kern="1200" dirty="0">
                <a:solidFill>
                  <a:schemeClr val="accent4"/>
                </a:solidFill>
                <a:latin typeface="Aptos Display" panose="020B0004020202020204" pitchFamily="34" charset="0"/>
                <a:cs typeface="Calibri" panose="020F0502020204030204" pitchFamily="34" charset="0"/>
              </a:rPr>
              <a:t>text)</a:t>
            </a:r>
            <a:r>
              <a:rPr lang="en-GB" b="1" kern="1200" spc="-55" dirty="0">
                <a:solidFill>
                  <a:schemeClr val="accent4"/>
                </a:solidFill>
                <a:latin typeface="Aptos Display" panose="020B0004020202020204" pitchFamily="34" charset="0"/>
                <a:cs typeface="Calibri" panose="020F0502020204030204" pitchFamily="34" charset="0"/>
              </a:rPr>
              <a:t> </a:t>
            </a:r>
            <a:r>
              <a:rPr lang="en-GB" b="1" kern="1200" dirty="0">
                <a:solidFill>
                  <a:schemeClr val="accent4"/>
                </a:solidFill>
                <a:latin typeface="Aptos Display" panose="020B0004020202020204" pitchFamily="34" charset="0"/>
                <a:cs typeface="Calibri" panose="020F0502020204030204" pitchFamily="34" charset="0"/>
              </a:rPr>
              <a:t>and</a:t>
            </a:r>
            <a:r>
              <a:rPr lang="en-GB" b="1" kern="1200" spc="-60" dirty="0">
                <a:solidFill>
                  <a:schemeClr val="accent4"/>
                </a:solidFill>
                <a:latin typeface="Aptos Display" panose="020B0004020202020204" pitchFamily="34" charset="0"/>
                <a:cs typeface="Calibri" panose="020F0502020204030204" pitchFamily="34" charset="0"/>
              </a:rPr>
              <a:t> </a:t>
            </a:r>
            <a:r>
              <a:rPr lang="en-GB" b="1" kern="1200" spc="-10" dirty="0">
                <a:solidFill>
                  <a:schemeClr val="accent4"/>
                </a:solidFill>
                <a:latin typeface="Aptos Display" panose="020B0004020202020204" pitchFamily="34" charset="0"/>
                <a:cs typeface="Calibri" panose="020F0502020204030204" pitchFamily="34" charset="0"/>
              </a:rPr>
              <a:t>convert</a:t>
            </a:r>
            <a:r>
              <a:rPr lang="en-GB" b="1" kern="1200" spc="-55" dirty="0">
                <a:solidFill>
                  <a:schemeClr val="accent4"/>
                </a:solidFill>
                <a:latin typeface="Aptos Display" panose="020B0004020202020204" pitchFamily="34" charset="0"/>
                <a:cs typeface="Calibri" panose="020F0502020204030204" pitchFamily="34" charset="0"/>
              </a:rPr>
              <a:t> </a:t>
            </a:r>
            <a:r>
              <a:rPr lang="en-GB" b="1" kern="1200" spc="-25" dirty="0">
                <a:solidFill>
                  <a:schemeClr val="accent4"/>
                </a:solidFill>
                <a:latin typeface="Aptos Display" panose="020B0004020202020204" pitchFamily="34" charset="0"/>
                <a:cs typeface="Calibri" panose="020F0502020204030204" pitchFamily="34" charset="0"/>
              </a:rPr>
              <a:t>it </a:t>
            </a:r>
            <a:r>
              <a:rPr lang="en-GB" b="1" kern="1200" dirty="0">
                <a:solidFill>
                  <a:schemeClr val="accent4"/>
                </a:solidFill>
                <a:latin typeface="Aptos Display" panose="020B0004020202020204" pitchFamily="34" charset="0"/>
                <a:cs typeface="Calibri" panose="020F0502020204030204" pitchFamily="34" charset="0"/>
              </a:rPr>
              <a:t>to</a:t>
            </a:r>
            <a:r>
              <a:rPr lang="en-GB" b="1" kern="1200" spc="-90" dirty="0">
                <a:solidFill>
                  <a:schemeClr val="accent4"/>
                </a:solidFill>
                <a:latin typeface="Aptos Display" panose="020B0004020202020204" pitchFamily="34" charset="0"/>
                <a:cs typeface="Calibri" panose="020F0502020204030204" pitchFamily="34" charset="0"/>
              </a:rPr>
              <a:t> </a:t>
            </a:r>
            <a:r>
              <a:rPr lang="en-GB" b="1" kern="1200" dirty="0">
                <a:solidFill>
                  <a:schemeClr val="accent4"/>
                </a:solidFill>
                <a:latin typeface="Aptos Display" panose="020B0004020202020204" pitchFamily="34" charset="0"/>
                <a:cs typeface="Calibri" panose="020F0502020204030204" pitchFamily="34" charset="0"/>
              </a:rPr>
              <a:t>structured</a:t>
            </a:r>
            <a:r>
              <a:rPr lang="en-GB" b="1" kern="1200" spc="-65" dirty="0">
                <a:solidFill>
                  <a:schemeClr val="accent4"/>
                </a:solidFill>
                <a:latin typeface="Aptos Display" panose="020B0004020202020204" pitchFamily="34" charset="0"/>
                <a:cs typeface="Calibri" panose="020F0502020204030204" pitchFamily="34" charset="0"/>
              </a:rPr>
              <a:t> </a:t>
            </a:r>
            <a:r>
              <a:rPr lang="en-GB" b="1" kern="1200" dirty="0">
                <a:solidFill>
                  <a:schemeClr val="accent4"/>
                </a:solidFill>
                <a:latin typeface="Aptos Display" panose="020B0004020202020204" pitchFamily="34" charset="0"/>
                <a:cs typeface="Calibri" panose="020F0502020204030204" pitchFamily="34" charset="0"/>
              </a:rPr>
              <a:t>data</a:t>
            </a:r>
            <a:r>
              <a:rPr lang="en-GB" b="1" kern="1200" spc="-85" dirty="0">
                <a:solidFill>
                  <a:schemeClr val="accent4"/>
                </a:solidFill>
                <a:latin typeface="Aptos Display" panose="020B0004020202020204" pitchFamily="34" charset="0"/>
                <a:cs typeface="Calibri" panose="020F0502020204030204" pitchFamily="34" charset="0"/>
              </a:rPr>
              <a:t> </a:t>
            </a:r>
            <a:r>
              <a:rPr lang="en-GB" b="1" kern="1200" spc="-25" dirty="0">
                <a:solidFill>
                  <a:schemeClr val="accent4"/>
                </a:solidFill>
                <a:latin typeface="Aptos Display" panose="020B0004020202020204" pitchFamily="34" charset="0"/>
                <a:cs typeface="Calibri" panose="020F0502020204030204" pitchFamily="34" charset="0"/>
              </a:rPr>
              <a:t>for </a:t>
            </a:r>
            <a:r>
              <a:rPr lang="en-GB" b="1" kern="1200" spc="-10" dirty="0">
                <a:solidFill>
                  <a:schemeClr val="accent4"/>
                </a:solidFill>
                <a:latin typeface="Aptos Display" panose="020B0004020202020204" pitchFamily="34" charset="0"/>
                <a:cs typeface="Calibri" panose="020F0502020204030204" pitchFamily="34" charset="0"/>
              </a:rPr>
              <a:t>analysis.</a:t>
            </a:r>
            <a:endParaRPr lang="en-GB" b="1" kern="1200" dirty="0">
              <a:solidFill>
                <a:schemeClr val="accent4"/>
              </a:solidFill>
              <a:latin typeface="Aptos Display" panose="020B0004020202020204" pitchFamily="34" charset="0"/>
              <a:cs typeface="Calibri" panose="020F0502020204030204" pitchFamily="34" charset="0"/>
            </a:endParaRPr>
          </a:p>
          <a:p>
            <a:pPr marL="342900" indent="-342900">
              <a:lnSpc>
                <a:spcPct val="90000"/>
              </a:lnSpc>
              <a:spcBef>
                <a:spcPts val="1000"/>
              </a:spcBef>
              <a:buClr>
                <a:schemeClr val="accent4"/>
              </a:buClr>
              <a:buFont typeface="+mj-lt"/>
              <a:buAutoNum type="arabicPeriod"/>
              <a:tabLst>
                <a:tab pos="240029" algn="l"/>
              </a:tabLst>
            </a:pPr>
            <a:r>
              <a:rPr lang="en-GB" b="1" kern="1200" spc="-10" dirty="0">
                <a:solidFill>
                  <a:schemeClr val="accent4"/>
                </a:solidFill>
                <a:latin typeface="Aptos Display" panose="020B0004020202020204" pitchFamily="34" charset="0"/>
                <a:cs typeface="Calibri" panose="020F0502020204030204" pitchFamily="34" charset="0"/>
              </a:rPr>
              <a:t>Process must be systematic</a:t>
            </a:r>
            <a:r>
              <a:rPr lang="en-GB" b="1" kern="1200" spc="-85" dirty="0">
                <a:solidFill>
                  <a:schemeClr val="accent4"/>
                </a:solidFill>
                <a:latin typeface="Aptos Display" panose="020B0004020202020204" pitchFamily="34" charset="0"/>
                <a:cs typeface="Calibri" panose="020F0502020204030204" pitchFamily="34" charset="0"/>
              </a:rPr>
              <a:t> </a:t>
            </a:r>
            <a:r>
              <a:rPr lang="en-GB" b="1" kern="1200" spc="-25" dirty="0">
                <a:solidFill>
                  <a:schemeClr val="accent4"/>
                </a:solidFill>
                <a:latin typeface="Aptos Display" panose="020B0004020202020204" pitchFamily="34" charset="0"/>
                <a:cs typeface="Calibri" panose="020F0502020204030204" pitchFamily="34" charset="0"/>
              </a:rPr>
              <a:t>and</a:t>
            </a:r>
            <a:r>
              <a:rPr lang="en-GB" b="1" kern="1200" dirty="0">
                <a:solidFill>
                  <a:schemeClr val="accent4"/>
                </a:solidFill>
                <a:latin typeface="Aptos Display" panose="020B0004020202020204" pitchFamily="34" charset="0"/>
                <a:cs typeface="Calibri" panose="020F0502020204030204" pitchFamily="34" charset="0"/>
              </a:rPr>
              <a:t> </a:t>
            </a:r>
            <a:r>
              <a:rPr lang="en-GB" b="1" kern="1200" spc="-10" dirty="0">
                <a:solidFill>
                  <a:schemeClr val="accent4"/>
                </a:solidFill>
                <a:latin typeface="Aptos Display" panose="020B0004020202020204" pitchFamily="34" charset="0"/>
                <a:cs typeface="Calibri" panose="020F0502020204030204" pitchFamily="34" charset="0"/>
              </a:rPr>
              <a:t>replicable.</a:t>
            </a:r>
            <a:endParaRPr lang="en-GB" b="1" kern="1200" dirty="0">
              <a:solidFill>
                <a:schemeClr val="accent4"/>
              </a:solidFill>
              <a:latin typeface="Aptos Display" panose="020B0004020202020204" pitchFamily="34" charset="0"/>
              <a:cs typeface="Calibri" panose="020F0502020204030204" pitchFamily="34" charset="0"/>
            </a:endParaRPr>
          </a:p>
          <a:p>
            <a:pPr marL="342900" marR="440690" indent="-342900">
              <a:lnSpc>
                <a:spcPct val="90000"/>
              </a:lnSpc>
              <a:spcBef>
                <a:spcPts val="1000"/>
              </a:spcBef>
              <a:buClr>
                <a:schemeClr val="accent4"/>
              </a:buClr>
              <a:buFont typeface="+mj-lt"/>
              <a:buAutoNum type="arabicPeriod"/>
              <a:tabLst>
                <a:tab pos="240665" algn="l"/>
              </a:tabLst>
            </a:pPr>
            <a:r>
              <a:rPr lang="en-GB" b="1" kern="1200" dirty="0">
                <a:solidFill>
                  <a:schemeClr val="accent4"/>
                </a:solidFill>
                <a:latin typeface="Aptos Display" panose="020B0004020202020204" pitchFamily="34" charset="0"/>
                <a:cs typeface="Calibri" panose="020F0502020204030204" pitchFamily="34" charset="0"/>
              </a:rPr>
              <a:t>Goal</a:t>
            </a:r>
            <a:r>
              <a:rPr lang="en-GB" b="1" kern="1200" spc="-20" dirty="0">
                <a:solidFill>
                  <a:schemeClr val="accent4"/>
                </a:solidFill>
                <a:latin typeface="Aptos Display" panose="020B0004020202020204" pitchFamily="34" charset="0"/>
                <a:cs typeface="Calibri" panose="020F0502020204030204" pitchFamily="34" charset="0"/>
              </a:rPr>
              <a:t> </a:t>
            </a:r>
            <a:r>
              <a:rPr lang="en-GB" b="1" kern="1200" dirty="0">
                <a:solidFill>
                  <a:schemeClr val="accent4"/>
                </a:solidFill>
                <a:latin typeface="Aptos Display" panose="020B0004020202020204" pitchFamily="34" charset="0"/>
                <a:cs typeface="Calibri" panose="020F0502020204030204" pitchFamily="34" charset="0"/>
              </a:rPr>
              <a:t>is</a:t>
            </a:r>
            <a:r>
              <a:rPr lang="en-GB" b="1" kern="1200" spc="-30" dirty="0">
                <a:solidFill>
                  <a:schemeClr val="accent4"/>
                </a:solidFill>
                <a:latin typeface="Aptos Display" panose="020B0004020202020204" pitchFamily="34" charset="0"/>
                <a:cs typeface="Calibri" panose="020F0502020204030204" pitchFamily="34" charset="0"/>
              </a:rPr>
              <a:t> </a:t>
            </a:r>
            <a:r>
              <a:rPr lang="en-GB" b="1" kern="1200" dirty="0">
                <a:solidFill>
                  <a:schemeClr val="accent4"/>
                </a:solidFill>
                <a:latin typeface="Aptos Display" panose="020B0004020202020204" pitchFamily="34" charset="0"/>
                <a:cs typeface="Calibri" panose="020F0502020204030204" pitchFamily="34" charset="0"/>
              </a:rPr>
              <a:t>to</a:t>
            </a:r>
            <a:r>
              <a:rPr lang="en-GB" b="1" kern="1200" spc="-25" dirty="0">
                <a:solidFill>
                  <a:schemeClr val="accent4"/>
                </a:solidFill>
                <a:latin typeface="Aptos Display" panose="020B0004020202020204" pitchFamily="34" charset="0"/>
                <a:cs typeface="Calibri" panose="020F0502020204030204" pitchFamily="34" charset="0"/>
              </a:rPr>
              <a:t> </a:t>
            </a:r>
            <a:r>
              <a:rPr lang="en-GB" b="1" kern="1200" spc="-10" dirty="0">
                <a:solidFill>
                  <a:schemeClr val="accent4"/>
                </a:solidFill>
                <a:latin typeface="Aptos Display" panose="020B0004020202020204" pitchFamily="34" charset="0"/>
                <a:cs typeface="Calibri" panose="020F0502020204030204" pitchFamily="34" charset="0"/>
              </a:rPr>
              <a:t>generate </a:t>
            </a:r>
            <a:r>
              <a:rPr lang="en-GB" b="1" kern="1200" dirty="0">
                <a:solidFill>
                  <a:schemeClr val="accent4"/>
                </a:solidFill>
                <a:latin typeface="Aptos Display" panose="020B0004020202020204" pitchFamily="34" charset="0"/>
                <a:cs typeface="Calibri" panose="020F0502020204030204" pitchFamily="34" charset="0"/>
              </a:rPr>
              <a:t>knowledge</a:t>
            </a:r>
            <a:r>
              <a:rPr lang="en-GB" b="1" kern="1200" spc="-80" dirty="0">
                <a:solidFill>
                  <a:schemeClr val="accent4"/>
                </a:solidFill>
                <a:latin typeface="Aptos Display" panose="020B0004020202020204" pitchFamily="34" charset="0"/>
                <a:cs typeface="Calibri" panose="020F0502020204030204" pitchFamily="34" charset="0"/>
              </a:rPr>
              <a:t> </a:t>
            </a:r>
            <a:r>
              <a:rPr lang="en-GB" b="1" kern="1200" dirty="0">
                <a:solidFill>
                  <a:schemeClr val="accent4"/>
                </a:solidFill>
                <a:latin typeface="Aptos Display" panose="020B0004020202020204" pitchFamily="34" charset="0"/>
                <a:cs typeface="Calibri" panose="020F0502020204030204" pitchFamily="34" charset="0"/>
              </a:rPr>
              <a:t>from</a:t>
            </a:r>
            <a:r>
              <a:rPr lang="en-GB" b="1" kern="1200" spc="-90" dirty="0">
                <a:solidFill>
                  <a:schemeClr val="accent4"/>
                </a:solidFill>
                <a:latin typeface="Aptos Display" panose="020B0004020202020204" pitchFamily="34" charset="0"/>
                <a:cs typeface="Calibri" panose="020F0502020204030204" pitchFamily="34" charset="0"/>
              </a:rPr>
              <a:t> </a:t>
            </a:r>
            <a:r>
              <a:rPr lang="en-GB" b="1" kern="1200" spc="-25" dirty="0">
                <a:solidFill>
                  <a:schemeClr val="accent4"/>
                </a:solidFill>
                <a:latin typeface="Aptos Display" panose="020B0004020202020204" pitchFamily="34" charset="0"/>
                <a:cs typeface="Calibri" panose="020F0502020204030204" pitchFamily="34" charset="0"/>
              </a:rPr>
              <a:t>the </a:t>
            </a:r>
            <a:r>
              <a:rPr lang="en-GB" b="1" kern="1200" spc="-10" dirty="0">
                <a:solidFill>
                  <a:schemeClr val="accent4"/>
                </a:solidFill>
                <a:latin typeface="Aptos Display" panose="020B0004020202020204" pitchFamily="34" charset="0"/>
                <a:cs typeface="Calibri" panose="020F0502020204030204" pitchFamily="34" charset="0"/>
              </a:rPr>
              <a:t>unstructured</a:t>
            </a:r>
            <a:r>
              <a:rPr lang="en-GB" b="1" kern="1200" spc="-20" dirty="0">
                <a:solidFill>
                  <a:schemeClr val="accent4"/>
                </a:solidFill>
                <a:latin typeface="Aptos Display" panose="020B0004020202020204" pitchFamily="34" charset="0"/>
                <a:cs typeface="Calibri" panose="020F0502020204030204" pitchFamily="34" charset="0"/>
              </a:rPr>
              <a:t> data.</a:t>
            </a:r>
            <a:endParaRPr lang="en-GB" b="1" kern="1200" dirty="0">
              <a:solidFill>
                <a:schemeClr val="accent4"/>
              </a:solidFill>
              <a:latin typeface="Aptos Display" panose="020B0004020202020204" pitchFamily="34" charset="0"/>
              <a:cs typeface="Calibri" panose="020F0502020204030204" pitchFamily="34" charset="0"/>
            </a:endParaRPr>
          </a:p>
          <a:p>
            <a:pPr marL="266700" indent="-266700">
              <a:lnSpc>
                <a:spcPct val="90000"/>
              </a:lnSpc>
              <a:spcBef>
                <a:spcPts val="1000"/>
              </a:spcBef>
              <a:buClr>
                <a:schemeClr val="accent4"/>
              </a:buClr>
            </a:pPr>
            <a:endParaRPr lang="en-GB" b="1" kern="1200" dirty="0">
              <a:solidFill>
                <a:schemeClr val="accent4"/>
              </a:solidFill>
              <a:latin typeface="Aptos Display" panose="020B0004020202020204" pitchFamily="34" charset="0"/>
              <a:cs typeface="Calibri" panose="020F0502020204030204" pitchFamily="34" charset="0"/>
            </a:endParaRPr>
          </a:p>
          <a:p>
            <a:pPr marL="266700" indent="-266700">
              <a:lnSpc>
                <a:spcPct val="90000"/>
              </a:lnSpc>
              <a:spcBef>
                <a:spcPts val="1000"/>
              </a:spcBef>
            </a:pPr>
            <a:endParaRPr lang="en-GB" b="1" kern="1200" dirty="0">
              <a:solidFill>
                <a:schemeClr val="accent4"/>
              </a:solidFill>
              <a:latin typeface="Aptos Display" panose="020B0004020202020204" pitchFamily="34" charset="0"/>
              <a:cs typeface="Calibri" panose="020F0502020204030204" pitchFamily="34" charset="0"/>
            </a:endParaRPr>
          </a:p>
        </p:txBody>
      </p:sp>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681674" y="239625"/>
            <a:ext cx="8534473" cy="1695637"/>
          </a:xfrm>
        </p:spPr>
        <p:txBody>
          <a:bodyPr rtlCol="0">
            <a:normAutofit/>
          </a:bodyPr>
          <a:lstStyle/>
          <a:p>
            <a:r>
              <a:rPr lang="en-GB" sz="3700" dirty="0"/>
              <a:t>Analyse</a:t>
            </a:r>
            <a:r>
              <a:rPr lang="en-GB" sz="3700" spc="-155" dirty="0"/>
              <a:t> </a:t>
            </a:r>
            <a:r>
              <a:rPr lang="en-GB" sz="3700" dirty="0"/>
              <a:t>Data</a:t>
            </a:r>
            <a:r>
              <a:rPr lang="en-GB" sz="3700" spc="-120" dirty="0"/>
              <a:t> </a:t>
            </a:r>
            <a:r>
              <a:rPr lang="en-GB" sz="3700" spc="-10" dirty="0"/>
              <a:t>(Content) – In a nutshell</a:t>
            </a:r>
            <a:endParaRPr lang="en-GB" sz="3700" dirty="0"/>
          </a:p>
        </p:txBody>
      </p:sp>
    </p:spTree>
    <p:extLst>
      <p:ext uri="{BB962C8B-B14F-4D97-AF65-F5344CB8AC3E}">
        <p14:creationId xmlns:p14="http://schemas.microsoft.com/office/powerpoint/2010/main" val="2740063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350520" y="228319"/>
            <a:ext cx="7374775" cy="1102640"/>
          </a:xfrm>
        </p:spPr>
        <p:txBody>
          <a:bodyPr anchor="ctr">
            <a:normAutofit/>
          </a:bodyPr>
          <a:lstStyle/>
          <a:p>
            <a:r>
              <a:rPr lang="en-GB" sz="4400" spc="-10" dirty="0">
                <a:latin typeface="Arial MT"/>
                <a:cs typeface="Arial MT"/>
              </a:rPr>
              <a:t>Content Analysis</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710739" y="1615116"/>
            <a:ext cx="5981006" cy="4537139"/>
          </a:xfrm>
          <a:prstGeom prst="rect">
            <a:avLst/>
          </a:prstGeom>
          <a:noFill/>
        </p:spPr>
        <p:txBody>
          <a:bodyPr wrap="square" rtlCol="0">
            <a:spAutoFit/>
          </a:bodyPr>
          <a:lstStyle/>
          <a:p>
            <a:r>
              <a:rPr lang="en-GB" b="1" dirty="0">
                <a:cs typeface="Arial"/>
              </a:rPr>
              <a:t>Content</a:t>
            </a:r>
            <a:r>
              <a:rPr lang="en-GB" b="1" spc="-30" dirty="0">
                <a:cs typeface="Arial"/>
              </a:rPr>
              <a:t> </a:t>
            </a:r>
            <a:r>
              <a:rPr lang="en-GB" b="1" dirty="0">
                <a:cs typeface="Arial"/>
              </a:rPr>
              <a:t>analysis-- </a:t>
            </a:r>
            <a:r>
              <a:rPr lang="en-GB" dirty="0"/>
              <a:t>Content analysis is a qualitative data analysis method that systematically analyses a text to identify specific features or patterns. </a:t>
            </a:r>
          </a:p>
          <a:p>
            <a:endParaRPr lang="en-GB" dirty="0"/>
          </a:p>
          <a:p>
            <a:pPr marL="285750" indent="-285750">
              <a:buClr>
                <a:schemeClr val="accent4"/>
              </a:buClr>
              <a:buFont typeface="Calibri Light" panose="020F0302020204030204" pitchFamily="34" charset="0"/>
              <a:buChar char="•"/>
            </a:pPr>
            <a:r>
              <a:rPr lang="en-GB" dirty="0"/>
              <a:t>This could be anything from a customer interview transcript to survey responses, social media posts, or customer success calls.</a:t>
            </a:r>
          </a:p>
          <a:p>
            <a:pPr marL="285750" indent="-285750">
              <a:buClr>
                <a:schemeClr val="accent4"/>
              </a:buClr>
              <a:buFont typeface="Calibri Light" panose="020F0302020204030204" pitchFamily="34" charset="0"/>
              <a:buChar char="•"/>
            </a:pPr>
            <a:endParaRPr lang="en-GB" dirty="0"/>
          </a:p>
          <a:p>
            <a:pPr marL="285750" indent="-285750">
              <a:buClr>
                <a:schemeClr val="accent4"/>
              </a:buClr>
              <a:buFont typeface="Calibri Light" panose="020F0302020204030204" pitchFamily="34" charset="0"/>
              <a:buChar char="•"/>
            </a:pPr>
            <a:r>
              <a:rPr lang="en-GB" dirty="0"/>
              <a:t>The data is first coded, which means assigning it labels or categories.</a:t>
            </a:r>
          </a:p>
          <a:p>
            <a:pPr marL="285750" indent="-285750">
              <a:buClr>
                <a:schemeClr val="accent4"/>
              </a:buClr>
              <a:buFont typeface="Calibri Light" panose="020F0302020204030204" pitchFamily="34" charset="0"/>
              <a:buChar char="•"/>
            </a:pPr>
            <a:endParaRPr lang="en-GB" dirty="0"/>
          </a:p>
          <a:p>
            <a:pPr marL="285750" indent="-285750">
              <a:buClr>
                <a:schemeClr val="accent4"/>
              </a:buClr>
              <a:buFont typeface="Calibri Light" panose="020F0302020204030204" pitchFamily="34" charset="0"/>
              <a:buChar char="•"/>
            </a:pPr>
            <a:r>
              <a:rPr lang="en-GB" dirty="0"/>
              <a:t>For example, if you were looking at </a:t>
            </a:r>
            <a:r>
              <a:rPr lang="en-GB" dirty="0">
                <a:hlinkClick r:id="rId3"/>
              </a:rPr>
              <a:t>customer feedback</a:t>
            </a:r>
            <a:r>
              <a:rPr lang="en-GB" dirty="0"/>
              <a:t>, you might code all mentions of “price” as “P,” all mentions of “quality” as “Q,” and so on. Once manual coding is done, start looking for patterns and trends in the codes.</a:t>
            </a:r>
          </a:p>
          <a:p>
            <a:pPr marL="12700">
              <a:lnSpc>
                <a:spcPct val="100000"/>
              </a:lnSpc>
              <a:spcBef>
                <a:spcPts val="95"/>
              </a:spcBef>
            </a:pPr>
            <a:endParaRPr lang="en-GB" dirty="0"/>
          </a:p>
        </p:txBody>
      </p:sp>
      <p:pic>
        <p:nvPicPr>
          <p:cNvPr id="12" name="Picture 11"/>
          <p:cNvPicPr>
            <a:picLocks noChangeAspect="1"/>
          </p:cNvPicPr>
          <p:nvPr/>
        </p:nvPicPr>
        <p:blipFill>
          <a:blip r:embed="rId4"/>
          <a:stretch>
            <a:fillRect/>
          </a:stretch>
        </p:blipFill>
        <p:spPr>
          <a:xfrm>
            <a:off x="7067896" y="1843716"/>
            <a:ext cx="5124104" cy="2969353"/>
          </a:xfrm>
          <a:prstGeom prst="rect">
            <a:avLst/>
          </a:prstGeom>
        </p:spPr>
      </p:pic>
    </p:spTree>
    <p:extLst>
      <p:ext uri="{BB962C8B-B14F-4D97-AF65-F5344CB8AC3E}">
        <p14:creationId xmlns:p14="http://schemas.microsoft.com/office/powerpoint/2010/main" val="3705109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1612322" y="398731"/>
            <a:ext cx="9186948" cy="1102640"/>
          </a:xfrm>
        </p:spPr>
        <p:txBody>
          <a:bodyPr anchor="ctr">
            <a:normAutofit fontScale="90000"/>
          </a:bodyPr>
          <a:lstStyle/>
          <a:p>
            <a:r>
              <a:rPr lang="en-GB" sz="4400" spc="-10" dirty="0">
                <a:latin typeface="Arial MT"/>
                <a:cs typeface="Arial MT"/>
              </a:rPr>
              <a:t>Steps involved in Content Analysis</a:t>
            </a:r>
            <a:endParaRPr lang="en-GB" sz="4400" dirty="0"/>
          </a:p>
        </p:txBody>
      </p:sp>
      <p:pic>
        <p:nvPicPr>
          <p:cNvPr id="5" name="Picture 4"/>
          <p:cNvPicPr>
            <a:picLocks noChangeAspect="1"/>
          </p:cNvPicPr>
          <p:nvPr/>
        </p:nvPicPr>
        <p:blipFill>
          <a:blip r:embed="rId3"/>
          <a:stretch>
            <a:fillRect/>
          </a:stretch>
        </p:blipFill>
        <p:spPr>
          <a:xfrm>
            <a:off x="1415500" y="1501371"/>
            <a:ext cx="9580592" cy="4391632"/>
          </a:xfrm>
          <a:prstGeom prst="rect">
            <a:avLst/>
          </a:prstGeom>
        </p:spPr>
      </p:pic>
      <p:sp>
        <p:nvSpPr>
          <p:cNvPr id="6" name="Rectangle 5"/>
          <p:cNvSpPr/>
          <p:nvPr/>
        </p:nvSpPr>
        <p:spPr>
          <a:xfrm>
            <a:off x="2091812" y="5391669"/>
            <a:ext cx="7049193" cy="415636"/>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2800" dirty="0">
                <a:solidFill>
                  <a:schemeClr val="bg1"/>
                </a:solidFill>
              </a:rPr>
              <a:t>Summarise the Data </a:t>
            </a:r>
          </a:p>
        </p:txBody>
      </p:sp>
      <p:pic>
        <p:nvPicPr>
          <p:cNvPr id="8" name="Picture 7"/>
          <p:cNvPicPr>
            <a:picLocks noChangeAspect="1"/>
          </p:cNvPicPr>
          <p:nvPr/>
        </p:nvPicPr>
        <p:blipFill>
          <a:blip r:embed="rId4"/>
          <a:stretch>
            <a:fillRect/>
          </a:stretch>
        </p:blipFill>
        <p:spPr>
          <a:xfrm>
            <a:off x="5402913" y="4886872"/>
            <a:ext cx="426992" cy="504797"/>
          </a:xfrm>
          <a:prstGeom prst="rect">
            <a:avLst/>
          </a:prstGeom>
        </p:spPr>
      </p:pic>
    </p:spTree>
    <p:extLst>
      <p:ext uri="{BB962C8B-B14F-4D97-AF65-F5344CB8AC3E}">
        <p14:creationId xmlns:p14="http://schemas.microsoft.com/office/powerpoint/2010/main" val="883227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822222" y="199922"/>
            <a:ext cx="10515600" cy="700115"/>
          </a:xfrm>
        </p:spPr>
        <p:txBody>
          <a:bodyPr rtlCol="0" anchor="ctr">
            <a:normAutofit/>
          </a:bodyPr>
          <a:lstStyle/>
          <a:p>
            <a:r>
              <a:rPr lang="en-GB" sz="4400" spc="-10" dirty="0"/>
              <a:t>Content Analysis</a:t>
            </a:r>
            <a:endParaRPr lang="en-GB" sz="4400" dirty="0"/>
          </a:p>
        </p:txBody>
      </p:sp>
      <p:graphicFrame>
        <p:nvGraphicFramePr>
          <p:cNvPr id="9" name="TextBox 2">
            <a:extLst>
              <a:ext uri="{FF2B5EF4-FFF2-40B4-BE49-F238E27FC236}">
                <a16:creationId xmlns:a16="http://schemas.microsoft.com/office/drawing/2014/main" id="{9B59AA5D-8A26-689A-EBF0-FBAF9BEBE3A6}"/>
              </a:ext>
            </a:extLst>
          </p:cNvPr>
          <p:cNvGraphicFramePr/>
          <p:nvPr>
            <p:extLst>
              <p:ext uri="{D42A27DB-BD31-4B8C-83A1-F6EECF244321}">
                <p14:modId xmlns:p14="http://schemas.microsoft.com/office/powerpoint/2010/main" val="391763742"/>
              </p:ext>
            </p:extLst>
          </p:nvPr>
        </p:nvGraphicFramePr>
        <p:xfrm>
          <a:off x="339213" y="1238865"/>
          <a:ext cx="11481619" cy="49153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32612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1624445" y="0"/>
            <a:ext cx="9199417" cy="1102640"/>
          </a:xfrm>
        </p:spPr>
        <p:txBody>
          <a:bodyPr anchor="ctr">
            <a:normAutofit/>
          </a:bodyPr>
          <a:lstStyle/>
          <a:p>
            <a:r>
              <a:rPr lang="en-GB" sz="4400" spc="-10" dirty="0">
                <a:latin typeface="Arial MT"/>
                <a:cs typeface="Arial MT"/>
              </a:rPr>
              <a:t>Narrative Analysis</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536171" y="1206269"/>
            <a:ext cx="7165571" cy="5355312"/>
          </a:xfrm>
          <a:prstGeom prst="rect">
            <a:avLst/>
          </a:prstGeom>
          <a:noFill/>
        </p:spPr>
        <p:txBody>
          <a:bodyPr wrap="square" rtlCol="0">
            <a:spAutoFit/>
          </a:bodyPr>
          <a:lstStyle/>
          <a:p>
            <a:pPr lvl="0"/>
            <a:r>
              <a:rPr lang="en-GB" b="1" dirty="0">
                <a:effectLst>
                  <a:outerShdw blurRad="38100" dist="38100" dir="2700000" algn="tl">
                    <a:srgbClr val="000000">
                      <a:alpha val="43137"/>
                    </a:srgbClr>
                  </a:outerShdw>
                </a:effectLst>
              </a:rPr>
              <a:t>Narrative analysis </a:t>
            </a:r>
            <a:r>
              <a:rPr lang="en-US" dirty="0"/>
              <a:t>is a form of qualitative research  that is used when a researcher wants to share the stories of individuals</a:t>
            </a:r>
            <a:r>
              <a:rPr lang="en-GB" dirty="0"/>
              <a:t>. It’s used across disciplines such as sociology, psychology, and media studies to explore personal, cultural, and social phenomena.</a:t>
            </a:r>
          </a:p>
          <a:p>
            <a:endParaRPr lang="en-GB" dirty="0"/>
          </a:p>
          <a:p>
            <a:r>
              <a:rPr lang="en-GB" b="1" dirty="0"/>
              <a:t>Key aspects of narrative analysis:</a:t>
            </a:r>
          </a:p>
          <a:p>
            <a:endParaRPr lang="en-GB" b="1" dirty="0"/>
          </a:p>
          <a:p>
            <a:pPr marL="285750" indent="-285750">
              <a:buClr>
                <a:schemeClr val="accent4"/>
              </a:buClr>
              <a:buFont typeface="Wingdings" panose="05000000000000000000" pitchFamily="2" charset="2"/>
              <a:buChar char="§"/>
            </a:pPr>
            <a:r>
              <a:rPr lang="en-GB" b="1" u="sng" dirty="0"/>
              <a:t>Focus on Stories</a:t>
            </a:r>
            <a:r>
              <a:rPr lang="en-GB" u="sng" dirty="0"/>
              <a:t>: </a:t>
            </a:r>
            <a:r>
              <a:rPr lang="en-GB" dirty="0"/>
              <a:t>It involves analysing the structure and content of stories people tell, identifying common themes, plots, and character development.</a:t>
            </a:r>
          </a:p>
          <a:p>
            <a:pPr marL="285750" indent="-285750">
              <a:buClr>
                <a:schemeClr val="accent4"/>
              </a:buClr>
              <a:buFont typeface="Wingdings" panose="05000000000000000000" pitchFamily="2" charset="2"/>
              <a:buChar char="§"/>
            </a:pPr>
            <a:r>
              <a:rPr lang="en-GB" b="1" u="sng" dirty="0"/>
              <a:t>Contextual Meaning</a:t>
            </a:r>
            <a:r>
              <a:rPr lang="en-GB" u="sng" dirty="0"/>
              <a:t>: </a:t>
            </a:r>
            <a:r>
              <a:rPr lang="en-GB" dirty="0"/>
              <a:t>Narrative analysis emphasizes understanding the broader context in which a story is told — whether it's social, cultural, or historical.</a:t>
            </a:r>
          </a:p>
          <a:p>
            <a:pPr marL="285750" indent="-285750">
              <a:buClr>
                <a:schemeClr val="accent4"/>
              </a:buClr>
              <a:buFont typeface="Wingdings" panose="05000000000000000000" pitchFamily="2" charset="2"/>
              <a:buChar char="§"/>
            </a:pPr>
            <a:r>
              <a:rPr lang="en-GB" b="1" u="sng" dirty="0"/>
              <a:t>Identity and Experience</a:t>
            </a:r>
            <a:r>
              <a:rPr lang="en-GB" dirty="0"/>
              <a:t>: Through narratives, individuals express their identities and how they make sense of their life experiences.</a:t>
            </a:r>
          </a:p>
          <a:p>
            <a:pPr marL="285750" indent="-285750">
              <a:buClr>
                <a:schemeClr val="accent4"/>
              </a:buClr>
              <a:buFont typeface="Wingdings" panose="05000000000000000000" pitchFamily="2" charset="2"/>
              <a:buChar char="§"/>
            </a:pPr>
            <a:r>
              <a:rPr lang="en-GB" b="1" u="sng" dirty="0"/>
              <a:t>Temporal Sequencing</a:t>
            </a:r>
            <a:r>
              <a:rPr lang="en-GB" u="sng" dirty="0"/>
              <a:t>: </a:t>
            </a:r>
            <a:r>
              <a:rPr lang="en-GB" dirty="0"/>
              <a:t>The way events are chronologically sequenced in a narrative gives insight into how people understand cause and effect in their lives.</a:t>
            </a:r>
          </a:p>
          <a:p>
            <a:pPr>
              <a:buClr>
                <a:schemeClr val="accent4"/>
              </a:buClr>
            </a:pPr>
            <a:endParaRPr lang="en-GB" dirty="0"/>
          </a:p>
        </p:txBody>
      </p:sp>
      <p:pic>
        <p:nvPicPr>
          <p:cNvPr id="4" name="Content Placeholder 3">
            <a:extLst>
              <a:ext uri="{FF2B5EF4-FFF2-40B4-BE49-F238E27FC236}">
                <a16:creationId xmlns:a16="http://schemas.microsoft.com/office/drawing/2014/main" id="{26BC4B70-1D80-4F5E-B417-31016ED70C6B}"/>
              </a:ext>
            </a:extLst>
          </p:cNvPr>
          <p:cNvPicPr>
            <a:picLocks noChangeAspect="1"/>
          </p:cNvPicPr>
          <p:nvPr/>
        </p:nvPicPr>
        <p:blipFill>
          <a:blip r:embed="rId3"/>
          <a:stretch>
            <a:fillRect/>
          </a:stretch>
        </p:blipFill>
        <p:spPr>
          <a:xfrm>
            <a:off x="8003078" y="1860896"/>
            <a:ext cx="3762895" cy="3536142"/>
          </a:xfrm>
          <a:prstGeom prst="rect">
            <a:avLst/>
          </a:prstGeom>
        </p:spPr>
      </p:pic>
    </p:spTree>
    <p:extLst>
      <p:ext uri="{BB962C8B-B14F-4D97-AF65-F5344CB8AC3E}">
        <p14:creationId xmlns:p14="http://schemas.microsoft.com/office/powerpoint/2010/main" val="2110922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897082" y="-131206"/>
            <a:ext cx="7374775" cy="1102640"/>
          </a:xfrm>
        </p:spPr>
        <p:txBody>
          <a:bodyPr anchor="ctr">
            <a:normAutofit/>
          </a:bodyPr>
          <a:lstStyle/>
          <a:p>
            <a:r>
              <a:rPr lang="en-GB" sz="4400" spc="-10" dirty="0">
                <a:latin typeface="Arial MT"/>
                <a:cs typeface="Arial MT"/>
              </a:rPr>
              <a:t>Narrative Analysis</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380882" y="1287716"/>
            <a:ext cx="7288279" cy="4856714"/>
          </a:xfrm>
          <a:prstGeom prst="rect">
            <a:avLst/>
          </a:prstGeom>
          <a:noFill/>
        </p:spPr>
        <p:txBody>
          <a:bodyPr wrap="square" rtlCol="0">
            <a:spAutoFit/>
          </a:bodyPr>
          <a:lstStyle/>
          <a:p>
            <a:pPr lvl="0" fontAlgn="base">
              <a:spcBef>
                <a:spcPct val="20000"/>
              </a:spcBef>
              <a:spcAft>
                <a:spcPct val="0"/>
              </a:spcAft>
              <a:buClr>
                <a:schemeClr val="accent4"/>
              </a:buClr>
              <a:buSzPct val="80000"/>
            </a:pPr>
            <a:r>
              <a:rPr lang="en-GB" altLang="en-US" dirty="0">
                <a:solidFill>
                  <a:srgbClr val="000000"/>
                </a:solidFill>
                <a:effectLst>
                  <a:outerShdw blurRad="38100" dist="38100" dir="2700000" algn="tl">
                    <a:srgbClr val="FFFFFF"/>
                  </a:outerShdw>
                </a:effectLst>
              </a:rPr>
              <a:t>There are two main versions of narrative analysis:</a:t>
            </a:r>
            <a:endParaRPr lang="en-GB" altLang="en-US" b="1" i="1" dirty="0">
              <a:solidFill>
                <a:srgbClr val="000000"/>
              </a:solidFill>
              <a:effectLst>
                <a:outerShdw blurRad="38100" dist="38100" dir="2700000" algn="tl">
                  <a:srgbClr val="FFFFFF"/>
                </a:outerShdw>
              </a:effectLst>
            </a:endParaRPr>
          </a:p>
          <a:p>
            <a:pPr marL="342900" lvl="0" indent="-342900" fontAlgn="base">
              <a:spcBef>
                <a:spcPct val="20000"/>
              </a:spcBef>
              <a:spcAft>
                <a:spcPct val="0"/>
              </a:spcAft>
              <a:buClr>
                <a:schemeClr val="accent4"/>
              </a:buClr>
              <a:buSzPct val="80000"/>
              <a:buFont typeface="Wingdings" panose="05000000000000000000" pitchFamily="2" charset="2"/>
              <a:buChar char="n"/>
            </a:pPr>
            <a:r>
              <a:rPr lang="en-GB" altLang="en-US" b="1" i="1" dirty="0">
                <a:solidFill>
                  <a:srgbClr val="000000"/>
                </a:solidFill>
                <a:effectLst>
                  <a:outerShdw blurRad="38100" dist="38100" dir="2700000" algn="tl">
                    <a:srgbClr val="FFFFFF"/>
                  </a:outerShdw>
                </a:effectLst>
              </a:rPr>
              <a:t>socio-linguistic </a:t>
            </a:r>
            <a:r>
              <a:rPr lang="en-GB" altLang="en-US" dirty="0">
                <a:solidFill>
                  <a:srgbClr val="000000"/>
                </a:solidFill>
                <a:effectLst>
                  <a:outerShdw blurRad="38100" dist="38100" dir="2700000" algn="tl">
                    <a:srgbClr val="FFFFFF"/>
                  </a:outerShdw>
                </a:effectLst>
              </a:rPr>
              <a:t>which focuses on ‘incidents or the structure of narratives and how they convey meaning</a:t>
            </a:r>
            <a:endParaRPr lang="en-GB" altLang="en-US" b="1" i="1" dirty="0">
              <a:solidFill>
                <a:srgbClr val="000000"/>
              </a:solidFill>
              <a:effectLst>
                <a:outerShdw blurRad="38100" dist="38100" dir="2700000" algn="tl">
                  <a:srgbClr val="FFFFFF"/>
                </a:outerShdw>
              </a:effectLst>
            </a:endParaRPr>
          </a:p>
          <a:p>
            <a:pPr marL="342900" lvl="0" indent="-342900" fontAlgn="base">
              <a:spcBef>
                <a:spcPct val="20000"/>
              </a:spcBef>
              <a:spcAft>
                <a:spcPct val="0"/>
              </a:spcAft>
              <a:buClr>
                <a:schemeClr val="accent4"/>
              </a:buClr>
              <a:buSzPct val="80000"/>
              <a:buFont typeface="Wingdings" panose="05000000000000000000" pitchFamily="2" charset="2"/>
              <a:buChar char="n"/>
            </a:pPr>
            <a:r>
              <a:rPr lang="en-GB" altLang="en-US" b="1" i="1" dirty="0">
                <a:solidFill>
                  <a:srgbClr val="000000"/>
                </a:solidFill>
                <a:effectLst>
                  <a:outerShdw blurRad="38100" dist="38100" dir="2700000" algn="tl">
                    <a:srgbClr val="FFFFFF"/>
                  </a:outerShdw>
                </a:effectLst>
              </a:rPr>
              <a:t>socio-cultural</a:t>
            </a:r>
            <a:r>
              <a:rPr lang="en-GB" altLang="en-US" dirty="0">
                <a:solidFill>
                  <a:srgbClr val="000000"/>
                </a:solidFill>
                <a:effectLst>
                  <a:outerShdw blurRad="38100" dist="38100" dir="2700000" algn="tl">
                    <a:srgbClr val="FFFFFF"/>
                  </a:outerShdw>
                </a:effectLst>
              </a:rPr>
              <a:t> which looks at the broader interpretive frameworks  that people use to make sense of incidents in individual’s lives</a:t>
            </a:r>
          </a:p>
          <a:p>
            <a:pPr lvl="0" fontAlgn="base">
              <a:spcBef>
                <a:spcPct val="20000"/>
              </a:spcBef>
              <a:spcAft>
                <a:spcPct val="0"/>
              </a:spcAft>
              <a:buClr>
                <a:schemeClr val="accent4"/>
              </a:buClr>
              <a:buSzPct val="80000"/>
            </a:pPr>
            <a:endParaRPr lang="en-GB" altLang="en-US" dirty="0">
              <a:solidFill>
                <a:srgbClr val="000000"/>
              </a:solidFill>
              <a:effectLst>
                <a:outerShdw blurRad="38100" dist="38100" dir="2700000" algn="tl">
                  <a:srgbClr val="FFFFFF"/>
                </a:outerShdw>
              </a:effectLst>
            </a:endParaRPr>
          </a:p>
          <a:p>
            <a:pPr lvl="0" fontAlgn="base">
              <a:spcBef>
                <a:spcPct val="20000"/>
              </a:spcBef>
              <a:spcAft>
                <a:spcPct val="0"/>
              </a:spcAft>
              <a:buClr>
                <a:schemeClr val="accent4"/>
              </a:buClr>
              <a:buSzPct val="80000"/>
            </a:pPr>
            <a:r>
              <a:rPr lang="en-GB" altLang="en-US" b="1" dirty="0">
                <a:solidFill>
                  <a:srgbClr val="000000"/>
                </a:solidFill>
                <a:effectLst>
                  <a:outerShdw blurRad="38100" dist="38100" dir="2700000" algn="tl">
                    <a:srgbClr val="FFFFFF"/>
                  </a:outerShdw>
                </a:effectLst>
              </a:rPr>
              <a:t>Issues?</a:t>
            </a:r>
          </a:p>
          <a:p>
            <a:pPr marL="342900" lvl="0" indent="-342900" fontAlgn="base">
              <a:spcBef>
                <a:spcPct val="20000"/>
              </a:spcBef>
              <a:spcAft>
                <a:spcPct val="0"/>
              </a:spcAft>
              <a:buClr>
                <a:schemeClr val="accent4"/>
              </a:buClr>
              <a:buSzPct val="80000"/>
              <a:buFont typeface="Wingdings" panose="05000000000000000000" pitchFamily="2" charset="2"/>
              <a:buChar char="n"/>
            </a:pPr>
            <a:r>
              <a:rPr lang="en-GB" altLang="en-US" dirty="0">
                <a:solidFill>
                  <a:srgbClr val="000000"/>
                </a:solidFill>
                <a:effectLst>
                  <a:outerShdw blurRad="38100" dist="38100" dir="2700000" algn="tl">
                    <a:srgbClr val="FFFFFF"/>
                  </a:outerShdw>
                </a:effectLst>
              </a:rPr>
              <a:t>Story authentic? (Faking the data possible) </a:t>
            </a:r>
          </a:p>
          <a:p>
            <a:pPr marL="342900" lvl="0" indent="-342900" fontAlgn="base">
              <a:spcBef>
                <a:spcPct val="20000"/>
              </a:spcBef>
              <a:spcAft>
                <a:spcPct val="0"/>
              </a:spcAft>
              <a:buClr>
                <a:schemeClr val="accent4"/>
              </a:buClr>
              <a:buSzPct val="80000"/>
              <a:buFont typeface="Wingdings" panose="05000000000000000000" pitchFamily="2" charset="2"/>
              <a:buChar char="n"/>
            </a:pPr>
            <a:r>
              <a:rPr lang="en-GB" altLang="en-US" dirty="0">
                <a:solidFill>
                  <a:srgbClr val="000000"/>
                </a:solidFill>
                <a:effectLst>
                  <a:outerShdw blurRad="38100" dist="38100" dir="2700000" algn="tl">
                    <a:srgbClr val="FFFFFF"/>
                  </a:outerShdw>
                </a:effectLst>
              </a:rPr>
              <a:t>Is the story real? (Participants may not be able to tell the real story) </a:t>
            </a:r>
          </a:p>
          <a:p>
            <a:pPr marL="342900" lvl="0" indent="-342900" fontAlgn="base">
              <a:spcBef>
                <a:spcPct val="20000"/>
              </a:spcBef>
              <a:spcAft>
                <a:spcPct val="0"/>
              </a:spcAft>
              <a:buClr>
                <a:schemeClr val="accent4"/>
              </a:buClr>
              <a:buSzPct val="80000"/>
              <a:buFont typeface="Wingdings" panose="05000000000000000000" pitchFamily="2" charset="2"/>
              <a:buChar char="n"/>
            </a:pPr>
            <a:r>
              <a:rPr lang="en-GB" altLang="en-US" dirty="0">
                <a:solidFill>
                  <a:srgbClr val="000000"/>
                </a:solidFill>
                <a:effectLst>
                  <a:outerShdw blurRad="38100" dist="38100" dir="2700000" algn="tl">
                    <a:srgbClr val="FFFFFF"/>
                  </a:outerShdw>
                </a:effectLst>
              </a:rPr>
              <a:t>Who owns the story? (Does the researcher have permission to share it?) </a:t>
            </a:r>
          </a:p>
          <a:p>
            <a:pPr marL="342900" lvl="0" indent="-342900" fontAlgn="base">
              <a:spcBef>
                <a:spcPct val="20000"/>
              </a:spcBef>
              <a:spcAft>
                <a:spcPct val="0"/>
              </a:spcAft>
              <a:buClr>
                <a:schemeClr val="accent4"/>
              </a:buClr>
              <a:buSzPct val="80000"/>
              <a:buFont typeface="Wingdings" panose="05000000000000000000" pitchFamily="2" charset="2"/>
              <a:buChar char="n"/>
            </a:pPr>
            <a:r>
              <a:rPr lang="en-GB" altLang="en-US" dirty="0">
                <a:solidFill>
                  <a:srgbClr val="000000"/>
                </a:solidFill>
                <a:effectLst>
                  <a:outerShdw blurRad="38100" dist="38100" dir="2700000" algn="tl">
                    <a:srgbClr val="FFFFFF"/>
                  </a:outerShdw>
                </a:effectLst>
              </a:rPr>
              <a:t>Is participants voice lost? </a:t>
            </a:r>
          </a:p>
          <a:p>
            <a:pPr marL="342900" lvl="0" indent="-342900" fontAlgn="base">
              <a:spcBef>
                <a:spcPct val="20000"/>
              </a:spcBef>
              <a:spcAft>
                <a:spcPct val="0"/>
              </a:spcAft>
              <a:buClr>
                <a:schemeClr val="accent4"/>
              </a:buClr>
              <a:buSzPct val="80000"/>
              <a:buFont typeface="Wingdings" panose="05000000000000000000" pitchFamily="2" charset="2"/>
              <a:buChar char="n"/>
            </a:pPr>
            <a:r>
              <a:rPr lang="en-GB" altLang="en-US" dirty="0">
                <a:solidFill>
                  <a:srgbClr val="000000"/>
                </a:solidFill>
                <a:effectLst>
                  <a:outerShdw blurRad="38100" dist="38100" dir="2700000" algn="tl">
                    <a:srgbClr val="FFFFFF"/>
                  </a:outerShdw>
                </a:effectLst>
              </a:rPr>
              <a:t>Does the researcher gain at the expense of the participant?</a:t>
            </a:r>
          </a:p>
          <a:p>
            <a:pPr marL="342900" lvl="0" indent="-342900" fontAlgn="base">
              <a:spcBef>
                <a:spcPct val="20000"/>
              </a:spcBef>
              <a:spcAft>
                <a:spcPct val="0"/>
              </a:spcAft>
              <a:buClr>
                <a:schemeClr val="accent4"/>
              </a:buClr>
              <a:buSzPct val="80000"/>
              <a:buFont typeface="Wingdings" panose="05000000000000000000" pitchFamily="2" charset="2"/>
              <a:buChar char="n"/>
            </a:pPr>
            <a:endParaRPr lang="en-GB" dirty="0"/>
          </a:p>
          <a:p>
            <a:pPr lvl="0" fontAlgn="base">
              <a:spcBef>
                <a:spcPct val="20000"/>
              </a:spcBef>
              <a:spcAft>
                <a:spcPct val="0"/>
              </a:spcAft>
              <a:buClr>
                <a:schemeClr val="accent4"/>
              </a:buClr>
              <a:buSzPct val="80000"/>
            </a:pPr>
            <a:endParaRPr lang="en-US" altLang="en-US" b="1" dirty="0">
              <a:solidFill>
                <a:srgbClr val="000000"/>
              </a:solidFill>
              <a:effectLst>
                <a:outerShdw blurRad="38100" dist="38100" dir="2700000" algn="tl">
                  <a:srgbClr val="FFFFFF"/>
                </a:outerShdw>
              </a:effectLst>
            </a:endParaRPr>
          </a:p>
          <a:p>
            <a:pPr algn="just"/>
            <a:endParaRPr lang="en-GB" dirty="0"/>
          </a:p>
        </p:txBody>
      </p:sp>
      <p:pic>
        <p:nvPicPr>
          <p:cNvPr id="4" name="Picture 3"/>
          <p:cNvPicPr>
            <a:picLocks noChangeAspect="1"/>
          </p:cNvPicPr>
          <p:nvPr/>
        </p:nvPicPr>
        <p:blipFill>
          <a:blip r:embed="rId3">
            <a:extLst>
              <a:ext uri="{837473B0-CC2E-450A-ABE3-18F120FF3D39}">
                <a1611:picAttrSrcUrl xmlns:a1611="http://schemas.microsoft.com/office/drawing/2016/11/main" r:id="rId4"/>
              </a:ext>
            </a:extLst>
          </a:blip>
          <a:srcRect/>
          <a:stretch/>
        </p:blipFill>
        <p:spPr>
          <a:xfrm>
            <a:off x="7770897" y="1103324"/>
            <a:ext cx="4182218" cy="4865030"/>
          </a:xfrm>
          <a:prstGeom prst="rect">
            <a:avLst/>
          </a:prstGeom>
        </p:spPr>
      </p:pic>
    </p:spTree>
    <p:extLst>
      <p:ext uri="{BB962C8B-B14F-4D97-AF65-F5344CB8AC3E}">
        <p14:creationId xmlns:p14="http://schemas.microsoft.com/office/powerpoint/2010/main" val="362568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090363" y="310624"/>
            <a:ext cx="7374775" cy="1102640"/>
          </a:xfrm>
        </p:spPr>
        <p:txBody>
          <a:bodyPr anchor="ctr">
            <a:normAutofit/>
          </a:bodyPr>
          <a:lstStyle/>
          <a:p>
            <a:r>
              <a:rPr lang="en-GB" sz="4400" dirty="0"/>
              <a:t>Grounded Theory Analysis</a:t>
            </a:r>
          </a:p>
        </p:txBody>
      </p:sp>
      <p:sp>
        <p:nvSpPr>
          <p:cNvPr id="3" name="TextBox 2">
            <a:extLst>
              <a:ext uri="{FF2B5EF4-FFF2-40B4-BE49-F238E27FC236}">
                <a16:creationId xmlns:a16="http://schemas.microsoft.com/office/drawing/2014/main" id="{FE10A49A-9FCD-5F68-3696-0C865A388519}"/>
              </a:ext>
            </a:extLst>
          </p:cNvPr>
          <p:cNvSpPr txBox="1"/>
          <p:nvPr/>
        </p:nvSpPr>
        <p:spPr>
          <a:xfrm>
            <a:off x="1932038" y="2111579"/>
            <a:ext cx="7165571" cy="1200329"/>
          </a:xfrm>
          <a:prstGeom prst="rect">
            <a:avLst/>
          </a:prstGeom>
          <a:noFill/>
        </p:spPr>
        <p:txBody>
          <a:bodyPr wrap="square" rtlCol="0">
            <a:spAutoFit/>
          </a:bodyPr>
          <a:lstStyle/>
          <a:p>
            <a:endParaRPr lang="en-GB" dirty="0"/>
          </a:p>
          <a:p>
            <a:endParaRPr lang="en-GB" dirty="0"/>
          </a:p>
          <a:p>
            <a:endParaRPr lang="en-GB" dirty="0"/>
          </a:p>
          <a:p>
            <a:pPr lvl="0"/>
            <a:endParaRPr lang="en-GB" dirty="0"/>
          </a:p>
        </p:txBody>
      </p:sp>
      <p:sp>
        <p:nvSpPr>
          <p:cNvPr id="5" name="Rechteck 7"/>
          <p:cNvSpPr/>
          <p:nvPr/>
        </p:nvSpPr>
        <p:spPr>
          <a:xfrm>
            <a:off x="1327356" y="1660667"/>
            <a:ext cx="8747946" cy="923330"/>
          </a:xfrm>
          <a:prstGeom prst="rect">
            <a:avLst/>
          </a:prstGeom>
        </p:spPr>
        <p:txBody>
          <a:bodyPr wrap="square" numCol="1">
            <a:spAutoFit/>
          </a:bodyPr>
          <a:lstStyle/>
          <a:p>
            <a:pPr algn="just" defTabSz="457200"/>
            <a:r>
              <a:rPr lang="en-US" dirty="0">
                <a:latin typeface="Calibri" panose="020F0502020204030204"/>
              </a:rPr>
              <a:t> Why qualitative  method?			</a:t>
            </a:r>
            <a:r>
              <a:rPr lang="en-US" dirty="0"/>
              <a:t>It’s on personal experience… Qualitative methods 								help to find out, what’s behind the phenomenon.</a:t>
            </a:r>
          </a:p>
          <a:p>
            <a:pPr defTabSz="457200"/>
            <a:endParaRPr lang="en-US" dirty="0">
              <a:solidFill>
                <a:prstClr val="white"/>
              </a:solidFill>
            </a:endParaRPr>
          </a:p>
        </p:txBody>
      </p:sp>
      <p:sp>
        <p:nvSpPr>
          <p:cNvPr id="6" name="Rechteck 8"/>
          <p:cNvSpPr/>
          <p:nvPr/>
        </p:nvSpPr>
        <p:spPr>
          <a:xfrm>
            <a:off x="1350611" y="2435218"/>
            <a:ext cx="8595103" cy="1477328"/>
          </a:xfrm>
          <a:prstGeom prst="rect">
            <a:avLst/>
          </a:prstGeom>
        </p:spPr>
        <p:txBody>
          <a:bodyPr wrap="square" numCol="1">
            <a:spAutoFit/>
          </a:bodyPr>
          <a:lstStyle/>
          <a:p>
            <a:pPr algn="just" defTabSz="457200"/>
            <a:r>
              <a:rPr lang="en-US" dirty="0">
                <a:latin typeface="Calibri" panose="020F0502020204030204"/>
              </a:rPr>
              <a:t> Grounded  Theory </a:t>
            </a:r>
            <a:r>
              <a:rPr lang="de-AT" dirty="0">
                <a:latin typeface="Calibri" panose="020F0502020204030204"/>
              </a:rPr>
              <a:t>                             	</a:t>
            </a:r>
            <a:r>
              <a:rPr lang="de-AT" dirty="0"/>
              <a:t>To develop a theory or a model on the base of 									empirical data.  Grounded  Theory Method gives 								   	structure for Data collection, data analysis and 									development of a theory or model. </a:t>
            </a:r>
            <a:r>
              <a:rPr lang="de-AT" dirty="0">
                <a:latin typeface="Calibri" panose="020F0502020204030204"/>
              </a:rPr>
              <a:t>		</a:t>
            </a:r>
            <a:r>
              <a:rPr lang="de-AT" dirty="0">
                <a:solidFill>
                  <a:prstClr val="white"/>
                </a:solidFill>
                <a:latin typeface="Calibri" panose="020F0502020204030204"/>
              </a:rPr>
              <a:t>				</a:t>
            </a:r>
          </a:p>
        </p:txBody>
      </p:sp>
      <p:sp>
        <p:nvSpPr>
          <p:cNvPr id="8" name="Rechteck 11"/>
          <p:cNvSpPr/>
          <p:nvPr/>
        </p:nvSpPr>
        <p:spPr>
          <a:xfrm>
            <a:off x="1480198" y="3897787"/>
            <a:ext cx="8442258" cy="923330"/>
          </a:xfrm>
          <a:prstGeom prst="rect">
            <a:avLst/>
          </a:prstGeom>
        </p:spPr>
        <p:txBody>
          <a:bodyPr wrap="square" numCol="1">
            <a:spAutoFit/>
          </a:bodyPr>
          <a:lstStyle/>
          <a:p>
            <a:pPr algn="just" defTabSz="457200"/>
            <a:r>
              <a:rPr lang="de-AT" dirty="0">
                <a:latin typeface="Calibri" panose="020F0502020204030204"/>
              </a:rPr>
              <a:t>Data collection methods 			</a:t>
            </a:r>
            <a:r>
              <a:rPr lang="de-AT" dirty="0"/>
              <a:t>- guided interviews  								                                                    - observation</a:t>
            </a:r>
          </a:p>
          <a:p>
            <a:pPr defTabSz="457200"/>
            <a:r>
              <a:rPr lang="de-AT" dirty="0">
                <a:latin typeface="Calibri" panose="020F0502020204030204"/>
              </a:rPr>
              <a:t>								</a:t>
            </a:r>
            <a:r>
              <a:rPr lang="de-AT" dirty="0">
                <a:solidFill>
                  <a:prstClr val="white"/>
                </a:solidFill>
                <a:latin typeface="Calibri" panose="020F0502020204030204"/>
              </a:rPr>
              <a:t>							</a:t>
            </a:r>
          </a:p>
        </p:txBody>
      </p:sp>
      <p:sp>
        <p:nvSpPr>
          <p:cNvPr id="9" name="Rechteck 12"/>
          <p:cNvSpPr/>
          <p:nvPr/>
        </p:nvSpPr>
        <p:spPr>
          <a:xfrm>
            <a:off x="1480197" y="4832941"/>
            <a:ext cx="7810471" cy="923330"/>
          </a:xfrm>
          <a:prstGeom prst="rect">
            <a:avLst/>
          </a:prstGeom>
        </p:spPr>
        <p:txBody>
          <a:bodyPr wrap="square" numCol="1">
            <a:spAutoFit/>
          </a:bodyPr>
          <a:lstStyle/>
          <a:p>
            <a:pPr algn="just"/>
            <a:r>
              <a:rPr lang="de-AT" dirty="0"/>
              <a:t>  Analytic methods:			- coding</a:t>
            </a:r>
          </a:p>
          <a:p>
            <a:pPr algn="just"/>
            <a:r>
              <a:rPr lang="de-AT" dirty="0"/>
              <a:t>				</a:t>
            </a:r>
            <a:r>
              <a:rPr lang="de-AT" dirty="0">
                <a:solidFill>
                  <a:schemeClr val="bg1"/>
                </a:solidFill>
              </a:rPr>
              <a:t>							</a:t>
            </a:r>
          </a:p>
        </p:txBody>
      </p:sp>
      <p:grpSp>
        <p:nvGrpSpPr>
          <p:cNvPr id="2" name="Group 1">
            <a:extLst>
              <a:ext uri="{FF2B5EF4-FFF2-40B4-BE49-F238E27FC236}">
                <a16:creationId xmlns:a16="http://schemas.microsoft.com/office/drawing/2014/main" id="{47DCA393-A5DB-E174-93D5-F6754C3D80DB}"/>
              </a:ext>
            </a:extLst>
          </p:cNvPr>
          <p:cNvGrpSpPr/>
          <p:nvPr/>
        </p:nvGrpSpPr>
        <p:grpSpPr>
          <a:xfrm>
            <a:off x="7921489" y="4324888"/>
            <a:ext cx="4154781" cy="2257172"/>
            <a:chOff x="6856081" y="4206941"/>
            <a:chExt cx="4154781" cy="2257172"/>
          </a:xfrm>
        </p:grpSpPr>
        <p:sp>
          <p:nvSpPr>
            <p:cNvPr id="16" name="Nach unten gekrümmter Pfeil 8"/>
            <p:cNvSpPr/>
            <p:nvPr/>
          </p:nvSpPr>
          <p:spPr>
            <a:xfrm>
              <a:off x="7490261" y="4206941"/>
              <a:ext cx="2432196" cy="946855"/>
            </a:xfrm>
            <a:prstGeom prst="curvedDownArrow">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solidFill>
                  <a:schemeClr val="tx1"/>
                </a:solidFill>
              </a:endParaRPr>
            </a:p>
          </p:txBody>
        </p:sp>
        <p:sp>
          <p:nvSpPr>
            <p:cNvPr id="17" name="Nach unten gekrümmter Pfeil 9"/>
            <p:cNvSpPr/>
            <p:nvPr/>
          </p:nvSpPr>
          <p:spPr>
            <a:xfrm rot="10800000">
              <a:off x="7396070" y="5517258"/>
              <a:ext cx="2431982" cy="946855"/>
            </a:xfrm>
            <a:prstGeom prst="curvedDownArrow">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solidFill>
                  <a:schemeClr val="tx1"/>
                </a:solidFill>
              </a:endParaRPr>
            </a:p>
          </p:txBody>
        </p:sp>
        <p:sp>
          <p:nvSpPr>
            <p:cNvPr id="18" name="Rechteck 11"/>
            <p:cNvSpPr/>
            <p:nvPr/>
          </p:nvSpPr>
          <p:spPr>
            <a:xfrm>
              <a:off x="6856081" y="5136102"/>
              <a:ext cx="1562800" cy="369332"/>
            </a:xfrm>
            <a:prstGeom prst="rect">
              <a:avLst/>
            </a:prstGeom>
            <a:solidFill>
              <a:schemeClr val="accent4"/>
            </a:solidFill>
          </p:spPr>
          <p:txBody>
            <a:bodyPr wrap="none">
              <a:spAutoFit/>
            </a:bodyPr>
            <a:lstStyle/>
            <a:p>
              <a:r>
                <a:rPr lang="de-AT" dirty="0" err="1">
                  <a:solidFill>
                    <a:schemeClr val="bg1"/>
                  </a:solidFill>
                </a:rPr>
                <a:t>data</a:t>
              </a:r>
              <a:r>
                <a:rPr lang="de-AT" dirty="0">
                  <a:solidFill>
                    <a:schemeClr val="bg1"/>
                  </a:solidFill>
                </a:rPr>
                <a:t> </a:t>
              </a:r>
              <a:r>
                <a:rPr lang="de-AT" dirty="0" err="1">
                  <a:solidFill>
                    <a:schemeClr val="bg1"/>
                  </a:solidFill>
                </a:rPr>
                <a:t>collection</a:t>
              </a:r>
              <a:endParaRPr lang="de-AT" dirty="0"/>
            </a:p>
          </p:txBody>
        </p:sp>
        <p:sp>
          <p:nvSpPr>
            <p:cNvPr id="19" name="Rechteck 12"/>
            <p:cNvSpPr/>
            <p:nvPr/>
          </p:nvSpPr>
          <p:spPr>
            <a:xfrm>
              <a:off x="8880306" y="5131585"/>
              <a:ext cx="2130556" cy="369332"/>
            </a:xfrm>
            <a:prstGeom prst="rect">
              <a:avLst/>
            </a:prstGeom>
            <a:solidFill>
              <a:schemeClr val="accent4"/>
            </a:solidFill>
          </p:spPr>
          <p:txBody>
            <a:bodyPr wrap="square">
              <a:spAutoFit/>
            </a:bodyPr>
            <a:lstStyle/>
            <a:p>
              <a:r>
                <a:rPr lang="de-AT" dirty="0" err="1">
                  <a:solidFill>
                    <a:schemeClr val="bg1"/>
                  </a:solidFill>
                </a:rPr>
                <a:t>coding</a:t>
              </a:r>
              <a:r>
                <a:rPr lang="de-AT" dirty="0">
                  <a:solidFill>
                    <a:schemeClr val="bg1"/>
                  </a:solidFill>
                </a:rPr>
                <a:t> </a:t>
              </a:r>
              <a:r>
                <a:rPr lang="de-AT" dirty="0" err="1">
                  <a:solidFill>
                    <a:schemeClr val="bg1"/>
                  </a:solidFill>
                </a:rPr>
                <a:t>and</a:t>
              </a:r>
              <a:r>
                <a:rPr lang="de-AT" dirty="0">
                  <a:solidFill>
                    <a:schemeClr val="bg1"/>
                  </a:solidFill>
                </a:rPr>
                <a:t> </a:t>
              </a:r>
              <a:r>
                <a:rPr lang="de-AT" dirty="0" err="1">
                  <a:solidFill>
                    <a:schemeClr val="bg1"/>
                  </a:solidFill>
                </a:rPr>
                <a:t>analysis</a:t>
              </a:r>
              <a:endParaRPr lang="de-AT" dirty="0">
                <a:solidFill>
                  <a:schemeClr val="bg1"/>
                </a:solidFill>
              </a:endParaRPr>
            </a:p>
          </p:txBody>
        </p:sp>
      </p:grpSp>
    </p:spTree>
    <p:extLst>
      <p:ext uri="{BB962C8B-B14F-4D97-AF65-F5344CB8AC3E}">
        <p14:creationId xmlns:p14="http://schemas.microsoft.com/office/powerpoint/2010/main" val="665117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EB4A41-B61A-3AE7-2C86-0274F13B2DA4}"/>
              </a:ext>
            </a:extLst>
          </p:cNvPr>
          <p:cNvSpPr>
            <a:spLocks noGrp="1"/>
          </p:cNvSpPr>
          <p:nvPr>
            <p:ph sz="quarter" idx="10"/>
          </p:nvPr>
        </p:nvSpPr>
        <p:spPr>
          <a:xfrm>
            <a:off x="401007" y="983661"/>
            <a:ext cx="11015585" cy="5498256"/>
          </a:xfrm>
          <a:solidFill>
            <a:srgbClr val="F2F2F2"/>
          </a:solidFill>
        </p:spPr>
        <p:txBody>
          <a:bodyPr>
            <a:noAutofit/>
          </a:bodyPr>
          <a:lstStyle/>
          <a:p>
            <a:pPr marL="0" indent="0">
              <a:buNone/>
            </a:pPr>
            <a:r>
              <a:rPr lang="en-GB" sz="1500" b="1" dirty="0"/>
              <a:t>Data Collection and Analysis in Tandem:</a:t>
            </a:r>
            <a:endParaRPr lang="en-GB" sz="1500" dirty="0"/>
          </a:p>
          <a:p>
            <a:pPr>
              <a:buFont typeface="Arial" panose="020B0604020202020204" pitchFamily="34" charset="0"/>
              <a:buChar char="•"/>
            </a:pPr>
            <a:r>
              <a:rPr lang="en-GB" sz="1500" dirty="0"/>
              <a:t>Data collection and analysis occur simultaneously.  This iterative approach means that initial data analysis informs subsequent data collection, allowing theories to evolve as more data is gathered.</a:t>
            </a:r>
          </a:p>
          <a:p>
            <a:pPr marL="0" indent="0">
              <a:buNone/>
            </a:pPr>
            <a:r>
              <a:rPr lang="en-GB" sz="1500" b="1" dirty="0"/>
              <a:t>	Example:</a:t>
            </a:r>
            <a:r>
              <a:rPr lang="en-GB" sz="1500" dirty="0"/>
              <a:t> If conducting interviews on cybersecurity practices, initial coding might reveal unexpected concerns around data privacy, 	prompting further questions in later interviews.</a:t>
            </a:r>
          </a:p>
          <a:p>
            <a:pPr marL="0" indent="0">
              <a:buNone/>
            </a:pPr>
            <a:r>
              <a:rPr lang="en-GB" sz="1500" b="1" dirty="0"/>
              <a:t>Coding Process in Grounded Theory:</a:t>
            </a:r>
            <a:endParaRPr lang="en-GB" sz="1500" dirty="0"/>
          </a:p>
          <a:p>
            <a:r>
              <a:rPr lang="en-GB" sz="1500" b="1" dirty="0"/>
              <a:t>Open Coding:</a:t>
            </a:r>
            <a:r>
              <a:rPr lang="en-GB" sz="1500" dirty="0"/>
              <a:t> Break down the data into discrete parts, closely examining each part to identify concepts and assign codes.</a:t>
            </a:r>
          </a:p>
          <a:p>
            <a:pPr marL="457200" lvl="1" indent="0">
              <a:buNone/>
            </a:pPr>
            <a:r>
              <a:rPr lang="en-GB" sz="1500" b="1" dirty="0"/>
              <a:t>Example:</a:t>
            </a:r>
            <a:r>
              <a:rPr lang="en-GB" sz="1500" dirty="0"/>
              <a:t> A researcher might code statements related to "trust," "security," or "convenience" when analysing user interviews about online services.</a:t>
            </a:r>
          </a:p>
          <a:p>
            <a:pPr>
              <a:buFont typeface="Arial" panose="020B0604020202020204" pitchFamily="34" charset="0"/>
              <a:buChar char="•"/>
            </a:pPr>
            <a:r>
              <a:rPr lang="en-GB" sz="1500" b="1" dirty="0"/>
              <a:t>Axial Coding:</a:t>
            </a:r>
            <a:r>
              <a:rPr lang="en-GB" sz="1500" dirty="0"/>
              <a:t> Link the open codes by identifying relationships between them, organizing these codes into categories or sub-themes.</a:t>
            </a:r>
          </a:p>
          <a:p>
            <a:pPr marL="457200" lvl="1" indent="0">
              <a:buNone/>
            </a:pPr>
            <a:r>
              <a:rPr lang="en-GB" sz="1500" b="1" dirty="0"/>
              <a:t>Example:</a:t>
            </a:r>
            <a:r>
              <a:rPr lang="en-GB" sz="1500" dirty="0"/>
              <a:t> Grouping codes like "trust" and "security" under a broader category of "User Concerns."</a:t>
            </a:r>
          </a:p>
          <a:p>
            <a:pPr>
              <a:buFont typeface="Arial" panose="020B0604020202020204" pitchFamily="34" charset="0"/>
              <a:buChar char="•"/>
            </a:pPr>
            <a:r>
              <a:rPr lang="en-GB" sz="1500" b="1" dirty="0"/>
              <a:t>Selective Coding:</a:t>
            </a:r>
            <a:r>
              <a:rPr lang="en-GB" sz="1500" dirty="0"/>
              <a:t> Identify the central theme or core category that represents the main idea of the research, integrating all other categories around it.</a:t>
            </a:r>
          </a:p>
          <a:p>
            <a:pPr marL="457200" lvl="1" indent="0">
              <a:buNone/>
            </a:pPr>
            <a:r>
              <a:rPr lang="en-GB" sz="1500" b="1" dirty="0"/>
              <a:t>Example:</a:t>
            </a:r>
            <a:r>
              <a:rPr lang="en-GB" sz="1500" dirty="0"/>
              <a:t> Concluding that "Trust in Security" is the core concern, integrating other codes to explain factors that influence trust.</a:t>
            </a:r>
          </a:p>
          <a:p>
            <a:pPr marL="0" indent="0">
              <a:buNone/>
            </a:pPr>
            <a:r>
              <a:rPr lang="en-GB" sz="1500" b="1" dirty="0"/>
              <a:t>Theory Development:</a:t>
            </a:r>
            <a:endParaRPr lang="en-GB" sz="1500" dirty="0"/>
          </a:p>
          <a:p>
            <a:pPr>
              <a:buFont typeface="Arial" panose="020B0604020202020204" pitchFamily="34" charset="0"/>
              <a:buChar char="•"/>
            </a:pPr>
            <a:r>
              <a:rPr lang="en-GB" sz="1500" dirty="0"/>
              <a:t>Grounded Theory aims to produce a theory that explains the phenomena being studied, grounded entirely in the data collected. The final theory is often a framework that connects the main categories and subcategories identified through coding.</a:t>
            </a:r>
          </a:p>
          <a:p>
            <a:pPr>
              <a:buFont typeface="Arial" panose="020B0604020202020204" pitchFamily="34" charset="0"/>
              <a:buChar char="•"/>
            </a:pPr>
            <a:r>
              <a:rPr lang="en-GB" sz="1500" b="1" dirty="0"/>
              <a:t>Example:</a:t>
            </a:r>
            <a:r>
              <a:rPr lang="en-GB" sz="1500" dirty="0"/>
              <a:t> Developing a framework for understanding user trust in online platforms, which could highlight the roles of perceived security, ease of use, and support services.</a:t>
            </a:r>
          </a:p>
          <a:p>
            <a:pPr marL="0" indent="0">
              <a:buNone/>
            </a:pPr>
            <a:endParaRPr lang="en-GB" sz="1500" dirty="0"/>
          </a:p>
        </p:txBody>
      </p:sp>
      <p:sp>
        <p:nvSpPr>
          <p:cNvPr id="3" name="Title 2">
            <a:extLst>
              <a:ext uri="{FF2B5EF4-FFF2-40B4-BE49-F238E27FC236}">
                <a16:creationId xmlns:a16="http://schemas.microsoft.com/office/drawing/2014/main" id="{5525BBA5-75F1-AC90-60FE-CCAF4B30F3A8}"/>
              </a:ext>
            </a:extLst>
          </p:cNvPr>
          <p:cNvSpPr>
            <a:spLocks noGrp="1"/>
          </p:cNvSpPr>
          <p:nvPr>
            <p:ph type="title"/>
          </p:nvPr>
        </p:nvSpPr>
        <p:spPr>
          <a:xfrm>
            <a:off x="-1707573" y="84281"/>
            <a:ext cx="10515600" cy="700115"/>
          </a:xfrm>
        </p:spPr>
        <p:txBody>
          <a:bodyPr/>
          <a:lstStyle/>
          <a:p>
            <a:r>
              <a:rPr lang="en-GB" sz="4800" dirty="0"/>
              <a:t>Grounded Theory Analysis</a:t>
            </a:r>
            <a:endParaRPr lang="en-GB" dirty="0"/>
          </a:p>
        </p:txBody>
      </p:sp>
    </p:spTree>
    <p:extLst>
      <p:ext uri="{BB962C8B-B14F-4D97-AF65-F5344CB8AC3E}">
        <p14:creationId xmlns:p14="http://schemas.microsoft.com/office/powerpoint/2010/main" val="3530452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807719" y="0"/>
            <a:ext cx="7374775" cy="1102640"/>
          </a:xfrm>
        </p:spPr>
        <p:txBody>
          <a:bodyPr anchor="ctr">
            <a:normAutofit/>
          </a:bodyPr>
          <a:lstStyle/>
          <a:p>
            <a:r>
              <a:rPr lang="en-GB" sz="4400" spc="-10" dirty="0">
                <a:latin typeface="Arial MT"/>
                <a:cs typeface="Arial MT"/>
              </a:rPr>
              <a:t>Thematic analysis</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492529" y="1386516"/>
            <a:ext cx="6666809" cy="4419158"/>
          </a:xfrm>
          <a:prstGeom prst="rect">
            <a:avLst/>
          </a:prstGeom>
          <a:noFill/>
        </p:spPr>
        <p:txBody>
          <a:bodyPr wrap="square" rtlCol="0">
            <a:spAutoFit/>
          </a:bodyPr>
          <a:lstStyle/>
          <a:p>
            <a:pPr marL="12700">
              <a:lnSpc>
                <a:spcPct val="100000"/>
              </a:lnSpc>
              <a:spcBef>
                <a:spcPts val="95"/>
              </a:spcBef>
            </a:pPr>
            <a:r>
              <a:rPr lang="en-GB" b="1" dirty="0">
                <a:cs typeface="Arial"/>
              </a:rPr>
              <a:t>Thematic</a:t>
            </a:r>
            <a:r>
              <a:rPr lang="en-GB" b="1" spc="-30" dirty="0">
                <a:cs typeface="Arial"/>
              </a:rPr>
              <a:t> </a:t>
            </a:r>
            <a:r>
              <a:rPr lang="en-GB" b="1" dirty="0">
                <a:cs typeface="Arial"/>
              </a:rPr>
              <a:t>analysis</a:t>
            </a:r>
            <a:r>
              <a:rPr lang="en-GB" b="1" spc="10" dirty="0">
                <a:cs typeface="Arial"/>
              </a:rPr>
              <a:t> </a:t>
            </a:r>
            <a:r>
              <a:rPr lang="en-GB" dirty="0">
                <a:cs typeface="Arial MT"/>
              </a:rPr>
              <a:t>is</a:t>
            </a:r>
            <a:r>
              <a:rPr lang="en-GB" spc="-60" dirty="0">
                <a:cs typeface="Arial MT"/>
              </a:rPr>
              <a:t> </a:t>
            </a:r>
            <a:r>
              <a:rPr lang="en-GB" dirty="0">
                <a:cs typeface="Arial MT"/>
              </a:rPr>
              <a:t>a</a:t>
            </a:r>
            <a:r>
              <a:rPr lang="en-GB" spc="-50" dirty="0">
                <a:cs typeface="Arial MT"/>
              </a:rPr>
              <a:t> </a:t>
            </a:r>
            <a:r>
              <a:rPr lang="en-GB" dirty="0">
                <a:cs typeface="Arial MT"/>
              </a:rPr>
              <a:t>systematic</a:t>
            </a:r>
            <a:r>
              <a:rPr lang="en-GB" spc="-25" dirty="0">
                <a:cs typeface="Arial MT"/>
              </a:rPr>
              <a:t> </a:t>
            </a:r>
            <a:r>
              <a:rPr lang="en-GB" dirty="0">
                <a:cs typeface="Arial MT"/>
              </a:rPr>
              <a:t>method</a:t>
            </a:r>
            <a:r>
              <a:rPr lang="en-GB" spc="-30" dirty="0">
                <a:cs typeface="Arial MT"/>
              </a:rPr>
              <a:t> </a:t>
            </a:r>
            <a:r>
              <a:rPr lang="en-GB" dirty="0">
                <a:cs typeface="Arial MT"/>
              </a:rPr>
              <a:t>of</a:t>
            </a:r>
            <a:r>
              <a:rPr lang="en-GB" spc="-50" dirty="0">
                <a:cs typeface="Arial MT"/>
              </a:rPr>
              <a:t> </a:t>
            </a:r>
            <a:r>
              <a:rPr lang="en-GB" dirty="0">
                <a:cs typeface="Arial MT"/>
              </a:rPr>
              <a:t>breaking</a:t>
            </a:r>
            <a:r>
              <a:rPr lang="en-GB" spc="-25" dirty="0">
                <a:cs typeface="Arial MT"/>
              </a:rPr>
              <a:t> </a:t>
            </a:r>
            <a:r>
              <a:rPr lang="en-GB" dirty="0">
                <a:cs typeface="Arial MT"/>
              </a:rPr>
              <a:t>down</a:t>
            </a:r>
            <a:r>
              <a:rPr lang="en-GB" spc="-40" dirty="0">
                <a:cs typeface="Arial MT"/>
              </a:rPr>
              <a:t> </a:t>
            </a:r>
            <a:r>
              <a:rPr lang="en-GB" dirty="0">
                <a:cs typeface="Arial MT"/>
              </a:rPr>
              <a:t>and</a:t>
            </a:r>
            <a:r>
              <a:rPr lang="en-GB" spc="-40" dirty="0">
                <a:cs typeface="Arial MT"/>
              </a:rPr>
              <a:t> </a:t>
            </a:r>
            <a:r>
              <a:rPr lang="en-GB" dirty="0">
                <a:cs typeface="Arial MT"/>
              </a:rPr>
              <a:t>organizing</a:t>
            </a:r>
            <a:r>
              <a:rPr lang="en-GB" spc="-30" dirty="0">
                <a:cs typeface="Arial MT"/>
              </a:rPr>
              <a:t> </a:t>
            </a:r>
            <a:r>
              <a:rPr lang="en-GB" dirty="0">
                <a:cs typeface="Arial MT"/>
              </a:rPr>
              <a:t>rich</a:t>
            </a:r>
            <a:r>
              <a:rPr lang="en-GB" spc="-50" dirty="0">
                <a:cs typeface="Arial MT"/>
              </a:rPr>
              <a:t> </a:t>
            </a:r>
            <a:r>
              <a:rPr lang="en-GB" dirty="0">
                <a:cs typeface="Arial MT"/>
              </a:rPr>
              <a:t>data</a:t>
            </a:r>
            <a:r>
              <a:rPr lang="en-GB" spc="-40" dirty="0">
                <a:cs typeface="Arial MT"/>
              </a:rPr>
              <a:t> </a:t>
            </a:r>
            <a:r>
              <a:rPr lang="en-GB" dirty="0">
                <a:cs typeface="Arial MT"/>
              </a:rPr>
              <a:t>from</a:t>
            </a:r>
            <a:r>
              <a:rPr lang="en-GB" spc="-35" dirty="0">
                <a:cs typeface="Arial MT"/>
              </a:rPr>
              <a:t> </a:t>
            </a:r>
            <a:r>
              <a:rPr lang="en-GB" dirty="0">
                <a:cs typeface="Arial MT"/>
              </a:rPr>
              <a:t>qualitative</a:t>
            </a:r>
            <a:r>
              <a:rPr lang="en-GB" spc="-20" dirty="0">
                <a:cs typeface="Arial MT"/>
              </a:rPr>
              <a:t> </a:t>
            </a:r>
            <a:r>
              <a:rPr lang="en-GB" dirty="0">
                <a:cs typeface="Arial MT"/>
              </a:rPr>
              <a:t>research</a:t>
            </a:r>
            <a:r>
              <a:rPr lang="en-GB" spc="-30" dirty="0">
                <a:cs typeface="Arial MT"/>
              </a:rPr>
              <a:t> </a:t>
            </a:r>
            <a:r>
              <a:rPr lang="en-GB" spc="-25" dirty="0">
                <a:cs typeface="Arial MT"/>
              </a:rPr>
              <a:t>by</a:t>
            </a:r>
            <a:r>
              <a:rPr lang="en-GB" dirty="0">
                <a:cs typeface="Arial MT"/>
              </a:rPr>
              <a:t> tagging</a:t>
            </a:r>
            <a:r>
              <a:rPr lang="en-GB" spc="-55" dirty="0">
                <a:cs typeface="Arial MT"/>
              </a:rPr>
              <a:t> </a:t>
            </a:r>
            <a:r>
              <a:rPr lang="en-GB" dirty="0">
                <a:cs typeface="Arial MT"/>
              </a:rPr>
              <a:t>individual</a:t>
            </a:r>
            <a:r>
              <a:rPr lang="en-GB" spc="-35" dirty="0">
                <a:cs typeface="Arial MT"/>
              </a:rPr>
              <a:t> </a:t>
            </a:r>
            <a:r>
              <a:rPr lang="en-GB" dirty="0">
                <a:cs typeface="Arial MT"/>
              </a:rPr>
              <a:t>observations</a:t>
            </a:r>
            <a:r>
              <a:rPr lang="en-GB" spc="-30" dirty="0">
                <a:cs typeface="Arial MT"/>
              </a:rPr>
              <a:t> </a:t>
            </a:r>
            <a:r>
              <a:rPr lang="en-GB" dirty="0">
                <a:cs typeface="Arial MT"/>
              </a:rPr>
              <a:t>with</a:t>
            </a:r>
            <a:r>
              <a:rPr lang="en-GB" spc="-55" dirty="0">
                <a:cs typeface="Arial MT"/>
              </a:rPr>
              <a:t> </a:t>
            </a:r>
            <a:r>
              <a:rPr lang="en-GB" dirty="0">
                <a:cs typeface="Arial MT"/>
              </a:rPr>
              <a:t>appropriate</a:t>
            </a:r>
            <a:r>
              <a:rPr lang="en-GB" spc="-35" dirty="0">
                <a:cs typeface="Arial MT"/>
              </a:rPr>
              <a:t> </a:t>
            </a:r>
            <a:r>
              <a:rPr lang="en-GB" dirty="0">
                <a:cs typeface="Arial MT"/>
              </a:rPr>
              <a:t>codes,</a:t>
            </a:r>
            <a:r>
              <a:rPr lang="en-GB" spc="-55" dirty="0">
                <a:cs typeface="Arial MT"/>
              </a:rPr>
              <a:t> </a:t>
            </a:r>
            <a:r>
              <a:rPr lang="en-GB" dirty="0">
                <a:cs typeface="Arial MT"/>
              </a:rPr>
              <a:t>to</a:t>
            </a:r>
            <a:r>
              <a:rPr lang="en-GB" spc="-65" dirty="0">
                <a:cs typeface="Arial MT"/>
              </a:rPr>
              <a:t> </a:t>
            </a:r>
            <a:r>
              <a:rPr lang="en-GB" dirty="0">
                <a:cs typeface="Arial MT"/>
              </a:rPr>
              <a:t>facilitate</a:t>
            </a:r>
            <a:r>
              <a:rPr lang="en-GB" spc="-55" dirty="0">
                <a:cs typeface="Arial MT"/>
              </a:rPr>
              <a:t> </a:t>
            </a:r>
            <a:r>
              <a:rPr lang="en-GB" dirty="0">
                <a:cs typeface="Arial MT"/>
              </a:rPr>
              <a:t>the</a:t>
            </a:r>
            <a:r>
              <a:rPr lang="en-GB" spc="-65" dirty="0">
                <a:cs typeface="Arial MT"/>
              </a:rPr>
              <a:t> </a:t>
            </a:r>
            <a:r>
              <a:rPr lang="en-GB" dirty="0">
                <a:cs typeface="Arial MT"/>
              </a:rPr>
              <a:t>discovery</a:t>
            </a:r>
            <a:r>
              <a:rPr lang="en-GB" spc="-50" dirty="0">
                <a:cs typeface="Arial MT"/>
              </a:rPr>
              <a:t> </a:t>
            </a:r>
            <a:r>
              <a:rPr lang="en-GB" dirty="0">
                <a:cs typeface="Arial MT"/>
              </a:rPr>
              <a:t>of</a:t>
            </a:r>
            <a:r>
              <a:rPr lang="en-GB" spc="-65" dirty="0">
                <a:cs typeface="Arial MT"/>
              </a:rPr>
              <a:t> </a:t>
            </a:r>
            <a:r>
              <a:rPr lang="en-GB" dirty="0">
                <a:cs typeface="Arial MT"/>
              </a:rPr>
              <a:t>significant</a:t>
            </a:r>
            <a:r>
              <a:rPr lang="en-GB" spc="-25" dirty="0">
                <a:cs typeface="Arial MT"/>
              </a:rPr>
              <a:t> </a:t>
            </a:r>
            <a:r>
              <a:rPr lang="en-GB" b="1" spc="-10" dirty="0">
                <a:cs typeface="Arial"/>
              </a:rPr>
              <a:t>themes</a:t>
            </a:r>
            <a:r>
              <a:rPr lang="en-GB" spc="-10" dirty="0">
                <a:cs typeface="Arial MT"/>
              </a:rPr>
              <a:t>.</a:t>
            </a:r>
            <a:endParaRPr lang="en-GB" dirty="0">
              <a:cs typeface="Arial MT"/>
            </a:endParaRPr>
          </a:p>
          <a:p>
            <a:endParaRPr lang="en-GB" dirty="0"/>
          </a:p>
          <a:p>
            <a:endParaRPr lang="en-GB" b="1" dirty="0"/>
          </a:p>
          <a:p>
            <a:pPr marL="12700">
              <a:lnSpc>
                <a:spcPct val="100000"/>
              </a:lnSpc>
              <a:spcBef>
                <a:spcPts val="100"/>
              </a:spcBef>
            </a:pPr>
            <a:r>
              <a:rPr lang="en-GB" dirty="0">
                <a:cs typeface="Arial MT"/>
              </a:rPr>
              <a:t>The</a:t>
            </a:r>
            <a:r>
              <a:rPr lang="en-GB" spc="-35" dirty="0">
                <a:cs typeface="Arial MT"/>
              </a:rPr>
              <a:t> </a:t>
            </a:r>
            <a:r>
              <a:rPr lang="en-GB" dirty="0">
                <a:cs typeface="Arial MT"/>
              </a:rPr>
              <a:t>themes</a:t>
            </a:r>
            <a:r>
              <a:rPr lang="en-GB" spc="-30" dirty="0">
                <a:cs typeface="Arial MT"/>
              </a:rPr>
              <a:t> </a:t>
            </a:r>
            <a:r>
              <a:rPr lang="en-GB" dirty="0">
                <a:cs typeface="Arial MT"/>
              </a:rPr>
              <a:t>are</a:t>
            </a:r>
            <a:r>
              <a:rPr lang="en-GB" spc="-45" dirty="0">
                <a:cs typeface="Arial MT"/>
              </a:rPr>
              <a:t> </a:t>
            </a:r>
            <a:r>
              <a:rPr lang="en-GB" dirty="0">
                <a:cs typeface="Arial MT"/>
              </a:rPr>
              <a:t>identified</a:t>
            </a:r>
            <a:r>
              <a:rPr lang="en-GB" spc="-25" dirty="0">
                <a:cs typeface="Arial MT"/>
              </a:rPr>
              <a:t> </a:t>
            </a:r>
            <a:r>
              <a:rPr lang="en-GB" dirty="0">
                <a:cs typeface="Arial MT"/>
              </a:rPr>
              <a:t>from</a:t>
            </a:r>
            <a:r>
              <a:rPr lang="en-GB" spc="-50" dirty="0">
                <a:cs typeface="Arial MT"/>
              </a:rPr>
              <a:t> </a:t>
            </a:r>
            <a:r>
              <a:rPr lang="en-GB" dirty="0">
                <a:cs typeface="Arial MT"/>
              </a:rPr>
              <a:t>the</a:t>
            </a:r>
            <a:r>
              <a:rPr lang="en-GB" spc="-35" dirty="0">
                <a:cs typeface="Arial MT"/>
              </a:rPr>
              <a:t> </a:t>
            </a:r>
            <a:r>
              <a:rPr lang="en-GB" spc="-10" dirty="0">
                <a:cs typeface="Arial MT"/>
              </a:rPr>
              <a:t>data.</a:t>
            </a:r>
            <a:endParaRPr lang="en-GB" dirty="0">
              <a:cs typeface="Arial MT"/>
            </a:endParaRPr>
          </a:p>
          <a:p>
            <a:pPr>
              <a:lnSpc>
                <a:spcPct val="100000"/>
              </a:lnSpc>
              <a:spcBef>
                <a:spcPts val="725"/>
              </a:spcBef>
            </a:pPr>
            <a:endParaRPr lang="en-GB" dirty="0">
              <a:cs typeface="Arial MT"/>
            </a:endParaRPr>
          </a:p>
          <a:p>
            <a:pPr marL="12700">
              <a:lnSpc>
                <a:spcPct val="100000"/>
              </a:lnSpc>
            </a:pPr>
            <a:r>
              <a:rPr lang="en-GB" dirty="0">
                <a:cs typeface="Arial MT"/>
              </a:rPr>
              <a:t>–First,</a:t>
            </a:r>
            <a:r>
              <a:rPr lang="en-GB" spc="-55" dirty="0">
                <a:cs typeface="Arial MT"/>
              </a:rPr>
              <a:t> </a:t>
            </a:r>
            <a:r>
              <a:rPr lang="en-GB" dirty="0">
                <a:cs typeface="Arial MT"/>
              </a:rPr>
              <a:t>we</a:t>
            </a:r>
            <a:r>
              <a:rPr lang="en-GB" spc="-15" dirty="0">
                <a:cs typeface="Arial MT"/>
              </a:rPr>
              <a:t> </a:t>
            </a:r>
            <a:r>
              <a:rPr lang="en-GB" dirty="0">
                <a:cs typeface="Arial MT"/>
              </a:rPr>
              <a:t>have</a:t>
            </a:r>
            <a:r>
              <a:rPr lang="en-GB" spc="-25" dirty="0">
                <a:cs typeface="Arial MT"/>
              </a:rPr>
              <a:t> </a:t>
            </a:r>
            <a:r>
              <a:rPr lang="en-GB" dirty="0">
                <a:cs typeface="Arial MT"/>
              </a:rPr>
              <a:t>to</a:t>
            </a:r>
            <a:r>
              <a:rPr lang="en-GB" spc="-30" dirty="0">
                <a:cs typeface="Arial MT"/>
              </a:rPr>
              <a:t> </a:t>
            </a:r>
            <a:r>
              <a:rPr lang="en-GB" dirty="0">
                <a:cs typeface="Arial MT"/>
              </a:rPr>
              <a:t>read</a:t>
            </a:r>
            <a:r>
              <a:rPr lang="en-GB" spc="-45" dirty="0">
                <a:cs typeface="Arial MT"/>
              </a:rPr>
              <a:t> </a:t>
            </a:r>
            <a:r>
              <a:rPr lang="en-GB" dirty="0">
                <a:cs typeface="Arial MT"/>
              </a:rPr>
              <a:t>and</a:t>
            </a:r>
            <a:r>
              <a:rPr lang="en-GB" spc="-30" dirty="0">
                <a:cs typeface="Arial MT"/>
              </a:rPr>
              <a:t> </a:t>
            </a:r>
            <a:r>
              <a:rPr lang="en-GB" dirty="0">
                <a:cs typeface="Arial MT"/>
              </a:rPr>
              <a:t>understand</a:t>
            </a:r>
            <a:r>
              <a:rPr lang="en-GB" spc="-70" dirty="0">
                <a:cs typeface="Arial MT"/>
              </a:rPr>
              <a:t> </a:t>
            </a:r>
            <a:r>
              <a:rPr lang="en-GB" dirty="0">
                <a:cs typeface="Arial MT"/>
              </a:rPr>
              <a:t>the</a:t>
            </a:r>
            <a:r>
              <a:rPr lang="en-GB" spc="-30" dirty="0">
                <a:cs typeface="Arial MT"/>
              </a:rPr>
              <a:t> </a:t>
            </a:r>
            <a:r>
              <a:rPr lang="en-GB" spc="-20" dirty="0">
                <a:cs typeface="Arial MT"/>
              </a:rPr>
              <a:t>data</a:t>
            </a:r>
            <a:endParaRPr lang="en-GB" dirty="0">
              <a:cs typeface="Arial MT"/>
            </a:endParaRPr>
          </a:p>
          <a:p>
            <a:pPr>
              <a:lnSpc>
                <a:spcPct val="100000"/>
              </a:lnSpc>
              <a:spcBef>
                <a:spcPts val="710"/>
              </a:spcBef>
            </a:pPr>
            <a:endParaRPr lang="en-GB" dirty="0">
              <a:cs typeface="Arial MT"/>
            </a:endParaRPr>
          </a:p>
          <a:p>
            <a:pPr marL="12700">
              <a:lnSpc>
                <a:spcPct val="100000"/>
              </a:lnSpc>
            </a:pPr>
            <a:r>
              <a:rPr lang="en-GB" dirty="0">
                <a:cs typeface="Arial MT"/>
              </a:rPr>
              <a:t>–Then</a:t>
            </a:r>
            <a:r>
              <a:rPr lang="en-GB" spc="-25" dirty="0">
                <a:cs typeface="Arial MT"/>
              </a:rPr>
              <a:t> </a:t>
            </a:r>
            <a:r>
              <a:rPr lang="en-GB" dirty="0">
                <a:cs typeface="Arial MT"/>
              </a:rPr>
              <a:t>we</a:t>
            </a:r>
            <a:r>
              <a:rPr lang="en-GB" spc="-15" dirty="0">
                <a:cs typeface="Arial MT"/>
              </a:rPr>
              <a:t> </a:t>
            </a:r>
            <a:r>
              <a:rPr lang="en-GB" dirty="0">
                <a:cs typeface="Arial MT"/>
              </a:rPr>
              <a:t>break</a:t>
            </a:r>
            <a:r>
              <a:rPr lang="en-GB" spc="-35" dirty="0">
                <a:cs typeface="Arial MT"/>
              </a:rPr>
              <a:t> </a:t>
            </a:r>
            <a:r>
              <a:rPr lang="en-GB" dirty="0">
                <a:cs typeface="Arial MT"/>
              </a:rPr>
              <a:t>it</a:t>
            </a:r>
            <a:r>
              <a:rPr lang="en-GB" spc="-20" dirty="0">
                <a:cs typeface="Arial MT"/>
              </a:rPr>
              <a:t> </a:t>
            </a:r>
            <a:r>
              <a:rPr lang="en-GB" dirty="0">
                <a:cs typeface="Arial MT"/>
              </a:rPr>
              <a:t>down into</a:t>
            </a:r>
            <a:r>
              <a:rPr lang="en-GB" spc="-35" dirty="0">
                <a:cs typeface="Arial MT"/>
              </a:rPr>
              <a:t> </a:t>
            </a:r>
            <a:r>
              <a:rPr lang="en-GB" spc="-10" dirty="0">
                <a:cs typeface="Arial MT"/>
              </a:rPr>
              <a:t>“chunks”</a:t>
            </a:r>
            <a:endParaRPr lang="en-GB" dirty="0">
              <a:cs typeface="Arial MT"/>
            </a:endParaRPr>
          </a:p>
          <a:p>
            <a:pPr>
              <a:lnSpc>
                <a:spcPct val="100000"/>
              </a:lnSpc>
              <a:spcBef>
                <a:spcPts val="715"/>
              </a:spcBef>
            </a:pPr>
            <a:endParaRPr lang="en-GB" dirty="0">
              <a:cs typeface="Arial MT"/>
            </a:endParaRPr>
          </a:p>
          <a:p>
            <a:pPr marL="12700">
              <a:lnSpc>
                <a:spcPct val="100000"/>
              </a:lnSpc>
            </a:pPr>
            <a:r>
              <a:rPr lang="en-GB" dirty="0">
                <a:cs typeface="Arial MT"/>
              </a:rPr>
              <a:t>–Then</a:t>
            </a:r>
            <a:r>
              <a:rPr lang="en-GB" spc="-25" dirty="0">
                <a:cs typeface="Arial MT"/>
              </a:rPr>
              <a:t> </a:t>
            </a:r>
            <a:r>
              <a:rPr lang="en-GB" dirty="0">
                <a:cs typeface="Arial MT"/>
              </a:rPr>
              <a:t>we</a:t>
            </a:r>
            <a:r>
              <a:rPr lang="en-GB" spc="-10" dirty="0">
                <a:cs typeface="Arial MT"/>
              </a:rPr>
              <a:t> </a:t>
            </a:r>
            <a:r>
              <a:rPr lang="en-GB" dirty="0">
                <a:cs typeface="Arial MT"/>
              </a:rPr>
              <a:t>code</a:t>
            </a:r>
            <a:r>
              <a:rPr lang="en-GB" spc="-20" dirty="0">
                <a:cs typeface="Arial MT"/>
              </a:rPr>
              <a:t> </a:t>
            </a:r>
            <a:r>
              <a:rPr lang="en-GB" dirty="0">
                <a:cs typeface="Arial MT"/>
              </a:rPr>
              <a:t>the</a:t>
            </a:r>
            <a:r>
              <a:rPr lang="en-GB" spc="-30" dirty="0">
                <a:cs typeface="Arial MT"/>
              </a:rPr>
              <a:t> </a:t>
            </a:r>
            <a:r>
              <a:rPr lang="en-GB" spc="-20" dirty="0">
                <a:cs typeface="Arial MT"/>
              </a:rPr>
              <a:t>data</a:t>
            </a:r>
            <a:endParaRPr lang="en-GB" dirty="0">
              <a:cs typeface="Arial MT"/>
            </a:endParaRPr>
          </a:p>
          <a:p>
            <a:endParaRPr lang="en-GB" dirty="0"/>
          </a:p>
        </p:txBody>
      </p:sp>
      <p:pic>
        <p:nvPicPr>
          <p:cNvPr id="5" name="object 5"/>
          <p:cNvPicPr/>
          <p:nvPr/>
        </p:nvPicPr>
        <p:blipFill>
          <a:blip r:embed="rId3" cstate="print"/>
          <a:stretch>
            <a:fillRect/>
          </a:stretch>
        </p:blipFill>
        <p:spPr>
          <a:xfrm>
            <a:off x="7491847" y="2015283"/>
            <a:ext cx="4023360" cy="2526791"/>
          </a:xfrm>
          <a:prstGeom prst="rect">
            <a:avLst/>
          </a:prstGeom>
        </p:spPr>
      </p:pic>
      <p:pic>
        <p:nvPicPr>
          <p:cNvPr id="2" name="Picture 1"/>
          <p:cNvPicPr>
            <a:picLocks noChangeAspect="1"/>
          </p:cNvPicPr>
          <p:nvPr/>
        </p:nvPicPr>
        <p:blipFill>
          <a:blip r:embed="rId4"/>
          <a:stretch>
            <a:fillRect/>
          </a:stretch>
        </p:blipFill>
        <p:spPr>
          <a:xfrm>
            <a:off x="7045533" y="4775985"/>
            <a:ext cx="4541914" cy="365792"/>
          </a:xfrm>
          <a:prstGeom prst="rect">
            <a:avLst/>
          </a:prstGeom>
        </p:spPr>
      </p:pic>
    </p:spTree>
    <p:extLst>
      <p:ext uri="{BB962C8B-B14F-4D97-AF65-F5344CB8AC3E}">
        <p14:creationId xmlns:p14="http://schemas.microsoft.com/office/powerpoint/2010/main" val="1070332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p:txBody>
          <a:bodyPr anchor="ctr">
            <a:normAutofit/>
          </a:bodyPr>
          <a:lstStyle/>
          <a:p>
            <a:r>
              <a:rPr lang="en-GB" sz="4400" dirty="0">
                <a:latin typeface="Arial MT"/>
                <a:cs typeface="Arial MT"/>
              </a:rPr>
              <a:t>Thematic</a:t>
            </a:r>
            <a:r>
              <a:rPr lang="en-GB" sz="4400" spc="-275" dirty="0">
                <a:latin typeface="Arial MT"/>
                <a:cs typeface="Arial MT"/>
              </a:rPr>
              <a:t> </a:t>
            </a:r>
            <a:r>
              <a:rPr lang="en-GB" sz="4400" dirty="0">
                <a:latin typeface="Arial MT"/>
                <a:cs typeface="Arial MT"/>
              </a:rPr>
              <a:t>Analysis</a:t>
            </a:r>
            <a:r>
              <a:rPr lang="en-GB" sz="4400" spc="-25" dirty="0">
                <a:latin typeface="Arial MT"/>
                <a:cs typeface="Arial MT"/>
              </a:rPr>
              <a:t> </a:t>
            </a:r>
            <a:r>
              <a:rPr lang="en-GB" sz="4400" dirty="0">
                <a:latin typeface="Arial MT"/>
                <a:cs typeface="Arial MT"/>
              </a:rPr>
              <a:t>-</a:t>
            </a:r>
            <a:r>
              <a:rPr lang="en-GB" sz="4400" spc="-5" dirty="0">
                <a:latin typeface="Arial MT"/>
                <a:cs typeface="Arial MT"/>
              </a:rPr>
              <a:t> </a:t>
            </a:r>
            <a:r>
              <a:rPr lang="en-GB" sz="4400" spc="-10" dirty="0">
                <a:latin typeface="Arial MT"/>
                <a:cs typeface="Arial MT"/>
              </a:rPr>
              <a:t>Reading </a:t>
            </a:r>
            <a:r>
              <a:rPr lang="en-GB" sz="4400" dirty="0">
                <a:latin typeface="Arial MT"/>
                <a:cs typeface="Arial MT"/>
              </a:rPr>
              <a:t>and</a:t>
            </a:r>
            <a:r>
              <a:rPr lang="en-GB" sz="4400" spc="-85" dirty="0">
                <a:latin typeface="Arial MT"/>
                <a:cs typeface="Arial MT"/>
              </a:rPr>
              <a:t> </a:t>
            </a:r>
            <a:r>
              <a:rPr lang="en-GB" sz="4400" spc="-10" dirty="0">
                <a:latin typeface="Arial MT"/>
                <a:cs typeface="Arial MT"/>
              </a:rPr>
              <a:t>Chunking</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735437" y="1852500"/>
            <a:ext cx="5650614" cy="5065489"/>
          </a:xfrm>
          <a:prstGeom prst="rect">
            <a:avLst/>
          </a:prstGeom>
          <a:noFill/>
        </p:spPr>
        <p:txBody>
          <a:bodyPr wrap="square" rtlCol="0">
            <a:spAutoFit/>
          </a:bodyPr>
          <a:lstStyle/>
          <a:p>
            <a:pPr marL="298450" indent="-285750">
              <a:lnSpc>
                <a:spcPct val="100000"/>
              </a:lnSpc>
              <a:spcBef>
                <a:spcPts val="95"/>
              </a:spcBef>
              <a:buClr>
                <a:schemeClr val="accent4"/>
              </a:buClr>
              <a:buFont typeface="Wingdings" panose="05000000000000000000" pitchFamily="2" charset="2"/>
              <a:buChar char="§"/>
              <a:tabLst>
                <a:tab pos="240029" algn="l"/>
              </a:tabLst>
            </a:pPr>
            <a:r>
              <a:rPr lang="en-GB" dirty="0">
                <a:cs typeface="Arial MT"/>
              </a:rPr>
              <a:t>Separate</a:t>
            </a:r>
            <a:r>
              <a:rPr lang="en-GB" spc="-45" dirty="0">
                <a:cs typeface="Arial MT"/>
              </a:rPr>
              <a:t> </a:t>
            </a:r>
            <a:r>
              <a:rPr lang="en-GB" dirty="0">
                <a:cs typeface="Arial MT"/>
              </a:rPr>
              <a:t>big</a:t>
            </a:r>
            <a:r>
              <a:rPr lang="en-GB" spc="-60" dirty="0">
                <a:cs typeface="Arial MT"/>
              </a:rPr>
              <a:t> </a:t>
            </a:r>
            <a:r>
              <a:rPr lang="en-GB" dirty="0">
                <a:cs typeface="Arial MT"/>
              </a:rPr>
              <a:t>blocks</a:t>
            </a:r>
            <a:r>
              <a:rPr lang="en-GB" spc="-60" dirty="0">
                <a:cs typeface="Arial MT"/>
              </a:rPr>
              <a:t> </a:t>
            </a:r>
            <a:r>
              <a:rPr lang="en-GB" dirty="0">
                <a:cs typeface="Arial MT"/>
              </a:rPr>
              <a:t>of</a:t>
            </a:r>
            <a:r>
              <a:rPr lang="en-GB" spc="-55" dirty="0">
                <a:cs typeface="Arial MT"/>
              </a:rPr>
              <a:t> </a:t>
            </a:r>
            <a:r>
              <a:rPr lang="en-GB" dirty="0">
                <a:cs typeface="Arial MT"/>
              </a:rPr>
              <a:t>text</a:t>
            </a:r>
            <a:r>
              <a:rPr lang="en-GB" spc="-40" dirty="0">
                <a:cs typeface="Arial MT"/>
              </a:rPr>
              <a:t> </a:t>
            </a:r>
            <a:r>
              <a:rPr lang="en-GB" dirty="0">
                <a:cs typeface="Arial MT"/>
              </a:rPr>
              <a:t>into</a:t>
            </a:r>
            <a:r>
              <a:rPr lang="en-GB" spc="-50" dirty="0">
                <a:cs typeface="Arial MT"/>
              </a:rPr>
              <a:t> </a:t>
            </a:r>
            <a:r>
              <a:rPr lang="en-GB" dirty="0">
                <a:cs typeface="Arial MT"/>
              </a:rPr>
              <a:t>smaller</a:t>
            </a:r>
            <a:r>
              <a:rPr lang="en-GB" spc="-40" dirty="0">
                <a:cs typeface="Arial MT"/>
              </a:rPr>
              <a:t> </a:t>
            </a:r>
            <a:r>
              <a:rPr lang="en-GB" spc="-10" dirty="0">
                <a:cs typeface="Arial MT"/>
              </a:rPr>
              <a:t>ones.</a:t>
            </a:r>
            <a:endParaRPr lang="en-GB" dirty="0">
              <a:cs typeface="Arial MT"/>
            </a:endParaRPr>
          </a:p>
          <a:p>
            <a:pPr marL="285750" indent="-285750">
              <a:lnSpc>
                <a:spcPct val="100000"/>
              </a:lnSpc>
              <a:spcBef>
                <a:spcPts val="800"/>
              </a:spcBef>
              <a:buClr>
                <a:schemeClr val="accent4"/>
              </a:buClr>
              <a:buFont typeface="Wingdings" panose="05000000000000000000" pitchFamily="2" charset="2"/>
              <a:buChar char="§"/>
            </a:pPr>
            <a:endParaRPr lang="en-GB" dirty="0">
              <a:cs typeface="Arial MT"/>
            </a:endParaRPr>
          </a:p>
          <a:p>
            <a:pPr marL="298450" indent="-285750">
              <a:lnSpc>
                <a:spcPts val="3325"/>
              </a:lnSpc>
              <a:spcBef>
                <a:spcPts val="5"/>
              </a:spcBef>
              <a:buClr>
                <a:schemeClr val="accent4"/>
              </a:buClr>
              <a:buFont typeface="Wingdings" panose="05000000000000000000" pitchFamily="2" charset="2"/>
              <a:buChar char="§"/>
              <a:tabLst>
                <a:tab pos="240029" algn="l"/>
              </a:tabLst>
            </a:pPr>
            <a:r>
              <a:rPr lang="en-GB" dirty="0">
                <a:cs typeface="Arial MT"/>
              </a:rPr>
              <a:t>Each</a:t>
            </a:r>
            <a:r>
              <a:rPr lang="en-GB" spc="-50" dirty="0">
                <a:cs typeface="Arial MT"/>
              </a:rPr>
              <a:t> </a:t>
            </a:r>
            <a:r>
              <a:rPr lang="en-GB" dirty="0">
                <a:cs typeface="Arial MT"/>
              </a:rPr>
              <a:t>block</a:t>
            </a:r>
            <a:r>
              <a:rPr lang="en-GB" spc="-60" dirty="0">
                <a:cs typeface="Arial MT"/>
              </a:rPr>
              <a:t> </a:t>
            </a:r>
            <a:r>
              <a:rPr lang="en-GB" dirty="0">
                <a:cs typeface="Arial MT"/>
              </a:rPr>
              <a:t>should</a:t>
            </a:r>
            <a:r>
              <a:rPr lang="en-GB" spc="-55" dirty="0">
                <a:cs typeface="Arial MT"/>
              </a:rPr>
              <a:t> </a:t>
            </a:r>
            <a:r>
              <a:rPr lang="en-GB" dirty="0">
                <a:cs typeface="Arial MT"/>
              </a:rPr>
              <a:t>be</a:t>
            </a:r>
            <a:r>
              <a:rPr lang="en-GB" spc="-60" dirty="0">
                <a:cs typeface="Arial MT"/>
              </a:rPr>
              <a:t> </a:t>
            </a:r>
            <a:r>
              <a:rPr lang="en-GB" dirty="0">
                <a:cs typeface="Arial MT"/>
              </a:rPr>
              <a:t>an</a:t>
            </a:r>
            <a:r>
              <a:rPr lang="en-GB" spc="-55" dirty="0">
                <a:cs typeface="Arial MT"/>
              </a:rPr>
              <a:t> </a:t>
            </a:r>
            <a:r>
              <a:rPr lang="en-GB" spc="-20" dirty="0">
                <a:cs typeface="Arial MT"/>
              </a:rPr>
              <a:t>idea</a:t>
            </a:r>
            <a:endParaRPr lang="en-GB" dirty="0">
              <a:cs typeface="Arial MT"/>
            </a:endParaRPr>
          </a:p>
          <a:p>
            <a:pPr marL="755651" lvl="1" indent="-285750">
              <a:lnSpc>
                <a:spcPts val="2845"/>
              </a:lnSpc>
              <a:buClr>
                <a:schemeClr val="accent4"/>
              </a:buClr>
              <a:buFont typeface="Arial" panose="020B0604020202020204" pitchFamily="34" charset="0"/>
              <a:buChar char="•"/>
              <a:tabLst>
                <a:tab pos="697230" algn="l"/>
              </a:tabLst>
            </a:pPr>
            <a:r>
              <a:rPr lang="en-GB" dirty="0">
                <a:cs typeface="Arial MT"/>
              </a:rPr>
              <a:t>Usually</a:t>
            </a:r>
            <a:r>
              <a:rPr lang="en-GB" spc="-85" dirty="0">
                <a:cs typeface="Arial MT"/>
              </a:rPr>
              <a:t> </a:t>
            </a:r>
            <a:r>
              <a:rPr lang="en-GB" spc="-10" dirty="0">
                <a:cs typeface="Arial MT"/>
              </a:rPr>
              <a:t>sentences</a:t>
            </a:r>
            <a:endParaRPr lang="en-GB" dirty="0">
              <a:cs typeface="Arial MT"/>
            </a:endParaRPr>
          </a:p>
          <a:p>
            <a:pPr marL="298450" indent="-285750">
              <a:lnSpc>
                <a:spcPts val="3325"/>
              </a:lnSpc>
              <a:spcBef>
                <a:spcPts val="320"/>
              </a:spcBef>
              <a:buClr>
                <a:schemeClr val="accent4"/>
              </a:buClr>
              <a:buFont typeface="Wingdings" panose="05000000000000000000" pitchFamily="2" charset="2"/>
              <a:buChar char="§"/>
              <a:tabLst>
                <a:tab pos="240029" algn="l"/>
              </a:tabLst>
            </a:pPr>
            <a:r>
              <a:rPr lang="en-GB" dirty="0">
                <a:cs typeface="Arial MT"/>
              </a:rPr>
              <a:t>Read</a:t>
            </a:r>
            <a:r>
              <a:rPr lang="en-GB" spc="-70" dirty="0">
                <a:cs typeface="Arial MT"/>
              </a:rPr>
              <a:t> </a:t>
            </a:r>
            <a:r>
              <a:rPr lang="en-GB" dirty="0">
                <a:cs typeface="Arial MT"/>
              </a:rPr>
              <a:t>multiple</a:t>
            </a:r>
            <a:r>
              <a:rPr lang="en-GB" spc="-75" dirty="0">
                <a:cs typeface="Arial MT"/>
              </a:rPr>
              <a:t> </a:t>
            </a:r>
            <a:r>
              <a:rPr lang="en-GB" spc="-20" dirty="0">
                <a:cs typeface="Arial MT"/>
              </a:rPr>
              <a:t>times</a:t>
            </a:r>
            <a:endParaRPr lang="en-GB" dirty="0">
              <a:cs typeface="Arial MT"/>
            </a:endParaRPr>
          </a:p>
          <a:p>
            <a:pPr marL="755651" lvl="1" indent="-285750">
              <a:lnSpc>
                <a:spcPts val="2845"/>
              </a:lnSpc>
              <a:buClr>
                <a:schemeClr val="accent4"/>
              </a:buClr>
              <a:buFont typeface="Arial" panose="020B0604020202020204" pitchFamily="34" charset="0"/>
              <a:buChar char="•"/>
              <a:tabLst>
                <a:tab pos="697230" algn="l"/>
              </a:tabLst>
            </a:pPr>
            <a:r>
              <a:rPr lang="en-GB" dirty="0">
                <a:cs typeface="Arial MT"/>
              </a:rPr>
              <a:t>Read</a:t>
            </a:r>
            <a:r>
              <a:rPr lang="en-GB" spc="-75" dirty="0">
                <a:cs typeface="Arial MT"/>
              </a:rPr>
              <a:t> </a:t>
            </a:r>
            <a:r>
              <a:rPr lang="en-GB" spc="-10" dirty="0">
                <a:cs typeface="Arial MT"/>
              </a:rPr>
              <a:t>closely</a:t>
            </a:r>
            <a:endParaRPr lang="en-GB" dirty="0">
              <a:cs typeface="Arial MT"/>
            </a:endParaRPr>
          </a:p>
          <a:p>
            <a:pPr marL="298450" marR="5080" indent="-285750">
              <a:lnSpc>
                <a:spcPts val="2690"/>
              </a:lnSpc>
              <a:buClr>
                <a:schemeClr val="accent4"/>
              </a:buClr>
              <a:buFont typeface="Wingdings" panose="05000000000000000000" pitchFamily="2" charset="2"/>
              <a:buChar char="§"/>
              <a:tabLst>
                <a:tab pos="241300" algn="l"/>
              </a:tabLst>
            </a:pPr>
            <a:r>
              <a:rPr lang="en-GB" dirty="0">
                <a:cs typeface="Arial MT"/>
              </a:rPr>
              <a:t>We</a:t>
            </a:r>
            <a:r>
              <a:rPr lang="en-GB" spc="-70" dirty="0">
                <a:cs typeface="Arial MT"/>
              </a:rPr>
              <a:t> </a:t>
            </a:r>
            <a:r>
              <a:rPr lang="en-GB" dirty="0">
                <a:cs typeface="Arial MT"/>
              </a:rPr>
              <a:t>are</a:t>
            </a:r>
            <a:r>
              <a:rPr lang="en-GB" spc="-60" dirty="0">
                <a:cs typeface="Arial MT"/>
              </a:rPr>
              <a:t> </a:t>
            </a:r>
            <a:r>
              <a:rPr lang="en-GB" dirty="0">
                <a:cs typeface="Arial MT"/>
              </a:rPr>
              <a:t>not</a:t>
            </a:r>
            <a:r>
              <a:rPr lang="en-GB" spc="-60" dirty="0">
                <a:cs typeface="Arial MT"/>
              </a:rPr>
              <a:t> </a:t>
            </a:r>
            <a:r>
              <a:rPr lang="en-GB" dirty="0">
                <a:cs typeface="Arial MT"/>
              </a:rPr>
              <a:t>interested</a:t>
            </a:r>
            <a:r>
              <a:rPr lang="en-GB" spc="-60" dirty="0">
                <a:cs typeface="Arial MT"/>
              </a:rPr>
              <a:t> </a:t>
            </a:r>
            <a:r>
              <a:rPr lang="en-GB" dirty="0">
                <a:cs typeface="Arial MT"/>
              </a:rPr>
              <a:t>in</a:t>
            </a:r>
            <a:r>
              <a:rPr lang="en-GB" spc="-60" dirty="0">
                <a:cs typeface="Arial MT"/>
              </a:rPr>
              <a:t> </a:t>
            </a:r>
            <a:r>
              <a:rPr lang="en-GB" dirty="0">
                <a:cs typeface="Arial MT"/>
              </a:rPr>
              <a:t>the</a:t>
            </a:r>
            <a:r>
              <a:rPr lang="en-GB" spc="-70" dirty="0">
                <a:cs typeface="Arial MT"/>
              </a:rPr>
              <a:t> </a:t>
            </a:r>
            <a:r>
              <a:rPr lang="en-GB" dirty="0">
                <a:cs typeface="Arial MT"/>
              </a:rPr>
              <a:t>specific</a:t>
            </a:r>
            <a:r>
              <a:rPr lang="en-GB" spc="-70" dirty="0">
                <a:cs typeface="Arial MT"/>
              </a:rPr>
              <a:t> </a:t>
            </a:r>
            <a:r>
              <a:rPr lang="en-GB" dirty="0">
                <a:cs typeface="Arial MT"/>
              </a:rPr>
              <a:t>words</a:t>
            </a:r>
            <a:r>
              <a:rPr lang="en-GB" spc="-45" dirty="0">
                <a:cs typeface="Arial MT"/>
              </a:rPr>
              <a:t> </a:t>
            </a:r>
            <a:r>
              <a:rPr lang="en-GB" spc="-20" dirty="0">
                <a:cs typeface="Arial MT"/>
              </a:rPr>
              <a:t>that </a:t>
            </a:r>
            <a:r>
              <a:rPr lang="en-GB" dirty="0">
                <a:cs typeface="Arial MT"/>
              </a:rPr>
              <a:t>are</a:t>
            </a:r>
            <a:r>
              <a:rPr lang="en-GB" spc="-60" dirty="0">
                <a:cs typeface="Arial MT"/>
              </a:rPr>
              <a:t> </a:t>
            </a:r>
            <a:r>
              <a:rPr lang="en-GB" dirty="0">
                <a:cs typeface="Arial MT"/>
              </a:rPr>
              <a:t>used,</a:t>
            </a:r>
            <a:r>
              <a:rPr lang="en-GB" spc="-50" dirty="0">
                <a:cs typeface="Arial MT"/>
              </a:rPr>
              <a:t> </a:t>
            </a:r>
            <a:r>
              <a:rPr lang="en-GB" dirty="0">
                <a:cs typeface="Arial MT"/>
              </a:rPr>
              <a:t>but</a:t>
            </a:r>
            <a:r>
              <a:rPr lang="en-GB" spc="-60" dirty="0">
                <a:cs typeface="Arial MT"/>
              </a:rPr>
              <a:t> </a:t>
            </a:r>
            <a:r>
              <a:rPr lang="en-GB" dirty="0">
                <a:cs typeface="Arial MT"/>
              </a:rPr>
              <a:t>rather</a:t>
            </a:r>
            <a:r>
              <a:rPr lang="en-GB" spc="-50" dirty="0">
                <a:cs typeface="Arial MT"/>
              </a:rPr>
              <a:t> </a:t>
            </a:r>
            <a:r>
              <a:rPr lang="en-GB" dirty="0">
                <a:cs typeface="Arial MT"/>
              </a:rPr>
              <a:t>the</a:t>
            </a:r>
            <a:r>
              <a:rPr lang="en-GB" spc="-55" dirty="0">
                <a:cs typeface="Arial MT"/>
              </a:rPr>
              <a:t> </a:t>
            </a:r>
            <a:r>
              <a:rPr lang="en-GB" dirty="0">
                <a:cs typeface="Arial MT"/>
              </a:rPr>
              <a:t>meaning</a:t>
            </a:r>
            <a:r>
              <a:rPr lang="en-GB" spc="-40" dirty="0">
                <a:cs typeface="Arial MT"/>
              </a:rPr>
              <a:t> </a:t>
            </a:r>
            <a:r>
              <a:rPr lang="en-GB" dirty="0">
                <a:cs typeface="Arial MT"/>
              </a:rPr>
              <a:t>of</a:t>
            </a:r>
            <a:r>
              <a:rPr lang="en-GB" spc="-50" dirty="0">
                <a:cs typeface="Arial MT"/>
              </a:rPr>
              <a:t> </a:t>
            </a:r>
            <a:r>
              <a:rPr lang="en-GB" spc="-10" dirty="0">
                <a:cs typeface="Arial MT"/>
              </a:rPr>
              <a:t>them.</a:t>
            </a:r>
            <a:endParaRPr lang="en-GB" dirty="0">
              <a:cs typeface="Arial MT"/>
            </a:endParaRPr>
          </a:p>
          <a:p>
            <a:pPr marL="755651" lvl="1" indent="-285750">
              <a:lnSpc>
                <a:spcPts val="2810"/>
              </a:lnSpc>
              <a:buClr>
                <a:schemeClr val="accent4"/>
              </a:buClr>
              <a:buFont typeface="Arial" panose="020B0604020202020204" pitchFamily="34" charset="0"/>
              <a:buChar char="•"/>
              <a:tabLst>
                <a:tab pos="697230" algn="l"/>
              </a:tabLst>
            </a:pPr>
            <a:r>
              <a:rPr lang="en-GB" dirty="0">
                <a:cs typeface="Arial MT"/>
              </a:rPr>
              <a:t>Or</a:t>
            </a:r>
            <a:r>
              <a:rPr lang="en-GB" spc="-55" dirty="0">
                <a:cs typeface="Arial MT"/>
              </a:rPr>
              <a:t> </a:t>
            </a:r>
            <a:r>
              <a:rPr lang="en-GB" dirty="0">
                <a:cs typeface="Arial MT"/>
              </a:rPr>
              <a:t>What</a:t>
            </a:r>
            <a:r>
              <a:rPr lang="en-GB" spc="-40" dirty="0">
                <a:cs typeface="Arial MT"/>
              </a:rPr>
              <a:t> </a:t>
            </a:r>
            <a:r>
              <a:rPr lang="en-GB" dirty="0">
                <a:cs typeface="Arial MT"/>
              </a:rPr>
              <a:t>is</a:t>
            </a:r>
            <a:r>
              <a:rPr lang="en-GB" spc="-35" dirty="0">
                <a:cs typeface="Arial MT"/>
              </a:rPr>
              <a:t> </a:t>
            </a:r>
            <a:r>
              <a:rPr lang="en-GB" dirty="0">
                <a:cs typeface="Arial MT"/>
              </a:rPr>
              <a:t>this</a:t>
            </a:r>
            <a:r>
              <a:rPr lang="en-GB" spc="-40" dirty="0">
                <a:cs typeface="Arial MT"/>
              </a:rPr>
              <a:t> </a:t>
            </a:r>
            <a:r>
              <a:rPr lang="en-GB" dirty="0">
                <a:cs typeface="Arial MT"/>
              </a:rPr>
              <a:t>person</a:t>
            </a:r>
            <a:r>
              <a:rPr lang="en-GB" spc="-35" dirty="0">
                <a:cs typeface="Arial MT"/>
              </a:rPr>
              <a:t> </a:t>
            </a:r>
            <a:r>
              <a:rPr lang="en-GB" dirty="0">
                <a:cs typeface="Arial MT"/>
              </a:rPr>
              <a:t>telling</a:t>
            </a:r>
            <a:r>
              <a:rPr lang="en-GB" spc="-10" dirty="0">
                <a:cs typeface="Arial MT"/>
              </a:rPr>
              <a:t> </a:t>
            </a:r>
            <a:r>
              <a:rPr lang="en-GB" spc="-25" dirty="0">
                <a:cs typeface="Arial MT"/>
              </a:rPr>
              <a:t>us?</a:t>
            </a:r>
            <a:endParaRPr lang="en-GB" dirty="0">
              <a:cs typeface="Arial MT"/>
            </a:endParaRPr>
          </a:p>
          <a:p>
            <a:pPr marL="285750" indent="-285750">
              <a:buFont typeface="Arial" panose="020B0604020202020204" pitchFamily="34" charset="0"/>
              <a:buChar char="•"/>
            </a:pPr>
            <a:endParaRPr lang="en-GB" dirty="0"/>
          </a:p>
          <a:p>
            <a:endParaRPr lang="en-GB" dirty="0"/>
          </a:p>
          <a:p>
            <a:endParaRPr lang="en-GB" dirty="0"/>
          </a:p>
          <a:p>
            <a:pPr marL="285750" indent="-285750">
              <a:buFont typeface="Arial" panose="020B0604020202020204" pitchFamily="34" charset="0"/>
              <a:buChar char="•"/>
            </a:pPr>
            <a:endParaRPr lang="en-GB" dirty="0"/>
          </a:p>
          <a:p>
            <a:endParaRPr lang="en-GB" b="1" dirty="0"/>
          </a:p>
          <a:p>
            <a:endParaRPr lang="en-GB" dirty="0"/>
          </a:p>
        </p:txBody>
      </p:sp>
      <p:pic>
        <p:nvPicPr>
          <p:cNvPr id="4" name="Picture 3"/>
          <p:cNvPicPr>
            <a:picLocks noChangeAspect="1"/>
          </p:cNvPicPr>
          <p:nvPr/>
        </p:nvPicPr>
        <p:blipFill>
          <a:blip r:embed="rId3">
            <a:extLst>
              <a:ext uri="{837473B0-CC2E-450A-ABE3-18F120FF3D39}">
                <a1611:picAttrSrcUrl xmlns:a1611="http://schemas.microsoft.com/office/drawing/2016/11/main" r:id="rId4"/>
              </a:ext>
            </a:extLst>
          </a:blip>
          <a:srcRect l="48450" t="8019" r="1433" b="13653"/>
          <a:stretch/>
        </p:blipFill>
        <p:spPr>
          <a:xfrm>
            <a:off x="6444054" y="2208570"/>
            <a:ext cx="4547656" cy="3384755"/>
          </a:xfrm>
          <a:prstGeom prst="teardrop">
            <a:avLst/>
          </a:prstGeom>
        </p:spPr>
      </p:pic>
    </p:spTree>
    <p:extLst>
      <p:ext uri="{BB962C8B-B14F-4D97-AF65-F5344CB8AC3E}">
        <p14:creationId xmlns:p14="http://schemas.microsoft.com/office/powerpoint/2010/main" val="1558324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522317" y="415356"/>
            <a:ext cx="6842759" cy="1102640"/>
          </a:xfrm>
        </p:spPr>
        <p:txBody>
          <a:bodyPr anchor="ctr">
            <a:normAutofit fontScale="90000"/>
          </a:bodyPr>
          <a:lstStyle/>
          <a:p>
            <a:r>
              <a:rPr lang="en-GB" sz="4400" dirty="0">
                <a:latin typeface="Arial MT"/>
                <a:cs typeface="Arial MT"/>
              </a:rPr>
              <a:t>Thematic</a:t>
            </a:r>
            <a:r>
              <a:rPr lang="en-GB" sz="4400" spc="-275" dirty="0">
                <a:latin typeface="Arial MT"/>
                <a:cs typeface="Arial MT"/>
              </a:rPr>
              <a:t> </a:t>
            </a:r>
            <a:r>
              <a:rPr lang="en-GB" sz="4400" dirty="0">
                <a:latin typeface="Arial MT"/>
                <a:cs typeface="Arial MT"/>
              </a:rPr>
              <a:t>Analysis</a:t>
            </a:r>
            <a:r>
              <a:rPr lang="en-GB" sz="4400" spc="-25" dirty="0">
                <a:latin typeface="Arial MT"/>
                <a:cs typeface="Arial MT"/>
              </a:rPr>
              <a:t> </a:t>
            </a:r>
            <a:r>
              <a:rPr lang="en-GB" sz="4400" dirty="0">
                <a:latin typeface="Arial MT"/>
                <a:cs typeface="Arial MT"/>
              </a:rPr>
              <a:t>-</a:t>
            </a:r>
            <a:r>
              <a:rPr lang="en-GB" sz="4400" spc="-5" dirty="0">
                <a:latin typeface="Arial MT"/>
                <a:cs typeface="Arial MT"/>
              </a:rPr>
              <a:t> </a:t>
            </a:r>
            <a:r>
              <a:rPr lang="en-GB" sz="4400" spc="-10" dirty="0">
                <a:latin typeface="Arial MT"/>
                <a:cs typeface="Arial MT"/>
              </a:rPr>
              <a:t>Reading </a:t>
            </a:r>
            <a:r>
              <a:rPr lang="en-GB" sz="4400" dirty="0">
                <a:latin typeface="Arial MT"/>
                <a:cs typeface="Arial MT"/>
              </a:rPr>
              <a:t>and</a:t>
            </a:r>
            <a:r>
              <a:rPr lang="en-GB" sz="4400" spc="-85" dirty="0">
                <a:latin typeface="Arial MT"/>
                <a:cs typeface="Arial MT"/>
              </a:rPr>
              <a:t> </a:t>
            </a:r>
            <a:r>
              <a:rPr lang="en-GB" sz="4400" spc="-10" dirty="0">
                <a:latin typeface="Arial MT"/>
                <a:cs typeface="Arial MT"/>
              </a:rPr>
              <a:t>Chunking</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66503" y="1874072"/>
            <a:ext cx="7298573" cy="4983928"/>
          </a:xfrm>
          <a:prstGeom prst="rect">
            <a:avLst/>
          </a:prstGeom>
          <a:noFill/>
        </p:spPr>
        <p:txBody>
          <a:bodyPr wrap="square" rtlCol="0">
            <a:spAutoFit/>
          </a:bodyPr>
          <a:lstStyle/>
          <a:p>
            <a:endParaRPr lang="en-GB" dirty="0"/>
          </a:p>
          <a:p>
            <a:pPr marL="354966" marR="59690" lvl="0" indent="-342900" algn="just">
              <a:lnSpc>
                <a:spcPct val="70000"/>
              </a:lnSpc>
              <a:spcBef>
                <a:spcPts val="960"/>
              </a:spcBef>
              <a:buClr>
                <a:schemeClr val="accent4"/>
              </a:buClr>
              <a:buFont typeface="Wingdings" panose="05000000000000000000" pitchFamily="2" charset="2"/>
              <a:buChar char="§"/>
              <a:tabLst>
                <a:tab pos="240665" algn="l"/>
              </a:tabLst>
            </a:pPr>
            <a:r>
              <a:rPr lang="en-GB" sz="2400" kern="0" dirty="0">
                <a:solidFill>
                  <a:sysClr val="windowText" lastClr="000000"/>
                </a:solidFill>
                <a:cs typeface="Arial MT"/>
              </a:rPr>
              <a:t>Suppose</a:t>
            </a:r>
            <a:r>
              <a:rPr lang="en-GB" sz="2400" kern="0" spc="-45" dirty="0">
                <a:solidFill>
                  <a:sysClr val="windowText" lastClr="000000"/>
                </a:solidFill>
                <a:cs typeface="Arial MT"/>
              </a:rPr>
              <a:t> </a:t>
            </a:r>
            <a:r>
              <a:rPr lang="en-GB" sz="2400" kern="0" dirty="0">
                <a:solidFill>
                  <a:sysClr val="windowText" lastClr="000000"/>
                </a:solidFill>
                <a:cs typeface="Arial MT"/>
              </a:rPr>
              <a:t>we</a:t>
            </a:r>
            <a:r>
              <a:rPr lang="en-GB" sz="2400" kern="0" spc="-60" dirty="0">
                <a:solidFill>
                  <a:sysClr val="windowText" lastClr="000000"/>
                </a:solidFill>
                <a:cs typeface="Arial MT"/>
              </a:rPr>
              <a:t> </a:t>
            </a:r>
            <a:r>
              <a:rPr lang="en-GB" sz="2400" kern="0" dirty="0">
                <a:solidFill>
                  <a:sysClr val="windowText" lastClr="000000"/>
                </a:solidFill>
                <a:cs typeface="Arial MT"/>
              </a:rPr>
              <a:t>are</a:t>
            </a:r>
            <a:r>
              <a:rPr lang="en-GB" sz="2400" kern="0" spc="-65" dirty="0">
                <a:solidFill>
                  <a:sysClr val="windowText" lastClr="000000"/>
                </a:solidFill>
                <a:cs typeface="Arial MT"/>
              </a:rPr>
              <a:t> </a:t>
            </a:r>
            <a:r>
              <a:rPr lang="en-GB" sz="2400" kern="0" dirty="0">
                <a:solidFill>
                  <a:sysClr val="windowText" lastClr="000000"/>
                </a:solidFill>
                <a:cs typeface="Arial MT"/>
              </a:rPr>
              <a:t>evaluating</a:t>
            </a:r>
            <a:r>
              <a:rPr lang="en-GB" sz="2400" kern="0" spc="-20" dirty="0">
                <a:solidFill>
                  <a:sysClr val="windowText" lastClr="000000"/>
                </a:solidFill>
                <a:cs typeface="Arial MT"/>
              </a:rPr>
              <a:t> </a:t>
            </a:r>
            <a:r>
              <a:rPr lang="en-GB" sz="2400" kern="0" dirty="0">
                <a:solidFill>
                  <a:sysClr val="windowText" lastClr="000000"/>
                </a:solidFill>
                <a:cs typeface="Arial MT"/>
              </a:rPr>
              <a:t>why</a:t>
            </a:r>
            <a:r>
              <a:rPr lang="en-GB" sz="2400" kern="0" spc="-65" dirty="0">
                <a:solidFill>
                  <a:sysClr val="windowText" lastClr="000000"/>
                </a:solidFill>
                <a:cs typeface="Arial MT"/>
              </a:rPr>
              <a:t> </a:t>
            </a:r>
            <a:r>
              <a:rPr lang="en-GB" sz="2400" kern="0" dirty="0">
                <a:solidFill>
                  <a:sysClr val="windowText" lastClr="000000"/>
                </a:solidFill>
                <a:cs typeface="Arial MT"/>
              </a:rPr>
              <a:t>fewer</a:t>
            </a:r>
            <a:r>
              <a:rPr lang="en-GB" sz="2400" kern="0" spc="-55" dirty="0">
                <a:solidFill>
                  <a:sysClr val="windowText" lastClr="000000"/>
                </a:solidFill>
                <a:cs typeface="Arial MT"/>
              </a:rPr>
              <a:t> </a:t>
            </a:r>
            <a:r>
              <a:rPr lang="en-GB" sz="2400" kern="0" dirty="0">
                <a:solidFill>
                  <a:sysClr val="windowText" lastClr="000000"/>
                </a:solidFill>
                <a:cs typeface="Arial MT"/>
              </a:rPr>
              <a:t>elderly</a:t>
            </a:r>
            <a:r>
              <a:rPr lang="en-GB" sz="2400" kern="0" spc="-35" dirty="0">
                <a:solidFill>
                  <a:sysClr val="windowText" lastClr="000000"/>
                </a:solidFill>
                <a:cs typeface="Arial MT"/>
              </a:rPr>
              <a:t> </a:t>
            </a:r>
            <a:r>
              <a:rPr lang="en-GB" sz="2400" kern="0" dirty="0">
                <a:solidFill>
                  <a:sysClr val="windowText" lastClr="000000"/>
                </a:solidFill>
                <a:cs typeface="Arial MT"/>
              </a:rPr>
              <a:t>users</a:t>
            </a:r>
            <a:r>
              <a:rPr lang="en-GB" sz="2400" kern="0" spc="-60" dirty="0">
                <a:solidFill>
                  <a:sysClr val="windowText" lastClr="000000"/>
                </a:solidFill>
                <a:cs typeface="Arial MT"/>
              </a:rPr>
              <a:t> </a:t>
            </a:r>
            <a:r>
              <a:rPr lang="en-GB" sz="2400" kern="0" dirty="0">
                <a:solidFill>
                  <a:sysClr val="windowText" lastClr="000000"/>
                </a:solidFill>
                <a:cs typeface="Arial MT"/>
              </a:rPr>
              <a:t>buy</a:t>
            </a:r>
            <a:r>
              <a:rPr lang="en-GB" sz="2400" kern="0" spc="-60" dirty="0">
                <a:solidFill>
                  <a:sysClr val="windowText" lastClr="000000"/>
                </a:solidFill>
                <a:cs typeface="Arial MT"/>
              </a:rPr>
              <a:t> </a:t>
            </a:r>
            <a:r>
              <a:rPr lang="en-GB" sz="2400" kern="0" spc="-10" dirty="0">
                <a:solidFill>
                  <a:sysClr val="windowText" lastClr="000000"/>
                </a:solidFill>
                <a:cs typeface="Arial MT"/>
              </a:rPr>
              <a:t>smart phones?</a:t>
            </a:r>
            <a:endParaRPr lang="en-GB" sz="2400" kern="0" dirty="0">
              <a:solidFill>
                <a:sysClr val="windowText" lastClr="000000"/>
              </a:solidFill>
              <a:cs typeface="Arial MT"/>
            </a:endParaRPr>
          </a:p>
          <a:p>
            <a:pPr marL="354966" marR="276860" lvl="0" indent="-342900" algn="just">
              <a:lnSpc>
                <a:spcPct val="70000"/>
              </a:lnSpc>
              <a:spcBef>
                <a:spcPts val="1000"/>
              </a:spcBef>
              <a:buClr>
                <a:schemeClr val="accent4"/>
              </a:buClr>
              <a:buFont typeface="Wingdings" panose="05000000000000000000" pitchFamily="2" charset="2"/>
              <a:buChar char="§"/>
              <a:tabLst>
                <a:tab pos="240665" algn="l"/>
              </a:tabLst>
            </a:pPr>
            <a:r>
              <a:rPr lang="en-GB" sz="2400" kern="0" dirty="0">
                <a:solidFill>
                  <a:sysClr val="windowText" lastClr="000000"/>
                </a:solidFill>
                <a:cs typeface="Arial MT"/>
              </a:rPr>
              <a:t>We</a:t>
            </a:r>
            <a:r>
              <a:rPr lang="en-GB" sz="2400" kern="0" spc="-55" dirty="0">
                <a:solidFill>
                  <a:sysClr val="windowText" lastClr="000000"/>
                </a:solidFill>
                <a:cs typeface="Arial MT"/>
              </a:rPr>
              <a:t> </a:t>
            </a:r>
            <a:r>
              <a:rPr lang="en-GB" sz="2400" kern="0" dirty="0">
                <a:solidFill>
                  <a:sysClr val="windowText" lastClr="000000"/>
                </a:solidFill>
                <a:cs typeface="Arial MT"/>
              </a:rPr>
              <a:t>have</a:t>
            </a:r>
            <a:r>
              <a:rPr lang="en-GB" sz="2400" kern="0" spc="-50" dirty="0">
                <a:solidFill>
                  <a:sysClr val="windowText" lastClr="000000"/>
                </a:solidFill>
                <a:cs typeface="Arial MT"/>
              </a:rPr>
              <a:t> </a:t>
            </a:r>
            <a:r>
              <a:rPr lang="en-GB" sz="2400" kern="0" dirty="0">
                <a:solidFill>
                  <a:sysClr val="windowText" lastClr="000000"/>
                </a:solidFill>
                <a:cs typeface="Arial MT"/>
              </a:rPr>
              <a:t>text</a:t>
            </a:r>
            <a:r>
              <a:rPr lang="en-GB" sz="2400" kern="0" spc="-55" dirty="0">
                <a:solidFill>
                  <a:sysClr val="windowText" lastClr="000000"/>
                </a:solidFill>
                <a:cs typeface="Arial MT"/>
              </a:rPr>
              <a:t> </a:t>
            </a:r>
            <a:r>
              <a:rPr lang="en-GB" sz="2400" kern="0" dirty="0">
                <a:solidFill>
                  <a:sysClr val="windowText" lastClr="000000"/>
                </a:solidFill>
                <a:cs typeface="Arial MT"/>
              </a:rPr>
              <a:t>from</a:t>
            </a:r>
            <a:r>
              <a:rPr lang="en-GB" sz="2400" kern="0" spc="-60" dirty="0">
                <a:solidFill>
                  <a:sysClr val="windowText" lastClr="000000"/>
                </a:solidFill>
                <a:cs typeface="Arial MT"/>
              </a:rPr>
              <a:t> </a:t>
            </a:r>
            <a:r>
              <a:rPr lang="en-GB" sz="2400" kern="0" dirty="0">
                <a:solidFill>
                  <a:sysClr val="windowText" lastClr="000000"/>
                </a:solidFill>
                <a:cs typeface="Arial MT"/>
              </a:rPr>
              <a:t>multiple</a:t>
            </a:r>
            <a:r>
              <a:rPr lang="en-GB" sz="2400" kern="0" spc="-30" dirty="0">
                <a:solidFill>
                  <a:sysClr val="windowText" lastClr="000000"/>
                </a:solidFill>
                <a:cs typeface="Arial MT"/>
              </a:rPr>
              <a:t> </a:t>
            </a:r>
            <a:r>
              <a:rPr lang="en-GB" sz="2400" kern="0" dirty="0">
                <a:solidFill>
                  <a:sysClr val="windowText" lastClr="000000"/>
                </a:solidFill>
                <a:cs typeface="Arial MT"/>
              </a:rPr>
              <a:t>interviews,</a:t>
            </a:r>
            <a:r>
              <a:rPr lang="en-GB" sz="2400" kern="0" spc="-35" dirty="0">
                <a:solidFill>
                  <a:sysClr val="windowText" lastClr="000000"/>
                </a:solidFill>
                <a:cs typeface="Arial MT"/>
              </a:rPr>
              <a:t> </a:t>
            </a:r>
            <a:r>
              <a:rPr lang="en-GB" sz="2400" kern="0" dirty="0">
                <a:solidFill>
                  <a:sysClr val="windowText" lastClr="000000"/>
                </a:solidFill>
                <a:cs typeface="Arial MT"/>
              </a:rPr>
              <a:t>one</a:t>
            </a:r>
            <a:r>
              <a:rPr lang="en-GB" sz="2400" kern="0" spc="-40" dirty="0">
                <a:solidFill>
                  <a:sysClr val="windowText" lastClr="000000"/>
                </a:solidFill>
                <a:cs typeface="Arial MT"/>
              </a:rPr>
              <a:t> </a:t>
            </a:r>
            <a:r>
              <a:rPr lang="en-GB" sz="2400" kern="0" dirty="0">
                <a:solidFill>
                  <a:sysClr val="windowText" lastClr="000000"/>
                </a:solidFill>
                <a:cs typeface="Arial MT"/>
              </a:rPr>
              <a:t>of</a:t>
            </a:r>
            <a:r>
              <a:rPr lang="en-GB" sz="2400" kern="0" spc="-50" dirty="0">
                <a:solidFill>
                  <a:sysClr val="windowText" lastClr="000000"/>
                </a:solidFill>
                <a:cs typeface="Arial MT"/>
              </a:rPr>
              <a:t> </a:t>
            </a:r>
            <a:r>
              <a:rPr lang="en-GB" sz="2400" kern="0" dirty="0">
                <a:solidFill>
                  <a:sysClr val="windowText" lastClr="000000"/>
                </a:solidFill>
                <a:cs typeface="Arial MT"/>
              </a:rPr>
              <a:t>these</a:t>
            </a:r>
            <a:r>
              <a:rPr lang="en-GB" sz="2400" kern="0" spc="-50" dirty="0">
                <a:solidFill>
                  <a:sysClr val="windowText" lastClr="000000"/>
                </a:solidFill>
                <a:cs typeface="Arial MT"/>
              </a:rPr>
              <a:t> </a:t>
            </a:r>
            <a:r>
              <a:rPr lang="en-GB" sz="2400" kern="0" dirty="0">
                <a:solidFill>
                  <a:sysClr val="windowText" lastClr="000000"/>
                </a:solidFill>
                <a:cs typeface="Arial MT"/>
              </a:rPr>
              <a:t>is</a:t>
            </a:r>
            <a:r>
              <a:rPr lang="en-GB" sz="2400" kern="0" spc="-45" dirty="0">
                <a:solidFill>
                  <a:sysClr val="windowText" lastClr="000000"/>
                </a:solidFill>
                <a:cs typeface="Arial MT"/>
              </a:rPr>
              <a:t> </a:t>
            </a:r>
            <a:r>
              <a:rPr lang="en-GB" sz="2400" kern="0" spc="-10" dirty="0">
                <a:solidFill>
                  <a:sysClr val="windowText" lastClr="000000"/>
                </a:solidFill>
                <a:cs typeface="Arial MT"/>
              </a:rPr>
              <a:t>shown below:</a:t>
            </a:r>
            <a:endParaRPr lang="en-GB" sz="2400" kern="0" dirty="0">
              <a:solidFill>
                <a:sysClr val="windowText" lastClr="000000"/>
              </a:solidFill>
              <a:cs typeface="Arial MT"/>
            </a:endParaRPr>
          </a:p>
          <a:p>
            <a:pPr algn="just"/>
            <a:endParaRPr lang="en-GB" dirty="0"/>
          </a:p>
          <a:p>
            <a:pPr algn="just"/>
            <a:r>
              <a:rPr lang="en-GB" dirty="0"/>
              <a:t>“I love how many different cases it comes with. I enjoy switching them up now and then, and I always choose the sleek, modern colors. When my neighbour drops by for cake, I often get compliments. However, the text on the screen is a bit small, and if I increase the size, there's only space for a few words. But my daughter is always there to help if I need it, so it’s not really an issue. Plus, I don’t do much reading on it anyway.”</a:t>
            </a:r>
          </a:p>
          <a:p>
            <a:endParaRPr lang="en-GB" dirty="0"/>
          </a:p>
          <a:p>
            <a:endParaRPr lang="en-GB" dirty="0"/>
          </a:p>
          <a:p>
            <a:pPr marL="285750" indent="-285750">
              <a:buFont typeface="Arial" panose="020B0604020202020204" pitchFamily="34" charset="0"/>
              <a:buChar char="•"/>
            </a:pPr>
            <a:endParaRPr lang="en-GB" dirty="0"/>
          </a:p>
          <a:p>
            <a:endParaRPr lang="en-GB" b="1" dirty="0"/>
          </a:p>
          <a:p>
            <a:endParaRPr lang="en-GB" dirty="0"/>
          </a:p>
        </p:txBody>
      </p:sp>
      <p:pic>
        <p:nvPicPr>
          <p:cNvPr id="4" name="Picture 3"/>
          <p:cNvPicPr>
            <a:picLocks noChangeAspect="1"/>
          </p:cNvPicPr>
          <p:nvPr/>
        </p:nvPicPr>
        <p:blipFill>
          <a:blip r:embed="rId3">
            <a:extLst>
              <a:ext uri="{837473B0-CC2E-450A-ABE3-18F120FF3D39}">
                <a1611:picAttrSrcUrl xmlns:a1611="http://schemas.microsoft.com/office/drawing/2016/11/main" r:id="rId4"/>
              </a:ext>
            </a:extLst>
          </a:blip>
          <a:srcRect/>
          <a:stretch/>
        </p:blipFill>
        <p:spPr>
          <a:xfrm>
            <a:off x="7365076" y="966676"/>
            <a:ext cx="4682134" cy="4682134"/>
          </a:xfrm>
          <a:prstGeom prst="rect">
            <a:avLst/>
          </a:prstGeom>
        </p:spPr>
      </p:pic>
      <p:sp>
        <p:nvSpPr>
          <p:cNvPr id="5" name="object 4"/>
          <p:cNvSpPr txBox="1"/>
          <p:nvPr/>
        </p:nvSpPr>
        <p:spPr>
          <a:xfrm>
            <a:off x="831273" y="5814407"/>
            <a:ext cx="3391593" cy="205184"/>
          </a:xfrm>
          <a:prstGeom prst="rect">
            <a:avLst/>
          </a:prstGeom>
          <a:solidFill>
            <a:srgbClr val="FFC000"/>
          </a:solidFill>
        </p:spPr>
        <p:txBody>
          <a:bodyPr vert="horz" wrap="square" lIns="0" tIns="0" rIns="0" bIns="0" rtlCol="0">
            <a:spAutoFit/>
          </a:bodyPr>
          <a:lstStyle/>
          <a:p>
            <a:pPr>
              <a:lnSpc>
                <a:spcPts val="1645"/>
              </a:lnSpc>
            </a:pPr>
            <a:r>
              <a:rPr b="1" dirty="0">
                <a:latin typeface="Arial"/>
                <a:cs typeface="Arial"/>
              </a:rPr>
              <a:t>What</a:t>
            </a:r>
            <a:r>
              <a:rPr b="1" spc="-20" dirty="0">
                <a:latin typeface="Arial"/>
                <a:cs typeface="Arial"/>
              </a:rPr>
              <a:t> </a:t>
            </a:r>
            <a:r>
              <a:rPr b="1" dirty="0">
                <a:latin typeface="Arial"/>
                <a:cs typeface="Arial"/>
              </a:rPr>
              <a:t>is</a:t>
            </a:r>
            <a:r>
              <a:rPr b="1" spc="-30" dirty="0">
                <a:latin typeface="Arial"/>
                <a:cs typeface="Arial"/>
              </a:rPr>
              <a:t> </a:t>
            </a:r>
            <a:r>
              <a:rPr b="1" dirty="0">
                <a:latin typeface="Arial"/>
                <a:cs typeface="Arial"/>
              </a:rPr>
              <a:t>the</a:t>
            </a:r>
            <a:r>
              <a:rPr b="1" spc="-20" dirty="0">
                <a:latin typeface="Arial"/>
                <a:cs typeface="Arial"/>
              </a:rPr>
              <a:t> </a:t>
            </a:r>
            <a:r>
              <a:rPr b="1" dirty="0">
                <a:latin typeface="Arial"/>
                <a:cs typeface="Arial"/>
              </a:rPr>
              <a:t>key</a:t>
            </a:r>
            <a:r>
              <a:rPr b="1" spc="-20" dirty="0">
                <a:latin typeface="Arial"/>
                <a:cs typeface="Arial"/>
              </a:rPr>
              <a:t> </a:t>
            </a:r>
            <a:r>
              <a:rPr b="1" dirty="0">
                <a:latin typeface="Arial"/>
                <a:cs typeface="Arial"/>
              </a:rPr>
              <a:t>point</a:t>
            </a:r>
            <a:r>
              <a:rPr b="1" spc="-30" dirty="0">
                <a:latin typeface="Arial"/>
                <a:cs typeface="Arial"/>
              </a:rPr>
              <a:t> </a:t>
            </a:r>
            <a:r>
              <a:rPr b="1" spc="-20" dirty="0">
                <a:latin typeface="Arial"/>
                <a:cs typeface="Arial"/>
              </a:rPr>
              <a:t>here?</a:t>
            </a:r>
            <a:endParaRPr dirty="0">
              <a:latin typeface="Arial"/>
              <a:cs typeface="Arial"/>
            </a:endParaRPr>
          </a:p>
        </p:txBody>
      </p:sp>
    </p:spTree>
    <p:extLst>
      <p:ext uri="{BB962C8B-B14F-4D97-AF65-F5344CB8AC3E}">
        <p14:creationId xmlns:p14="http://schemas.microsoft.com/office/powerpoint/2010/main" val="3898363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522317" y="415356"/>
            <a:ext cx="6842759" cy="1102640"/>
          </a:xfrm>
        </p:spPr>
        <p:txBody>
          <a:bodyPr anchor="ctr">
            <a:normAutofit fontScale="90000"/>
          </a:bodyPr>
          <a:lstStyle/>
          <a:p>
            <a:r>
              <a:rPr lang="en-GB" sz="4400" dirty="0">
                <a:latin typeface="Arial MT"/>
                <a:cs typeface="Arial MT"/>
              </a:rPr>
              <a:t>Thematic</a:t>
            </a:r>
            <a:r>
              <a:rPr lang="en-GB" sz="4400" spc="-275" dirty="0">
                <a:latin typeface="Arial MT"/>
                <a:cs typeface="Arial MT"/>
              </a:rPr>
              <a:t> </a:t>
            </a:r>
            <a:r>
              <a:rPr lang="en-GB" sz="4400" dirty="0">
                <a:latin typeface="Arial MT"/>
                <a:cs typeface="Arial MT"/>
              </a:rPr>
              <a:t>Analysis</a:t>
            </a:r>
            <a:r>
              <a:rPr lang="en-GB" sz="4400" spc="-25" dirty="0">
                <a:latin typeface="Arial MT"/>
                <a:cs typeface="Arial MT"/>
              </a:rPr>
              <a:t> </a:t>
            </a:r>
            <a:r>
              <a:rPr lang="en-GB" sz="4400" dirty="0">
                <a:latin typeface="Arial MT"/>
                <a:cs typeface="Arial MT"/>
              </a:rPr>
              <a:t>-</a:t>
            </a:r>
            <a:r>
              <a:rPr lang="en-GB" sz="4400" spc="-5" dirty="0">
                <a:latin typeface="Arial MT"/>
                <a:cs typeface="Arial MT"/>
              </a:rPr>
              <a:t> </a:t>
            </a:r>
            <a:r>
              <a:rPr lang="en-GB" sz="4400" spc="-10" dirty="0">
                <a:latin typeface="Arial MT"/>
                <a:cs typeface="Arial MT"/>
              </a:rPr>
              <a:t>Reading </a:t>
            </a:r>
            <a:r>
              <a:rPr lang="en-GB" sz="4400" dirty="0">
                <a:latin typeface="Arial MT"/>
                <a:cs typeface="Arial MT"/>
              </a:rPr>
              <a:t>and</a:t>
            </a:r>
            <a:r>
              <a:rPr lang="en-GB" sz="4400" spc="-85" dirty="0">
                <a:latin typeface="Arial MT"/>
                <a:cs typeface="Arial MT"/>
              </a:rPr>
              <a:t> </a:t>
            </a:r>
            <a:r>
              <a:rPr lang="en-GB" sz="4400" spc="-10" dirty="0">
                <a:latin typeface="Arial MT"/>
                <a:cs typeface="Arial MT"/>
              </a:rPr>
              <a:t>Chunking</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831273" y="1843521"/>
            <a:ext cx="5783379" cy="5556393"/>
          </a:xfrm>
          <a:prstGeom prst="rect">
            <a:avLst/>
          </a:prstGeom>
          <a:noFill/>
        </p:spPr>
        <p:txBody>
          <a:bodyPr wrap="square" rtlCol="0">
            <a:spAutoFit/>
          </a:bodyPr>
          <a:lstStyle/>
          <a:p>
            <a:endParaRPr lang="en-GB" dirty="0"/>
          </a:p>
          <a:p>
            <a:pPr marL="354966" marR="59690" lvl="0" indent="-342900" algn="just">
              <a:lnSpc>
                <a:spcPct val="70000"/>
              </a:lnSpc>
              <a:spcBef>
                <a:spcPts val="960"/>
              </a:spcBef>
              <a:buClr>
                <a:schemeClr val="accent4"/>
              </a:buClr>
              <a:buFont typeface="Wingdings" panose="05000000000000000000" pitchFamily="2" charset="2"/>
              <a:buChar char="§"/>
              <a:tabLst>
                <a:tab pos="240665" algn="l"/>
              </a:tabLst>
            </a:pPr>
            <a:r>
              <a:rPr lang="en-GB" sz="2400" kern="0" dirty="0">
                <a:solidFill>
                  <a:sysClr val="windowText" lastClr="000000"/>
                </a:solidFill>
                <a:cs typeface="Arial MT"/>
              </a:rPr>
              <a:t>Suppose</a:t>
            </a:r>
            <a:r>
              <a:rPr lang="en-GB" sz="2400" kern="0" spc="-45" dirty="0">
                <a:solidFill>
                  <a:sysClr val="windowText" lastClr="000000"/>
                </a:solidFill>
                <a:cs typeface="Arial MT"/>
              </a:rPr>
              <a:t> </a:t>
            </a:r>
            <a:r>
              <a:rPr lang="en-GB" sz="2400" kern="0" dirty="0">
                <a:solidFill>
                  <a:sysClr val="windowText" lastClr="000000"/>
                </a:solidFill>
                <a:cs typeface="Arial MT"/>
              </a:rPr>
              <a:t>we</a:t>
            </a:r>
            <a:r>
              <a:rPr lang="en-GB" sz="2400" kern="0" spc="-60" dirty="0">
                <a:solidFill>
                  <a:sysClr val="windowText" lastClr="000000"/>
                </a:solidFill>
                <a:cs typeface="Arial MT"/>
              </a:rPr>
              <a:t> </a:t>
            </a:r>
            <a:r>
              <a:rPr lang="en-GB" sz="2400" kern="0" dirty="0">
                <a:solidFill>
                  <a:sysClr val="windowText" lastClr="000000"/>
                </a:solidFill>
                <a:cs typeface="Arial MT"/>
              </a:rPr>
              <a:t>are</a:t>
            </a:r>
            <a:r>
              <a:rPr lang="en-GB" sz="2400" kern="0" spc="-65" dirty="0">
                <a:solidFill>
                  <a:sysClr val="windowText" lastClr="000000"/>
                </a:solidFill>
                <a:cs typeface="Arial MT"/>
              </a:rPr>
              <a:t> </a:t>
            </a:r>
            <a:r>
              <a:rPr lang="en-GB" sz="2400" kern="0" dirty="0">
                <a:solidFill>
                  <a:sysClr val="windowText" lastClr="000000"/>
                </a:solidFill>
                <a:cs typeface="Arial MT"/>
              </a:rPr>
              <a:t>evaluating</a:t>
            </a:r>
            <a:r>
              <a:rPr lang="en-GB" sz="2400" kern="0" spc="-20" dirty="0">
                <a:solidFill>
                  <a:sysClr val="windowText" lastClr="000000"/>
                </a:solidFill>
                <a:cs typeface="Arial MT"/>
              </a:rPr>
              <a:t> </a:t>
            </a:r>
            <a:r>
              <a:rPr lang="en-GB" sz="2400" kern="0" dirty="0">
                <a:solidFill>
                  <a:sysClr val="windowText" lastClr="000000"/>
                </a:solidFill>
                <a:cs typeface="Arial MT"/>
              </a:rPr>
              <a:t>why</a:t>
            </a:r>
            <a:r>
              <a:rPr lang="en-GB" sz="2400" kern="0" spc="-65" dirty="0">
                <a:solidFill>
                  <a:sysClr val="windowText" lastClr="000000"/>
                </a:solidFill>
                <a:cs typeface="Arial MT"/>
              </a:rPr>
              <a:t> </a:t>
            </a:r>
            <a:r>
              <a:rPr lang="en-GB" sz="2400" kern="0" dirty="0">
                <a:solidFill>
                  <a:sysClr val="windowText" lastClr="000000"/>
                </a:solidFill>
                <a:cs typeface="Arial MT"/>
              </a:rPr>
              <a:t>fewer</a:t>
            </a:r>
            <a:r>
              <a:rPr lang="en-GB" sz="2400" kern="0" spc="-55" dirty="0">
                <a:solidFill>
                  <a:sysClr val="windowText" lastClr="000000"/>
                </a:solidFill>
                <a:cs typeface="Arial MT"/>
              </a:rPr>
              <a:t> </a:t>
            </a:r>
            <a:r>
              <a:rPr lang="en-GB" sz="2400" kern="0" dirty="0">
                <a:solidFill>
                  <a:sysClr val="windowText" lastClr="000000"/>
                </a:solidFill>
                <a:cs typeface="Arial MT"/>
              </a:rPr>
              <a:t>elderly</a:t>
            </a:r>
            <a:r>
              <a:rPr lang="en-GB" sz="2400" kern="0" spc="-35" dirty="0">
                <a:solidFill>
                  <a:sysClr val="windowText" lastClr="000000"/>
                </a:solidFill>
                <a:cs typeface="Arial MT"/>
              </a:rPr>
              <a:t> </a:t>
            </a:r>
            <a:r>
              <a:rPr lang="en-GB" sz="2400" kern="0" dirty="0">
                <a:solidFill>
                  <a:sysClr val="windowText" lastClr="000000"/>
                </a:solidFill>
                <a:cs typeface="Arial MT"/>
              </a:rPr>
              <a:t>users</a:t>
            </a:r>
            <a:r>
              <a:rPr lang="en-GB" sz="2400" kern="0" spc="-60" dirty="0">
                <a:solidFill>
                  <a:sysClr val="windowText" lastClr="000000"/>
                </a:solidFill>
                <a:cs typeface="Arial MT"/>
              </a:rPr>
              <a:t> </a:t>
            </a:r>
            <a:r>
              <a:rPr lang="en-GB" sz="2400" kern="0" dirty="0">
                <a:solidFill>
                  <a:sysClr val="windowText" lastClr="000000"/>
                </a:solidFill>
                <a:cs typeface="Arial MT"/>
              </a:rPr>
              <a:t>buy</a:t>
            </a:r>
            <a:r>
              <a:rPr lang="en-GB" sz="2400" kern="0" spc="-60" dirty="0">
                <a:solidFill>
                  <a:sysClr val="windowText" lastClr="000000"/>
                </a:solidFill>
                <a:cs typeface="Arial MT"/>
              </a:rPr>
              <a:t> </a:t>
            </a:r>
            <a:r>
              <a:rPr lang="en-GB" sz="2400" kern="0" spc="-10" dirty="0">
                <a:solidFill>
                  <a:sysClr val="windowText" lastClr="000000"/>
                </a:solidFill>
                <a:cs typeface="Arial MT"/>
              </a:rPr>
              <a:t>smart phones?</a:t>
            </a:r>
          </a:p>
          <a:p>
            <a:pPr marL="354966" marR="59690" lvl="0" indent="-342900" algn="just">
              <a:lnSpc>
                <a:spcPct val="70000"/>
              </a:lnSpc>
              <a:spcBef>
                <a:spcPts val="960"/>
              </a:spcBef>
              <a:buClr>
                <a:schemeClr val="accent4"/>
              </a:buClr>
              <a:buFont typeface="Wingdings" panose="05000000000000000000" pitchFamily="2" charset="2"/>
              <a:buChar char="§"/>
              <a:tabLst>
                <a:tab pos="240665" algn="l"/>
              </a:tabLst>
            </a:pPr>
            <a:endParaRPr lang="en-GB" sz="2400" kern="0" dirty="0">
              <a:solidFill>
                <a:sysClr val="windowText" lastClr="000000"/>
              </a:solidFill>
              <a:cs typeface="Arial MT"/>
            </a:endParaRPr>
          </a:p>
          <a:p>
            <a:pPr algn="just"/>
            <a:r>
              <a:rPr lang="en-GB" dirty="0"/>
              <a:t>What is the key point here?</a:t>
            </a:r>
          </a:p>
          <a:p>
            <a:pPr algn="just"/>
            <a:endParaRPr lang="en-GB" dirty="0"/>
          </a:p>
          <a:p>
            <a:pPr algn="just"/>
            <a:r>
              <a:rPr lang="en-GB" dirty="0"/>
              <a:t>“I love how many different cases it comes with. I enjoy </a:t>
            </a:r>
            <a:r>
              <a:rPr lang="en-GB" dirty="0">
                <a:solidFill>
                  <a:srgbClr val="FF0000"/>
                </a:solidFill>
              </a:rPr>
              <a:t>switching them up now</a:t>
            </a:r>
            <a:r>
              <a:rPr lang="en-GB" dirty="0"/>
              <a:t> and then, and I always choose the sleek, modern colors. When my neighbour drops by for cake, </a:t>
            </a:r>
            <a:r>
              <a:rPr lang="en-GB" dirty="0">
                <a:solidFill>
                  <a:schemeClr val="bg2">
                    <a:lumMod val="90000"/>
                  </a:schemeClr>
                </a:solidFill>
              </a:rPr>
              <a:t>I often get compliments. </a:t>
            </a:r>
            <a:r>
              <a:rPr lang="en-GB" dirty="0"/>
              <a:t>However, </a:t>
            </a:r>
            <a:r>
              <a:rPr lang="en-GB" dirty="0">
                <a:solidFill>
                  <a:schemeClr val="accent4"/>
                </a:solidFill>
              </a:rPr>
              <a:t>the text on the screen is a bit small</a:t>
            </a:r>
            <a:r>
              <a:rPr lang="en-GB" dirty="0"/>
              <a:t>, and if I increase the size, there's only space for a few words. But </a:t>
            </a:r>
            <a:r>
              <a:rPr lang="en-GB" dirty="0">
                <a:solidFill>
                  <a:srgbClr val="92D050"/>
                </a:solidFill>
              </a:rPr>
              <a:t>my daughter is always there to help </a:t>
            </a:r>
            <a:r>
              <a:rPr lang="en-GB" dirty="0"/>
              <a:t>if I need it, so it’s not really an issue. Plus, I don’t do </a:t>
            </a:r>
            <a:r>
              <a:rPr lang="en-GB" dirty="0">
                <a:solidFill>
                  <a:srgbClr val="7030A0"/>
                </a:solidFill>
              </a:rPr>
              <a:t>much reading on it anyway.”</a:t>
            </a:r>
          </a:p>
          <a:p>
            <a:endParaRPr lang="en-GB" dirty="0"/>
          </a:p>
          <a:p>
            <a:endParaRPr lang="en-GB" dirty="0"/>
          </a:p>
          <a:p>
            <a:pPr marL="285750" indent="-285750">
              <a:buFont typeface="Arial" panose="020B0604020202020204" pitchFamily="34" charset="0"/>
              <a:buChar char="•"/>
            </a:pPr>
            <a:endParaRPr lang="en-GB" dirty="0"/>
          </a:p>
          <a:p>
            <a:endParaRPr lang="en-GB" b="1" dirty="0"/>
          </a:p>
          <a:p>
            <a:endParaRPr lang="en-GB" dirty="0"/>
          </a:p>
        </p:txBody>
      </p:sp>
      <p:pic>
        <p:nvPicPr>
          <p:cNvPr id="4" name="Picture 3"/>
          <p:cNvPicPr>
            <a:picLocks noChangeAspect="1"/>
          </p:cNvPicPr>
          <p:nvPr/>
        </p:nvPicPr>
        <p:blipFill>
          <a:blip r:embed="rId3"/>
          <a:srcRect/>
          <a:stretch/>
        </p:blipFill>
        <p:spPr>
          <a:xfrm>
            <a:off x="7365076" y="623272"/>
            <a:ext cx="4682134" cy="4682134"/>
          </a:xfrm>
          <a:prstGeom prst="rect">
            <a:avLst/>
          </a:prstGeom>
        </p:spPr>
      </p:pic>
    </p:spTree>
    <p:extLst>
      <p:ext uri="{BB962C8B-B14F-4D97-AF65-F5344CB8AC3E}">
        <p14:creationId xmlns:p14="http://schemas.microsoft.com/office/powerpoint/2010/main" val="16627332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434244" y="332229"/>
            <a:ext cx="6842759" cy="1102640"/>
          </a:xfrm>
        </p:spPr>
        <p:txBody>
          <a:bodyPr anchor="ctr">
            <a:normAutofit/>
          </a:bodyPr>
          <a:lstStyle/>
          <a:p>
            <a:r>
              <a:rPr lang="en-GB" sz="4400" dirty="0"/>
              <a:t>Example:</a:t>
            </a:r>
            <a:r>
              <a:rPr lang="en-GB" sz="4400" spc="-185" dirty="0"/>
              <a:t> </a:t>
            </a:r>
            <a:r>
              <a:rPr lang="en-GB" sz="4400" spc="-10" dirty="0"/>
              <a:t>Qualitative</a:t>
            </a:r>
            <a:r>
              <a:rPr lang="en-GB" sz="4400" spc="-165" dirty="0"/>
              <a:t> </a:t>
            </a:r>
            <a:r>
              <a:rPr lang="en-GB" sz="4400" spc="-20" dirty="0"/>
              <a:t>Data</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814644" y="1660641"/>
            <a:ext cx="10390911" cy="3738972"/>
          </a:xfrm>
          <a:prstGeom prst="rect">
            <a:avLst/>
          </a:prstGeom>
          <a:noFill/>
        </p:spPr>
        <p:txBody>
          <a:bodyPr wrap="square" rtlCol="0">
            <a:spAutoFit/>
          </a:bodyPr>
          <a:lstStyle/>
          <a:p>
            <a:pPr marL="12700">
              <a:lnSpc>
                <a:spcPts val="1835"/>
              </a:lnSpc>
              <a:spcBef>
                <a:spcPts val="100"/>
              </a:spcBef>
            </a:pPr>
            <a:r>
              <a:rPr lang="en-GB" b="1" dirty="0">
                <a:cs typeface="Calibri"/>
              </a:rPr>
              <a:t>Here</a:t>
            </a:r>
            <a:r>
              <a:rPr lang="en-GB" b="1" spc="-40" dirty="0">
                <a:cs typeface="Calibri"/>
              </a:rPr>
              <a:t> </a:t>
            </a:r>
            <a:r>
              <a:rPr lang="en-GB" b="1" dirty="0">
                <a:cs typeface="Calibri"/>
              </a:rPr>
              <a:t>is</a:t>
            </a:r>
            <a:r>
              <a:rPr lang="en-GB" b="1" spc="-35" dirty="0">
                <a:cs typeface="Calibri"/>
              </a:rPr>
              <a:t> </a:t>
            </a:r>
            <a:r>
              <a:rPr lang="en-GB" b="1" dirty="0">
                <a:cs typeface="Calibri"/>
              </a:rPr>
              <a:t>some</a:t>
            </a:r>
            <a:r>
              <a:rPr lang="en-GB" b="1" spc="-45" dirty="0">
                <a:cs typeface="Calibri"/>
              </a:rPr>
              <a:t> </a:t>
            </a:r>
            <a:r>
              <a:rPr lang="en-GB" b="1" dirty="0">
                <a:cs typeface="Calibri"/>
              </a:rPr>
              <a:t>of</a:t>
            </a:r>
            <a:r>
              <a:rPr lang="en-GB" b="1" spc="-30" dirty="0">
                <a:cs typeface="Calibri"/>
              </a:rPr>
              <a:t> </a:t>
            </a:r>
            <a:r>
              <a:rPr lang="en-GB" b="1" dirty="0">
                <a:cs typeface="Calibri"/>
              </a:rPr>
              <a:t>the</a:t>
            </a:r>
            <a:r>
              <a:rPr lang="en-GB" b="1" spc="-30" dirty="0">
                <a:cs typeface="Calibri"/>
              </a:rPr>
              <a:t> </a:t>
            </a:r>
            <a:r>
              <a:rPr lang="en-GB" b="1" dirty="0">
                <a:cs typeface="Calibri"/>
              </a:rPr>
              <a:t>feedback</a:t>
            </a:r>
            <a:r>
              <a:rPr lang="en-GB" b="1" spc="-60" dirty="0">
                <a:cs typeface="Calibri"/>
              </a:rPr>
              <a:t> </a:t>
            </a:r>
            <a:r>
              <a:rPr lang="en-GB" b="1" dirty="0">
                <a:cs typeface="Calibri"/>
              </a:rPr>
              <a:t>received</a:t>
            </a:r>
            <a:r>
              <a:rPr lang="en-GB" b="1" spc="-35" dirty="0">
                <a:cs typeface="Calibri"/>
              </a:rPr>
              <a:t> </a:t>
            </a:r>
            <a:r>
              <a:rPr lang="en-GB" b="1" dirty="0">
                <a:cs typeface="Calibri"/>
              </a:rPr>
              <a:t>from</a:t>
            </a:r>
            <a:r>
              <a:rPr lang="en-GB" b="1" spc="-45" dirty="0">
                <a:cs typeface="Calibri"/>
              </a:rPr>
              <a:t> </a:t>
            </a:r>
            <a:r>
              <a:rPr lang="en-GB" b="1" dirty="0">
                <a:cs typeface="Calibri"/>
              </a:rPr>
              <a:t>adults,</a:t>
            </a:r>
            <a:r>
              <a:rPr lang="en-GB" b="1" spc="-45" dirty="0">
                <a:cs typeface="Calibri"/>
              </a:rPr>
              <a:t> </a:t>
            </a:r>
            <a:r>
              <a:rPr lang="en-GB" b="1" spc="-10" dirty="0">
                <a:cs typeface="Calibri"/>
              </a:rPr>
              <a:t>regarding</a:t>
            </a:r>
            <a:r>
              <a:rPr lang="en-GB" b="1" spc="-50" dirty="0">
                <a:cs typeface="Calibri"/>
              </a:rPr>
              <a:t> </a:t>
            </a:r>
            <a:r>
              <a:rPr lang="en-GB" b="1" dirty="0">
                <a:cs typeface="Calibri"/>
              </a:rPr>
              <a:t>their</a:t>
            </a:r>
            <a:r>
              <a:rPr lang="en-GB" b="1" spc="-55" dirty="0">
                <a:cs typeface="Calibri"/>
              </a:rPr>
              <a:t> </a:t>
            </a:r>
            <a:r>
              <a:rPr lang="en-GB" b="1" dirty="0">
                <a:cs typeface="Calibri"/>
              </a:rPr>
              <a:t>experience</a:t>
            </a:r>
            <a:r>
              <a:rPr lang="en-GB" b="1" spc="-65" dirty="0">
                <a:cs typeface="Calibri"/>
              </a:rPr>
              <a:t> </a:t>
            </a:r>
            <a:r>
              <a:rPr lang="en-GB" b="1" spc="-25" dirty="0">
                <a:cs typeface="Calibri"/>
              </a:rPr>
              <a:t>of</a:t>
            </a:r>
            <a:endParaRPr lang="en-GB" dirty="0">
              <a:cs typeface="Calibri"/>
            </a:endParaRPr>
          </a:p>
          <a:p>
            <a:pPr marL="12700">
              <a:lnSpc>
                <a:spcPts val="1835"/>
              </a:lnSpc>
            </a:pPr>
            <a:r>
              <a:rPr lang="en-GB" b="1" dirty="0">
                <a:cs typeface="Calibri"/>
              </a:rPr>
              <a:t>using</a:t>
            </a:r>
            <a:r>
              <a:rPr lang="en-GB" b="1" spc="-60" dirty="0">
                <a:cs typeface="Calibri"/>
              </a:rPr>
              <a:t> </a:t>
            </a:r>
            <a:r>
              <a:rPr lang="en-GB" b="1" dirty="0">
                <a:cs typeface="Calibri"/>
              </a:rPr>
              <a:t>technology</a:t>
            </a:r>
            <a:r>
              <a:rPr lang="en-GB" b="1" spc="-50" dirty="0">
                <a:cs typeface="Calibri"/>
              </a:rPr>
              <a:t> </a:t>
            </a:r>
            <a:r>
              <a:rPr lang="en-GB" spc="-10" dirty="0">
                <a:cs typeface="Calibri"/>
              </a:rPr>
              <a:t>(unstructured</a:t>
            </a:r>
            <a:r>
              <a:rPr lang="en-GB" spc="-5" dirty="0">
                <a:cs typeface="Calibri"/>
              </a:rPr>
              <a:t> </a:t>
            </a:r>
            <a:r>
              <a:rPr lang="en-GB" dirty="0">
                <a:cs typeface="Calibri"/>
              </a:rPr>
              <a:t>or</a:t>
            </a:r>
            <a:r>
              <a:rPr lang="en-GB" spc="-25" dirty="0">
                <a:cs typeface="Calibri"/>
              </a:rPr>
              <a:t> </a:t>
            </a:r>
            <a:r>
              <a:rPr lang="en-GB" dirty="0">
                <a:cs typeface="Calibri"/>
              </a:rPr>
              <a:t>Informal</a:t>
            </a:r>
            <a:r>
              <a:rPr lang="en-GB" spc="-35" dirty="0">
                <a:cs typeface="Calibri"/>
              </a:rPr>
              <a:t> </a:t>
            </a:r>
            <a:r>
              <a:rPr lang="en-GB" spc="-10" dirty="0">
                <a:cs typeface="Calibri"/>
              </a:rPr>
              <a:t>Conversations):</a:t>
            </a:r>
            <a:endParaRPr lang="en-GB" dirty="0">
              <a:cs typeface="Calibri"/>
            </a:endParaRPr>
          </a:p>
          <a:p>
            <a:pPr>
              <a:lnSpc>
                <a:spcPct val="100000"/>
              </a:lnSpc>
              <a:spcBef>
                <a:spcPts val="1305"/>
              </a:spcBef>
            </a:pPr>
            <a:endParaRPr lang="en-GB" dirty="0">
              <a:cs typeface="Calibri"/>
            </a:endParaRPr>
          </a:p>
          <a:p>
            <a:pPr marL="297815" marR="5080" indent="-285750">
              <a:lnSpc>
                <a:spcPct val="70000"/>
              </a:lnSpc>
              <a:buClr>
                <a:schemeClr val="accent4"/>
              </a:buClr>
              <a:buFont typeface="Wingdings" panose="05000000000000000000" pitchFamily="2" charset="2"/>
              <a:buChar char="§"/>
              <a:tabLst>
                <a:tab pos="240665" algn="l"/>
              </a:tabLst>
            </a:pPr>
            <a:r>
              <a:rPr lang="en-GB" dirty="0">
                <a:cs typeface="Calibri"/>
              </a:rPr>
              <a:t>“I</a:t>
            </a:r>
            <a:r>
              <a:rPr lang="en-GB" spc="-45" dirty="0">
                <a:cs typeface="Calibri"/>
              </a:rPr>
              <a:t> </a:t>
            </a:r>
            <a:r>
              <a:rPr lang="en-GB" dirty="0">
                <a:cs typeface="Calibri"/>
              </a:rPr>
              <a:t>find</a:t>
            </a:r>
            <a:r>
              <a:rPr lang="en-GB" spc="-20" dirty="0">
                <a:cs typeface="Calibri"/>
              </a:rPr>
              <a:t> </a:t>
            </a:r>
            <a:r>
              <a:rPr lang="en-GB" dirty="0">
                <a:cs typeface="Calibri"/>
              </a:rPr>
              <a:t>the</a:t>
            </a:r>
            <a:r>
              <a:rPr lang="en-GB" spc="-20" dirty="0">
                <a:cs typeface="Calibri"/>
              </a:rPr>
              <a:t> </a:t>
            </a:r>
            <a:r>
              <a:rPr lang="en-GB" dirty="0">
                <a:cs typeface="Calibri"/>
              </a:rPr>
              <a:t>size</a:t>
            </a:r>
            <a:r>
              <a:rPr lang="en-GB" spc="-35" dirty="0">
                <a:cs typeface="Calibri"/>
              </a:rPr>
              <a:t> </a:t>
            </a:r>
            <a:r>
              <a:rPr lang="en-GB" dirty="0">
                <a:cs typeface="Calibri"/>
              </a:rPr>
              <a:t>of</a:t>
            </a:r>
            <a:r>
              <a:rPr lang="en-GB" spc="-25" dirty="0">
                <a:cs typeface="Calibri"/>
              </a:rPr>
              <a:t> </a:t>
            </a:r>
            <a:r>
              <a:rPr lang="en-GB" dirty="0">
                <a:cs typeface="Calibri"/>
              </a:rPr>
              <a:t>the</a:t>
            </a:r>
            <a:r>
              <a:rPr lang="en-GB" spc="-20" dirty="0">
                <a:cs typeface="Calibri"/>
              </a:rPr>
              <a:t> </a:t>
            </a:r>
            <a:r>
              <a:rPr lang="en-GB" dirty="0">
                <a:cs typeface="Calibri"/>
              </a:rPr>
              <a:t>text</a:t>
            </a:r>
            <a:r>
              <a:rPr lang="en-GB" spc="-35" dirty="0">
                <a:cs typeface="Calibri"/>
              </a:rPr>
              <a:t> </a:t>
            </a:r>
            <a:r>
              <a:rPr lang="en-GB" dirty="0">
                <a:cs typeface="Calibri"/>
              </a:rPr>
              <a:t>on</a:t>
            </a:r>
            <a:r>
              <a:rPr lang="en-GB" spc="-25" dirty="0">
                <a:cs typeface="Calibri"/>
              </a:rPr>
              <a:t> </a:t>
            </a:r>
            <a:r>
              <a:rPr lang="en-GB" dirty="0">
                <a:cs typeface="Calibri"/>
              </a:rPr>
              <a:t>the</a:t>
            </a:r>
            <a:r>
              <a:rPr lang="en-GB" spc="-20" dirty="0">
                <a:cs typeface="Calibri"/>
              </a:rPr>
              <a:t> </a:t>
            </a:r>
            <a:r>
              <a:rPr lang="en-GB" dirty="0">
                <a:cs typeface="Calibri"/>
              </a:rPr>
              <a:t>iPhone</a:t>
            </a:r>
            <a:r>
              <a:rPr lang="en-GB" spc="-15" dirty="0">
                <a:cs typeface="Calibri"/>
              </a:rPr>
              <a:t> </a:t>
            </a:r>
            <a:r>
              <a:rPr lang="en-GB" dirty="0">
                <a:cs typeface="Calibri"/>
              </a:rPr>
              <a:t>screen</a:t>
            </a:r>
            <a:r>
              <a:rPr lang="en-GB" spc="-25" dirty="0">
                <a:cs typeface="Calibri"/>
              </a:rPr>
              <a:t> </a:t>
            </a:r>
            <a:r>
              <a:rPr lang="en-GB" dirty="0">
                <a:cs typeface="Calibri"/>
              </a:rPr>
              <a:t>too</a:t>
            </a:r>
            <a:r>
              <a:rPr lang="en-GB" spc="-35" dirty="0">
                <a:cs typeface="Calibri"/>
              </a:rPr>
              <a:t> </a:t>
            </a:r>
            <a:r>
              <a:rPr lang="en-GB" dirty="0">
                <a:cs typeface="Calibri"/>
              </a:rPr>
              <a:t>small,</a:t>
            </a:r>
            <a:r>
              <a:rPr lang="en-GB" spc="-40" dirty="0">
                <a:cs typeface="Calibri"/>
              </a:rPr>
              <a:t> </a:t>
            </a:r>
            <a:r>
              <a:rPr lang="en-GB" dirty="0">
                <a:cs typeface="Calibri"/>
              </a:rPr>
              <a:t>and</a:t>
            </a:r>
            <a:r>
              <a:rPr lang="en-GB" spc="-20" dirty="0">
                <a:cs typeface="Calibri"/>
              </a:rPr>
              <a:t> </a:t>
            </a:r>
            <a:r>
              <a:rPr lang="en-GB" dirty="0">
                <a:cs typeface="Calibri"/>
              </a:rPr>
              <a:t>if</a:t>
            </a:r>
            <a:r>
              <a:rPr lang="en-GB" spc="-25" dirty="0">
                <a:cs typeface="Calibri"/>
              </a:rPr>
              <a:t> </a:t>
            </a:r>
            <a:r>
              <a:rPr lang="en-GB" dirty="0">
                <a:cs typeface="Calibri"/>
              </a:rPr>
              <a:t>you</a:t>
            </a:r>
            <a:r>
              <a:rPr lang="en-GB" spc="-35" dirty="0">
                <a:cs typeface="Calibri"/>
              </a:rPr>
              <a:t> </a:t>
            </a:r>
            <a:r>
              <a:rPr lang="en-GB" dirty="0">
                <a:cs typeface="Calibri"/>
              </a:rPr>
              <a:t>make</a:t>
            </a:r>
            <a:r>
              <a:rPr lang="en-GB" spc="-35" dirty="0">
                <a:cs typeface="Calibri"/>
              </a:rPr>
              <a:t> </a:t>
            </a:r>
            <a:r>
              <a:rPr lang="en-GB" dirty="0">
                <a:cs typeface="Calibri"/>
              </a:rPr>
              <a:t>it</a:t>
            </a:r>
            <a:r>
              <a:rPr lang="en-GB" spc="-25" dirty="0">
                <a:cs typeface="Calibri"/>
              </a:rPr>
              <a:t> </a:t>
            </a:r>
            <a:r>
              <a:rPr lang="en-GB" spc="-10" dirty="0">
                <a:cs typeface="Calibri"/>
              </a:rPr>
              <a:t>bigger, </a:t>
            </a:r>
            <a:r>
              <a:rPr lang="en-GB" dirty="0">
                <a:cs typeface="Calibri"/>
              </a:rPr>
              <a:t>then</a:t>
            </a:r>
            <a:r>
              <a:rPr lang="en-GB" spc="-25" dirty="0">
                <a:cs typeface="Calibri"/>
              </a:rPr>
              <a:t> </a:t>
            </a:r>
            <a:r>
              <a:rPr lang="en-GB" spc="-20" dirty="0">
                <a:cs typeface="Calibri"/>
              </a:rPr>
              <a:t>there’s</a:t>
            </a:r>
            <a:r>
              <a:rPr lang="en-GB" spc="-35" dirty="0">
                <a:cs typeface="Calibri"/>
              </a:rPr>
              <a:t> </a:t>
            </a:r>
            <a:r>
              <a:rPr lang="en-GB" dirty="0">
                <a:cs typeface="Calibri"/>
              </a:rPr>
              <a:t>not</a:t>
            </a:r>
            <a:r>
              <a:rPr lang="en-GB" spc="-25" dirty="0">
                <a:cs typeface="Calibri"/>
              </a:rPr>
              <a:t> </a:t>
            </a:r>
            <a:r>
              <a:rPr lang="en-GB" dirty="0">
                <a:cs typeface="Calibri"/>
              </a:rPr>
              <a:t>a</a:t>
            </a:r>
            <a:r>
              <a:rPr lang="en-GB" spc="-40" dirty="0">
                <a:cs typeface="Calibri"/>
              </a:rPr>
              <a:t> </a:t>
            </a:r>
            <a:r>
              <a:rPr lang="en-GB" dirty="0">
                <a:cs typeface="Calibri"/>
              </a:rPr>
              <a:t>lot</a:t>
            </a:r>
            <a:r>
              <a:rPr lang="en-GB" spc="-35" dirty="0">
                <a:cs typeface="Calibri"/>
              </a:rPr>
              <a:t> </a:t>
            </a:r>
            <a:r>
              <a:rPr lang="en-GB" dirty="0">
                <a:cs typeface="Calibri"/>
              </a:rPr>
              <a:t>of</a:t>
            </a:r>
            <a:r>
              <a:rPr lang="en-GB" spc="-40" dirty="0">
                <a:cs typeface="Calibri"/>
              </a:rPr>
              <a:t> </a:t>
            </a:r>
            <a:r>
              <a:rPr lang="en-GB" dirty="0">
                <a:cs typeface="Calibri"/>
              </a:rPr>
              <a:t>space</a:t>
            </a:r>
            <a:r>
              <a:rPr lang="en-GB" spc="-20" dirty="0">
                <a:cs typeface="Calibri"/>
              </a:rPr>
              <a:t> </a:t>
            </a:r>
            <a:r>
              <a:rPr lang="en-GB" dirty="0">
                <a:cs typeface="Calibri"/>
              </a:rPr>
              <a:t>for</a:t>
            </a:r>
            <a:r>
              <a:rPr lang="en-GB" spc="-35" dirty="0">
                <a:cs typeface="Calibri"/>
              </a:rPr>
              <a:t> </a:t>
            </a:r>
            <a:r>
              <a:rPr lang="en-GB" dirty="0">
                <a:cs typeface="Calibri"/>
              </a:rPr>
              <a:t>more</a:t>
            </a:r>
            <a:r>
              <a:rPr lang="en-GB" spc="-35" dirty="0">
                <a:cs typeface="Calibri"/>
              </a:rPr>
              <a:t> </a:t>
            </a:r>
            <a:r>
              <a:rPr lang="en-GB" dirty="0">
                <a:cs typeface="Calibri"/>
              </a:rPr>
              <a:t>than</a:t>
            </a:r>
            <a:r>
              <a:rPr lang="en-GB" spc="-25" dirty="0">
                <a:cs typeface="Calibri"/>
              </a:rPr>
              <a:t> </a:t>
            </a:r>
            <a:r>
              <a:rPr lang="en-GB" dirty="0">
                <a:cs typeface="Calibri"/>
              </a:rPr>
              <a:t>a</a:t>
            </a:r>
            <a:r>
              <a:rPr lang="en-GB" spc="-40" dirty="0">
                <a:cs typeface="Calibri"/>
              </a:rPr>
              <a:t> </a:t>
            </a:r>
            <a:r>
              <a:rPr lang="en-GB" dirty="0">
                <a:cs typeface="Calibri"/>
              </a:rPr>
              <a:t>few</a:t>
            </a:r>
            <a:r>
              <a:rPr lang="en-GB" spc="-30" dirty="0">
                <a:cs typeface="Calibri"/>
              </a:rPr>
              <a:t> </a:t>
            </a:r>
            <a:r>
              <a:rPr lang="en-GB" dirty="0">
                <a:cs typeface="Calibri"/>
              </a:rPr>
              <a:t>words.</a:t>
            </a:r>
            <a:r>
              <a:rPr lang="en-GB" spc="-40" dirty="0">
                <a:cs typeface="Calibri"/>
              </a:rPr>
              <a:t> </a:t>
            </a:r>
            <a:r>
              <a:rPr lang="en-GB" dirty="0">
                <a:cs typeface="Calibri"/>
              </a:rPr>
              <a:t>It’s</a:t>
            </a:r>
            <a:r>
              <a:rPr lang="en-GB" spc="-40" dirty="0">
                <a:cs typeface="Calibri"/>
              </a:rPr>
              <a:t> </a:t>
            </a:r>
            <a:r>
              <a:rPr lang="en-GB" dirty="0">
                <a:cs typeface="Calibri"/>
              </a:rPr>
              <a:t>just</a:t>
            </a:r>
            <a:r>
              <a:rPr lang="en-GB" spc="-40" dirty="0">
                <a:cs typeface="Calibri"/>
              </a:rPr>
              <a:t> </a:t>
            </a:r>
            <a:r>
              <a:rPr lang="en-GB" dirty="0">
                <a:cs typeface="Calibri"/>
              </a:rPr>
              <a:t>not</a:t>
            </a:r>
            <a:r>
              <a:rPr lang="en-GB" spc="-30" dirty="0">
                <a:cs typeface="Calibri"/>
              </a:rPr>
              <a:t> </a:t>
            </a:r>
            <a:r>
              <a:rPr lang="en-GB" spc="-10" dirty="0">
                <a:cs typeface="Calibri"/>
              </a:rPr>
              <a:t>practical.”</a:t>
            </a:r>
            <a:endParaRPr lang="en-GB" dirty="0">
              <a:cs typeface="Calibri"/>
            </a:endParaRPr>
          </a:p>
          <a:p>
            <a:pPr marL="285750" indent="-285750">
              <a:lnSpc>
                <a:spcPct val="100000"/>
              </a:lnSpc>
              <a:spcBef>
                <a:spcPts val="1325"/>
              </a:spcBef>
              <a:buClr>
                <a:schemeClr val="accent4"/>
              </a:buClr>
              <a:buFont typeface="Wingdings" panose="05000000000000000000" pitchFamily="2" charset="2"/>
              <a:buChar char="§"/>
            </a:pPr>
            <a:endParaRPr lang="en-GB" dirty="0">
              <a:cs typeface="Calibri"/>
            </a:endParaRPr>
          </a:p>
          <a:p>
            <a:pPr marL="297815" marR="182880" indent="-285750">
              <a:lnSpc>
                <a:spcPct val="70000"/>
              </a:lnSpc>
              <a:buClr>
                <a:schemeClr val="accent4"/>
              </a:buClr>
              <a:buFont typeface="Wingdings" panose="05000000000000000000" pitchFamily="2" charset="2"/>
              <a:buChar char="§"/>
              <a:tabLst>
                <a:tab pos="240665" algn="l"/>
              </a:tabLst>
            </a:pPr>
            <a:r>
              <a:rPr lang="en-GB" dirty="0">
                <a:cs typeface="Calibri"/>
              </a:rPr>
              <a:t>“I’ve</a:t>
            </a:r>
            <a:r>
              <a:rPr lang="en-GB" spc="-50" dirty="0">
                <a:cs typeface="Calibri"/>
              </a:rPr>
              <a:t> </a:t>
            </a:r>
            <a:r>
              <a:rPr lang="en-GB" dirty="0">
                <a:cs typeface="Calibri"/>
              </a:rPr>
              <a:t>yet</a:t>
            </a:r>
            <a:r>
              <a:rPr lang="en-GB" spc="-30" dirty="0">
                <a:cs typeface="Calibri"/>
              </a:rPr>
              <a:t> </a:t>
            </a:r>
            <a:r>
              <a:rPr lang="en-GB" dirty="0">
                <a:cs typeface="Calibri"/>
              </a:rPr>
              <a:t>to</a:t>
            </a:r>
            <a:r>
              <a:rPr lang="en-GB" spc="-45" dirty="0">
                <a:cs typeface="Calibri"/>
              </a:rPr>
              <a:t> </a:t>
            </a:r>
            <a:r>
              <a:rPr lang="en-GB" dirty="0">
                <a:cs typeface="Calibri"/>
              </a:rPr>
              <a:t>find</a:t>
            </a:r>
            <a:r>
              <a:rPr lang="en-GB" spc="-30" dirty="0">
                <a:cs typeface="Calibri"/>
              </a:rPr>
              <a:t> </a:t>
            </a:r>
            <a:r>
              <a:rPr lang="en-GB" dirty="0">
                <a:cs typeface="Calibri"/>
              </a:rPr>
              <a:t>a</a:t>
            </a:r>
            <a:r>
              <a:rPr lang="en-GB" spc="-40" dirty="0">
                <a:cs typeface="Calibri"/>
              </a:rPr>
              <a:t> </a:t>
            </a:r>
            <a:r>
              <a:rPr lang="en-GB" dirty="0">
                <a:cs typeface="Calibri"/>
              </a:rPr>
              <a:t>desk</a:t>
            </a:r>
            <a:r>
              <a:rPr lang="en-GB" spc="-50" dirty="0">
                <a:cs typeface="Calibri"/>
              </a:rPr>
              <a:t> </a:t>
            </a:r>
            <a:r>
              <a:rPr lang="en-GB" dirty="0">
                <a:cs typeface="Calibri"/>
              </a:rPr>
              <a:t>chair</a:t>
            </a:r>
            <a:r>
              <a:rPr lang="en-GB" spc="-25" dirty="0">
                <a:cs typeface="Calibri"/>
              </a:rPr>
              <a:t> </a:t>
            </a:r>
            <a:r>
              <a:rPr lang="en-GB" dirty="0">
                <a:cs typeface="Calibri"/>
              </a:rPr>
              <a:t>that</a:t>
            </a:r>
            <a:r>
              <a:rPr lang="en-GB" spc="-40" dirty="0">
                <a:cs typeface="Calibri"/>
              </a:rPr>
              <a:t> </a:t>
            </a:r>
            <a:r>
              <a:rPr lang="en-GB" dirty="0">
                <a:cs typeface="Calibri"/>
              </a:rPr>
              <a:t>doesn’t</a:t>
            </a:r>
            <a:r>
              <a:rPr lang="en-GB" spc="-35" dirty="0">
                <a:cs typeface="Calibri"/>
              </a:rPr>
              <a:t> </a:t>
            </a:r>
            <a:r>
              <a:rPr lang="en-GB" dirty="0">
                <a:cs typeface="Calibri"/>
              </a:rPr>
              <a:t>make</a:t>
            </a:r>
            <a:r>
              <a:rPr lang="en-GB" spc="-40" dirty="0">
                <a:cs typeface="Calibri"/>
              </a:rPr>
              <a:t> </a:t>
            </a:r>
            <a:r>
              <a:rPr lang="en-GB" dirty="0">
                <a:cs typeface="Calibri"/>
              </a:rPr>
              <a:t>my</a:t>
            </a:r>
            <a:r>
              <a:rPr lang="en-GB" spc="-35" dirty="0">
                <a:cs typeface="Calibri"/>
              </a:rPr>
              <a:t> </a:t>
            </a:r>
            <a:r>
              <a:rPr lang="en-GB" dirty="0">
                <a:cs typeface="Calibri"/>
              </a:rPr>
              <a:t>back</a:t>
            </a:r>
            <a:r>
              <a:rPr lang="en-GB" spc="-40" dirty="0">
                <a:cs typeface="Calibri"/>
              </a:rPr>
              <a:t> </a:t>
            </a:r>
            <a:r>
              <a:rPr lang="en-GB" dirty="0">
                <a:cs typeface="Calibri"/>
              </a:rPr>
              <a:t>hurt</a:t>
            </a:r>
            <a:r>
              <a:rPr lang="en-GB" spc="-30" dirty="0">
                <a:cs typeface="Calibri"/>
              </a:rPr>
              <a:t> </a:t>
            </a:r>
            <a:r>
              <a:rPr lang="en-GB" dirty="0">
                <a:cs typeface="Calibri"/>
              </a:rPr>
              <a:t>more</a:t>
            </a:r>
            <a:r>
              <a:rPr lang="en-GB" spc="-25" dirty="0">
                <a:cs typeface="Calibri"/>
              </a:rPr>
              <a:t> </a:t>
            </a:r>
            <a:r>
              <a:rPr lang="en-GB" dirty="0">
                <a:cs typeface="Calibri"/>
              </a:rPr>
              <a:t>than</a:t>
            </a:r>
            <a:r>
              <a:rPr lang="en-GB" spc="-40" dirty="0">
                <a:cs typeface="Calibri"/>
              </a:rPr>
              <a:t> </a:t>
            </a:r>
            <a:r>
              <a:rPr lang="en-GB" dirty="0">
                <a:cs typeface="Calibri"/>
              </a:rPr>
              <a:t>it</a:t>
            </a:r>
            <a:r>
              <a:rPr lang="en-GB" spc="-30" dirty="0">
                <a:cs typeface="Calibri"/>
              </a:rPr>
              <a:t> </a:t>
            </a:r>
            <a:r>
              <a:rPr lang="en-GB" spc="-10" dirty="0">
                <a:cs typeface="Calibri"/>
              </a:rPr>
              <a:t>already does.”</a:t>
            </a:r>
            <a:endParaRPr lang="en-GB" dirty="0">
              <a:cs typeface="Calibri"/>
            </a:endParaRPr>
          </a:p>
          <a:p>
            <a:pPr marL="285750" indent="-285750">
              <a:lnSpc>
                <a:spcPct val="100000"/>
              </a:lnSpc>
              <a:spcBef>
                <a:spcPts val="670"/>
              </a:spcBef>
              <a:buClr>
                <a:schemeClr val="accent4"/>
              </a:buClr>
              <a:buFont typeface="Wingdings" panose="05000000000000000000" pitchFamily="2" charset="2"/>
              <a:buChar char="§"/>
            </a:pPr>
            <a:endParaRPr lang="en-GB" dirty="0">
              <a:cs typeface="Calibri"/>
            </a:endParaRPr>
          </a:p>
          <a:p>
            <a:pPr marL="298450" indent="-285750">
              <a:lnSpc>
                <a:spcPts val="1835"/>
              </a:lnSpc>
              <a:buClr>
                <a:schemeClr val="accent4"/>
              </a:buClr>
              <a:buFont typeface="Wingdings" panose="05000000000000000000" pitchFamily="2" charset="2"/>
              <a:buChar char="§"/>
              <a:tabLst>
                <a:tab pos="240665" algn="l"/>
              </a:tabLst>
            </a:pPr>
            <a:r>
              <a:rPr lang="en-GB" dirty="0">
                <a:cs typeface="Calibri"/>
              </a:rPr>
              <a:t>“I</a:t>
            </a:r>
            <a:r>
              <a:rPr lang="en-GB" spc="-40" dirty="0">
                <a:cs typeface="Calibri"/>
              </a:rPr>
              <a:t> </a:t>
            </a:r>
            <a:r>
              <a:rPr lang="en-GB" dirty="0">
                <a:cs typeface="Calibri"/>
              </a:rPr>
              <a:t>love</a:t>
            </a:r>
            <a:r>
              <a:rPr lang="en-GB" spc="-15" dirty="0">
                <a:cs typeface="Calibri"/>
              </a:rPr>
              <a:t> </a:t>
            </a:r>
            <a:r>
              <a:rPr lang="en-GB" dirty="0">
                <a:cs typeface="Calibri"/>
              </a:rPr>
              <a:t>Skype</a:t>
            </a:r>
            <a:r>
              <a:rPr lang="en-GB" spc="-25" dirty="0">
                <a:cs typeface="Calibri"/>
              </a:rPr>
              <a:t> </a:t>
            </a:r>
            <a:r>
              <a:rPr lang="en-GB" dirty="0">
                <a:cs typeface="Calibri"/>
              </a:rPr>
              <a:t>most</a:t>
            </a:r>
            <a:r>
              <a:rPr lang="en-GB" spc="-30" dirty="0">
                <a:cs typeface="Calibri"/>
              </a:rPr>
              <a:t> </a:t>
            </a:r>
            <a:r>
              <a:rPr lang="en-GB" dirty="0">
                <a:cs typeface="Calibri"/>
              </a:rPr>
              <a:t>of</a:t>
            </a:r>
            <a:r>
              <a:rPr lang="en-GB" spc="-35" dirty="0">
                <a:cs typeface="Calibri"/>
              </a:rPr>
              <a:t> </a:t>
            </a:r>
            <a:r>
              <a:rPr lang="en-GB" dirty="0">
                <a:cs typeface="Calibri"/>
              </a:rPr>
              <a:t>all.</a:t>
            </a:r>
            <a:r>
              <a:rPr lang="en-GB" spc="-30" dirty="0">
                <a:cs typeface="Calibri"/>
              </a:rPr>
              <a:t> </a:t>
            </a:r>
            <a:r>
              <a:rPr lang="en-GB" dirty="0">
                <a:cs typeface="Calibri"/>
              </a:rPr>
              <a:t>Sometimes</a:t>
            </a:r>
            <a:r>
              <a:rPr lang="en-GB" spc="-30" dirty="0">
                <a:cs typeface="Calibri"/>
              </a:rPr>
              <a:t> </a:t>
            </a:r>
            <a:r>
              <a:rPr lang="en-GB" dirty="0">
                <a:cs typeface="Calibri"/>
              </a:rPr>
              <a:t>I</a:t>
            </a:r>
            <a:r>
              <a:rPr lang="en-GB" spc="-20" dirty="0">
                <a:cs typeface="Calibri"/>
              </a:rPr>
              <a:t> </a:t>
            </a:r>
            <a:r>
              <a:rPr lang="en-GB" dirty="0">
                <a:cs typeface="Calibri"/>
              </a:rPr>
              <a:t>have</a:t>
            </a:r>
            <a:r>
              <a:rPr lang="en-GB" spc="-40" dirty="0">
                <a:cs typeface="Calibri"/>
              </a:rPr>
              <a:t> </a:t>
            </a:r>
            <a:r>
              <a:rPr lang="en-GB" dirty="0">
                <a:cs typeface="Calibri"/>
              </a:rPr>
              <a:t>to</a:t>
            </a:r>
            <a:r>
              <a:rPr lang="en-GB" spc="-25" dirty="0">
                <a:cs typeface="Calibri"/>
              </a:rPr>
              <a:t> </a:t>
            </a:r>
            <a:r>
              <a:rPr lang="en-GB" dirty="0">
                <a:cs typeface="Calibri"/>
              </a:rPr>
              <a:t>ask</a:t>
            </a:r>
            <a:r>
              <a:rPr lang="en-GB" spc="-25" dirty="0">
                <a:cs typeface="Calibri"/>
              </a:rPr>
              <a:t> </a:t>
            </a:r>
            <a:r>
              <a:rPr lang="en-GB" dirty="0">
                <a:cs typeface="Calibri"/>
              </a:rPr>
              <a:t>my</a:t>
            </a:r>
            <a:r>
              <a:rPr lang="en-GB" spc="-30" dirty="0">
                <a:cs typeface="Calibri"/>
              </a:rPr>
              <a:t> </a:t>
            </a:r>
            <a:r>
              <a:rPr lang="en-GB" dirty="0">
                <a:cs typeface="Calibri"/>
              </a:rPr>
              <a:t>daughter</a:t>
            </a:r>
            <a:r>
              <a:rPr lang="en-GB" spc="-25" dirty="0">
                <a:cs typeface="Calibri"/>
              </a:rPr>
              <a:t> </a:t>
            </a:r>
            <a:r>
              <a:rPr lang="en-GB" dirty="0">
                <a:cs typeface="Calibri"/>
              </a:rPr>
              <a:t>to</a:t>
            </a:r>
            <a:r>
              <a:rPr lang="en-GB" spc="-20" dirty="0">
                <a:cs typeface="Calibri"/>
              </a:rPr>
              <a:t> </a:t>
            </a:r>
            <a:r>
              <a:rPr lang="en-GB" dirty="0">
                <a:cs typeface="Calibri"/>
              </a:rPr>
              <a:t>get</a:t>
            </a:r>
            <a:r>
              <a:rPr lang="en-GB" spc="-30" dirty="0">
                <a:cs typeface="Calibri"/>
              </a:rPr>
              <a:t> </a:t>
            </a:r>
            <a:r>
              <a:rPr lang="en-GB" dirty="0">
                <a:cs typeface="Calibri"/>
              </a:rPr>
              <a:t>it</a:t>
            </a:r>
            <a:r>
              <a:rPr lang="en-GB" spc="-35" dirty="0">
                <a:cs typeface="Calibri"/>
              </a:rPr>
              <a:t> </a:t>
            </a:r>
            <a:r>
              <a:rPr lang="en-GB" dirty="0">
                <a:cs typeface="Calibri"/>
              </a:rPr>
              <a:t>to</a:t>
            </a:r>
            <a:r>
              <a:rPr lang="en-GB" spc="-15" dirty="0">
                <a:cs typeface="Calibri"/>
              </a:rPr>
              <a:t> </a:t>
            </a:r>
            <a:r>
              <a:rPr lang="en-GB" spc="-10" dirty="0">
                <a:cs typeface="Calibri"/>
              </a:rPr>
              <a:t>work,</a:t>
            </a:r>
            <a:r>
              <a:rPr lang="en-GB" dirty="0">
                <a:cs typeface="Calibri"/>
              </a:rPr>
              <a:t> but</a:t>
            </a:r>
            <a:r>
              <a:rPr lang="en-GB" spc="-35" dirty="0">
                <a:cs typeface="Calibri"/>
              </a:rPr>
              <a:t> </a:t>
            </a:r>
            <a:r>
              <a:rPr lang="en-GB" dirty="0">
                <a:cs typeface="Calibri"/>
              </a:rPr>
              <a:t>when</a:t>
            </a:r>
            <a:r>
              <a:rPr lang="en-GB" spc="-20" dirty="0">
                <a:cs typeface="Calibri"/>
              </a:rPr>
              <a:t> </a:t>
            </a:r>
            <a:r>
              <a:rPr lang="en-GB" dirty="0">
                <a:cs typeface="Calibri"/>
              </a:rPr>
              <a:t>it</a:t>
            </a:r>
            <a:r>
              <a:rPr lang="en-GB" spc="-45" dirty="0">
                <a:cs typeface="Calibri"/>
              </a:rPr>
              <a:t> </a:t>
            </a:r>
            <a:r>
              <a:rPr lang="en-GB" dirty="0">
                <a:cs typeface="Calibri"/>
              </a:rPr>
              <a:t>does</a:t>
            </a:r>
            <a:r>
              <a:rPr lang="en-GB" spc="-20" dirty="0">
                <a:cs typeface="Calibri"/>
              </a:rPr>
              <a:t> </a:t>
            </a:r>
            <a:r>
              <a:rPr lang="en-GB" dirty="0">
                <a:cs typeface="Calibri"/>
              </a:rPr>
              <a:t>it’s</a:t>
            </a:r>
            <a:r>
              <a:rPr lang="en-GB" spc="-40" dirty="0">
                <a:cs typeface="Calibri"/>
              </a:rPr>
              <a:t> </a:t>
            </a:r>
            <a:r>
              <a:rPr lang="en-GB" dirty="0">
                <a:cs typeface="Calibri"/>
              </a:rPr>
              <a:t>so</a:t>
            </a:r>
            <a:r>
              <a:rPr lang="en-GB" spc="-40" dirty="0">
                <a:cs typeface="Calibri"/>
              </a:rPr>
              <a:t> </a:t>
            </a:r>
            <a:r>
              <a:rPr lang="en-GB" spc="-10" dirty="0">
                <a:cs typeface="Calibri"/>
              </a:rPr>
              <a:t>convenient</a:t>
            </a:r>
            <a:r>
              <a:rPr lang="en-GB" spc="-40" dirty="0">
                <a:cs typeface="Calibri"/>
              </a:rPr>
              <a:t> </a:t>
            </a:r>
            <a:r>
              <a:rPr lang="en-GB" dirty="0">
                <a:cs typeface="Calibri"/>
              </a:rPr>
              <a:t>and</a:t>
            </a:r>
            <a:r>
              <a:rPr lang="en-GB" spc="-25" dirty="0">
                <a:cs typeface="Calibri"/>
              </a:rPr>
              <a:t> </a:t>
            </a:r>
            <a:r>
              <a:rPr lang="en-GB" dirty="0">
                <a:cs typeface="Calibri"/>
              </a:rPr>
              <a:t>lets</a:t>
            </a:r>
            <a:r>
              <a:rPr lang="en-GB" spc="-45" dirty="0">
                <a:cs typeface="Calibri"/>
              </a:rPr>
              <a:t> </a:t>
            </a:r>
            <a:r>
              <a:rPr lang="en-GB" dirty="0">
                <a:cs typeface="Calibri"/>
              </a:rPr>
              <a:t>me</a:t>
            </a:r>
            <a:r>
              <a:rPr lang="en-GB" spc="-35" dirty="0">
                <a:cs typeface="Calibri"/>
              </a:rPr>
              <a:t> </a:t>
            </a:r>
            <a:r>
              <a:rPr lang="en-GB" dirty="0">
                <a:cs typeface="Calibri"/>
              </a:rPr>
              <a:t>connect</a:t>
            </a:r>
            <a:r>
              <a:rPr lang="en-GB" spc="-20" dirty="0">
                <a:cs typeface="Calibri"/>
              </a:rPr>
              <a:t> </a:t>
            </a:r>
            <a:r>
              <a:rPr lang="en-GB" dirty="0">
                <a:cs typeface="Calibri"/>
              </a:rPr>
              <a:t>with</a:t>
            </a:r>
            <a:r>
              <a:rPr lang="en-GB" spc="-30" dirty="0">
                <a:cs typeface="Calibri"/>
              </a:rPr>
              <a:t> </a:t>
            </a:r>
            <a:r>
              <a:rPr lang="en-GB" dirty="0">
                <a:cs typeface="Calibri"/>
              </a:rPr>
              <a:t>my</a:t>
            </a:r>
            <a:r>
              <a:rPr lang="en-GB" spc="-35" dirty="0">
                <a:cs typeface="Calibri"/>
              </a:rPr>
              <a:t> </a:t>
            </a:r>
            <a:r>
              <a:rPr lang="en-GB" spc="-10" dirty="0">
                <a:cs typeface="Calibri"/>
              </a:rPr>
              <a:t>grandkids.”</a:t>
            </a:r>
            <a:endParaRPr lang="en-GB" dirty="0">
              <a:cs typeface="Calibri"/>
            </a:endParaRPr>
          </a:p>
          <a:p>
            <a:pPr marL="285750" indent="-285750">
              <a:lnSpc>
                <a:spcPct val="100000"/>
              </a:lnSpc>
              <a:spcBef>
                <a:spcPts val="670"/>
              </a:spcBef>
              <a:buClr>
                <a:schemeClr val="accent4"/>
              </a:buClr>
              <a:buFont typeface="Wingdings" panose="05000000000000000000" pitchFamily="2" charset="2"/>
              <a:buChar char="§"/>
            </a:pPr>
            <a:endParaRPr lang="en-GB" dirty="0">
              <a:cs typeface="Calibri"/>
            </a:endParaRPr>
          </a:p>
          <a:p>
            <a:pPr marL="298450" indent="-285750">
              <a:lnSpc>
                <a:spcPts val="1835"/>
              </a:lnSpc>
              <a:buClr>
                <a:schemeClr val="accent4"/>
              </a:buClr>
              <a:buFont typeface="Wingdings" panose="05000000000000000000" pitchFamily="2" charset="2"/>
              <a:buChar char="§"/>
              <a:tabLst>
                <a:tab pos="240665" algn="l"/>
              </a:tabLst>
            </a:pPr>
            <a:r>
              <a:rPr lang="en-GB" dirty="0">
                <a:cs typeface="Calibri"/>
              </a:rPr>
              <a:t>“I</a:t>
            </a:r>
            <a:r>
              <a:rPr lang="en-GB" spc="-40" dirty="0">
                <a:cs typeface="Calibri"/>
              </a:rPr>
              <a:t> </a:t>
            </a:r>
            <a:r>
              <a:rPr lang="en-GB" dirty="0">
                <a:cs typeface="Calibri"/>
              </a:rPr>
              <a:t>can’t</a:t>
            </a:r>
            <a:r>
              <a:rPr lang="en-GB" spc="-10" dirty="0">
                <a:cs typeface="Calibri"/>
              </a:rPr>
              <a:t> </a:t>
            </a:r>
            <a:r>
              <a:rPr lang="en-GB" dirty="0">
                <a:cs typeface="Calibri"/>
              </a:rPr>
              <a:t>get</a:t>
            </a:r>
            <a:r>
              <a:rPr lang="en-GB" spc="-30" dirty="0">
                <a:cs typeface="Calibri"/>
              </a:rPr>
              <a:t> </a:t>
            </a:r>
            <a:r>
              <a:rPr lang="en-GB" dirty="0">
                <a:cs typeface="Calibri"/>
              </a:rPr>
              <a:t>it</a:t>
            </a:r>
            <a:r>
              <a:rPr lang="en-GB" spc="-25" dirty="0">
                <a:cs typeface="Calibri"/>
              </a:rPr>
              <a:t> </a:t>
            </a:r>
            <a:r>
              <a:rPr lang="en-GB" dirty="0">
                <a:cs typeface="Calibri"/>
              </a:rPr>
              <a:t>to</a:t>
            </a:r>
            <a:r>
              <a:rPr lang="en-GB" spc="-25" dirty="0">
                <a:cs typeface="Calibri"/>
              </a:rPr>
              <a:t> </a:t>
            </a:r>
            <a:r>
              <a:rPr lang="en-GB" dirty="0">
                <a:cs typeface="Calibri"/>
              </a:rPr>
              <a:t>work.</a:t>
            </a:r>
            <a:r>
              <a:rPr lang="en-GB" spc="-40" dirty="0">
                <a:cs typeface="Calibri"/>
              </a:rPr>
              <a:t> </a:t>
            </a:r>
            <a:r>
              <a:rPr lang="en-GB" dirty="0">
                <a:cs typeface="Calibri"/>
              </a:rPr>
              <a:t>SMS,</a:t>
            </a:r>
            <a:r>
              <a:rPr lang="en-GB" spc="-30" dirty="0">
                <a:cs typeface="Calibri"/>
              </a:rPr>
              <a:t> </a:t>
            </a:r>
            <a:r>
              <a:rPr lang="en-GB" dirty="0">
                <a:cs typeface="Calibri"/>
              </a:rPr>
              <a:t>email</a:t>
            </a:r>
            <a:r>
              <a:rPr lang="en-GB" spc="-25" dirty="0">
                <a:cs typeface="Calibri"/>
              </a:rPr>
              <a:t> </a:t>
            </a:r>
            <a:r>
              <a:rPr lang="en-GB" dirty="0">
                <a:cs typeface="Calibri"/>
              </a:rPr>
              <a:t>and</a:t>
            </a:r>
            <a:r>
              <a:rPr lang="en-GB" spc="-30" dirty="0">
                <a:cs typeface="Calibri"/>
              </a:rPr>
              <a:t> </a:t>
            </a:r>
            <a:r>
              <a:rPr lang="en-GB" dirty="0">
                <a:cs typeface="Calibri"/>
              </a:rPr>
              <a:t>now</a:t>
            </a:r>
            <a:r>
              <a:rPr lang="en-GB" spc="-10" dirty="0">
                <a:cs typeface="Calibri"/>
              </a:rPr>
              <a:t> </a:t>
            </a:r>
            <a:r>
              <a:rPr lang="en-GB" dirty="0" err="1">
                <a:cs typeface="Calibri"/>
              </a:rPr>
              <a:t>whatsapp</a:t>
            </a:r>
            <a:r>
              <a:rPr lang="en-GB" spc="-25" dirty="0">
                <a:cs typeface="Calibri"/>
              </a:rPr>
              <a:t> </a:t>
            </a:r>
            <a:r>
              <a:rPr lang="en-GB" dirty="0">
                <a:cs typeface="Calibri"/>
              </a:rPr>
              <a:t>and</a:t>
            </a:r>
            <a:r>
              <a:rPr lang="en-GB" spc="-20" dirty="0">
                <a:cs typeface="Calibri"/>
              </a:rPr>
              <a:t> </a:t>
            </a:r>
            <a:r>
              <a:rPr lang="en-GB" dirty="0" err="1">
                <a:cs typeface="Calibri"/>
              </a:rPr>
              <a:t>facebook</a:t>
            </a:r>
            <a:r>
              <a:rPr lang="en-GB" dirty="0">
                <a:cs typeface="Calibri"/>
              </a:rPr>
              <a:t>…</a:t>
            </a:r>
            <a:r>
              <a:rPr lang="en-GB" spc="-35" dirty="0">
                <a:cs typeface="Calibri"/>
              </a:rPr>
              <a:t> </a:t>
            </a:r>
            <a:r>
              <a:rPr lang="en-GB" dirty="0">
                <a:cs typeface="Calibri"/>
              </a:rPr>
              <a:t>It’s</a:t>
            </a:r>
            <a:r>
              <a:rPr lang="en-GB" spc="-25" dirty="0">
                <a:cs typeface="Calibri"/>
              </a:rPr>
              <a:t> </a:t>
            </a:r>
            <a:r>
              <a:rPr lang="en-GB" dirty="0">
                <a:cs typeface="Calibri"/>
              </a:rPr>
              <a:t>all</a:t>
            </a:r>
            <a:r>
              <a:rPr lang="en-GB" spc="-30" dirty="0">
                <a:cs typeface="Calibri"/>
              </a:rPr>
              <a:t> </a:t>
            </a:r>
            <a:r>
              <a:rPr lang="en-GB" spc="-25" dirty="0">
                <a:cs typeface="Calibri"/>
              </a:rPr>
              <a:t>too</a:t>
            </a:r>
            <a:r>
              <a:rPr lang="en-GB" dirty="0">
                <a:cs typeface="Calibri"/>
              </a:rPr>
              <a:t> </a:t>
            </a:r>
            <a:r>
              <a:rPr lang="en-GB" spc="-10" dirty="0">
                <a:cs typeface="Calibri"/>
              </a:rPr>
              <a:t>confusing.”</a:t>
            </a:r>
            <a:endParaRPr lang="en-GB" dirty="0">
              <a:cs typeface="Calibri"/>
            </a:endParaRPr>
          </a:p>
          <a:p>
            <a:pPr marL="240665" indent="-227965">
              <a:lnSpc>
                <a:spcPct val="100000"/>
              </a:lnSpc>
              <a:spcBef>
                <a:spcPts val="95"/>
              </a:spcBef>
              <a:buClr>
                <a:schemeClr val="accent4"/>
              </a:buClr>
              <a:buFont typeface="Arial MT"/>
              <a:buChar char="•"/>
              <a:tabLst>
                <a:tab pos="240665" algn="l"/>
              </a:tabLst>
            </a:pPr>
            <a:endParaRPr lang="en-GB" dirty="0">
              <a:cs typeface="Calibri"/>
            </a:endParaRPr>
          </a:p>
        </p:txBody>
      </p:sp>
    </p:spTree>
    <p:extLst>
      <p:ext uri="{BB962C8B-B14F-4D97-AF65-F5344CB8AC3E}">
        <p14:creationId xmlns:p14="http://schemas.microsoft.com/office/powerpoint/2010/main" val="1140672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434244" y="332229"/>
            <a:ext cx="6842759" cy="1102640"/>
          </a:xfrm>
        </p:spPr>
        <p:txBody>
          <a:bodyPr anchor="ctr">
            <a:normAutofit/>
          </a:bodyPr>
          <a:lstStyle/>
          <a:p>
            <a:r>
              <a:rPr lang="en-GB" sz="4400" dirty="0"/>
              <a:t>Coding </a:t>
            </a:r>
            <a:r>
              <a:rPr lang="en-GB" sz="4400" spc="-20" dirty="0"/>
              <a:t>example</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814644" y="1660641"/>
            <a:ext cx="10390911" cy="1287532"/>
          </a:xfrm>
          <a:prstGeom prst="rect">
            <a:avLst/>
          </a:prstGeom>
          <a:noFill/>
        </p:spPr>
        <p:txBody>
          <a:bodyPr wrap="square" rtlCol="0">
            <a:spAutoFit/>
          </a:bodyPr>
          <a:lstStyle/>
          <a:p>
            <a:pPr marL="12700">
              <a:lnSpc>
                <a:spcPts val="1835"/>
              </a:lnSpc>
              <a:spcBef>
                <a:spcPts val="100"/>
              </a:spcBef>
            </a:pPr>
            <a:r>
              <a:rPr lang="en-GB" b="1" dirty="0">
                <a:cs typeface="Calibri"/>
              </a:rPr>
              <a:t>Here</a:t>
            </a:r>
            <a:r>
              <a:rPr lang="en-GB" b="1" spc="-40" dirty="0">
                <a:cs typeface="Calibri"/>
              </a:rPr>
              <a:t> </a:t>
            </a:r>
            <a:r>
              <a:rPr lang="en-GB" b="1" dirty="0">
                <a:cs typeface="Calibri"/>
              </a:rPr>
              <a:t>is</a:t>
            </a:r>
            <a:r>
              <a:rPr lang="en-GB" b="1" spc="-35" dirty="0">
                <a:cs typeface="Calibri"/>
              </a:rPr>
              <a:t> </a:t>
            </a:r>
            <a:r>
              <a:rPr lang="en-GB" b="1" dirty="0">
                <a:cs typeface="Calibri"/>
              </a:rPr>
              <a:t>some</a:t>
            </a:r>
            <a:r>
              <a:rPr lang="en-GB" b="1" spc="-45" dirty="0">
                <a:cs typeface="Calibri"/>
              </a:rPr>
              <a:t> </a:t>
            </a:r>
            <a:r>
              <a:rPr lang="en-GB" b="1" dirty="0">
                <a:cs typeface="Calibri"/>
              </a:rPr>
              <a:t>of</a:t>
            </a:r>
            <a:r>
              <a:rPr lang="en-GB" b="1" spc="-30" dirty="0">
                <a:cs typeface="Calibri"/>
              </a:rPr>
              <a:t> </a:t>
            </a:r>
            <a:r>
              <a:rPr lang="en-GB" b="1" dirty="0">
                <a:cs typeface="Calibri"/>
              </a:rPr>
              <a:t>the</a:t>
            </a:r>
            <a:r>
              <a:rPr lang="en-GB" b="1" spc="-30" dirty="0">
                <a:cs typeface="Calibri"/>
              </a:rPr>
              <a:t> </a:t>
            </a:r>
            <a:r>
              <a:rPr lang="en-GB" b="1" dirty="0">
                <a:cs typeface="Calibri"/>
              </a:rPr>
              <a:t>feedback</a:t>
            </a:r>
            <a:r>
              <a:rPr lang="en-GB" b="1" spc="-60" dirty="0">
                <a:cs typeface="Calibri"/>
              </a:rPr>
              <a:t> </a:t>
            </a:r>
            <a:r>
              <a:rPr lang="en-GB" b="1" dirty="0">
                <a:cs typeface="Calibri"/>
              </a:rPr>
              <a:t>received</a:t>
            </a:r>
            <a:r>
              <a:rPr lang="en-GB" b="1" spc="-35" dirty="0">
                <a:cs typeface="Calibri"/>
              </a:rPr>
              <a:t> </a:t>
            </a:r>
            <a:r>
              <a:rPr lang="en-GB" b="1" dirty="0">
                <a:cs typeface="Calibri"/>
              </a:rPr>
              <a:t>from</a:t>
            </a:r>
            <a:r>
              <a:rPr lang="en-GB" b="1" spc="-45" dirty="0">
                <a:cs typeface="Calibri"/>
              </a:rPr>
              <a:t> </a:t>
            </a:r>
            <a:r>
              <a:rPr lang="en-GB" b="1" dirty="0">
                <a:cs typeface="Calibri"/>
              </a:rPr>
              <a:t>adults,</a:t>
            </a:r>
            <a:r>
              <a:rPr lang="en-GB" b="1" spc="-45" dirty="0">
                <a:cs typeface="Calibri"/>
              </a:rPr>
              <a:t> </a:t>
            </a:r>
            <a:r>
              <a:rPr lang="en-GB" b="1" spc="-10" dirty="0">
                <a:cs typeface="Calibri"/>
              </a:rPr>
              <a:t>regarding</a:t>
            </a:r>
            <a:r>
              <a:rPr lang="en-GB" b="1" spc="-50" dirty="0">
                <a:cs typeface="Calibri"/>
              </a:rPr>
              <a:t> </a:t>
            </a:r>
            <a:r>
              <a:rPr lang="en-GB" b="1" dirty="0">
                <a:cs typeface="Calibri"/>
              </a:rPr>
              <a:t>their</a:t>
            </a:r>
            <a:r>
              <a:rPr lang="en-GB" b="1" spc="-55" dirty="0">
                <a:cs typeface="Calibri"/>
              </a:rPr>
              <a:t> </a:t>
            </a:r>
            <a:r>
              <a:rPr lang="en-GB" b="1" dirty="0">
                <a:cs typeface="Calibri"/>
              </a:rPr>
              <a:t>experience</a:t>
            </a:r>
            <a:r>
              <a:rPr lang="en-GB" b="1" spc="-65" dirty="0">
                <a:cs typeface="Calibri"/>
              </a:rPr>
              <a:t> </a:t>
            </a:r>
            <a:r>
              <a:rPr lang="en-GB" b="1" spc="-25" dirty="0">
                <a:cs typeface="Calibri"/>
              </a:rPr>
              <a:t>of</a:t>
            </a:r>
            <a:endParaRPr lang="en-GB" dirty="0">
              <a:cs typeface="Calibri"/>
            </a:endParaRPr>
          </a:p>
          <a:p>
            <a:pPr marL="12700">
              <a:lnSpc>
                <a:spcPts val="1835"/>
              </a:lnSpc>
            </a:pPr>
            <a:r>
              <a:rPr lang="en-GB" b="1" dirty="0">
                <a:cs typeface="Calibri"/>
              </a:rPr>
              <a:t>using</a:t>
            </a:r>
            <a:r>
              <a:rPr lang="en-GB" b="1" spc="-60" dirty="0">
                <a:cs typeface="Calibri"/>
              </a:rPr>
              <a:t> </a:t>
            </a:r>
            <a:r>
              <a:rPr lang="en-GB" b="1" dirty="0">
                <a:cs typeface="Calibri"/>
              </a:rPr>
              <a:t>technology</a:t>
            </a:r>
            <a:r>
              <a:rPr lang="en-GB" b="1" spc="-50" dirty="0">
                <a:cs typeface="Calibri"/>
              </a:rPr>
              <a:t> </a:t>
            </a:r>
            <a:r>
              <a:rPr lang="en-GB" spc="-10" dirty="0">
                <a:cs typeface="Calibri"/>
              </a:rPr>
              <a:t>(unstructured</a:t>
            </a:r>
            <a:r>
              <a:rPr lang="en-GB" spc="-5" dirty="0">
                <a:cs typeface="Calibri"/>
              </a:rPr>
              <a:t> </a:t>
            </a:r>
            <a:r>
              <a:rPr lang="en-GB" dirty="0">
                <a:cs typeface="Calibri"/>
              </a:rPr>
              <a:t>or</a:t>
            </a:r>
            <a:r>
              <a:rPr lang="en-GB" spc="-25" dirty="0">
                <a:cs typeface="Calibri"/>
              </a:rPr>
              <a:t> </a:t>
            </a:r>
            <a:r>
              <a:rPr lang="en-GB" dirty="0">
                <a:cs typeface="Calibri"/>
              </a:rPr>
              <a:t>Informal</a:t>
            </a:r>
            <a:r>
              <a:rPr lang="en-GB" spc="-35" dirty="0">
                <a:cs typeface="Calibri"/>
              </a:rPr>
              <a:t> </a:t>
            </a:r>
            <a:r>
              <a:rPr lang="en-GB" spc="-10" dirty="0">
                <a:cs typeface="Calibri"/>
              </a:rPr>
              <a:t>Conversations):</a:t>
            </a:r>
            <a:endParaRPr lang="en-GB" dirty="0">
              <a:cs typeface="Calibri"/>
            </a:endParaRPr>
          </a:p>
          <a:p>
            <a:pPr>
              <a:lnSpc>
                <a:spcPct val="100000"/>
              </a:lnSpc>
              <a:spcBef>
                <a:spcPts val="1305"/>
              </a:spcBef>
            </a:pPr>
            <a:endParaRPr lang="en-GB" dirty="0">
              <a:cs typeface="Calibri"/>
            </a:endParaRPr>
          </a:p>
          <a:p>
            <a:pPr marL="240665" indent="-227965">
              <a:lnSpc>
                <a:spcPct val="100000"/>
              </a:lnSpc>
              <a:spcBef>
                <a:spcPts val="95"/>
              </a:spcBef>
              <a:buClr>
                <a:schemeClr val="accent4"/>
              </a:buClr>
              <a:buFont typeface="Arial MT"/>
              <a:buChar char="•"/>
              <a:tabLst>
                <a:tab pos="240665" algn="l"/>
              </a:tabLst>
            </a:pPr>
            <a:endParaRPr lang="en-GB" dirty="0">
              <a:cs typeface="Calibri"/>
            </a:endParaRPr>
          </a:p>
        </p:txBody>
      </p:sp>
      <p:sp>
        <p:nvSpPr>
          <p:cNvPr id="4" name="object 3"/>
          <p:cNvSpPr/>
          <p:nvPr/>
        </p:nvSpPr>
        <p:spPr>
          <a:xfrm>
            <a:off x="3184050" y="2361161"/>
            <a:ext cx="3286125" cy="280670"/>
          </a:xfrm>
          <a:custGeom>
            <a:avLst/>
            <a:gdLst/>
            <a:ahLst/>
            <a:cxnLst/>
            <a:rect l="l" t="t" r="r" b="b"/>
            <a:pathLst>
              <a:path w="3286125" h="280669">
                <a:moveTo>
                  <a:pt x="3285744" y="0"/>
                </a:moveTo>
                <a:lnTo>
                  <a:pt x="0" y="0"/>
                </a:lnTo>
                <a:lnTo>
                  <a:pt x="0" y="280415"/>
                </a:lnTo>
                <a:lnTo>
                  <a:pt x="3285744" y="280415"/>
                </a:lnTo>
                <a:lnTo>
                  <a:pt x="3285744" y="0"/>
                </a:lnTo>
                <a:close/>
              </a:path>
            </a:pathLst>
          </a:custGeom>
          <a:solidFill>
            <a:srgbClr val="FFFF00"/>
          </a:solidFill>
        </p:spPr>
        <p:txBody>
          <a:bodyPr wrap="square" lIns="0" tIns="0" rIns="0" bIns="0" rtlCol="0"/>
          <a:lstStyle/>
          <a:p>
            <a:endParaRPr/>
          </a:p>
        </p:txBody>
      </p:sp>
      <p:sp>
        <p:nvSpPr>
          <p:cNvPr id="5" name="object 4"/>
          <p:cNvSpPr/>
          <p:nvPr/>
        </p:nvSpPr>
        <p:spPr>
          <a:xfrm>
            <a:off x="5465479" y="4020796"/>
            <a:ext cx="3074035" cy="280670"/>
          </a:xfrm>
          <a:custGeom>
            <a:avLst/>
            <a:gdLst/>
            <a:ahLst/>
            <a:cxnLst/>
            <a:rect l="l" t="t" r="r" b="b"/>
            <a:pathLst>
              <a:path w="3074034" h="280670">
                <a:moveTo>
                  <a:pt x="3073907" y="0"/>
                </a:moveTo>
                <a:lnTo>
                  <a:pt x="0" y="0"/>
                </a:lnTo>
                <a:lnTo>
                  <a:pt x="0" y="280415"/>
                </a:lnTo>
                <a:lnTo>
                  <a:pt x="3073907" y="280415"/>
                </a:lnTo>
                <a:lnTo>
                  <a:pt x="3073907" y="0"/>
                </a:lnTo>
                <a:close/>
              </a:path>
            </a:pathLst>
          </a:custGeom>
          <a:solidFill>
            <a:srgbClr val="00FFFF"/>
          </a:solidFill>
        </p:spPr>
        <p:txBody>
          <a:bodyPr wrap="square" lIns="0" tIns="0" rIns="0" bIns="0" rtlCol="0"/>
          <a:lstStyle/>
          <a:p>
            <a:endParaRPr/>
          </a:p>
        </p:txBody>
      </p:sp>
      <p:sp>
        <p:nvSpPr>
          <p:cNvPr id="8" name="object 6"/>
          <p:cNvSpPr/>
          <p:nvPr/>
        </p:nvSpPr>
        <p:spPr>
          <a:xfrm>
            <a:off x="3184050" y="5030036"/>
            <a:ext cx="4151629" cy="280670"/>
          </a:xfrm>
          <a:custGeom>
            <a:avLst/>
            <a:gdLst/>
            <a:ahLst/>
            <a:cxnLst/>
            <a:rect l="l" t="t" r="r" b="b"/>
            <a:pathLst>
              <a:path w="4151629" h="280670">
                <a:moveTo>
                  <a:pt x="2846819" y="0"/>
                </a:moveTo>
                <a:lnTo>
                  <a:pt x="1938528" y="0"/>
                </a:lnTo>
                <a:lnTo>
                  <a:pt x="0" y="0"/>
                </a:lnTo>
                <a:lnTo>
                  <a:pt x="0" y="280416"/>
                </a:lnTo>
                <a:lnTo>
                  <a:pt x="1938528" y="280416"/>
                </a:lnTo>
                <a:lnTo>
                  <a:pt x="2846819" y="280416"/>
                </a:lnTo>
                <a:lnTo>
                  <a:pt x="2846819" y="0"/>
                </a:lnTo>
                <a:close/>
              </a:path>
              <a:path w="4151629" h="280670">
                <a:moveTo>
                  <a:pt x="4151376" y="0"/>
                </a:moveTo>
                <a:lnTo>
                  <a:pt x="3300984" y="0"/>
                </a:lnTo>
                <a:lnTo>
                  <a:pt x="2898648" y="0"/>
                </a:lnTo>
                <a:lnTo>
                  <a:pt x="2846832" y="0"/>
                </a:lnTo>
                <a:lnTo>
                  <a:pt x="2846832" y="280416"/>
                </a:lnTo>
                <a:lnTo>
                  <a:pt x="2898648" y="280416"/>
                </a:lnTo>
                <a:lnTo>
                  <a:pt x="3300984" y="280416"/>
                </a:lnTo>
                <a:lnTo>
                  <a:pt x="4151376" y="280416"/>
                </a:lnTo>
                <a:lnTo>
                  <a:pt x="4151376" y="0"/>
                </a:lnTo>
                <a:close/>
              </a:path>
            </a:pathLst>
          </a:custGeom>
          <a:solidFill>
            <a:srgbClr val="FF00FF"/>
          </a:solidFill>
        </p:spPr>
        <p:txBody>
          <a:bodyPr wrap="square" lIns="0" tIns="0" rIns="0" bIns="0" rtlCol="0"/>
          <a:lstStyle/>
          <a:p>
            <a:endParaRPr/>
          </a:p>
        </p:txBody>
      </p:sp>
      <p:sp>
        <p:nvSpPr>
          <p:cNvPr id="9" name="object 7"/>
          <p:cNvSpPr txBox="1"/>
          <p:nvPr/>
        </p:nvSpPr>
        <p:spPr>
          <a:xfrm>
            <a:off x="958502" y="2339520"/>
            <a:ext cx="7960359" cy="300355"/>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1800" dirty="0">
                <a:latin typeface="Calibri"/>
                <a:cs typeface="Calibri"/>
              </a:rPr>
              <a:t>“I</a:t>
            </a:r>
            <a:r>
              <a:rPr sz="1800" spc="-45" dirty="0">
                <a:latin typeface="Calibri"/>
                <a:cs typeface="Calibri"/>
              </a:rPr>
              <a:t> </a:t>
            </a:r>
            <a:r>
              <a:rPr sz="1800" dirty="0">
                <a:latin typeface="Calibri"/>
                <a:cs typeface="Calibri"/>
              </a:rPr>
              <a:t>find</a:t>
            </a:r>
            <a:r>
              <a:rPr sz="1800" spc="-20" dirty="0">
                <a:latin typeface="Calibri"/>
                <a:cs typeface="Calibri"/>
              </a:rPr>
              <a:t> </a:t>
            </a:r>
            <a:r>
              <a:rPr sz="1800" dirty="0">
                <a:latin typeface="Calibri"/>
                <a:cs typeface="Calibri"/>
              </a:rPr>
              <a:t>the</a:t>
            </a:r>
            <a:r>
              <a:rPr sz="1800" spc="-20" dirty="0">
                <a:latin typeface="Calibri"/>
                <a:cs typeface="Calibri"/>
              </a:rPr>
              <a:t> </a:t>
            </a:r>
            <a:r>
              <a:rPr sz="1800" dirty="0">
                <a:latin typeface="Calibri"/>
                <a:cs typeface="Calibri"/>
              </a:rPr>
              <a:t>size</a:t>
            </a:r>
            <a:r>
              <a:rPr sz="1800" spc="-35"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text</a:t>
            </a:r>
            <a:r>
              <a:rPr sz="1800" spc="-35" dirty="0">
                <a:latin typeface="Calibri"/>
                <a:cs typeface="Calibri"/>
              </a:rPr>
              <a:t> </a:t>
            </a:r>
            <a:r>
              <a:rPr sz="1800" dirty="0">
                <a:latin typeface="Calibri"/>
                <a:cs typeface="Calibri"/>
              </a:rPr>
              <a:t>on</a:t>
            </a:r>
            <a:r>
              <a:rPr sz="1800" spc="-25" dirty="0">
                <a:latin typeface="Calibri"/>
                <a:cs typeface="Calibri"/>
              </a:rPr>
              <a:t> </a:t>
            </a:r>
            <a:r>
              <a:rPr sz="1800" dirty="0">
                <a:latin typeface="Calibri"/>
                <a:cs typeface="Calibri"/>
              </a:rPr>
              <a:t>the</a:t>
            </a:r>
            <a:r>
              <a:rPr sz="1800" spc="-20" dirty="0">
                <a:latin typeface="Calibri"/>
                <a:cs typeface="Calibri"/>
              </a:rPr>
              <a:t> </a:t>
            </a:r>
            <a:r>
              <a:rPr sz="1800" dirty="0">
                <a:latin typeface="Calibri"/>
                <a:cs typeface="Calibri"/>
              </a:rPr>
              <a:t>iPhone</a:t>
            </a:r>
            <a:r>
              <a:rPr sz="1800" spc="-20" dirty="0">
                <a:latin typeface="Calibri"/>
                <a:cs typeface="Calibri"/>
              </a:rPr>
              <a:t> </a:t>
            </a:r>
            <a:r>
              <a:rPr sz="1800" dirty="0">
                <a:latin typeface="Calibri"/>
                <a:cs typeface="Calibri"/>
              </a:rPr>
              <a:t>screen</a:t>
            </a:r>
            <a:r>
              <a:rPr sz="1800" spc="-25" dirty="0">
                <a:latin typeface="Calibri"/>
                <a:cs typeface="Calibri"/>
              </a:rPr>
              <a:t> </a:t>
            </a:r>
            <a:r>
              <a:rPr sz="1800" dirty="0">
                <a:latin typeface="Calibri"/>
                <a:cs typeface="Calibri"/>
              </a:rPr>
              <a:t>too</a:t>
            </a:r>
            <a:r>
              <a:rPr sz="1800" spc="-40" dirty="0">
                <a:latin typeface="Calibri"/>
                <a:cs typeface="Calibri"/>
              </a:rPr>
              <a:t> </a:t>
            </a:r>
            <a:r>
              <a:rPr sz="1800" dirty="0">
                <a:latin typeface="Calibri"/>
                <a:cs typeface="Calibri"/>
              </a:rPr>
              <a:t>small,</a:t>
            </a:r>
            <a:r>
              <a:rPr sz="1800" spc="-40" dirty="0">
                <a:latin typeface="Calibri"/>
                <a:cs typeface="Calibri"/>
              </a:rPr>
              <a:t> </a:t>
            </a:r>
            <a:r>
              <a:rPr sz="1800" dirty="0">
                <a:latin typeface="Calibri"/>
                <a:cs typeface="Calibri"/>
              </a:rPr>
              <a:t>and</a:t>
            </a:r>
            <a:r>
              <a:rPr sz="1800" spc="-20" dirty="0">
                <a:latin typeface="Calibri"/>
                <a:cs typeface="Calibri"/>
              </a:rPr>
              <a:t> </a:t>
            </a:r>
            <a:r>
              <a:rPr sz="1800" dirty="0">
                <a:latin typeface="Calibri"/>
                <a:cs typeface="Calibri"/>
              </a:rPr>
              <a:t>if</a:t>
            </a:r>
            <a:r>
              <a:rPr sz="1800" spc="-25" dirty="0">
                <a:latin typeface="Calibri"/>
                <a:cs typeface="Calibri"/>
              </a:rPr>
              <a:t> </a:t>
            </a:r>
            <a:r>
              <a:rPr sz="1800" dirty="0">
                <a:latin typeface="Calibri"/>
                <a:cs typeface="Calibri"/>
              </a:rPr>
              <a:t>you</a:t>
            </a:r>
            <a:r>
              <a:rPr sz="1800" spc="-40" dirty="0">
                <a:latin typeface="Calibri"/>
                <a:cs typeface="Calibri"/>
              </a:rPr>
              <a:t> </a:t>
            </a:r>
            <a:r>
              <a:rPr sz="1800" dirty="0">
                <a:latin typeface="Calibri"/>
                <a:cs typeface="Calibri"/>
              </a:rPr>
              <a:t>make</a:t>
            </a:r>
            <a:r>
              <a:rPr sz="1800" spc="-35" dirty="0">
                <a:latin typeface="Calibri"/>
                <a:cs typeface="Calibri"/>
              </a:rPr>
              <a:t> </a:t>
            </a:r>
            <a:r>
              <a:rPr sz="1800" dirty="0">
                <a:latin typeface="Calibri"/>
                <a:cs typeface="Calibri"/>
              </a:rPr>
              <a:t>it</a:t>
            </a:r>
            <a:r>
              <a:rPr sz="1800" spc="-35" dirty="0">
                <a:latin typeface="Calibri"/>
                <a:cs typeface="Calibri"/>
              </a:rPr>
              <a:t> </a:t>
            </a:r>
            <a:r>
              <a:rPr sz="1800" spc="-10" dirty="0">
                <a:latin typeface="Calibri"/>
                <a:cs typeface="Calibri"/>
              </a:rPr>
              <a:t>bigger,</a:t>
            </a:r>
            <a:endParaRPr sz="1800" dirty="0">
              <a:latin typeface="Calibri"/>
              <a:cs typeface="Calibri"/>
            </a:endParaRPr>
          </a:p>
        </p:txBody>
      </p:sp>
      <p:sp>
        <p:nvSpPr>
          <p:cNvPr id="10" name="object 8"/>
          <p:cNvSpPr txBox="1"/>
          <p:nvPr/>
        </p:nvSpPr>
        <p:spPr>
          <a:xfrm>
            <a:off x="1250096" y="2599841"/>
            <a:ext cx="7436484"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then</a:t>
            </a:r>
            <a:r>
              <a:rPr sz="1800" spc="-25" dirty="0">
                <a:latin typeface="Calibri"/>
                <a:cs typeface="Calibri"/>
              </a:rPr>
              <a:t> </a:t>
            </a:r>
            <a:r>
              <a:rPr sz="1800" spc="-10" dirty="0">
                <a:latin typeface="Calibri"/>
                <a:cs typeface="Calibri"/>
              </a:rPr>
              <a:t>there’s</a:t>
            </a:r>
            <a:r>
              <a:rPr sz="1800" spc="-35" dirty="0">
                <a:latin typeface="Calibri"/>
                <a:cs typeface="Calibri"/>
              </a:rPr>
              <a:t> </a:t>
            </a:r>
            <a:r>
              <a:rPr sz="1800" dirty="0">
                <a:latin typeface="Calibri"/>
                <a:cs typeface="Calibri"/>
              </a:rPr>
              <a:t>not</a:t>
            </a:r>
            <a:r>
              <a:rPr sz="1800" spc="-30" dirty="0">
                <a:latin typeface="Calibri"/>
                <a:cs typeface="Calibri"/>
              </a:rPr>
              <a:t> </a:t>
            </a:r>
            <a:r>
              <a:rPr sz="1800" dirty="0">
                <a:latin typeface="Calibri"/>
                <a:cs typeface="Calibri"/>
              </a:rPr>
              <a:t>a</a:t>
            </a:r>
            <a:r>
              <a:rPr sz="1800" spc="-30" dirty="0">
                <a:latin typeface="Calibri"/>
                <a:cs typeface="Calibri"/>
              </a:rPr>
              <a:t> </a:t>
            </a:r>
            <a:r>
              <a:rPr sz="1800" dirty="0">
                <a:latin typeface="Calibri"/>
                <a:cs typeface="Calibri"/>
              </a:rPr>
              <a:t>lot</a:t>
            </a:r>
            <a:r>
              <a:rPr sz="1800" spc="-30"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space</a:t>
            </a:r>
            <a:r>
              <a:rPr sz="1800" spc="-25" dirty="0">
                <a:latin typeface="Calibri"/>
                <a:cs typeface="Calibri"/>
              </a:rPr>
              <a:t> </a:t>
            </a:r>
            <a:r>
              <a:rPr sz="1800" dirty="0">
                <a:latin typeface="Calibri"/>
                <a:cs typeface="Calibri"/>
              </a:rPr>
              <a:t>for</a:t>
            </a:r>
            <a:r>
              <a:rPr sz="1800" spc="-40" dirty="0">
                <a:latin typeface="Calibri"/>
                <a:cs typeface="Calibri"/>
              </a:rPr>
              <a:t> </a:t>
            </a:r>
            <a:r>
              <a:rPr sz="1800" dirty="0">
                <a:latin typeface="Calibri"/>
                <a:cs typeface="Calibri"/>
              </a:rPr>
              <a:t>more</a:t>
            </a:r>
            <a:r>
              <a:rPr sz="1800" spc="-35" dirty="0">
                <a:latin typeface="Calibri"/>
                <a:cs typeface="Calibri"/>
              </a:rPr>
              <a:t> </a:t>
            </a:r>
            <a:r>
              <a:rPr sz="1800" dirty="0">
                <a:latin typeface="Calibri"/>
                <a:cs typeface="Calibri"/>
              </a:rPr>
              <a:t>than</a:t>
            </a:r>
            <a:r>
              <a:rPr sz="1800" spc="-25" dirty="0">
                <a:latin typeface="Calibri"/>
                <a:cs typeface="Calibri"/>
              </a:rPr>
              <a:t> </a:t>
            </a:r>
            <a:r>
              <a:rPr sz="1800" dirty="0">
                <a:latin typeface="Calibri"/>
                <a:cs typeface="Calibri"/>
              </a:rPr>
              <a:t>a</a:t>
            </a:r>
            <a:r>
              <a:rPr sz="1800" spc="-30" dirty="0">
                <a:latin typeface="Calibri"/>
                <a:cs typeface="Calibri"/>
              </a:rPr>
              <a:t> </a:t>
            </a:r>
            <a:r>
              <a:rPr sz="1800" dirty="0">
                <a:latin typeface="Calibri"/>
                <a:cs typeface="Calibri"/>
              </a:rPr>
              <a:t>few</a:t>
            </a:r>
            <a:r>
              <a:rPr sz="1800" spc="-30" dirty="0">
                <a:latin typeface="Calibri"/>
                <a:cs typeface="Calibri"/>
              </a:rPr>
              <a:t> </a:t>
            </a:r>
            <a:r>
              <a:rPr sz="1800" dirty="0">
                <a:latin typeface="Calibri"/>
                <a:cs typeface="Calibri"/>
              </a:rPr>
              <a:t>words.</a:t>
            </a:r>
            <a:r>
              <a:rPr sz="1800" spc="-30" dirty="0">
                <a:latin typeface="Calibri"/>
                <a:cs typeface="Calibri"/>
              </a:rPr>
              <a:t> </a:t>
            </a:r>
            <a:r>
              <a:rPr sz="1800" dirty="0">
                <a:latin typeface="Calibri"/>
                <a:cs typeface="Calibri"/>
              </a:rPr>
              <a:t>It’s</a:t>
            </a:r>
            <a:r>
              <a:rPr sz="1800" spc="-45" dirty="0">
                <a:latin typeface="Calibri"/>
                <a:cs typeface="Calibri"/>
              </a:rPr>
              <a:t> </a:t>
            </a:r>
            <a:r>
              <a:rPr sz="1800" dirty="0">
                <a:latin typeface="Calibri"/>
                <a:cs typeface="Calibri"/>
              </a:rPr>
              <a:t>just</a:t>
            </a:r>
            <a:r>
              <a:rPr sz="1800" spc="-30" dirty="0">
                <a:latin typeface="Calibri"/>
                <a:cs typeface="Calibri"/>
              </a:rPr>
              <a:t> </a:t>
            </a:r>
            <a:r>
              <a:rPr sz="1800" dirty="0">
                <a:latin typeface="Calibri"/>
                <a:cs typeface="Calibri"/>
              </a:rPr>
              <a:t>not</a:t>
            </a:r>
            <a:r>
              <a:rPr sz="1800" spc="-35" dirty="0">
                <a:latin typeface="Calibri"/>
                <a:cs typeface="Calibri"/>
              </a:rPr>
              <a:t> </a:t>
            </a:r>
            <a:r>
              <a:rPr sz="1800" spc="-10" dirty="0">
                <a:latin typeface="Calibri"/>
                <a:cs typeface="Calibri"/>
              </a:rPr>
              <a:t>practical.”</a:t>
            </a:r>
            <a:endParaRPr sz="1800" dirty="0">
              <a:latin typeface="Calibri"/>
              <a:cs typeface="Calibri"/>
            </a:endParaRPr>
          </a:p>
        </p:txBody>
      </p:sp>
      <p:sp>
        <p:nvSpPr>
          <p:cNvPr id="11" name="object 9"/>
          <p:cNvSpPr txBox="1"/>
          <p:nvPr/>
        </p:nvSpPr>
        <p:spPr>
          <a:xfrm>
            <a:off x="5015898" y="3191740"/>
            <a:ext cx="1819910" cy="280670"/>
          </a:xfrm>
          <a:prstGeom prst="rect">
            <a:avLst/>
          </a:prstGeom>
          <a:solidFill>
            <a:srgbClr val="00FF00"/>
          </a:solidFill>
        </p:spPr>
        <p:txBody>
          <a:bodyPr vert="horz" wrap="square" lIns="0" tIns="0" rIns="0" bIns="0" rtlCol="0">
            <a:spAutoFit/>
          </a:bodyPr>
          <a:lstStyle/>
          <a:p>
            <a:pPr marL="635">
              <a:lnSpc>
                <a:spcPts val="2095"/>
              </a:lnSpc>
            </a:pPr>
            <a:r>
              <a:rPr sz="1800" dirty="0">
                <a:latin typeface="Calibri"/>
                <a:cs typeface="Calibri"/>
              </a:rPr>
              <a:t>make</a:t>
            </a:r>
            <a:r>
              <a:rPr sz="1800" spc="-45" dirty="0">
                <a:latin typeface="Calibri"/>
                <a:cs typeface="Calibri"/>
              </a:rPr>
              <a:t> </a:t>
            </a:r>
            <a:r>
              <a:rPr sz="1800" dirty="0">
                <a:latin typeface="Calibri"/>
                <a:cs typeface="Calibri"/>
              </a:rPr>
              <a:t>my</a:t>
            </a:r>
            <a:r>
              <a:rPr sz="1800" spc="-45" dirty="0">
                <a:latin typeface="Calibri"/>
                <a:cs typeface="Calibri"/>
              </a:rPr>
              <a:t> </a:t>
            </a:r>
            <a:r>
              <a:rPr sz="1800" dirty="0">
                <a:latin typeface="Calibri"/>
                <a:cs typeface="Calibri"/>
              </a:rPr>
              <a:t>back</a:t>
            </a:r>
            <a:r>
              <a:rPr sz="1800" spc="-45" dirty="0">
                <a:latin typeface="Calibri"/>
                <a:cs typeface="Calibri"/>
              </a:rPr>
              <a:t> </a:t>
            </a:r>
            <a:r>
              <a:rPr sz="1800" spc="-20" dirty="0">
                <a:latin typeface="Calibri"/>
                <a:cs typeface="Calibri"/>
              </a:rPr>
              <a:t>hurt</a:t>
            </a:r>
            <a:endParaRPr sz="1800">
              <a:latin typeface="Calibri"/>
              <a:cs typeface="Calibri"/>
            </a:endParaRPr>
          </a:p>
        </p:txBody>
      </p:sp>
      <p:sp>
        <p:nvSpPr>
          <p:cNvPr id="12" name="object 10"/>
          <p:cNvSpPr txBox="1"/>
          <p:nvPr/>
        </p:nvSpPr>
        <p:spPr>
          <a:xfrm>
            <a:off x="958502" y="3219788"/>
            <a:ext cx="9764916" cy="246862"/>
          </a:xfrm>
          <a:prstGeom prst="rect">
            <a:avLst/>
          </a:prstGeom>
        </p:spPr>
        <p:txBody>
          <a:bodyPr vert="horz" wrap="square" lIns="0" tIns="12700" rIns="0" bIns="0" rtlCol="0">
            <a:spAutoFit/>
          </a:bodyPr>
          <a:lstStyle/>
          <a:p>
            <a:pPr marL="240665" indent="-227965">
              <a:lnSpc>
                <a:spcPts val="1835"/>
              </a:lnSpc>
              <a:spcBef>
                <a:spcPts val="100"/>
              </a:spcBef>
              <a:buFont typeface="Arial MT"/>
              <a:buChar char="•"/>
              <a:tabLst>
                <a:tab pos="240665" algn="l"/>
                <a:tab pos="5877560" algn="l"/>
              </a:tabLst>
            </a:pPr>
            <a:r>
              <a:rPr sz="1800" dirty="0">
                <a:latin typeface="Calibri"/>
                <a:cs typeface="Calibri"/>
              </a:rPr>
              <a:t>“I’ve</a:t>
            </a:r>
            <a:r>
              <a:rPr sz="1800" spc="-55" dirty="0">
                <a:latin typeface="Calibri"/>
                <a:cs typeface="Calibri"/>
              </a:rPr>
              <a:t> </a:t>
            </a:r>
            <a:r>
              <a:rPr sz="1800" dirty="0">
                <a:latin typeface="Calibri"/>
                <a:cs typeface="Calibri"/>
              </a:rPr>
              <a:t>yet</a:t>
            </a:r>
            <a:r>
              <a:rPr sz="1800" spc="-35" dirty="0">
                <a:latin typeface="Calibri"/>
                <a:cs typeface="Calibri"/>
              </a:rPr>
              <a:t> </a:t>
            </a:r>
            <a:r>
              <a:rPr sz="1800" dirty="0">
                <a:latin typeface="Calibri"/>
                <a:cs typeface="Calibri"/>
              </a:rPr>
              <a:t>to</a:t>
            </a:r>
            <a:r>
              <a:rPr sz="1800" spc="-40" dirty="0">
                <a:latin typeface="Calibri"/>
                <a:cs typeface="Calibri"/>
              </a:rPr>
              <a:t> </a:t>
            </a:r>
            <a:r>
              <a:rPr sz="1800" dirty="0">
                <a:latin typeface="Calibri"/>
                <a:cs typeface="Calibri"/>
              </a:rPr>
              <a:t>find</a:t>
            </a:r>
            <a:r>
              <a:rPr sz="1800" spc="-25" dirty="0">
                <a:latin typeface="Calibri"/>
                <a:cs typeface="Calibri"/>
              </a:rPr>
              <a:t> </a:t>
            </a:r>
            <a:r>
              <a:rPr sz="1800" dirty="0">
                <a:latin typeface="Calibri"/>
                <a:cs typeface="Calibri"/>
              </a:rPr>
              <a:t>a</a:t>
            </a:r>
            <a:r>
              <a:rPr sz="1800" spc="-40" dirty="0">
                <a:latin typeface="Calibri"/>
                <a:cs typeface="Calibri"/>
              </a:rPr>
              <a:t> </a:t>
            </a:r>
            <a:r>
              <a:rPr sz="1800" dirty="0">
                <a:latin typeface="Calibri"/>
                <a:cs typeface="Calibri"/>
              </a:rPr>
              <a:t>desk</a:t>
            </a:r>
            <a:r>
              <a:rPr sz="1800" spc="-50" dirty="0">
                <a:latin typeface="Calibri"/>
                <a:cs typeface="Calibri"/>
              </a:rPr>
              <a:t> </a:t>
            </a:r>
            <a:r>
              <a:rPr sz="1800" dirty="0">
                <a:latin typeface="Calibri"/>
                <a:cs typeface="Calibri"/>
              </a:rPr>
              <a:t>chair</a:t>
            </a:r>
            <a:r>
              <a:rPr sz="1800" spc="-20" dirty="0">
                <a:latin typeface="Calibri"/>
                <a:cs typeface="Calibri"/>
              </a:rPr>
              <a:t> </a:t>
            </a:r>
            <a:r>
              <a:rPr sz="1800" dirty="0">
                <a:latin typeface="Calibri"/>
                <a:cs typeface="Calibri"/>
              </a:rPr>
              <a:t>that</a:t>
            </a:r>
            <a:r>
              <a:rPr sz="1800" spc="-40" dirty="0">
                <a:latin typeface="Calibri"/>
                <a:cs typeface="Calibri"/>
              </a:rPr>
              <a:t> </a:t>
            </a:r>
            <a:r>
              <a:rPr sz="1800" spc="-10" dirty="0">
                <a:latin typeface="Calibri"/>
                <a:cs typeface="Calibri"/>
              </a:rPr>
              <a:t>doesn’t</a:t>
            </a:r>
            <a:r>
              <a:rPr sz="1800" dirty="0">
                <a:latin typeface="Calibri"/>
                <a:cs typeface="Calibri"/>
              </a:rPr>
              <a:t>	more</a:t>
            </a:r>
            <a:r>
              <a:rPr sz="1800" spc="-15" dirty="0">
                <a:latin typeface="Calibri"/>
                <a:cs typeface="Calibri"/>
              </a:rPr>
              <a:t> </a:t>
            </a:r>
            <a:r>
              <a:rPr sz="1800" dirty="0">
                <a:latin typeface="Calibri"/>
                <a:cs typeface="Calibri"/>
              </a:rPr>
              <a:t>than</a:t>
            </a:r>
            <a:r>
              <a:rPr sz="1800" spc="-30" dirty="0">
                <a:latin typeface="Calibri"/>
                <a:cs typeface="Calibri"/>
              </a:rPr>
              <a:t> </a:t>
            </a:r>
            <a:r>
              <a:rPr sz="1800" dirty="0">
                <a:latin typeface="Calibri"/>
                <a:cs typeface="Calibri"/>
              </a:rPr>
              <a:t>it</a:t>
            </a:r>
            <a:r>
              <a:rPr sz="1800" spc="-25" dirty="0">
                <a:latin typeface="Calibri"/>
                <a:cs typeface="Calibri"/>
              </a:rPr>
              <a:t> </a:t>
            </a:r>
            <a:r>
              <a:rPr sz="1800" spc="-10" dirty="0">
                <a:latin typeface="Calibri"/>
                <a:cs typeface="Calibri"/>
              </a:rPr>
              <a:t>already</a:t>
            </a:r>
            <a:r>
              <a:rPr lang="en-GB" dirty="0">
                <a:latin typeface="Calibri"/>
                <a:cs typeface="Calibri"/>
              </a:rPr>
              <a:t> </a:t>
            </a:r>
            <a:r>
              <a:rPr sz="1800" spc="-10" dirty="0">
                <a:latin typeface="Calibri"/>
                <a:cs typeface="Calibri"/>
              </a:rPr>
              <a:t>does.”</a:t>
            </a:r>
            <a:endParaRPr sz="1800" dirty="0">
              <a:latin typeface="Calibri"/>
              <a:cs typeface="Calibri"/>
            </a:endParaRPr>
          </a:p>
        </p:txBody>
      </p:sp>
      <p:sp>
        <p:nvSpPr>
          <p:cNvPr id="13" name="object 11"/>
          <p:cNvSpPr txBox="1"/>
          <p:nvPr/>
        </p:nvSpPr>
        <p:spPr>
          <a:xfrm>
            <a:off x="958502" y="3999968"/>
            <a:ext cx="845185" cy="29972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1800" dirty="0">
                <a:latin typeface="Calibri"/>
                <a:cs typeface="Calibri"/>
              </a:rPr>
              <a:t>“I</a:t>
            </a:r>
            <a:r>
              <a:rPr sz="1800" spc="-10" dirty="0">
                <a:latin typeface="Calibri"/>
                <a:cs typeface="Calibri"/>
              </a:rPr>
              <a:t> </a:t>
            </a:r>
            <a:r>
              <a:rPr sz="1800" spc="-20" dirty="0">
                <a:latin typeface="Calibri"/>
                <a:cs typeface="Calibri"/>
              </a:rPr>
              <a:t>love</a:t>
            </a:r>
            <a:endParaRPr sz="1800">
              <a:latin typeface="Calibri"/>
              <a:cs typeface="Calibri"/>
            </a:endParaRPr>
          </a:p>
        </p:txBody>
      </p:sp>
      <p:sp>
        <p:nvSpPr>
          <p:cNvPr id="14" name="object 12"/>
          <p:cNvSpPr txBox="1"/>
          <p:nvPr/>
        </p:nvSpPr>
        <p:spPr>
          <a:xfrm>
            <a:off x="1844455" y="4020796"/>
            <a:ext cx="547370" cy="280670"/>
          </a:xfrm>
          <a:prstGeom prst="rect">
            <a:avLst/>
          </a:prstGeom>
          <a:solidFill>
            <a:srgbClr val="FF00FF"/>
          </a:solidFill>
        </p:spPr>
        <p:txBody>
          <a:bodyPr vert="horz" wrap="square" lIns="0" tIns="0" rIns="0" bIns="0" rtlCol="0">
            <a:spAutoFit/>
          </a:bodyPr>
          <a:lstStyle/>
          <a:p>
            <a:pPr>
              <a:lnSpc>
                <a:spcPts val="2095"/>
              </a:lnSpc>
            </a:pPr>
            <a:r>
              <a:rPr sz="1800" spc="-10" dirty="0">
                <a:latin typeface="Calibri"/>
                <a:cs typeface="Calibri"/>
              </a:rPr>
              <a:t>Skype</a:t>
            </a:r>
            <a:endParaRPr sz="1800">
              <a:latin typeface="Calibri"/>
              <a:cs typeface="Calibri"/>
            </a:endParaRPr>
          </a:p>
        </p:txBody>
      </p:sp>
      <p:sp>
        <p:nvSpPr>
          <p:cNvPr id="15" name="object 13"/>
          <p:cNvSpPr txBox="1"/>
          <p:nvPr/>
        </p:nvSpPr>
        <p:spPr>
          <a:xfrm>
            <a:off x="2430940" y="3999968"/>
            <a:ext cx="61798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most</a:t>
            </a:r>
            <a:r>
              <a:rPr sz="1800" spc="-35"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all.</a:t>
            </a:r>
            <a:r>
              <a:rPr sz="1800" spc="-35" dirty="0">
                <a:latin typeface="Calibri"/>
                <a:cs typeface="Calibri"/>
              </a:rPr>
              <a:t> </a:t>
            </a:r>
            <a:r>
              <a:rPr sz="1800" dirty="0">
                <a:latin typeface="Calibri"/>
                <a:cs typeface="Calibri"/>
              </a:rPr>
              <a:t>Sometimes</a:t>
            </a:r>
            <a:r>
              <a:rPr sz="1800" spc="-25" dirty="0">
                <a:latin typeface="Calibri"/>
                <a:cs typeface="Calibri"/>
              </a:rPr>
              <a:t> </a:t>
            </a:r>
            <a:r>
              <a:rPr sz="1800" dirty="0">
                <a:latin typeface="Calibri"/>
                <a:cs typeface="Calibri"/>
              </a:rPr>
              <a:t>I</a:t>
            </a:r>
            <a:r>
              <a:rPr sz="1800" spc="-25" dirty="0">
                <a:latin typeface="Calibri"/>
                <a:cs typeface="Calibri"/>
              </a:rPr>
              <a:t> </a:t>
            </a:r>
            <a:r>
              <a:rPr sz="1800" dirty="0">
                <a:latin typeface="Calibri"/>
                <a:cs typeface="Calibri"/>
              </a:rPr>
              <a:t>have</a:t>
            </a:r>
            <a:r>
              <a:rPr sz="1800" spc="-40" dirty="0">
                <a:latin typeface="Calibri"/>
                <a:cs typeface="Calibri"/>
              </a:rPr>
              <a:t> </a:t>
            </a:r>
            <a:r>
              <a:rPr sz="1800" dirty="0">
                <a:latin typeface="Calibri"/>
                <a:cs typeface="Calibri"/>
              </a:rPr>
              <a:t>to</a:t>
            </a:r>
            <a:r>
              <a:rPr sz="1800" spc="-30" dirty="0">
                <a:latin typeface="Calibri"/>
                <a:cs typeface="Calibri"/>
              </a:rPr>
              <a:t> </a:t>
            </a:r>
            <a:r>
              <a:rPr sz="1800" dirty="0">
                <a:latin typeface="Calibri"/>
                <a:cs typeface="Calibri"/>
              </a:rPr>
              <a:t>ask</a:t>
            </a:r>
            <a:r>
              <a:rPr sz="1800" spc="-30" dirty="0">
                <a:latin typeface="Calibri"/>
                <a:cs typeface="Calibri"/>
              </a:rPr>
              <a:t> </a:t>
            </a:r>
            <a:r>
              <a:rPr sz="1800" dirty="0">
                <a:latin typeface="Calibri"/>
                <a:cs typeface="Calibri"/>
              </a:rPr>
              <a:t>my</a:t>
            </a:r>
            <a:r>
              <a:rPr sz="1800" spc="-25" dirty="0">
                <a:latin typeface="Calibri"/>
                <a:cs typeface="Calibri"/>
              </a:rPr>
              <a:t> </a:t>
            </a:r>
            <a:r>
              <a:rPr sz="1800" dirty="0">
                <a:latin typeface="Calibri"/>
                <a:cs typeface="Calibri"/>
              </a:rPr>
              <a:t>daughter</a:t>
            </a:r>
            <a:r>
              <a:rPr sz="1800" spc="-30" dirty="0">
                <a:latin typeface="Calibri"/>
                <a:cs typeface="Calibri"/>
              </a:rPr>
              <a:t> </a:t>
            </a:r>
            <a:r>
              <a:rPr sz="1800" dirty="0">
                <a:latin typeface="Calibri"/>
                <a:cs typeface="Calibri"/>
              </a:rPr>
              <a:t>to</a:t>
            </a:r>
            <a:r>
              <a:rPr sz="1800" spc="-20" dirty="0">
                <a:latin typeface="Calibri"/>
                <a:cs typeface="Calibri"/>
              </a:rPr>
              <a:t> </a:t>
            </a:r>
            <a:r>
              <a:rPr sz="1800" dirty="0">
                <a:latin typeface="Calibri"/>
                <a:cs typeface="Calibri"/>
              </a:rPr>
              <a:t>get</a:t>
            </a:r>
            <a:r>
              <a:rPr sz="1800" spc="-35" dirty="0">
                <a:latin typeface="Calibri"/>
                <a:cs typeface="Calibri"/>
              </a:rPr>
              <a:t> </a:t>
            </a:r>
            <a:r>
              <a:rPr sz="1800" dirty="0">
                <a:latin typeface="Calibri"/>
                <a:cs typeface="Calibri"/>
              </a:rPr>
              <a:t>it</a:t>
            </a:r>
            <a:r>
              <a:rPr sz="1800" spc="-35" dirty="0">
                <a:latin typeface="Calibri"/>
                <a:cs typeface="Calibri"/>
              </a:rPr>
              <a:t> </a:t>
            </a:r>
            <a:r>
              <a:rPr sz="1800" dirty="0">
                <a:latin typeface="Calibri"/>
                <a:cs typeface="Calibri"/>
              </a:rPr>
              <a:t>to</a:t>
            </a:r>
            <a:r>
              <a:rPr sz="1800" spc="-20" dirty="0">
                <a:latin typeface="Calibri"/>
                <a:cs typeface="Calibri"/>
              </a:rPr>
              <a:t> </a:t>
            </a:r>
            <a:r>
              <a:rPr sz="1800" spc="-10" dirty="0">
                <a:latin typeface="Calibri"/>
                <a:cs typeface="Calibri"/>
              </a:rPr>
              <a:t>work,</a:t>
            </a:r>
            <a:endParaRPr sz="1800">
              <a:latin typeface="Calibri"/>
              <a:cs typeface="Calibri"/>
            </a:endParaRPr>
          </a:p>
        </p:txBody>
      </p:sp>
      <p:sp>
        <p:nvSpPr>
          <p:cNvPr id="16" name="object 14"/>
          <p:cNvSpPr txBox="1"/>
          <p:nvPr/>
        </p:nvSpPr>
        <p:spPr>
          <a:xfrm>
            <a:off x="1250096" y="4270065"/>
            <a:ext cx="2173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but</a:t>
            </a:r>
            <a:r>
              <a:rPr sz="1800" spc="-40" dirty="0">
                <a:latin typeface="Calibri"/>
                <a:cs typeface="Calibri"/>
              </a:rPr>
              <a:t> </a:t>
            </a:r>
            <a:r>
              <a:rPr sz="1800" dirty="0">
                <a:latin typeface="Calibri"/>
                <a:cs typeface="Calibri"/>
              </a:rPr>
              <a:t>when</a:t>
            </a:r>
            <a:r>
              <a:rPr sz="1800" spc="-25" dirty="0">
                <a:latin typeface="Calibri"/>
                <a:cs typeface="Calibri"/>
              </a:rPr>
              <a:t> </a:t>
            </a:r>
            <a:r>
              <a:rPr sz="1800" dirty="0">
                <a:latin typeface="Calibri"/>
                <a:cs typeface="Calibri"/>
              </a:rPr>
              <a:t>it</a:t>
            </a:r>
            <a:r>
              <a:rPr sz="1800" spc="-45" dirty="0">
                <a:latin typeface="Calibri"/>
                <a:cs typeface="Calibri"/>
              </a:rPr>
              <a:t> </a:t>
            </a:r>
            <a:r>
              <a:rPr sz="1800" dirty="0">
                <a:latin typeface="Calibri"/>
                <a:cs typeface="Calibri"/>
              </a:rPr>
              <a:t>does</a:t>
            </a:r>
            <a:r>
              <a:rPr sz="1800" spc="-25" dirty="0">
                <a:latin typeface="Calibri"/>
                <a:cs typeface="Calibri"/>
              </a:rPr>
              <a:t> </a:t>
            </a:r>
            <a:r>
              <a:rPr sz="1800" dirty="0">
                <a:latin typeface="Calibri"/>
                <a:cs typeface="Calibri"/>
              </a:rPr>
              <a:t>it’s</a:t>
            </a:r>
            <a:r>
              <a:rPr sz="1800" spc="-40" dirty="0">
                <a:latin typeface="Calibri"/>
                <a:cs typeface="Calibri"/>
              </a:rPr>
              <a:t> </a:t>
            </a:r>
            <a:r>
              <a:rPr sz="1800" spc="-25" dirty="0">
                <a:latin typeface="Calibri"/>
                <a:cs typeface="Calibri"/>
              </a:rPr>
              <a:t>so</a:t>
            </a:r>
            <a:endParaRPr sz="1800" dirty="0">
              <a:latin typeface="Calibri"/>
              <a:cs typeface="Calibri"/>
            </a:endParaRPr>
          </a:p>
        </p:txBody>
      </p:sp>
      <p:sp>
        <p:nvSpPr>
          <p:cNvPr id="17" name="object 15"/>
          <p:cNvSpPr txBox="1"/>
          <p:nvPr/>
        </p:nvSpPr>
        <p:spPr>
          <a:xfrm>
            <a:off x="3423701" y="4308812"/>
            <a:ext cx="1043305" cy="280670"/>
          </a:xfrm>
          <a:prstGeom prst="rect">
            <a:avLst/>
          </a:prstGeom>
          <a:solidFill>
            <a:srgbClr val="0000FF"/>
          </a:solidFill>
        </p:spPr>
        <p:txBody>
          <a:bodyPr vert="horz" wrap="square" lIns="0" tIns="0" rIns="0" bIns="0" rtlCol="0">
            <a:spAutoFit/>
          </a:bodyPr>
          <a:lstStyle/>
          <a:p>
            <a:pPr marL="635">
              <a:lnSpc>
                <a:spcPts val="2095"/>
              </a:lnSpc>
            </a:pPr>
            <a:r>
              <a:rPr sz="1800" spc="-10" dirty="0">
                <a:solidFill>
                  <a:srgbClr val="FFFFFF"/>
                </a:solidFill>
                <a:latin typeface="Calibri"/>
                <a:cs typeface="Calibri"/>
              </a:rPr>
              <a:t>convenient</a:t>
            </a:r>
            <a:endParaRPr sz="1800" dirty="0">
              <a:latin typeface="Calibri"/>
              <a:cs typeface="Calibri"/>
            </a:endParaRPr>
          </a:p>
        </p:txBody>
      </p:sp>
      <p:sp>
        <p:nvSpPr>
          <p:cNvPr id="18" name="object 16"/>
          <p:cNvSpPr txBox="1"/>
          <p:nvPr/>
        </p:nvSpPr>
        <p:spPr>
          <a:xfrm>
            <a:off x="4562765" y="4291512"/>
            <a:ext cx="37909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and</a:t>
            </a:r>
            <a:r>
              <a:rPr sz="1800" spc="-30" dirty="0">
                <a:latin typeface="Calibri"/>
                <a:cs typeface="Calibri"/>
              </a:rPr>
              <a:t> </a:t>
            </a:r>
            <a:r>
              <a:rPr sz="1800" dirty="0">
                <a:latin typeface="Calibri"/>
                <a:cs typeface="Calibri"/>
              </a:rPr>
              <a:t>lets</a:t>
            </a:r>
            <a:r>
              <a:rPr sz="1800" spc="-45" dirty="0">
                <a:latin typeface="Calibri"/>
                <a:cs typeface="Calibri"/>
              </a:rPr>
              <a:t> </a:t>
            </a:r>
            <a:r>
              <a:rPr sz="1800" dirty="0">
                <a:latin typeface="Calibri"/>
                <a:cs typeface="Calibri"/>
              </a:rPr>
              <a:t>me</a:t>
            </a:r>
            <a:r>
              <a:rPr sz="1800" spc="-35" dirty="0">
                <a:latin typeface="Calibri"/>
                <a:cs typeface="Calibri"/>
              </a:rPr>
              <a:t> </a:t>
            </a:r>
            <a:r>
              <a:rPr sz="1800" dirty="0">
                <a:latin typeface="Calibri"/>
                <a:cs typeface="Calibri"/>
              </a:rPr>
              <a:t>connect</a:t>
            </a:r>
            <a:r>
              <a:rPr sz="1800" spc="-30" dirty="0">
                <a:latin typeface="Calibri"/>
                <a:cs typeface="Calibri"/>
              </a:rPr>
              <a:t> </a:t>
            </a:r>
            <a:r>
              <a:rPr sz="1800" dirty="0">
                <a:latin typeface="Calibri"/>
                <a:cs typeface="Calibri"/>
              </a:rPr>
              <a:t>with</a:t>
            </a:r>
            <a:r>
              <a:rPr sz="1800" spc="-30" dirty="0">
                <a:latin typeface="Calibri"/>
                <a:cs typeface="Calibri"/>
              </a:rPr>
              <a:t> </a:t>
            </a:r>
            <a:r>
              <a:rPr sz="1800" dirty="0">
                <a:latin typeface="Calibri"/>
                <a:cs typeface="Calibri"/>
              </a:rPr>
              <a:t>my</a:t>
            </a:r>
            <a:r>
              <a:rPr sz="1800" spc="-45" dirty="0">
                <a:latin typeface="Calibri"/>
                <a:cs typeface="Calibri"/>
              </a:rPr>
              <a:t> </a:t>
            </a:r>
            <a:r>
              <a:rPr sz="1800" spc="-10" dirty="0">
                <a:latin typeface="Calibri"/>
                <a:cs typeface="Calibri"/>
              </a:rPr>
              <a:t>grandkids.”</a:t>
            </a:r>
            <a:endParaRPr sz="1800" dirty="0">
              <a:latin typeface="Calibri"/>
              <a:cs typeface="Calibri"/>
            </a:endParaRPr>
          </a:p>
        </p:txBody>
      </p:sp>
      <p:sp>
        <p:nvSpPr>
          <p:cNvPr id="22" name="object 20"/>
          <p:cNvSpPr txBox="1"/>
          <p:nvPr/>
        </p:nvSpPr>
        <p:spPr>
          <a:xfrm>
            <a:off x="958502" y="5010339"/>
            <a:ext cx="6630034" cy="29972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1800" dirty="0">
                <a:latin typeface="Calibri"/>
                <a:cs typeface="Calibri"/>
              </a:rPr>
              <a:t>“I</a:t>
            </a:r>
            <a:r>
              <a:rPr sz="1800" spc="-45" dirty="0">
                <a:latin typeface="Calibri"/>
                <a:cs typeface="Calibri"/>
              </a:rPr>
              <a:t> </a:t>
            </a:r>
            <a:r>
              <a:rPr sz="1800" dirty="0">
                <a:latin typeface="Calibri"/>
                <a:cs typeface="Calibri"/>
              </a:rPr>
              <a:t>can’t</a:t>
            </a:r>
            <a:r>
              <a:rPr sz="1800" spc="-15" dirty="0">
                <a:latin typeface="Calibri"/>
                <a:cs typeface="Calibri"/>
              </a:rPr>
              <a:t> </a:t>
            </a:r>
            <a:r>
              <a:rPr sz="1800" dirty="0">
                <a:latin typeface="Calibri"/>
                <a:cs typeface="Calibri"/>
              </a:rPr>
              <a:t>get</a:t>
            </a:r>
            <a:r>
              <a:rPr sz="1800" spc="-35" dirty="0">
                <a:latin typeface="Calibri"/>
                <a:cs typeface="Calibri"/>
              </a:rPr>
              <a:t> </a:t>
            </a:r>
            <a:r>
              <a:rPr sz="1800" dirty="0">
                <a:latin typeface="Calibri"/>
                <a:cs typeface="Calibri"/>
              </a:rPr>
              <a:t>it</a:t>
            </a:r>
            <a:r>
              <a:rPr sz="1800" spc="-35" dirty="0">
                <a:latin typeface="Calibri"/>
                <a:cs typeface="Calibri"/>
              </a:rPr>
              <a:t> </a:t>
            </a:r>
            <a:r>
              <a:rPr sz="1800" dirty="0">
                <a:latin typeface="Calibri"/>
                <a:cs typeface="Calibri"/>
              </a:rPr>
              <a:t>to</a:t>
            </a:r>
            <a:r>
              <a:rPr sz="1800" spc="-25" dirty="0">
                <a:latin typeface="Calibri"/>
                <a:cs typeface="Calibri"/>
              </a:rPr>
              <a:t> </a:t>
            </a:r>
            <a:r>
              <a:rPr sz="1800" dirty="0">
                <a:latin typeface="Calibri"/>
                <a:cs typeface="Calibri"/>
              </a:rPr>
              <a:t>work.</a:t>
            </a:r>
            <a:r>
              <a:rPr sz="1800" spc="-40" dirty="0">
                <a:latin typeface="Calibri"/>
                <a:cs typeface="Calibri"/>
              </a:rPr>
              <a:t> </a:t>
            </a:r>
            <a:r>
              <a:rPr sz="1800" dirty="0">
                <a:latin typeface="Calibri"/>
                <a:cs typeface="Calibri"/>
              </a:rPr>
              <a:t>SMS,</a:t>
            </a:r>
            <a:r>
              <a:rPr sz="1800" spc="-25" dirty="0">
                <a:latin typeface="Calibri"/>
                <a:cs typeface="Calibri"/>
              </a:rPr>
              <a:t> </a:t>
            </a:r>
            <a:r>
              <a:rPr sz="1800" dirty="0">
                <a:latin typeface="Calibri"/>
                <a:cs typeface="Calibri"/>
              </a:rPr>
              <a:t>email</a:t>
            </a:r>
            <a:r>
              <a:rPr sz="1800" spc="-30"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now</a:t>
            </a:r>
            <a:r>
              <a:rPr sz="1800" spc="-15" dirty="0">
                <a:latin typeface="Calibri"/>
                <a:cs typeface="Calibri"/>
              </a:rPr>
              <a:t> </a:t>
            </a:r>
            <a:r>
              <a:rPr sz="1800" dirty="0">
                <a:latin typeface="Calibri"/>
                <a:cs typeface="Calibri"/>
              </a:rPr>
              <a:t>whatsapp</a:t>
            </a:r>
            <a:r>
              <a:rPr sz="1800" spc="-30" dirty="0">
                <a:latin typeface="Calibri"/>
                <a:cs typeface="Calibri"/>
              </a:rPr>
              <a:t> </a:t>
            </a:r>
            <a:r>
              <a:rPr sz="1800" dirty="0">
                <a:latin typeface="Calibri"/>
                <a:cs typeface="Calibri"/>
              </a:rPr>
              <a:t>and</a:t>
            </a:r>
            <a:r>
              <a:rPr sz="1800" spc="-25" dirty="0">
                <a:latin typeface="Calibri"/>
                <a:cs typeface="Calibri"/>
              </a:rPr>
              <a:t> </a:t>
            </a:r>
            <a:r>
              <a:rPr sz="1800" spc="-10" dirty="0">
                <a:latin typeface="Calibri"/>
                <a:cs typeface="Calibri"/>
              </a:rPr>
              <a:t>facebook…</a:t>
            </a:r>
            <a:endParaRPr sz="1800" dirty="0">
              <a:latin typeface="Calibri"/>
              <a:cs typeface="Calibri"/>
            </a:endParaRPr>
          </a:p>
        </p:txBody>
      </p:sp>
      <p:sp>
        <p:nvSpPr>
          <p:cNvPr id="23" name="object 21"/>
          <p:cNvSpPr txBox="1"/>
          <p:nvPr/>
        </p:nvSpPr>
        <p:spPr>
          <a:xfrm>
            <a:off x="7491383" y="5040755"/>
            <a:ext cx="2096262" cy="269304"/>
          </a:xfrm>
          <a:prstGeom prst="rect">
            <a:avLst/>
          </a:prstGeom>
          <a:solidFill>
            <a:srgbClr val="800000"/>
          </a:solidFill>
        </p:spPr>
        <p:txBody>
          <a:bodyPr vert="horz" wrap="square" lIns="0" tIns="0" rIns="0" bIns="0" rtlCol="0">
            <a:spAutoFit/>
          </a:bodyPr>
          <a:lstStyle/>
          <a:p>
            <a:pPr marL="1270">
              <a:lnSpc>
                <a:spcPts val="2100"/>
              </a:lnSpc>
            </a:pPr>
            <a:r>
              <a:rPr sz="1800" dirty="0">
                <a:solidFill>
                  <a:srgbClr val="FFFFFF"/>
                </a:solidFill>
                <a:latin typeface="Calibri"/>
                <a:cs typeface="Calibri"/>
              </a:rPr>
              <a:t>It’s</a:t>
            </a:r>
            <a:r>
              <a:rPr sz="1800" spc="-35" dirty="0">
                <a:solidFill>
                  <a:srgbClr val="FFFFFF"/>
                </a:solidFill>
                <a:latin typeface="Calibri"/>
                <a:cs typeface="Calibri"/>
              </a:rPr>
              <a:t> </a:t>
            </a:r>
            <a:r>
              <a:rPr sz="1800" dirty="0">
                <a:solidFill>
                  <a:srgbClr val="FFFFFF"/>
                </a:solidFill>
                <a:latin typeface="Calibri"/>
                <a:cs typeface="Calibri"/>
              </a:rPr>
              <a:t>all</a:t>
            </a:r>
            <a:r>
              <a:rPr sz="1800" spc="-30" dirty="0">
                <a:solidFill>
                  <a:srgbClr val="FFFFFF"/>
                </a:solidFill>
                <a:latin typeface="Calibri"/>
                <a:cs typeface="Calibri"/>
              </a:rPr>
              <a:t> </a:t>
            </a:r>
            <a:r>
              <a:rPr sz="1800" spc="-25" dirty="0">
                <a:solidFill>
                  <a:srgbClr val="FFFFFF"/>
                </a:solidFill>
                <a:latin typeface="Calibri"/>
                <a:cs typeface="Calibri"/>
              </a:rPr>
              <a:t>too</a:t>
            </a:r>
            <a:r>
              <a:rPr lang="en-GB" sz="1800" spc="-25" dirty="0">
                <a:solidFill>
                  <a:srgbClr val="FFFFFF"/>
                </a:solidFill>
                <a:latin typeface="Calibri"/>
                <a:cs typeface="Calibri"/>
              </a:rPr>
              <a:t> confusing”</a:t>
            </a:r>
            <a:endParaRPr sz="1800" dirty="0">
              <a:latin typeface="Calibri"/>
              <a:cs typeface="Calibri"/>
            </a:endParaRPr>
          </a:p>
        </p:txBody>
      </p:sp>
    </p:spTree>
    <p:extLst>
      <p:ext uri="{BB962C8B-B14F-4D97-AF65-F5344CB8AC3E}">
        <p14:creationId xmlns:p14="http://schemas.microsoft.com/office/powerpoint/2010/main" val="29189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434244" y="332229"/>
            <a:ext cx="6842759" cy="1102640"/>
          </a:xfrm>
        </p:spPr>
        <p:txBody>
          <a:bodyPr anchor="ctr">
            <a:normAutofit/>
          </a:bodyPr>
          <a:lstStyle/>
          <a:p>
            <a:r>
              <a:rPr lang="en-GB" sz="4400" dirty="0"/>
              <a:t>Coding</a:t>
            </a:r>
            <a:r>
              <a:rPr lang="en-GB" sz="4400" spc="-20" dirty="0"/>
              <a:t> </a:t>
            </a:r>
            <a:r>
              <a:rPr lang="en-GB" sz="4400" dirty="0"/>
              <a:t>- </a:t>
            </a:r>
            <a:r>
              <a:rPr lang="en-GB" sz="4400" spc="-10" dirty="0"/>
              <a:t>Chunking</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814644" y="1660641"/>
            <a:ext cx="10390911" cy="1102866"/>
          </a:xfrm>
          <a:prstGeom prst="rect">
            <a:avLst/>
          </a:prstGeom>
          <a:noFill/>
        </p:spPr>
        <p:txBody>
          <a:bodyPr wrap="square" rtlCol="0">
            <a:spAutoFit/>
          </a:bodyPr>
          <a:lstStyle/>
          <a:p>
            <a:pPr marL="285750" indent="-285750">
              <a:spcBef>
                <a:spcPts val="1305"/>
              </a:spcBef>
              <a:buClr>
                <a:schemeClr val="accent4"/>
              </a:buClr>
              <a:buFont typeface="Wingdings" panose="05000000000000000000" pitchFamily="2" charset="2"/>
              <a:buChar char="§"/>
            </a:pPr>
            <a:r>
              <a:rPr lang="en-GB" dirty="0">
                <a:latin typeface="Calibri"/>
                <a:cs typeface="Calibri"/>
              </a:rPr>
              <a:t>We</a:t>
            </a:r>
            <a:r>
              <a:rPr lang="en-GB" spc="-65" dirty="0">
                <a:latin typeface="Calibri"/>
                <a:cs typeface="Calibri"/>
              </a:rPr>
              <a:t> </a:t>
            </a:r>
            <a:r>
              <a:rPr lang="en-GB" dirty="0">
                <a:latin typeface="Calibri"/>
                <a:cs typeface="Calibri"/>
              </a:rPr>
              <a:t>will</a:t>
            </a:r>
            <a:r>
              <a:rPr lang="en-GB" spc="-45" dirty="0">
                <a:latin typeface="Calibri"/>
                <a:cs typeface="Calibri"/>
              </a:rPr>
              <a:t> </a:t>
            </a:r>
            <a:r>
              <a:rPr lang="en-GB" dirty="0">
                <a:latin typeface="Calibri"/>
                <a:cs typeface="Calibri"/>
              </a:rPr>
              <a:t>crop</a:t>
            </a:r>
            <a:r>
              <a:rPr lang="en-GB" spc="-45" dirty="0">
                <a:latin typeface="Calibri"/>
                <a:cs typeface="Calibri"/>
              </a:rPr>
              <a:t> </a:t>
            </a:r>
            <a:r>
              <a:rPr lang="en-GB" dirty="0">
                <a:latin typeface="Calibri"/>
                <a:cs typeface="Calibri"/>
              </a:rPr>
              <a:t>the</a:t>
            </a:r>
            <a:r>
              <a:rPr lang="en-GB" spc="-50" dirty="0">
                <a:latin typeface="Calibri"/>
                <a:cs typeface="Calibri"/>
              </a:rPr>
              <a:t> </a:t>
            </a:r>
            <a:r>
              <a:rPr lang="en-GB" dirty="0">
                <a:latin typeface="Calibri"/>
                <a:cs typeface="Calibri"/>
              </a:rPr>
              <a:t>selected</a:t>
            </a:r>
            <a:r>
              <a:rPr lang="en-GB" spc="-35" dirty="0">
                <a:latin typeface="Calibri"/>
                <a:cs typeface="Calibri"/>
              </a:rPr>
              <a:t> </a:t>
            </a:r>
            <a:r>
              <a:rPr lang="en-GB" dirty="0">
                <a:latin typeface="Calibri"/>
                <a:cs typeface="Calibri"/>
              </a:rPr>
              <a:t>chunks</a:t>
            </a:r>
            <a:r>
              <a:rPr lang="en-GB" spc="-75" dirty="0">
                <a:latin typeface="Calibri"/>
                <a:cs typeface="Calibri"/>
              </a:rPr>
              <a:t> </a:t>
            </a:r>
            <a:r>
              <a:rPr lang="en-GB" dirty="0">
                <a:latin typeface="Calibri"/>
                <a:cs typeface="Calibri"/>
              </a:rPr>
              <a:t>from</a:t>
            </a:r>
            <a:r>
              <a:rPr lang="en-GB" spc="-45" dirty="0">
                <a:latin typeface="Calibri"/>
                <a:cs typeface="Calibri"/>
              </a:rPr>
              <a:t> </a:t>
            </a:r>
            <a:r>
              <a:rPr lang="en-GB" dirty="0">
                <a:latin typeface="Calibri"/>
                <a:cs typeface="Calibri"/>
              </a:rPr>
              <a:t>all</a:t>
            </a:r>
            <a:r>
              <a:rPr lang="en-GB" spc="-50" dirty="0">
                <a:latin typeface="Calibri"/>
                <a:cs typeface="Calibri"/>
              </a:rPr>
              <a:t> </a:t>
            </a:r>
            <a:r>
              <a:rPr lang="en-GB" dirty="0">
                <a:latin typeface="Calibri"/>
                <a:cs typeface="Calibri"/>
              </a:rPr>
              <a:t>original</a:t>
            </a:r>
            <a:r>
              <a:rPr lang="en-GB" spc="-35" dirty="0">
                <a:latin typeface="Calibri"/>
                <a:cs typeface="Calibri"/>
              </a:rPr>
              <a:t> </a:t>
            </a:r>
            <a:r>
              <a:rPr lang="en-GB" spc="-10" dirty="0">
                <a:latin typeface="Calibri"/>
                <a:cs typeface="Calibri"/>
              </a:rPr>
              <a:t>sentences</a:t>
            </a:r>
            <a:r>
              <a:rPr lang="en-GB" spc="-40" dirty="0">
                <a:latin typeface="Calibri"/>
                <a:cs typeface="Calibri"/>
              </a:rPr>
              <a:t> </a:t>
            </a:r>
            <a:r>
              <a:rPr lang="en-GB" dirty="0">
                <a:latin typeface="Calibri"/>
                <a:cs typeface="Calibri"/>
              </a:rPr>
              <a:t>and</a:t>
            </a:r>
            <a:r>
              <a:rPr lang="en-GB" spc="-65" dirty="0">
                <a:latin typeface="Calibri"/>
                <a:cs typeface="Calibri"/>
              </a:rPr>
              <a:t> </a:t>
            </a:r>
            <a:r>
              <a:rPr lang="en-GB" dirty="0">
                <a:latin typeface="Calibri"/>
                <a:cs typeface="Calibri"/>
              </a:rPr>
              <a:t>then</a:t>
            </a:r>
            <a:r>
              <a:rPr lang="en-GB" spc="-60" dirty="0">
                <a:latin typeface="Calibri"/>
                <a:cs typeface="Calibri"/>
              </a:rPr>
              <a:t> </a:t>
            </a:r>
            <a:r>
              <a:rPr lang="en-GB" dirty="0">
                <a:latin typeface="Calibri"/>
                <a:cs typeface="Calibri"/>
              </a:rPr>
              <a:t>focus</a:t>
            </a:r>
            <a:r>
              <a:rPr lang="en-GB" spc="-45" dirty="0">
                <a:latin typeface="Calibri"/>
                <a:cs typeface="Calibri"/>
              </a:rPr>
              <a:t> </a:t>
            </a:r>
            <a:r>
              <a:rPr lang="en-GB" spc="-25" dirty="0">
                <a:latin typeface="Calibri"/>
                <a:cs typeface="Calibri"/>
              </a:rPr>
              <a:t>on </a:t>
            </a:r>
            <a:r>
              <a:rPr lang="en-GB" dirty="0">
                <a:latin typeface="Calibri"/>
                <a:cs typeface="Calibri"/>
              </a:rPr>
              <a:t>only</a:t>
            </a:r>
            <a:r>
              <a:rPr lang="en-GB" spc="-40" dirty="0">
                <a:latin typeface="Calibri"/>
                <a:cs typeface="Calibri"/>
              </a:rPr>
              <a:t> </a:t>
            </a:r>
            <a:r>
              <a:rPr lang="en-GB" dirty="0">
                <a:latin typeface="Calibri"/>
                <a:cs typeface="Calibri"/>
              </a:rPr>
              <a:t>those</a:t>
            </a:r>
            <a:r>
              <a:rPr lang="en-GB" spc="-40" dirty="0">
                <a:latin typeface="Calibri"/>
                <a:cs typeface="Calibri"/>
              </a:rPr>
              <a:t> </a:t>
            </a:r>
            <a:r>
              <a:rPr lang="en-GB" spc="-10" dirty="0">
                <a:latin typeface="Calibri"/>
                <a:cs typeface="Calibri"/>
              </a:rPr>
              <a:t>chunks.</a:t>
            </a:r>
            <a:endParaRPr lang="en-GB" dirty="0">
              <a:latin typeface="Calibri"/>
              <a:cs typeface="Calibri"/>
            </a:endParaRPr>
          </a:p>
          <a:p>
            <a:pPr marL="285750" indent="-285750">
              <a:lnSpc>
                <a:spcPct val="100000"/>
              </a:lnSpc>
              <a:spcBef>
                <a:spcPts val="1305"/>
              </a:spcBef>
              <a:buClr>
                <a:schemeClr val="accent4"/>
              </a:buClr>
              <a:buFont typeface="Wingdings" panose="05000000000000000000" pitchFamily="2" charset="2"/>
              <a:buChar char="§"/>
            </a:pPr>
            <a:endParaRPr lang="en-GB" dirty="0">
              <a:cs typeface="Calibri"/>
            </a:endParaRPr>
          </a:p>
          <a:p>
            <a:pPr marL="240665" indent="-227965">
              <a:lnSpc>
                <a:spcPct val="100000"/>
              </a:lnSpc>
              <a:spcBef>
                <a:spcPts val="95"/>
              </a:spcBef>
              <a:buClr>
                <a:schemeClr val="accent4"/>
              </a:buClr>
              <a:buFont typeface="Arial MT"/>
              <a:buChar char="•"/>
              <a:tabLst>
                <a:tab pos="240665" algn="l"/>
              </a:tabLst>
            </a:pPr>
            <a:endParaRPr lang="en-GB" dirty="0">
              <a:cs typeface="Calibri"/>
            </a:endParaRPr>
          </a:p>
        </p:txBody>
      </p:sp>
      <p:sp>
        <p:nvSpPr>
          <p:cNvPr id="4" name="object 3"/>
          <p:cNvSpPr/>
          <p:nvPr/>
        </p:nvSpPr>
        <p:spPr>
          <a:xfrm>
            <a:off x="3184050" y="2361161"/>
            <a:ext cx="3286125" cy="280670"/>
          </a:xfrm>
          <a:custGeom>
            <a:avLst/>
            <a:gdLst/>
            <a:ahLst/>
            <a:cxnLst/>
            <a:rect l="l" t="t" r="r" b="b"/>
            <a:pathLst>
              <a:path w="3286125" h="280669">
                <a:moveTo>
                  <a:pt x="3285744" y="0"/>
                </a:moveTo>
                <a:lnTo>
                  <a:pt x="0" y="0"/>
                </a:lnTo>
                <a:lnTo>
                  <a:pt x="0" y="280415"/>
                </a:lnTo>
                <a:lnTo>
                  <a:pt x="3285744" y="280415"/>
                </a:lnTo>
                <a:lnTo>
                  <a:pt x="3285744" y="0"/>
                </a:lnTo>
                <a:close/>
              </a:path>
            </a:pathLst>
          </a:custGeom>
          <a:solidFill>
            <a:srgbClr val="FFFF00"/>
          </a:solidFill>
        </p:spPr>
        <p:txBody>
          <a:bodyPr wrap="square" lIns="0" tIns="0" rIns="0" bIns="0" rtlCol="0"/>
          <a:lstStyle/>
          <a:p>
            <a:endParaRPr/>
          </a:p>
        </p:txBody>
      </p:sp>
      <p:sp>
        <p:nvSpPr>
          <p:cNvPr id="5" name="object 4"/>
          <p:cNvSpPr/>
          <p:nvPr/>
        </p:nvSpPr>
        <p:spPr>
          <a:xfrm>
            <a:off x="5465479" y="4020796"/>
            <a:ext cx="3074035" cy="280670"/>
          </a:xfrm>
          <a:custGeom>
            <a:avLst/>
            <a:gdLst/>
            <a:ahLst/>
            <a:cxnLst/>
            <a:rect l="l" t="t" r="r" b="b"/>
            <a:pathLst>
              <a:path w="3074034" h="280670">
                <a:moveTo>
                  <a:pt x="3073907" y="0"/>
                </a:moveTo>
                <a:lnTo>
                  <a:pt x="0" y="0"/>
                </a:lnTo>
                <a:lnTo>
                  <a:pt x="0" y="280415"/>
                </a:lnTo>
                <a:lnTo>
                  <a:pt x="3073907" y="280415"/>
                </a:lnTo>
                <a:lnTo>
                  <a:pt x="3073907" y="0"/>
                </a:lnTo>
                <a:close/>
              </a:path>
            </a:pathLst>
          </a:custGeom>
          <a:solidFill>
            <a:srgbClr val="00FFFF"/>
          </a:solidFill>
        </p:spPr>
        <p:txBody>
          <a:bodyPr wrap="square" lIns="0" tIns="0" rIns="0" bIns="0" rtlCol="0"/>
          <a:lstStyle/>
          <a:p>
            <a:endParaRPr/>
          </a:p>
        </p:txBody>
      </p:sp>
      <p:sp>
        <p:nvSpPr>
          <p:cNvPr id="8" name="object 6"/>
          <p:cNvSpPr/>
          <p:nvPr/>
        </p:nvSpPr>
        <p:spPr>
          <a:xfrm>
            <a:off x="3184050" y="5030036"/>
            <a:ext cx="4151629" cy="280670"/>
          </a:xfrm>
          <a:custGeom>
            <a:avLst/>
            <a:gdLst/>
            <a:ahLst/>
            <a:cxnLst/>
            <a:rect l="l" t="t" r="r" b="b"/>
            <a:pathLst>
              <a:path w="4151629" h="280670">
                <a:moveTo>
                  <a:pt x="2846819" y="0"/>
                </a:moveTo>
                <a:lnTo>
                  <a:pt x="1938528" y="0"/>
                </a:lnTo>
                <a:lnTo>
                  <a:pt x="0" y="0"/>
                </a:lnTo>
                <a:lnTo>
                  <a:pt x="0" y="280416"/>
                </a:lnTo>
                <a:lnTo>
                  <a:pt x="1938528" y="280416"/>
                </a:lnTo>
                <a:lnTo>
                  <a:pt x="2846819" y="280416"/>
                </a:lnTo>
                <a:lnTo>
                  <a:pt x="2846819" y="0"/>
                </a:lnTo>
                <a:close/>
              </a:path>
              <a:path w="4151629" h="280670">
                <a:moveTo>
                  <a:pt x="4151376" y="0"/>
                </a:moveTo>
                <a:lnTo>
                  <a:pt x="3300984" y="0"/>
                </a:lnTo>
                <a:lnTo>
                  <a:pt x="2898648" y="0"/>
                </a:lnTo>
                <a:lnTo>
                  <a:pt x="2846832" y="0"/>
                </a:lnTo>
                <a:lnTo>
                  <a:pt x="2846832" y="280416"/>
                </a:lnTo>
                <a:lnTo>
                  <a:pt x="2898648" y="280416"/>
                </a:lnTo>
                <a:lnTo>
                  <a:pt x="3300984" y="280416"/>
                </a:lnTo>
                <a:lnTo>
                  <a:pt x="4151376" y="280416"/>
                </a:lnTo>
                <a:lnTo>
                  <a:pt x="4151376" y="0"/>
                </a:lnTo>
                <a:close/>
              </a:path>
            </a:pathLst>
          </a:custGeom>
          <a:solidFill>
            <a:srgbClr val="FF00FF"/>
          </a:solidFill>
        </p:spPr>
        <p:txBody>
          <a:bodyPr wrap="square" lIns="0" tIns="0" rIns="0" bIns="0" rtlCol="0"/>
          <a:lstStyle/>
          <a:p>
            <a:endParaRPr/>
          </a:p>
        </p:txBody>
      </p:sp>
      <p:sp>
        <p:nvSpPr>
          <p:cNvPr id="9" name="object 7"/>
          <p:cNvSpPr txBox="1"/>
          <p:nvPr/>
        </p:nvSpPr>
        <p:spPr>
          <a:xfrm>
            <a:off x="3184050" y="2341799"/>
            <a:ext cx="7960359" cy="300355"/>
          </a:xfrm>
          <a:prstGeom prst="rect">
            <a:avLst/>
          </a:prstGeom>
        </p:spPr>
        <p:txBody>
          <a:bodyPr vert="horz" wrap="square" lIns="0" tIns="12700" rIns="0" bIns="0" rtlCol="0">
            <a:spAutoFit/>
          </a:bodyPr>
          <a:lstStyle/>
          <a:p>
            <a:pPr marL="12700">
              <a:lnSpc>
                <a:spcPct val="100000"/>
              </a:lnSpc>
              <a:spcBef>
                <a:spcPts val="100"/>
              </a:spcBef>
              <a:tabLst>
                <a:tab pos="240665" algn="l"/>
              </a:tabLst>
            </a:pPr>
            <a:r>
              <a:rPr sz="1800" spc="-35" dirty="0">
                <a:latin typeface="Calibri"/>
                <a:cs typeface="Calibri"/>
              </a:rPr>
              <a:t> </a:t>
            </a:r>
            <a:r>
              <a:rPr sz="1800" dirty="0">
                <a:latin typeface="Calibri"/>
                <a:cs typeface="Calibri"/>
              </a:rPr>
              <a:t>text</a:t>
            </a:r>
            <a:r>
              <a:rPr sz="1800" spc="-35" dirty="0">
                <a:latin typeface="Calibri"/>
                <a:cs typeface="Calibri"/>
              </a:rPr>
              <a:t> </a:t>
            </a:r>
            <a:r>
              <a:rPr sz="1800" dirty="0">
                <a:latin typeface="Calibri"/>
                <a:cs typeface="Calibri"/>
              </a:rPr>
              <a:t>on</a:t>
            </a:r>
            <a:r>
              <a:rPr sz="1800" spc="-25" dirty="0">
                <a:latin typeface="Calibri"/>
                <a:cs typeface="Calibri"/>
              </a:rPr>
              <a:t> </a:t>
            </a:r>
            <a:r>
              <a:rPr sz="1800" dirty="0">
                <a:latin typeface="Calibri"/>
                <a:cs typeface="Calibri"/>
              </a:rPr>
              <a:t>the</a:t>
            </a:r>
            <a:r>
              <a:rPr sz="1800" spc="-20" dirty="0">
                <a:latin typeface="Calibri"/>
                <a:cs typeface="Calibri"/>
              </a:rPr>
              <a:t> </a:t>
            </a:r>
            <a:r>
              <a:rPr sz="1800" dirty="0">
                <a:latin typeface="Calibri"/>
                <a:cs typeface="Calibri"/>
              </a:rPr>
              <a:t>iPhone</a:t>
            </a:r>
            <a:r>
              <a:rPr sz="1800" spc="-20" dirty="0">
                <a:latin typeface="Calibri"/>
                <a:cs typeface="Calibri"/>
              </a:rPr>
              <a:t> </a:t>
            </a:r>
            <a:r>
              <a:rPr sz="1800" dirty="0">
                <a:latin typeface="Calibri"/>
                <a:cs typeface="Calibri"/>
              </a:rPr>
              <a:t>screen</a:t>
            </a:r>
            <a:r>
              <a:rPr sz="1800" spc="-25" dirty="0">
                <a:latin typeface="Calibri"/>
                <a:cs typeface="Calibri"/>
              </a:rPr>
              <a:t> </a:t>
            </a:r>
            <a:r>
              <a:rPr sz="1800" dirty="0">
                <a:latin typeface="Calibri"/>
                <a:cs typeface="Calibri"/>
              </a:rPr>
              <a:t>too</a:t>
            </a:r>
            <a:r>
              <a:rPr sz="1800" spc="-40" dirty="0">
                <a:latin typeface="Calibri"/>
                <a:cs typeface="Calibri"/>
              </a:rPr>
              <a:t> </a:t>
            </a:r>
            <a:r>
              <a:rPr sz="1800" dirty="0">
                <a:latin typeface="Calibri"/>
                <a:cs typeface="Calibri"/>
              </a:rPr>
              <a:t>small</a:t>
            </a:r>
          </a:p>
        </p:txBody>
      </p:sp>
      <p:sp>
        <p:nvSpPr>
          <p:cNvPr id="11" name="object 9"/>
          <p:cNvSpPr txBox="1"/>
          <p:nvPr/>
        </p:nvSpPr>
        <p:spPr>
          <a:xfrm>
            <a:off x="5015898" y="3191740"/>
            <a:ext cx="1819910" cy="280670"/>
          </a:xfrm>
          <a:prstGeom prst="rect">
            <a:avLst/>
          </a:prstGeom>
          <a:solidFill>
            <a:srgbClr val="00FF00"/>
          </a:solidFill>
        </p:spPr>
        <p:txBody>
          <a:bodyPr vert="horz" wrap="square" lIns="0" tIns="0" rIns="0" bIns="0" rtlCol="0">
            <a:spAutoFit/>
          </a:bodyPr>
          <a:lstStyle/>
          <a:p>
            <a:pPr marL="635">
              <a:lnSpc>
                <a:spcPts val="2095"/>
              </a:lnSpc>
            </a:pPr>
            <a:r>
              <a:rPr sz="1800" dirty="0">
                <a:latin typeface="Calibri"/>
                <a:cs typeface="Calibri"/>
              </a:rPr>
              <a:t>make</a:t>
            </a:r>
            <a:r>
              <a:rPr sz="1800" spc="-45" dirty="0">
                <a:latin typeface="Calibri"/>
                <a:cs typeface="Calibri"/>
              </a:rPr>
              <a:t> </a:t>
            </a:r>
            <a:r>
              <a:rPr sz="1800" dirty="0">
                <a:latin typeface="Calibri"/>
                <a:cs typeface="Calibri"/>
              </a:rPr>
              <a:t>my</a:t>
            </a:r>
            <a:r>
              <a:rPr sz="1800" spc="-45" dirty="0">
                <a:latin typeface="Calibri"/>
                <a:cs typeface="Calibri"/>
              </a:rPr>
              <a:t> </a:t>
            </a:r>
            <a:r>
              <a:rPr sz="1800" dirty="0">
                <a:latin typeface="Calibri"/>
                <a:cs typeface="Calibri"/>
              </a:rPr>
              <a:t>back</a:t>
            </a:r>
            <a:r>
              <a:rPr sz="1800" spc="-45" dirty="0">
                <a:latin typeface="Calibri"/>
                <a:cs typeface="Calibri"/>
              </a:rPr>
              <a:t> </a:t>
            </a:r>
            <a:r>
              <a:rPr sz="1800" spc="-20" dirty="0">
                <a:latin typeface="Calibri"/>
                <a:cs typeface="Calibri"/>
              </a:rPr>
              <a:t>hurt</a:t>
            </a:r>
            <a:endParaRPr sz="1800">
              <a:latin typeface="Calibri"/>
              <a:cs typeface="Calibri"/>
            </a:endParaRPr>
          </a:p>
        </p:txBody>
      </p:sp>
      <p:sp>
        <p:nvSpPr>
          <p:cNvPr id="12" name="object 10"/>
          <p:cNvSpPr txBox="1"/>
          <p:nvPr/>
        </p:nvSpPr>
        <p:spPr>
          <a:xfrm>
            <a:off x="958502" y="3219788"/>
            <a:ext cx="9764916" cy="246862"/>
          </a:xfrm>
          <a:prstGeom prst="rect">
            <a:avLst/>
          </a:prstGeom>
        </p:spPr>
        <p:txBody>
          <a:bodyPr vert="horz" wrap="square" lIns="0" tIns="12700" rIns="0" bIns="0" rtlCol="0">
            <a:spAutoFit/>
          </a:bodyPr>
          <a:lstStyle/>
          <a:p>
            <a:pPr marL="12700">
              <a:lnSpc>
                <a:spcPts val="1835"/>
              </a:lnSpc>
              <a:spcBef>
                <a:spcPts val="100"/>
              </a:spcBef>
              <a:tabLst>
                <a:tab pos="240665" algn="l"/>
                <a:tab pos="5877560" algn="l"/>
              </a:tabLst>
            </a:pPr>
            <a:r>
              <a:rPr sz="1800" dirty="0">
                <a:latin typeface="Calibri"/>
                <a:cs typeface="Calibri"/>
              </a:rPr>
              <a:t>	</a:t>
            </a:r>
          </a:p>
        </p:txBody>
      </p:sp>
      <p:sp>
        <p:nvSpPr>
          <p:cNvPr id="14" name="object 12"/>
          <p:cNvSpPr txBox="1"/>
          <p:nvPr/>
        </p:nvSpPr>
        <p:spPr>
          <a:xfrm>
            <a:off x="1844455" y="4020796"/>
            <a:ext cx="547370" cy="280670"/>
          </a:xfrm>
          <a:prstGeom prst="rect">
            <a:avLst/>
          </a:prstGeom>
          <a:solidFill>
            <a:srgbClr val="FF00FF"/>
          </a:solidFill>
        </p:spPr>
        <p:txBody>
          <a:bodyPr vert="horz" wrap="square" lIns="0" tIns="0" rIns="0" bIns="0" rtlCol="0">
            <a:spAutoFit/>
          </a:bodyPr>
          <a:lstStyle/>
          <a:p>
            <a:pPr>
              <a:lnSpc>
                <a:spcPts val="2095"/>
              </a:lnSpc>
            </a:pPr>
            <a:r>
              <a:rPr sz="1800" spc="-10" dirty="0">
                <a:latin typeface="Calibri"/>
                <a:cs typeface="Calibri"/>
              </a:rPr>
              <a:t>Skype</a:t>
            </a:r>
            <a:endParaRPr sz="1800" dirty="0">
              <a:latin typeface="Calibri"/>
              <a:cs typeface="Calibri"/>
            </a:endParaRPr>
          </a:p>
        </p:txBody>
      </p:sp>
      <p:sp>
        <p:nvSpPr>
          <p:cNvPr id="15" name="object 13"/>
          <p:cNvSpPr txBox="1"/>
          <p:nvPr/>
        </p:nvSpPr>
        <p:spPr>
          <a:xfrm>
            <a:off x="5449604" y="3986671"/>
            <a:ext cx="61798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ask</a:t>
            </a:r>
            <a:r>
              <a:rPr sz="1800" spc="-30" dirty="0">
                <a:latin typeface="Calibri"/>
                <a:cs typeface="Calibri"/>
              </a:rPr>
              <a:t> </a:t>
            </a:r>
            <a:r>
              <a:rPr sz="1800" dirty="0">
                <a:latin typeface="Calibri"/>
                <a:cs typeface="Calibri"/>
              </a:rPr>
              <a:t>my</a:t>
            </a:r>
            <a:r>
              <a:rPr sz="1800" spc="-25" dirty="0">
                <a:latin typeface="Calibri"/>
                <a:cs typeface="Calibri"/>
              </a:rPr>
              <a:t> </a:t>
            </a:r>
            <a:r>
              <a:rPr sz="1800" dirty="0">
                <a:latin typeface="Calibri"/>
                <a:cs typeface="Calibri"/>
              </a:rPr>
              <a:t>daughter</a:t>
            </a:r>
            <a:r>
              <a:rPr sz="1800" spc="-30" dirty="0">
                <a:latin typeface="Calibri"/>
                <a:cs typeface="Calibri"/>
              </a:rPr>
              <a:t> </a:t>
            </a:r>
            <a:r>
              <a:rPr sz="1800" dirty="0">
                <a:latin typeface="Calibri"/>
                <a:cs typeface="Calibri"/>
              </a:rPr>
              <a:t>to</a:t>
            </a:r>
            <a:r>
              <a:rPr sz="1800" spc="-20" dirty="0">
                <a:latin typeface="Calibri"/>
                <a:cs typeface="Calibri"/>
              </a:rPr>
              <a:t> </a:t>
            </a:r>
            <a:r>
              <a:rPr sz="1800" dirty="0">
                <a:latin typeface="Calibri"/>
                <a:cs typeface="Calibri"/>
              </a:rPr>
              <a:t>get</a:t>
            </a:r>
            <a:r>
              <a:rPr sz="1800" spc="-35" dirty="0">
                <a:latin typeface="Calibri"/>
                <a:cs typeface="Calibri"/>
              </a:rPr>
              <a:t> </a:t>
            </a:r>
            <a:r>
              <a:rPr sz="1800" dirty="0">
                <a:latin typeface="Calibri"/>
                <a:cs typeface="Calibri"/>
              </a:rPr>
              <a:t>it</a:t>
            </a:r>
            <a:r>
              <a:rPr sz="1800" spc="-35" dirty="0">
                <a:latin typeface="Calibri"/>
                <a:cs typeface="Calibri"/>
              </a:rPr>
              <a:t> </a:t>
            </a:r>
            <a:r>
              <a:rPr sz="1800" dirty="0">
                <a:latin typeface="Calibri"/>
                <a:cs typeface="Calibri"/>
              </a:rPr>
              <a:t>to</a:t>
            </a:r>
            <a:r>
              <a:rPr sz="1800" spc="-20" dirty="0">
                <a:latin typeface="Calibri"/>
                <a:cs typeface="Calibri"/>
              </a:rPr>
              <a:t> </a:t>
            </a:r>
            <a:r>
              <a:rPr sz="1800" spc="-10" dirty="0">
                <a:latin typeface="Calibri"/>
                <a:cs typeface="Calibri"/>
              </a:rPr>
              <a:t>work,</a:t>
            </a:r>
            <a:endParaRPr sz="1800" dirty="0">
              <a:latin typeface="Calibri"/>
              <a:cs typeface="Calibri"/>
            </a:endParaRPr>
          </a:p>
        </p:txBody>
      </p:sp>
      <p:sp>
        <p:nvSpPr>
          <p:cNvPr id="17" name="object 15"/>
          <p:cNvSpPr txBox="1"/>
          <p:nvPr/>
        </p:nvSpPr>
        <p:spPr>
          <a:xfrm>
            <a:off x="3423701" y="4308812"/>
            <a:ext cx="1043305" cy="280670"/>
          </a:xfrm>
          <a:prstGeom prst="rect">
            <a:avLst/>
          </a:prstGeom>
          <a:solidFill>
            <a:srgbClr val="0000FF"/>
          </a:solidFill>
        </p:spPr>
        <p:txBody>
          <a:bodyPr vert="horz" wrap="square" lIns="0" tIns="0" rIns="0" bIns="0" rtlCol="0">
            <a:spAutoFit/>
          </a:bodyPr>
          <a:lstStyle/>
          <a:p>
            <a:pPr marL="635">
              <a:lnSpc>
                <a:spcPts val="2095"/>
              </a:lnSpc>
            </a:pPr>
            <a:r>
              <a:rPr sz="1800" spc="-10" dirty="0">
                <a:solidFill>
                  <a:srgbClr val="FFFFFF"/>
                </a:solidFill>
                <a:latin typeface="Calibri"/>
                <a:cs typeface="Calibri"/>
              </a:rPr>
              <a:t>convenient</a:t>
            </a:r>
            <a:endParaRPr sz="1800" dirty="0">
              <a:latin typeface="Calibri"/>
              <a:cs typeface="Calibri"/>
            </a:endParaRPr>
          </a:p>
        </p:txBody>
      </p:sp>
      <p:sp>
        <p:nvSpPr>
          <p:cNvPr id="22" name="object 20"/>
          <p:cNvSpPr txBox="1"/>
          <p:nvPr/>
        </p:nvSpPr>
        <p:spPr>
          <a:xfrm>
            <a:off x="3184050" y="5020265"/>
            <a:ext cx="4307333" cy="289794"/>
          </a:xfrm>
          <a:prstGeom prst="rect">
            <a:avLst/>
          </a:prstGeom>
        </p:spPr>
        <p:txBody>
          <a:bodyPr vert="horz" wrap="square" lIns="0" tIns="12700" rIns="0" bIns="0" rtlCol="0">
            <a:spAutoFit/>
          </a:bodyPr>
          <a:lstStyle/>
          <a:p>
            <a:pPr marL="12700">
              <a:lnSpc>
                <a:spcPct val="100000"/>
              </a:lnSpc>
              <a:spcBef>
                <a:spcPts val="100"/>
              </a:spcBef>
              <a:tabLst>
                <a:tab pos="240665" algn="l"/>
              </a:tabLst>
            </a:pPr>
            <a:r>
              <a:rPr sz="1800" spc="-40" dirty="0">
                <a:latin typeface="Calibri"/>
                <a:cs typeface="Calibri"/>
              </a:rPr>
              <a:t> </a:t>
            </a:r>
            <a:r>
              <a:rPr sz="1800" dirty="0">
                <a:latin typeface="Calibri"/>
                <a:cs typeface="Calibri"/>
              </a:rPr>
              <a:t>SMS,</a:t>
            </a:r>
            <a:r>
              <a:rPr sz="1800" spc="-25" dirty="0">
                <a:latin typeface="Calibri"/>
                <a:cs typeface="Calibri"/>
              </a:rPr>
              <a:t> </a:t>
            </a:r>
            <a:r>
              <a:rPr sz="1800" dirty="0">
                <a:latin typeface="Calibri"/>
                <a:cs typeface="Calibri"/>
              </a:rPr>
              <a:t>email</a:t>
            </a:r>
            <a:r>
              <a:rPr sz="1800" spc="-30"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now</a:t>
            </a:r>
            <a:r>
              <a:rPr sz="1800" spc="-15" dirty="0">
                <a:latin typeface="Calibri"/>
                <a:cs typeface="Calibri"/>
              </a:rPr>
              <a:t> </a:t>
            </a:r>
            <a:r>
              <a:rPr sz="1800" dirty="0">
                <a:latin typeface="Calibri"/>
                <a:cs typeface="Calibri"/>
              </a:rPr>
              <a:t>whatsapp</a:t>
            </a:r>
            <a:r>
              <a:rPr sz="1800" spc="-30" dirty="0">
                <a:latin typeface="Calibri"/>
                <a:cs typeface="Calibri"/>
              </a:rPr>
              <a:t> </a:t>
            </a:r>
            <a:r>
              <a:rPr sz="1800" dirty="0">
                <a:latin typeface="Calibri"/>
                <a:cs typeface="Calibri"/>
              </a:rPr>
              <a:t>and</a:t>
            </a:r>
            <a:r>
              <a:rPr sz="1800" spc="-25" dirty="0">
                <a:latin typeface="Calibri"/>
                <a:cs typeface="Calibri"/>
              </a:rPr>
              <a:t> </a:t>
            </a:r>
            <a:r>
              <a:rPr sz="1800" spc="-10" dirty="0" err="1">
                <a:latin typeface="Calibri"/>
                <a:cs typeface="Calibri"/>
              </a:rPr>
              <a:t>facebook</a:t>
            </a:r>
            <a:endParaRPr sz="1800" dirty="0">
              <a:latin typeface="Calibri"/>
              <a:cs typeface="Calibri"/>
            </a:endParaRPr>
          </a:p>
        </p:txBody>
      </p:sp>
      <p:sp>
        <p:nvSpPr>
          <p:cNvPr id="23" name="object 21"/>
          <p:cNvSpPr txBox="1"/>
          <p:nvPr/>
        </p:nvSpPr>
        <p:spPr>
          <a:xfrm>
            <a:off x="7491383" y="5040755"/>
            <a:ext cx="2096262" cy="269304"/>
          </a:xfrm>
          <a:prstGeom prst="rect">
            <a:avLst/>
          </a:prstGeom>
          <a:solidFill>
            <a:srgbClr val="800000"/>
          </a:solidFill>
        </p:spPr>
        <p:txBody>
          <a:bodyPr vert="horz" wrap="square" lIns="0" tIns="0" rIns="0" bIns="0" rtlCol="0">
            <a:spAutoFit/>
          </a:bodyPr>
          <a:lstStyle/>
          <a:p>
            <a:pPr marL="1270">
              <a:lnSpc>
                <a:spcPts val="2100"/>
              </a:lnSpc>
            </a:pPr>
            <a:r>
              <a:rPr sz="1800" dirty="0">
                <a:solidFill>
                  <a:srgbClr val="FFFFFF"/>
                </a:solidFill>
                <a:latin typeface="Calibri"/>
                <a:cs typeface="Calibri"/>
              </a:rPr>
              <a:t>It’s</a:t>
            </a:r>
            <a:r>
              <a:rPr sz="1800" spc="-35" dirty="0">
                <a:solidFill>
                  <a:srgbClr val="FFFFFF"/>
                </a:solidFill>
                <a:latin typeface="Calibri"/>
                <a:cs typeface="Calibri"/>
              </a:rPr>
              <a:t> </a:t>
            </a:r>
            <a:r>
              <a:rPr sz="1800" dirty="0">
                <a:solidFill>
                  <a:srgbClr val="FFFFFF"/>
                </a:solidFill>
                <a:latin typeface="Calibri"/>
                <a:cs typeface="Calibri"/>
              </a:rPr>
              <a:t>all</a:t>
            </a:r>
            <a:r>
              <a:rPr sz="1800" spc="-30" dirty="0">
                <a:solidFill>
                  <a:srgbClr val="FFFFFF"/>
                </a:solidFill>
                <a:latin typeface="Calibri"/>
                <a:cs typeface="Calibri"/>
              </a:rPr>
              <a:t> </a:t>
            </a:r>
            <a:r>
              <a:rPr sz="1800" spc="-25" dirty="0">
                <a:solidFill>
                  <a:srgbClr val="FFFFFF"/>
                </a:solidFill>
                <a:latin typeface="Calibri"/>
                <a:cs typeface="Calibri"/>
              </a:rPr>
              <a:t>too</a:t>
            </a:r>
            <a:r>
              <a:rPr lang="en-GB" sz="1800" spc="-25" dirty="0">
                <a:solidFill>
                  <a:srgbClr val="FFFFFF"/>
                </a:solidFill>
                <a:latin typeface="Calibri"/>
                <a:cs typeface="Calibri"/>
              </a:rPr>
              <a:t> confusing”</a:t>
            </a:r>
            <a:endParaRPr sz="1800" dirty="0">
              <a:latin typeface="Calibri"/>
              <a:cs typeface="Calibri"/>
            </a:endParaRPr>
          </a:p>
        </p:txBody>
      </p:sp>
      <p:sp>
        <p:nvSpPr>
          <p:cNvPr id="19" name="object 13"/>
          <p:cNvSpPr txBox="1"/>
          <p:nvPr/>
        </p:nvSpPr>
        <p:spPr>
          <a:xfrm>
            <a:off x="887519" y="5431644"/>
            <a:ext cx="8900393" cy="843821"/>
          </a:xfrm>
          <a:prstGeom prst="rect">
            <a:avLst/>
          </a:prstGeom>
        </p:spPr>
        <p:txBody>
          <a:bodyPr vert="horz" wrap="square" lIns="0" tIns="12700" rIns="0" bIns="0" rtlCol="0">
            <a:spAutoFit/>
          </a:bodyPr>
          <a:lstStyle/>
          <a:p>
            <a:pPr marL="298450" indent="-285750">
              <a:lnSpc>
                <a:spcPct val="100000"/>
              </a:lnSpc>
              <a:spcBef>
                <a:spcPts val="100"/>
              </a:spcBef>
              <a:buClr>
                <a:schemeClr val="accent4"/>
              </a:buClr>
              <a:buFont typeface="Wingdings" panose="05000000000000000000" pitchFamily="2" charset="2"/>
              <a:buChar char="§"/>
            </a:pPr>
            <a:r>
              <a:rPr dirty="0">
                <a:cs typeface="Calibri"/>
              </a:rPr>
              <a:t>Next</a:t>
            </a:r>
            <a:r>
              <a:rPr spc="-35" dirty="0">
                <a:cs typeface="Calibri"/>
              </a:rPr>
              <a:t> </a:t>
            </a:r>
            <a:r>
              <a:rPr dirty="0">
                <a:cs typeface="Calibri"/>
              </a:rPr>
              <a:t>what</a:t>
            </a:r>
            <a:r>
              <a:rPr spc="-45" dirty="0">
                <a:cs typeface="Calibri"/>
              </a:rPr>
              <a:t> </a:t>
            </a:r>
            <a:r>
              <a:rPr dirty="0">
                <a:cs typeface="Calibri"/>
              </a:rPr>
              <a:t>we</a:t>
            </a:r>
            <a:r>
              <a:rPr spc="-25" dirty="0">
                <a:cs typeface="Calibri"/>
              </a:rPr>
              <a:t> </a:t>
            </a:r>
            <a:r>
              <a:rPr dirty="0">
                <a:cs typeface="Calibri"/>
              </a:rPr>
              <a:t>are</a:t>
            </a:r>
            <a:r>
              <a:rPr spc="-45" dirty="0">
                <a:cs typeface="Calibri"/>
              </a:rPr>
              <a:t> </a:t>
            </a:r>
            <a:r>
              <a:rPr dirty="0">
                <a:cs typeface="Calibri"/>
              </a:rPr>
              <a:t>going</a:t>
            </a:r>
            <a:r>
              <a:rPr spc="-25" dirty="0">
                <a:cs typeface="Calibri"/>
              </a:rPr>
              <a:t> </a:t>
            </a:r>
            <a:r>
              <a:rPr dirty="0">
                <a:cs typeface="Calibri"/>
              </a:rPr>
              <a:t>to</a:t>
            </a:r>
            <a:r>
              <a:rPr spc="-40" dirty="0">
                <a:cs typeface="Calibri"/>
              </a:rPr>
              <a:t> </a:t>
            </a:r>
            <a:r>
              <a:rPr dirty="0">
                <a:cs typeface="Calibri"/>
              </a:rPr>
              <a:t>do</a:t>
            </a:r>
            <a:r>
              <a:rPr spc="-30" dirty="0">
                <a:cs typeface="Calibri"/>
              </a:rPr>
              <a:t> </a:t>
            </a:r>
            <a:r>
              <a:rPr dirty="0">
                <a:cs typeface="Calibri"/>
              </a:rPr>
              <a:t>with</a:t>
            </a:r>
            <a:r>
              <a:rPr spc="-40" dirty="0">
                <a:cs typeface="Calibri"/>
              </a:rPr>
              <a:t> </a:t>
            </a:r>
            <a:r>
              <a:rPr spc="-10" dirty="0">
                <a:cs typeface="Calibri"/>
              </a:rPr>
              <a:t>these?</a:t>
            </a:r>
            <a:endParaRPr dirty="0">
              <a:cs typeface="Calibri"/>
            </a:endParaRPr>
          </a:p>
          <a:p>
            <a:pPr marL="298450" marR="5080" indent="-285750">
              <a:lnSpc>
                <a:spcPct val="100000"/>
              </a:lnSpc>
              <a:buClr>
                <a:schemeClr val="accent4"/>
              </a:buClr>
              <a:buFont typeface="Wingdings" panose="05000000000000000000" pitchFamily="2" charset="2"/>
              <a:buChar char="§"/>
            </a:pPr>
            <a:r>
              <a:rPr dirty="0">
                <a:cs typeface="Calibri"/>
              </a:rPr>
              <a:t>We</a:t>
            </a:r>
            <a:r>
              <a:rPr spc="-65" dirty="0">
                <a:cs typeface="Calibri"/>
              </a:rPr>
              <a:t> </a:t>
            </a:r>
            <a:r>
              <a:rPr dirty="0">
                <a:cs typeface="Calibri"/>
              </a:rPr>
              <a:t>can</a:t>
            </a:r>
            <a:r>
              <a:rPr spc="-65" dirty="0">
                <a:cs typeface="Calibri"/>
              </a:rPr>
              <a:t> </a:t>
            </a:r>
            <a:r>
              <a:rPr dirty="0">
                <a:cs typeface="Calibri"/>
              </a:rPr>
              <a:t>refine</a:t>
            </a:r>
            <a:r>
              <a:rPr spc="-30" dirty="0">
                <a:cs typeface="Calibri"/>
              </a:rPr>
              <a:t> </a:t>
            </a:r>
            <a:r>
              <a:rPr dirty="0">
                <a:cs typeface="Calibri"/>
              </a:rPr>
              <a:t>or</a:t>
            </a:r>
            <a:r>
              <a:rPr spc="-50" dirty="0">
                <a:cs typeface="Calibri"/>
              </a:rPr>
              <a:t> </a:t>
            </a:r>
            <a:r>
              <a:rPr dirty="0">
                <a:cs typeface="Calibri"/>
              </a:rPr>
              <a:t>distill</a:t>
            </a:r>
            <a:r>
              <a:rPr spc="-35" dirty="0">
                <a:cs typeface="Calibri"/>
              </a:rPr>
              <a:t> </a:t>
            </a:r>
            <a:r>
              <a:rPr dirty="0">
                <a:cs typeface="Calibri"/>
              </a:rPr>
              <a:t>them</a:t>
            </a:r>
            <a:r>
              <a:rPr spc="-50" dirty="0">
                <a:cs typeface="Calibri"/>
              </a:rPr>
              <a:t> </a:t>
            </a:r>
            <a:r>
              <a:rPr spc="-20" dirty="0">
                <a:cs typeface="Calibri"/>
              </a:rPr>
              <a:t>further.</a:t>
            </a:r>
            <a:r>
              <a:rPr spc="-55" dirty="0">
                <a:cs typeface="Calibri"/>
              </a:rPr>
              <a:t> </a:t>
            </a:r>
            <a:r>
              <a:rPr dirty="0">
                <a:cs typeface="Calibri"/>
              </a:rPr>
              <a:t>We</a:t>
            </a:r>
            <a:r>
              <a:rPr spc="-60" dirty="0">
                <a:cs typeface="Calibri"/>
              </a:rPr>
              <a:t> </a:t>
            </a:r>
            <a:r>
              <a:rPr dirty="0">
                <a:cs typeface="Calibri"/>
              </a:rPr>
              <a:t>are</a:t>
            </a:r>
            <a:r>
              <a:rPr spc="-60" dirty="0">
                <a:cs typeface="Calibri"/>
              </a:rPr>
              <a:t> </a:t>
            </a:r>
            <a:r>
              <a:rPr dirty="0">
                <a:cs typeface="Calibri"/>
              </a:rPr>
              <a:t>going</a:t>
            </a:r>
            <a:r>
              <a:rPr spc="-50" dirty="0">
                <a:cs typeface="Calibri"/>
              </a:rPr>
              <a:t> </a:t>
            </a:r>
            <a:r>
              <a:rPr dirty="0">
                <a:cs typeface="Calibri"/>
              </a:rPr>
              <a:t>to</a:t>
            </a:r>
            <a:r>
              <a:rPr spc="-55" dirty="0">
                <a:cs typeface="Calibri"/>
              </a:rPr>
              <a:t> </a:t>
            </a:r>
            <a:r>
              <a:rPr spc="-10" dirty="0">
                <a:cs typeface="Calibri"/>
              </a:rPr>
              <a:t>remove</a:t>
            </a:r>
            <a:r>
              <a:rPr spc="-30" dirty="0">
                <a:cs typeface="Calibri"/>
              </a:rPr>
              <a:t> </a:t>
            </a:r>
            <a:r>
              <a:rPr dirty="0">
                <a:cs typeface="Calibri"/>
              </a:rPr>
              <a:t>the</a:t>
            </a:r>
            <a:r>
              <a:rPr spc="-50" dirty="0">
                <a:cs typeface="Calibri"/>
              </a:rPr>
              <a:t> </a:t>
            </a:r>
            <a:r>
              <a:rPr spc="-10" dirty="0">
                <a:cs typeface="Calibri"/>
              </a:rPr>
              <a:t>actual content</a:t>
            </a:r>
            <a:r>
              <a:rPr spc="-55" dirty="0">
                <a:cs typeface="Calibri"/>
              </a:rPr>
              <a:t> </a:t>
            </a:r>
            <a:r>
              <a:rPr dirty="0">
                <a:cs typeface="Calibri"/>
              </a:rPr>
              <a:t>and</a:t>
            </a:r>
            <a:r>
              <a:rPr spc="-65" dirty="0">
                <a:cs typeface="Calibri"/>
              </a:rPr>
              <a:t> </a:t>
            </a:r>
            <a:r>
              <a:rPr spc="-10" dirty="0">
                <a:cs typeface="Calibri"/>
              </a:rPr>
              <a:t>convert</a:t>
            </a:r>
            <a:r>
              <a:rPr spc="-40" dirty="0">
                <a:cs typeface="Calibri"/>
              </a:rPr>
              <a:t> </a:t>
            </a:r>
            <a:r>
              <a:rPr dirty="0">
                <a:cs typeface="Calibri"/>
              </a:rPr>
              <a:t>them</a:t>
            </a:r>
            <a:r>
              <a:rPr spc="-60" dirty="0">
                <a:cs typeface="Calibri"/>
              </a:rPr>
              <a:t> </a:t>
            </a:r>
            <a:r>
              <a:rPr dirty="0">
                <a:cs typeface="Calibri"/>
              </a:rPr>
              <a:t>into</a:t>
            </a:r>
            <a:r>
              <a:rPr spc="-40" dirty="0">
                <a:cs typeface="Calibri"/>
              </a:rPr>
              <a:t> </a:t>
            </a:r>
            <a:r>
              <a:rPr spc="-10" dirty="0">
                <a:cs typeface="Calibri"/>
              </a:rPr>
              <a:t>concepts.</a:t>
            </a:r>
            <a:endParaRPr dirty="0">
              <a:cs typeface="Calibri"/>
            </a:endParaRPr>
          </a:p>
        </p:txBody>
      </p:sp>
    </p:spTree>
    <p:extLst>
      <p:ext uri="{BB962C8B-B14F-4D97-AF65-F5344CB8AC3E}">
        <p14:creationId xmlns:p14="http://schemas.microsoft.com/office/powerpoint/2010/main" val="2081168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Coding</a:t>
            </a:r>
            <a:r>
              <a:rPr lang="en-GB" spc="-70" dirty="0"/>
              <a:t> </a:t>
            </a:r>
            <a:r>
              <a:rPr lang="en-GB" dirty="0"/>
              <a:t>–</a:t>
            </a:r>
            <a:r>
              <a:rPr lang="en-GB" spc="-60" dirty="0"/>
              <a:t> </a:t>
            </a:r>
            <a:r>
              <a:rPr lang="en-GB" spc="-10" dirty="0"/>
              <a:t>Conversion</a:t>
            </a:r>
            <a:r>
              <a:rPr lang="en-GB" spc="-65" dirty="0"/>
              <a:t> </a:t>
            </a:r>
            <a:r>
              <a:rPr lang="en-GB" dirty="0"/>
              <a:t>to</a:t>
            </a:r>
            <a:r>
              <a:rPr lang="en-GB" spc="-45" dirty="0"/>
              <a:t> </a:t>
            </a:r>
            <a:r>
              <a:rPr lang="en-GB" spc="-10" dirty="0"/>
              <a:t>Concepts</a:t>
            </a:r>
            <a:endParaRPr lang="en-GB" dirty="0"/>
          </a:p>
        </p:txBody>
      </p:sp>
      <p:sp>
        <p:nvSpPr>
          <p:cNvPr id="4" name="object 3"/>
          <p:cNvSpPr txBox="1"/>
          <p:nvPr/>
        </p:nvSpPr>
        <p:spPr>
          <a:xfrm>
            <a:off x="4149655" y="3271357"/>
            <a:ext cx="1191260" cy="280670"/>
          </a:xfrm>
          <a:prstGeom prst="rect">
            <a:avLst/>
          </a:prstGeom>
          <a:solidFill>
            <a:srgbClr val="FFFF00"/>
          </a:solidFill>
        </p:spPr>
        <p:txBody>
          <a:bodyPr vert="horz" wrap="square" lIns="0" tIns="0" rIns="0" bIns="0" rtlCol="0">
            <a:spAutoFit/>
          </a:bodyPr>
          <a:lstStyle/>
          <a:p>
            <a:pPr>
              <a:lnSpc>
                <a:spcPts val="2090"/>
              </a:lnSpc>
            </a:pPr>
            <a:r>
              <a:rPr sz="1800" dirty="0">
                <a:latin typeface="Calibri"/>
                <a:cs typeface="Calibri"/>
              </a:rPr>
              <a:t>Not</a:t>
            </a:r>
            <a:r>
              <a:rPr sz="1800" spc="-5" dirty="0">
                <a:latin typeface="Calibri"/>
                <a:cs typeface="Calibri"/>
              </a:rPr>
              <a:t> </a:t>
            </a:r>
            <a:r>
              <a:rPr sz="1800" spc="-10" dirty="0">
                <a:latin typeface="Calibri"/>
                <a:cs typeface="Calibri"/>
              </a:rPr>
              <a:t>Practical</a:t>
            </a:r>
            <a:endParaRPr sz="1800">
              <a:latin typeface="Calibri"/>
              <a:cs typeface="Calibri"/>
            </a:endParaRPr>
          </a:p>
        </p:txBody>
      </p:sp>
      <p:sp>
        <p:nvSpPr>
          <p:cNvPr id="5" name="object 4"/>
          <p:cNvSpPr txBox="1"/>
          <p:nvPr/>
        </p:nvSpPr>
        <p:spPr>
          <a:xfrm>
            <a:off x="5891207" y="3253197"/>
            <a:ext cx="1070610" cy="280670"/>
          </a:xfrm>
          <a:prstGeom prst="rect">
            <a:avLst/>
          </a:prstGeom>
          <a:solidFill>
            <a:srgbClr val="0000FF"/>
          </a:solidFill>
        </p:spPr>
        <p:txBody>
          <a:bodyPr vert="horz" wrap="square" lIns="0" tIns="0" rIns="0" bIns="0" rtlCol="0">
            <a:spAutoFit/>
          </a:bodyPr>
          <a:lstStyle/>
          <a:p>
            <a:pPr>
              <a:lnSpc>
                <a:spcPts val="2095"/>
              </a:lnSpc>
            </a:pPr>
            <a:r>
              <a:rPr sz="1800" spc="-10" dirty="0">
                <a:solidFill>
                  <a:srgbClr val="FFFFFF"/>
                </a:solidFill>
                <a:latin typeface="Calibri"/>
                <a:cs typeface="Calibri"/>
              </a:rPr>
              <a:t>Convenient</a:t>
            </a:r>
            <a:endParaRPr sz="1800">
              <a:latin typeface="Calibri"/>
              <a:cs typeface="Calibri"/>
            </a:endParaRPr>
          </a:p>
        </p:txBody>
      </p:sp>
      <p:sp>
        <p:nvSpPr>
          <p:cNvPr id="6" name="object 5"/>
          <p:cNvSpPr txBox="1"/>
          <p:nvPr/>
        </p:nvSpPr>
        <p:spPr>
          <a:xfrm>
            <a:off x="3739446" y="2524344"/>
            <a:ext cx="1797685" cy="280670"/>
          </a:xfrm>
          <a:prstGeom prst="rect">
            <a:avLst/>
          </a:prstGeom>
          <a:solidFill>
            <a:srgbClr val="00FF00"/>
          </a:solidFill>
        </p:spPr>
        <p:txBody>
          <a:bodyPr vert="horz" wrap="square" lIns="0" tIns="0" rIns="0" bIns="0" rtlCol="0">
            <a:spAutoFit/>
          </a:bodyPr>
          <a:lstStyle/>
          <a:p>
            <a:pPr>
              <a:lnSpc>
                <a:spcPts val="2090"/>
              </a:lnSpc>
            </a:pPr>
            <a:r>
              <a:rPr sz="1800" dirty="0">
                <a:latin typeface="Calibri"/>
                <a:cs typeface="Calibri"/>
              </a:rPr>
              <a:t>Physical</a:t>
            </a:r>
            <a:r>
              <a:rPr sz="1800" spc="-100" dirty="0">
                <a:latin typeface="Calibri"/>
                <a:cs typeface="Calibri"/>
              </a:rPr>
              <a:t> </a:t>
            </a:r>
            <a:r>
              <a:rPr sz="1800" spc="-10" dirty="0">
                <a:latin typeface="Calibri"/>
                <a:cs typeface="Calibri"/>
              </a:rPr>
              <a:t>discomfort</a:t>
            </a:r>
            <a:endParaRPr sz="1800">
              <a:latin typeface="Calibri"/>
              <a:cs typeface="Calibri"/>
            </a:endParaRPr>
          </a:p>
        </p:txBody>
      </p:sp>
      <p:sp>
        <p:nvSpPr>
          <p:cNvPr id="7" name="object 6"/>
          <p:cNvSpPr txBox="1"/>
          <p:nvPr/>
        </p:nvSpPr>
        <p:spPr>
          <a:xfrm>
            <a:off x="6622218" y="4893275"/>
            <a:ext cx="1725930" cy="280670"/>
          </a:xfrm>
          <a:prstGeom prst="rect">
            <a:avLst/>
          </a:prstGeom>
          <a:solidFill>
            <a:srgbClr val="00FFFF"/>
          </a:solidFill>
        </p:spPr>
        <p:txBody>
          <a:bodyPr vert="horz" wrap="square" lIns="0" tIns="0" rIns="0" bIns="0" rtlCol="0">
            <a:spAutoFit/>
          </a:bodyPr>
          <a:lstStyle/>
          <a:p>
            <a:pPr marL="635">
              <a:lnSpc>
                <a:spcPts val="2095"/>
              </a:lnSpc>
            </a:pPr>
            <a:r>
              <a:rPr sz="1800" dirty="0">
                <a:latin typeface="Calibri"/>
                <a:cs typeface="Calibri"/>
              </a:rPr>
              <a:t>Require</a:t>
            </a:r>
            <a:r>
              <a:rPr sz="1800" spc="-105" dirty="0">
                <a:latin typeface="Calibri"/>
                <a:cs typeface="Calibri"/>
              </a:rPr>
              <a:t> </a:t>
            </a:r>
            <a:r>
              <a:rPr sz="1800" spc="-10" dirty="0">
                <a:latin typeface="Calibri"/>
                <a:cs typeface="Calibri"/>
              </a:rPr>
              <a:t>assistance</a:t>
            </a:r>
            <a:endParaRPr sz="1800" dirty="0">
              <a:latin typeface="Calibri"/>
              <a:cs typeface="Calibri"/>
            </a:endParaRPr>
          </a:p>
        </p:txBody>
      </p:sp>
      <p:sp>
        <p:nvSpPr>
          <p:cNvPr id="8" name="object 7"/>
          <p:cNvSpPr txBox="1"/>
          <p:nvPr/>
        </p:nvSpPr>
        <p:spPr>
          <a:xfrm>
            <a:off x="3882829" y="4893275"/>
            <a:ext cx="922019" cy="280670"/>
          </a:xfrm>
          <a:prstGeom prst="rect">
            <a:avLst/>
          </a:prstGeom>
          <a:solidFill>
            <a:srgbClr val="800000"/>
          </a:solidFill>
        </p:spPr>
        <p:txBody>
          <a:bodyPr vert="horz" wrap="square" lIns="0" tIns="0" rIns="0" bIns="0" rtlCol="0">
            <a:spAutoFit/>
          </a:bodyPr>
          <a:lstStyle/>
          <a:p>
            <a:pPr>
              <a:lnSpc>
                <a:spcPts val="2095"/>
              </a:lnSpc>
            </a:pPr>
            <a:r>
              <a:rPr sz="1800" spc="-10" dirty="0">
                <a:solidFill>
                  <a:srgbClr val="FFFFFF"/>
                </a:solidFill>
                <a:latin typeface="Calibri"/>
                <a:cs typeface="Calibri"/>
              </a:rPr>
              <a:t>Confusing</a:t>
            </a:r>
            <a:endParaRPr sz="1800">
              <a:latin typeface="Calibri"/>
              <a:cs typeface="Calibri"/>
            </a:endParaRPr>
          </a:p>
        </p:txBody>
      </p:sp>
      <p:sp>
        <p:nvSpPr>
          <p:cNvPr id="9" name="object 8"/>
          <p:cNvSpPr txBox="1"/>
          <p:nvPr/>
        </p:nvSpPr>
        <p:spPr>
          <a:xfrm>
            <a:off x="7304590" y="4025357"/>
            <a:ext cx="1082040" cy="280670"/>
          </a:xfrm>
          <a:prstGeom prst="rect">
            <a:avLst/>
          </a:prstGeom>
          <a:solidFill>
            <a:srgbClr val="FF00FF"/>
          </a:solidFill>
        </p:spPr>
        <p:txBody>
          <a:bodyPr vert="horz" wrap="square" lIns="0" tIns="0" rIns="0" bIns="0" rtlCol="0">
            <a:spAutoFit/>
          </a:bodyPr>
          <a:lstStyle/>
          <a:p>
            <a:pPr marL="635">
              <a:lnSpc>
                <a:spcPts val="2095"/>
              </a:lnSpc>
            </a:pPr>
            <a:r>
              <a:rPr sz="1800" dirty="0">
                <a:latin typeface="Calibri"/>
                <a:cs typeface="Calibri"/>
              </a:rPr>
              <a:t>Useful</a:t>
            </a:r>
            <a:r>
              <a:rPr sz="1800" spc="-35" dirty="0">
                <a:latin typeface="Calibri"/>
                <a:cs typeface="Calibri"/>
              </a:rPr>
              <a:t> </a:t>
            </a:r>
            <a:r>
              <a:rPr sz="1800" spc="-20" dirty="0">
                <a:latin typeface="Calibri"/>
                <a:cs typeface="Calibri"/>
              </a:rPr>
              <a:t>apps</a:t>
            </a:r>
            <a:endParaRPr sz="1800">
              <a:latin typeface="Calibri"/>
              <a:cs typeface="Calibri"/>
            </a:endParaRPr>
          </a:p>
        </p:txBody>
      </p:sp>
      <p:sp>
        <p:nvSpPr>
          <p:cNvPr id="10" name="object 9"/>
          <p:cNvSpPr txBox="1"/>
          <p:nvPr/>
        </p:nvSpPr>
        <p:spPr>
          <a:xfrm>
            <a:off x="3418986" y="4062567"/>
            <a:ext cx="2250440" cy="280670"/>
          </a:xfrm>
          <a:prstGeom prst="rect">
            <a:avLst/>
          </a:prstGeom>
          <a:solidFill>
            <a:srgbClr val="FF00FF"/>
          </a:solidFill>
        </p:spPr>
        <p:txBody>
          <a:bodyPr vert="horz" wrap="square" lIns="0" tIns="0" rIns="0" bIns="0" rtlCol="0">
            <a:spAutoFit/>
          </a:bodyPr>
          <a:lstStyle/>
          <a:p>
            <a:pPr>
              <a:lnSpc>
                <a:spcPts val="2095"/>
              </a:lnSpc>
            </a:pPr>
            <a:r>
              <a:rPr sz="1800" dirty="0">
                <a:latin typeface="Calibri"/>
                <a:cs typeface="Calibri"/>
              </a:rPr>
              <a:t>Complex</a:t>
            </a:r>
            <a:r>
              <a:rPr sz="1800" spc="-55" dirty="0">
                <a:latin typeface="Calibri"/>
                <a:cs typeface="Calibri"/>
              </a:rPr>
              <a:t> </a:t>
            </a:r>
            <a:r>
              <a:rPr sz="1800" dirty="0">
                <a:latin typeface="Calibri"/>
                <a:cs typeface="Calibri"/>
              </a:rPr>
              <a:t>app</a:t>
            </a:r>
            <a:r>
              <a:rPr sz="1800" spc="-35" dirty="0">
                <a:latin typeface="Calibri"/>
                <a:cs typeface="Calibri"/>
              </a:rPr>
              <a:t> </a:t>
            </a:r>
            <a:r>
              <a:rPr sz="1800" spc="-10" dirty="0">
                <a:latin typeface="Calibri"/>
                <a:cs typeface="Calibri"/>
              </a:rPr>
              <a:t>ecosystem</a:t>
            </a:r>
            <a:endParaRPr sz="1800">
              <a:latin typeface="Calibri"/>
              <a:cs typeface="Calibri"/>
            </a:endParaRPr>
          </a:p>
        </p:txBody>
      </p:sp>
      <p:sp>
        <p:nvSpPr>
          <p:cNvPr id="11" name="object 10"/>
          <p:cNvSpPr txBox="1"/>
          <p:nvPr/>
        </p:nvSpPr>
        <p:spPr>
          <a:xfrm>
            <a:off x="6169972" y="2524344"/>
            <a:ext cx="2045970" cy="280670"/>
          </a:xfrm>
          <a:prstGeom prst="rect">
            <a:avLst/>
          </a:prstGeom>
          <a:solidFill>
            <a:srgbClr val="800080"/>
          </a:solidFill>
        </p:spPr>
        <p:txBody>
          <a:bodyPr vert="horz" wrap="square" lIns="0" tIns="0" rIns="0" bIns="0" rtlCol="0">
            <a:spAutoFit/>
          </a:bodyPr>
          <a:lstStyle/>
          <a:p>
            <a:pPr>
              <a:lnSpc>
                <a:spcPts val="2090"/>
              </a:lnSpc>
            </a:pPr>
            <a:r>
              <a:rPr sz="1800" dirty="0">
                <a:solidFill>
                  <a:srgbClr val="FFFFFF"/>
                </a:solidFill>
                <a:latin typeface="Calibri"/>
                <a:cs typeface="Calibri"/>
              </a:rPr>
              <a:t>Avoid</a:t>
            </a:r>
            <a:r>
              <a:rPr sz="1800" spc="-85" dirty="0">
                <a:solidFill>
                  <a:srgbClr val="FFFFFF"/>
                </a:solidFill>
                <a:latin typeface="Calibri"/>
                <a:cs typeface="Calibri"/>
              </a:rPr>
              <a:t> </a:t>
            </a:r>
            <a:r>
              <a:rPr sz="1800" dirty="0">
                <a:solidFill>
                  <a:srgbClr val="FFFFFF"/>
                </a:solidFill>
                <a:latin typeface="Calibri"/>
                <a:cs typeface="Calibri"/>
              </a:rPr>
              <a:t>physical</a:t>
            </a:r>
            <a:r>
              <a:rPr sz="1800" spc="-80" dirty="0">
                <a:solidFill>
                  <a:srgbClr val="FFFFFF"/>
                </a:solidFill>
                <a:latin typeface="Calibri"/>
                <a:cs typeface="Calibri"/>
              </a:rPr>
              <a:t> </a:t>
            </a:r>
            <a:r>
              <a:rPr sz="1800" spc="-10" dirty="0">
                <a:solidFill>
                  <a:srgbClr val="FFFFFF"/>
                </a:solidFill>
                <a:latin typeface="Calibri"/>
                <a:cs typeface="Calibri"/>
              </a:rPr>
              <a:t>activity</a:t>
            </a:r>
            <a:endParaRPr sz="1800">
              <a:latin typeface="Calibri"/>
              <a:cs typeface="Calibri"/>
            </a:endParaRPr>
          </a:p>
        </p:txBody>
      </p:sp>
      <p:sp>
        <p:nvSpPr>
          <p:cNvPr id="13" name="Rounded Rectangle 12"/>
          <p:cNvSpPr/>
          <p:nvPr/>
        </p:nvSpPr>
        <p:spPr>
          <a:xfrm>
            <a:off x="2942706" y="1775822"/>
            <a:ext cx="45719" cy="8622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object 11"/>
          <p:cNvGrpSpPr/>
          <p:nvPr/>
        </p:nvGrpSpPr>
        <p:grpSpPr>
          <a:xfrm>
            <a:off x="1232914" y="1783277"/>
            <a:ext cx="3148646" cy="733611"/>
            <a:chOff x="41148" y="1644395"/>
            <a:chExt cx="2644775" cy="624840"/>
          </a:xfrm>
        </p:grpSpPr>
        <p:sp>
          <p:nvSpPr>
            <p:cNvPr id="15" name="object 12"/>
            <p:cNvSpPr/>
            <p:nvPr/>
          </p:nvSpPr>
          <p:spPr>
            <a:xfrm>
              <a:off x="41148" y="1644395"/>
              <a:ext cx="2644775" cy="624840"/>
            </a:xfrm>
            <a:custGeom>
              <a:avLst/>
              <a:gdLst/>
              <a:ahLst/>
              <a:cxnLst/>
              <a:rect l="l" t="t" r="r" b="b"/>
              <a:pathLst>
                <a:path w="2644775" h="624839">
                  <a:moveTo>
                    <a:pt x="2512636" y="471169"/>
                  </a:moveTo>
                  <a:lnTo>
                    <a:pt x="2391156" y="471169"/>
                  </a:lnTo>
                  <a:lnTo>
                    <a:pt x="2644266" y="624331"/>
                  </a:lnTo>
                  <a:lnTo>
                    <a:pt x="2512636" y="471169"/>
                  </a:lnTo>
                  <a:close/>
                </a:path>
                <a:path w="2644775" h="624839">
                  <a:moveTo>
                    <a:pt x="2296922" y="0"/>
                  </a:moveTo>
                  <a:lnTo>
                    <a:pt x="94234" y="0"/>
                  </a:lnTo>
                  <a:lnTo>
                    <a:pt x="57554" y="7401"/>
                  </a:lnTo>
                  <a:lnTo>
                    <a:pt x="27600" y="27590"/>
                  </a:lnTo>
                  <a:lnTo>
                    <a:pt x="7405" y="57542"/>
                  </a:lnTo>
                  <a:lnTo>
                    <a:pt x="0" y="94233"/>
                  </a:lnTo>
                  <a:lnTo>
                    <a:pt x="0" y="471169"/>
                  </a:lnTo>
                  <a:lnTo>
                    <a:pt x="7405" y="507861"/>
                  </a:lnTo>
                  <a:lnTo>
                    <a:pt x="27600" y="537813"/>
                  </a:lnTo>
                  <a:lnTo>
                    <a:pt x="57554" y="558002"/>
                  </a:lnTo>
                  <a:lnTo>
                    <a:pt x="94234" y="565403"/>
                  </a:lnTo>
                  <a:lnTo>
                    <a:pt x="2296922" y="565403"/>
                  </a:lnTo>
                  <a:lnTo>
                    <a:pt x="2333613" y="558002"/>
                  </a:lnTo>
                  <a:lnTo>
                    <a:pt x="2363565" y="537813"/>
                  </a:lnTo>
                  <a:lnTo>
                    <a:pt x="2383754" y="507861"/>
                  </a:lnTo>
                  <a:lnTo>
                    <a:pt x="2391156" y="471169"/>
                  </a:lnTo>
                  <a:lnTo>
                    <a:pt x="2512636" y="471169"/>
                  </a:lnTo>
                  <a:lnTo>
                    <a:pt x="2391156" y="329818"/>
                  </a:lnTo>
                  <a:lnTo>
                    <a:pt x="2391156" y="94233"/>
                  </a:lnTo>
                  <a:lnTo>
                    <a:pt x="2383754" y="57542"/>
                  </a:lnTo>
                  <a:lnTo>
                    <a:pt x="2363565" y="27590"/>
                  </a:lnTo>
                  <a:lnTo>
                    <a:pt x="2333613" y="7401"/>
                  </a:lnTo>
                  <a:lnTo>
                    <a:pt x="2296922" y="0"/>
                  </a:lnTo>
                  <a:close/>
                </a:path>
              </a:pathLst>
            </a:custGeom>
            <a:solidFill>
              <a:srgbClr val="B4C6E7"/>
            </a:solidFill>
          </p:spPr>
          <p:txBody>
            <a:bodyPr wrap="square" lIns="0" tIns="0" rIns="0" bIns="0" rtlCol="0"/>
            <a:lstStyle/>
            <a:p>
              <a:r>
                <a:rPr lang="en-GB" sz="1600" dirty="0">
                  <a:latin typeface="Calibri"/>
                  <a:cs typeface="Calibri"/>
                </a:rPr>
                <a:t> have</a:t>
              </a:r>
              <a:r>
                <a:rPr lang="en-GB" sz="1600" spc="-35" dirty="0">
                  <a:latin typeface="Calibri"/>
                  <a:cs typeface="Calibri"/>
                </a:rPr>
                <a:t> </a:t>
              </a:r>
              <a:r>
                <a:rPr lang="en-GB" sz="1600" dirty="0">
                  <a:latin typeface="Calibri"/>
                  <a:cs typeface="Calibri"/>
                </a:rPr>
                <a:t>changed</a:t>
              </a:r>
              <a:r>
                <a:rPr lang="en-GB" sz="1600" spc="-30" dirty="0">
                  <a:latin typeface="Calibri"/>
                  <a:cs typeface="Calibri"/>
                </a:rPr>
                <a:t> </a:t>
              </a:r>
              <a:r>
                <a:rPr lang="en-GB" sz="1600" spc="-10" dirty="0">
                  <a:latin typeface="Calibri"/>
                  <a:cs typeface="Calibri"/>
                </a:rPr>
                <a:t>“make</a:t>
              </a:r>
              <a:r>
                <a:rPr lang="en-GB" sz="1600" spc="-50" dirty="0">
                  <a:latin typeface="Calibri"/>
                  <a:cs typeface="Calibri"/>
                </a:rPr>
                <a:t> </a:t>
              </a:r>
              <a:r>
                <a:rPr lang="en-GB" sz="1600" dirty="0">
                  <a:latin typeface="Calibri"/>
                  <a:cs typeface="Calibri"/>
                </a:rPr>
                <a:t>my</a:t>
              </a:r>
              <a:r>
                <a:rPr lang="en-GB" sz="1600" spc="-45" dirty="0">
                  <a:latin typeface="Calibri"/>
                  <a:cs typeface="Calibri"/>
                </a:rPr>
                <a:t> </a:t>
              </a:r>
              <a:r>
                <a:rPr lang="en-GB" sz="1600" spc="-20" dirty="0">
                  <a:latin typeface="Calibri"/>
                  <a:cs typeface="Calibri"/>
                </a:rPr>
                <a:t>back hurt”, </a:t>
              </a:r>
              <a:r>
                <a:rPr lang="en-GB" sz="1600" dirty="0">
                  <a:latin typeface="Calibri"/>
                  <a:cs typeface="Calibri"/>
                </a:rPr>
                <a:t>into</a:t>
              </a:r>
              <a:r>
                <a:rPr lang="en-GB" sz="1600" spc="-35" dirty="0">
                  <a:latin typeface="Calibri"/>
                  <a:cs typeface="Calibri"/>
                </a:rPr>
                <a:t> </a:t>
              </a:r>
              <a:r>
                <a:rPr lang="en-GB" sz="1600" spc="-10" dirty="0">
                  <a:latin typeface="Calibri"/>
                  <a:cs typeface="Calibri"/>
                </a:rPr>
                <a:t>physical</a:t>
              </a:r>
              <a:r>
                <a:rPr lang="en-GB" sz="1600" spc="-15" dirty="0">
                  <a:latin typeface="Calibri"/>
                  <a:cs typeface="Calibri"/>
                </a:rPr>
                <a:t> </a:t>
              </a:r>
              <a:r>
                <a:rPr lang="en-GB" sz="1600" spc="-10" dirty="0">
                  <a:latin typeface="Calibri"/>
                  <a:cs typeface="Calibri"/>
                </a:rPr>
                <a:t>discomfort</a:t>
              </a:r>
              <a:endParaRPr sz="1600" dirty="0"/>
            </a:p>
          </p:txBody>
        </p:sp>
        <p:sp>
          <p:nvSpPr>
            <p:cNvPr id="16" name="object 13"/>
            <p:cNvSpPr/>
            <p:nvPr/>
          </p:nvSpPr>
          <p:spPr>
            <a:xfrm>
              <a:off x="41148" y="1644395"/>
              <a:ext cx="2644775" cy="624840"/>
            </a:xfrm>
            <a:custGeom>
              <a:avLst/>
              <a:gdLst/>
              <a:ahLst/>
              <a:cxnLst/>
              <a:rect l="l" t="t" r="r" b="b"/>
              <a:pathLst>
                <a:path w="2644775" h="624839">
                  <a:moveTo>
                    <a:pt x="0" y="94233"/>
                  </a:moveTo>
                  <a:lnTo>
                    <a:pt x="7405" y="57542"/>
                  </a:lnTo>
                  <a:lnTo>
                    <a:pt x="27600" y="27590"/>
                  </a:lnTo>
                  <a:lnTo>
                    <a:pt x="57554" y="7401"/>
                  </a:lnTo>
                  <a:lnTo>
                    <a:pt x="94234" y="0"/>
                  </a:lnTo>
                  <a:lnTo>
                    <a:pt x="1394841" y="0"/>
                  </a:lnTo>
                  <a:lnTo>
                    <a:pt x="1992629" y="0"/>
                  </a:lnTo>
                  <a:lnTo>
                    <a:pt x="2296922" y="0"/>
                  </a:lnTo>
                  <a:lnTo>
                    <a:pt x="2333613" y="7401"/>
                  </a:lnTo>
                  <a:lnTo>
                    <a:pt x="2363565" y="27590"/>
                  </a:lnTo>
                  <a:lnTo>
                    <a:pt x="2383754" y="57542"/>
                  </a:lnTo>
                  <a:lnTo>
                    <a:pt x="2391156" y="94233"/>
                  </a:lnTo>
                  <a:lnTo>
                    <a:pt x="2391156" y="329818"/>
                  </a:lnTo>
                  <a:lnTo>
                    <a:pt x="2644266" y="624331"/>
                  </a:lnTo>
                  <a:lnTo>
                    <a:pt x="2391156" y="471169"/>
                  </a:lnTo>
                  <a:lnTo>
                    <a:pt x="2383754" y="507861"/>
                  </a:lnTo>
                  <a:lnTo>
                    <a:pt x="2363565" y="537813"/>
                  </a:lnTo>
                  <a:lnTo>
                    <a:pt x="2333613" y="558002"/>
                  </a:lnTo>
                  <a:lnTo>
                    <a:pt x="2296922" y="565403"/>
                  </a:lnTo>
                  <a:lnTo>
                    <a:pt x="1992629" y="565403"/>
                  </a:lnTo>
                  <a:lnTo>
                    <a:pt x="1394841" y="565403"/>
                  </a:lnTo>
                  <a:lnTo>
                    <a:pt x="94234" y="565403"/>
                  </a:lnTo>
                  <a:lnTo>
                    <a:pt x="57554" y="558002"/>
                  </a:lnTo>
                  <a:lnTo>
                    <a:pt x="27600" y="537813"/>
                  </a:lnTo>
                  <a:lnTo>
                    <a:pt x="7405" y="507861"/>
                  </a:lnTo>
                  <a:lnTo>
                    <a:pt x="0" y="471169"/>
                  </a:lnTo>
                  <a:lnTo>
                    <a:pt x="0" y="329818"/>
                  </a:lnTo>
                  <a:lnTo>
                    <a:pt x="0" y="94233"/>
                  </a:lnTo>
                  <a:close/>
                </a:path>
              </a:pathLst>
            </a:custGeom>
            <a:ln w="12700">
              <a:solidFill>
                <a:srgbClr val="2E528F"/>
              </a:solidFill>
            </a:ln>
          </p:spPr>
          <p:txBody>
            <a:bodyPr wrap="square" lIns="0" tIns="0" rIns="0" bIns="0" rtlCol="0"/>
            <a:lstStyle/>
            <a:p>
              <a:endParaRPr/>
            </a:p>
          </p:txBody>
        </p:sp>
      </p:grpSp>
      <p:sp>
        <p:nvSpPr>
          <p:cNvPr id="17" name="object 15"/>
          <p:cNvSpPr txBox="1"/>
          <p:nvPr/>
        </p:nvSpPr>
        <p:spPr>
          <a:xfrm>
            <a:off x="1539703" y="5526370"/>
            <a:ext cx="7022406" cy="659155"/>
          </a:xfrm>
          <a:prstGeom prst="rect">
            <a:avLst/>
          </a:prstGeom>
        </p:spPr>
        <p:txBody>
          <a:bodyPr vert="horz" wrap="square" lIns="0" tIns="12700" rIns="0" bIns="0" rtlCol="0">
            <a:spAutoFit/>
          </a:bodyPr>
          <a:lstStyle/>
          <a:p>
            <a:pPr marL="355600" indent="-342900">
              <a:lnSpc>
                <a:spcPct val="100000"/>
              </a:lnSpc>
              <a:spcBef>
                <a:spcPts val="100"/>
              </a:spcBef>
              <a:buClr>
                <a:schemeClr val="accent4"/>
              </a:buClr>
              <a:buFont typeface="Wingdings" panose="05000000000000000000" pitchFamily="2" charset="2"/>
              <a:buChar char="§"/>
            </a:pPr>
            <a:r>
              <a:rPr sz="2100" dirty="0">
                <a:latin typeface="Calibri"/>
                <a:cs typeface="Calibri"/>
              </a:rPr>
              <a:t>Next</a:t>
            </a:r>
            <a:r>
              <a:rPr sz="2100" spc="-35" dirty="0">
                <a:latin typeface="Calibri"/>
                <a:cs typeface="Calibri"/>
              </a:rPr>
              <a:t> </a:t>
            </a:r>
            <a:r>
              <a:rPr sz="2100" dirty="0">
                <a:latin typeface="Calibri"/>
                <a:cs typeface="Calibri"/>
              </a:rPr>
              <a:t>what</a:t>
            </a:r>
            <a:r>
              <a:rPr sz="2100" spc="-45" dirty="0">
                <a:latin typeface="Calibri"/>
                <a:cs typeface="Calibri"/>
              </a:rPr>
              <a:t> </a:t>
            </a:r>
            <a:r>
              <a:rPr sz="2100" dirty="0">
                <a:latin typeface="Calibri"/>
                <a:cs typeface="Calibri"/>
              </a:rPr>
              <a:t>we</a:t>
            </a:r>
            <a:r>
              <a:rPr sz="2100" spc="-25" dirty="0">
                <a:latin typeface="Calibri"/>
                <a:cs typeface="Calibri"/>
              </a:rPr>
              <a:t> </a:t>
            </a:r>
            <a:r>
              <a:rPr sz="2100" dirty="0">
                <a:latin typeface="Calibri"/>
                <a:cs typeface="Calibri"/>
              </a:rPr>
              <a:t>are</a:t>
            </a:r>
            <a:r>
              <a:rPr sz="2100" spc="-45" dirty="0">
                <a:latin typeface="Calibri"/>
                <a:cs typeface="Calibri"/>
              </a:rPr>
              <a:t> </a:t>
            </a:r>
            <a:r>
              <a:rPr sz="2100" dirty="0">
                <a:latin typeface="Calibri"/>
                <a:cs typeface="Calibri"/>
              </a:rPr>
              <a:t>going</a:t>
            </a:r>
            <a:r>
              <a:rPr sz="2100" spc="-25" dirty="0">
                <a:latin typeface="Calibri"/>
                <a:cs typeface="Calibri"/>
              </a:rPr>
              <a:t> </a:t>
            </a:r>
            <a:r>
              <a:rPr sz="2100" dirty="0">
                <a:latin typeface="Calibri"/>
                <a:cs typeface="Calibri"/>
              </a:rPr>
              <a:t>to</a:t>
            </a:r>
            <a:r>
              <a:rPr sz="2100" spc="-40" dirty="0">
                <a:latin typeface="Calibri"/>
                <a:cs typeface="Calibri"/>
              </a:rPr>
              <a:t> </a:t>
            </a:r>
            <a:r>
              <a:rPr sz="2100" dirty="0">
                <a:latin typeface="Calibri"/>
                <a:cs typeface="Calibri"/>
              </a:rPr>
              <a:t>do</a:t>
            </a:r>
            <a:r>
              <a:rPr sz="2100" spc="-30" dirty="0">
                <a:latin typeface="Calibri"/>
                <a:cs typeface="Calibri"/>
              </a:rPr>
              <a:t> </a:t>
            </a:r>
            <a:r>
              <a:rPr sz="2100" dirty="0">
                <a:latin typeface="Calibri"/>
                <a:cs typeface="Calibri"/>
              </a:rPr>
              <a:t>with</a:t>
            </a:r>
            <a:r>
              <a:rPr sz="2100" spc="-40" dirty="0">
                <a:latin typeface="Calibri"/>
                <a:cs typeface="Calibri"/>
              </a:rPr>
              <a:t> </a:t>
            </a:r>
            <a:r>
              <a:rPr sz="2100" spc="-10" dirty="0">
                <a:latin typeface="Calibri"/>
                <a:cs typeface="Calibri"/>
              </a:rPr>
              <a:t>these?</a:t>
            </a:r>
            <a:endParaRPr sz="2100" dirty="0">
              <a:latin typeface="Calibri"/>
              <a:cs typeface="Calibri"/>
            </a:endParaRPr>
          </a:p>
          <a:p>
            <a:pPr marL="355600" indent="-342900">
              <a:lnSpc>
                <a:spcPct val="100000"/>
              </a:lnSpc>
              <a:buClr>
                <a:schemeClr val="accent4"/>
              </a:buClr>
              <a:buFont typeface="Wingdings" panose="05000000000000000000" pitchFamily="2" charset="2"/>
              <a:buChar char="§"/>
            </a:pPr>
            <a:r>
              <a:rPr sz="2100" dirty="0">
                <a:latin typeface="Calibri"/>
                <a:cs typeface="Calibri"/>
              </a:rPr>
              <a:t>We</a:t>
            </a:r>
            <a:r>
              <a:rPr sz="2100" spc="-85" dirty="0">
                <a:latin typeface="Calibri"/>
                <a:cs typeface="Calibri"/>
              </a:rPr>
              <a:t> </a:t>
            </a:r>
            <a:r>
              <a:rPr sz="2100" dirty="0">
                <a:latin typeface="Calibri"/>
                <a:cs typeface="Calibri"/>
              </a:rPr>
              <a:t>can</a:t>
            </a:r>
            <a:r>
              <a:rPr sz="2100" spc="-90" dirty="0">
                <a:latin typeface="Calibri"/>
                <a:cs typeface="Calibri"/>
              </a:rPr>
              <a:t> </a:t>
            </a:r>
            <a:r>
              <a:rPr sz="2100" spc="-10" dirty="0">
                <a:latin typeface="Calibri"/>
                <a:cs typeface="Calibri"/>
              </a:rPr>
              <a:t>generate</a:t>
            </a:r>
            <a:r>
              <a:rPr sz="2100" spc="-65" dirty="0">
                <a:latin typeface="Calibri"/>
                <a:cs typeface="Calibri"/>
              </a:rPr>
              <a:t> </a:t>
            </a:r>
            <a:r>
              <a:rPr sz="2100" dirty="0">
                <a:latin typeface="Calibri"/>
                <a:cs typeface="Calibri"/>
              </a:rPr>
              <a:t>some</a:t>
            </a:r>
            <a:r>
              <a:rPr sz="2100" spc="-60" dirty="0">
                <a:latin typeface="Calibri"/>
                <a:cs typeface="Calibri"/>
              </a:rPr>
              <a:t> </a:t>
            </a:r>
            <a:r>
              <a:rPr sz="2100" dirty="0">
                <a:latin typeface="Calibri"/>
                <a:cs typeface="Calibri"/>
              </a:rPr>
              <a:t>Categories</a:t>
            </a:r>
            <a:r>
              <a:rPr sz="2100" spc="-45" dirty="0">
                <a:latin typeface="Calibri"/>
                <a:cs typeface="Calibri"/>
              </a:rPr>
              <a:t> </a:t>
            </a:r>
            <a:r>
              <a:rPr sz="2100" dirty="0">
                <a:latin typeface="Calibri"/>
                <a:cs typeface="Calibri"/>
              </a:rPr>
              <a:t>from</a:t>
            </a:r>
            <a:r>
              <a:rPr sz="2100" spc="-75" dirty="0">
                <a:latin typeface="Calibri"/>
                <a:cs typeface="Calibri"/>
              </a:rPr>
              <a:t> </a:t>
            </a:r>
            <a:r>
              <a:rPr sz="2100" dirty="0">
                <a:latin typeface="Calibri"/>
                <a:cs typeface="Calibri"/>
              </a:rPr>
              <a:t>these</a:t>
            </a:r>
            <a:r>
              <a:rPr sz="2100" spc="-70" dirty="0">
                <a:latin typeface="Calibri"/>
                <a:cs typeface="Calibri"/>
              </a:rPr>
              <a:t> </a:t>
            </a:r>
            <a:r>
              <a:rPr sz="2100" spc="-10" dirty="0">
                <a:latin typeface="Calibri"/>
                <a:cs typeface="Calibri"/>
              </a:rPr>
              <a:t>Concepts</a:t>
            </a:r>
            <a:endParaRPr sz="2100" dirty="0">
              <a:latin typeface="Calibri"/>
              <a:cs typeface="Calibri"/>
            </a:endParaRPr>
          </a:p>
        </p:txBody>
      </p:sp>
    </p:spTree>
    <p:extLst>
      <p:ext uri="{BB962C8B-B14F-4D97-AF65-F5344CB8AC3E}">
        <p14:creationId xmlns:p14="http://schemas.microsoft.com/office/powerpoint/2010/main" val="38509882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Axial</a:t>
            </a:r>
            <a:r>
              <a:rPr lang="en-GB" spc="-100" dirty="0"/>
              <a:t> </a:t>
            </a:r>
            <a:r>
              <a:rPr lang="en-GB" dirty="0"/>
              <a:t>Coding</a:t>
            </a:r>
            <a:r>
              <a:rPr lang="en-GB" spc="-114" dirty="0"/>
              <a:t> </a:t>
            </a:r>
            <a:r>
              <a:rPr lang="en-GB" dirty="0"/>
              <a:t>–</a:t>
            </a:r>
            <a:r>
              <a:rPr lang="en-GB" spc="-110" dirty="0"/>
              <a:t> </a:t>
            </a:r>
            <a:r>
              <a:rPr lang="en-GB" dirty="0"/>
              <a:t>Relating</a:t>
            </a:r>
            <a:r>
              <a:rPr lang="en-GB" spc="-120" dirty="0"/>
              <a:t> </a:t>
            </a:r>
            <a:r>
              <a:rPr lang="en-GB" dirty="0"/>
              <a:t>Concepts</a:t>
            </a:r>
            <a:r>
              <a:rPr lang="en-GB" spc="-110" dirty="0"/>
              <a:t> </a:t>
            </a:r>
            <a:r>
              <a:rPr lang="en-GB" spc="-25" dirty="0"/>
              <a:t>to </a:t>
            </a:r>
            <a:r>
              <a:rPr lang="en-GB" spc="-10" dirty="0"/>
              <a:t>Categories</a:t>
            </a:r>
            <a:endParaRPr lang="en-GB" dirty="0"/>
          </a:p>
        </p:txBody>
      </p:sp>
      <p:sp>
        <p:nvSpPr>
          <p:cNvPr id="4" name="object 3"/>
          <p:cNvSpPr txBox="1"/>
          <p:nvPr/>
        </p:nvSpPr>
        <p:spPr>
          <a:xfrm>
            <a:off x="4149655" y="3271357"/>
            <a:ext cx="1191260" cy="280670"/>
          </a:xfrm>
          <a:prstGeom prst="rect">
            <a:avLst/>
          </a:prstGeom>
          <a:solidFill>
            <a:srgbClr val="FFFF00"/>
          </a:solidFill>
        </p:spPr>
        <p:txBody>
          <a:bodyPr vert="horz" wrap="square" lIns="0" tIns="0" rIns="0" bIns="0" rtlCol="0">
            <a:spAutoFit/>
          </a:bodyPr>
          <a:lstStyle/>
          <a:p>
            <a:pPr>
              <a:lnSpc>
                <a:spcPts val="2090"/>
              </a:lnSpc>
            </a:pPr>
            <a:r>
              <a:rPr sz="1800" dirty="0">
                <a:latin typeface="Calibri"/>
                <a:cs typeface="Calibri"/>
              </a:rPr>
              <a:t>Not</a:t>
            </a:r>
            <a:r>
              <a:rPr sz="1800" spc="-5" dirty="0">
                <a:latin typeface="Calibri"/>
                <a:cs typeface="Calibri"/>
              </a:rPr>
              <a:t> </a:t>
            </a:r>
            <a:r>
              <a:rPr sz="1800" spc="-10" dirty="0">
                <a:latin typeface="Calibri"/>
                <a:cs typeface="Calibri"/>
              </a:rPr>
              <a:t>Practical</a:t>
            </a:r>
            <a:endParaRPr sz="1800">
              <a:latin typeface="Calibri"/>
              <a:cs typeface="Calibri"/>
            </a:endParaRPr>
          </a:p>
        </p:txBody>
      </p:sp>
      <p:sp>
        <p:nvSpPr>
          <p:cNvPr id="5" name="object 4"/>
          <p:cNvSpPr txBox="1"/>
          <p:nvPr/>
        </p:nvSpPr>
        <p:spPr>
          <a:xfrm>
            <a:off x="5891207" y="3253197"/>
            <a:ext cx="1070610" cy="280670"/>
          </a:xfrm>
          <a:prstGeom prst="rect">
            <a:avLst/>
          </a:prstGeom>
          <a:solidFill>
            <a:srgbClr val="0000FF"/>
          </a:solidFill>
        </p:spPr>
        <p:txBody>
          <a:bodyPr vert="horz" wrap="square" lIns="0" tIns="0" rIns="0" bIns="0" rtlCol="0">
            <a:spAutoFit/>
          </a:bodyPr>
          <a:lstStyle/>
          <a:p>
            <a:pPr>
              <a:lnSpc>
                <a:spcPts val="2095"/>
              </a:lnSpc>
            </a:pPr>
            <a:r>
              <a:rPr sz="1800" spc="-10" dirty="0">
                <a:solidFill>
                  <a:srgbClr val="FFFFFF"/>
                </a:solidFill>
                <a:latin typeface="Calibri"/>
                <a:cs typeface="Calibri"/>
              </a:rPr>
              <a:t>Convenient</a:t>
            </a:r>
            <a:endParaRPr sz="1800">
              <a:latin typeface="Calibri"/>
              <a:cs typeface="Calibri"/>
            </a:endParaRPr>
          </a:p>
        </p:txBody>
      </p:sp>
      <p:sp>
        <p:nvSpPr>
          <p:cNvPr id="6" name="object 5"/>
          <p:cNvSpPr txBox="1"/>
          <p:nvPr/>
        </p:nvSpPr>
        <p:spPr>
          <a:xfrm>
            <a:off x="3739446" y="2524344"/>
            <a:ext cx="1797685" cy="280670"/>
          </a:xfrm>
          <a:prstGeom prst="rect">
            <a:avLst/>
          </a:prstGeom>
          <a:solidFill>
            <a:srgbClr val="00FF00"/>
          </a:solidFill>
        </p:spPr>
        <p:txBody>
          <a:bodyPr vert="horz" wrap="square" lIns="0" tIns="0" rIns="0" bIns="0" rtlCol="0">
            <a:spAutoFit/>
          </a:bodyPr>
          <a:lstStyle/>
          <a:p>
            <a:pPr>
              <a:lnSpc>
                <a:spcPts val="2090"/>
              </a:lnSpc>
            </a:pPr>
            <a:r>
              <a:rPr sz="1800" dirty="0">
                <a:latin typeface="Calibri"/>
                <a:cs typeface="Calibri"/>
              </a:rPr>
              <a:t>Physical</a:t>
            </a:r>
            <a:r>
              <a:rPr sz="1800" spc="-100" dirty="0">
                <a:latin typeface="Calibri"/>
                <a:cs typeface="Calibri"/>
              </a:rPr>
              <a:t> </a:t>
            </a:r>
            <a:r>
              <a:rPr sz="1800" spc="-10" dirty="0">
                <a:latin typeface="Calibri"/>
                <a:cs typeface="Calibri"/>
              </a:rPr>
              <a:t>discomfort</a:t>
            </a:r>
            <a:endParaRPr sz="1800">
              <a:latin typeface="Calibri"/>
              <a:cs typeface="Calibri"/>
            </a:endParaRPr>
          </a:p>
        </p:txBody>
      </p:sp>
      <p:sp>
        <p:nvSpPr>
          <p:cNvPr id="7" name="object 6"/>
          <p:cNvSpPr txBox="1"/>
          <p:nvPr/>
        </p:nvSpPr>
        <p:spPr>
          <a:xfrm>
            <a:off x="6622218" y="4893275"/>
            <a:ext cx="1725930" cy="280670"/>
          </a:xfrm>
          <a:prstGeom prst="rect">
            <a:avLst/>
          </a:prstGeom>
          <a:solidFill>
            <a:srgbClr val="00FFFF"/>
          </a:solidFill>
        </p:spPr>
        <p:txBody>
          <a:bodyPr vert="horz" wrap="square" lIns="0" tIns="0" rIns="0" bIns="0" rtlCol="0">
            <a:spAutoFit/>
          </a:bodyPr>
          <a:lstStyle/>
          <a:p>
            <a:pPr marL="635">
              <a:lnSpc>
                <a:spcPts val="2095"/>
              </a:lnSpc>
            </a:pPr>
            <a:r>
              <a:rPr sz="1800" dirty="0">
                <a:latin typeface="Calibri"/>
                <a:cs typeface="Calibri"/>
              </a:rPr>
              <a:t>Require</a:t>
            </a:r>
            <a:r>
              <a:rPr sz="1800" spc="-105" dirty="0">
                <a:latin typeface="Calibri"/>
                <a:cs typeface="Calibri"/>
              </a:rPr>
              <a:t> </a:t>
            </a:r>
            <a:r>
              <a:rPr sz="1800" spc="-10" dirty="0">
                <a:latin typeface="Calibri"/>
                <a:cs typeface="Calibri"/>
              </a:rPr>
              <a:t>assistance</a:t>
            </a:r>
            <a:endParaRPr sz="1800" dirty="0">
              <a:latin typeface="Calibri"/>
              <a:cs typeface="Calibri"/>
            </a:endParaRPr>
          </a:p>
        </p:txBody>
      </p:sp>
      <p:sp>
        <p:nvSpPr>
          <p:cNvPr id="8" name="object 7"/>
          <p:cNvSpPr txBox="1"/>
          <p:nvPr/>
        </p:nvSpPr>
        <p:spPr>
          <a:xfrm>
            <a:off x="3882829" y="4893275"/>
            <a:ext cx="922019" cy="280670"/>
          </a:xfrm>
          <a:prstGeom prst="rect">
            <a:avLst/>
          </a:prstGeom>
          <a:solidFill>
            <a:srgbClr val="800000"/>
          </a:solidFill>
        </p:spPr>
        <p:txBody>
          <a:bodyPr vert="horz" wrap="square" lIns="0" tIns="0" rIns="0" bIns="0" rtlCol="0">
            <a:spAutoFit/>
          </a:bodyPr>
          <a:lstStyle/>
          <a:p>
            <a:pPr>
              <a:lnSpc>
                <a:spcPts val="2095"/>
              </a:lnSpc>
            </a:pPr>
            <a:r>
              <a:rPr sz="1800" spc="-10" dirty="0">
                <a:solidFill>
                  <a:srgbClr val="FFFFFF"/>
                </a:solidFill>
                <a:latin typeface="Calibri"/>
                <a:cs typeface="Calibri"/>
              </a:rPr>
              <a:t>Confusing</a:t>
            </a:r>
            <a:endParaRPr sz="1800">
              <a:latin typeface="Calibri"/>
              <a:cs typeface="Calibri"/>
            </a:endParaRPr>
          </a:p>
        </p:txBody>
      </p:sp>
      <p:sp>
        <p:nvSpPr>
          <p:cNvPr id="9" name="object 8"/>
          <p:cNvSpPr txBox="1"/>
          <p:nvPr/>
        </p:nvSpPr>
        <p:spPr>
          <a:xfrm>
            <a:off x="7304590" y="4025357"/>
            <a:ext cx="1082040" cy="280670"/>
          </a:xfrm>
          <a:prstGeom prst="rect">
            <a:avLst/>
          </a:prstGeom>
          <a:solidFill>
            <a:srgbClr val="FF00FF"/>
          </a:solidFill>
        </p:spPr>
        <p:txBody>
          <a:bodyPr vert="horz" wrap="square" lIns="0" tIns="0" rIns="0" bIns="0" rtlCol="0">
            <a:spAutoFit/>
          </a:bodyPr>
          <a:lstStyle/>
          <a:p>
            <a:pPr marL="635">
              <a:lnSpc>
                <a:spcPts val="2095"/>
              </a:lnSpc>
            </a:pPr>
            <a:r>
              <a:rPr sz="1800" dirty="0">
                <a:latin typeface="Calibri"/>
                <a:cs typeface="Calibri"/>
              </a:rPr>
              <a:t>Useful</a:t>
            </a:r>
            <a:r>
              <a:rPr sz="1800" spc="-35" dirty="0">
                <a:latin typeface="Calibri"/>
                <a:cs typeface="Calibri"/>
              </a:rPr>
              <a:t> </a:t>
            </a:r>
            <a:r>
              <a:rPr sz="1800" spc="-20" dirty="0">
                <a:latin typeface="Calibri"/>
                <a:cs typeface="Calibri"/>
              </a:rPr>
              <a:t>apps</a:t>
            </a:r>
            <a:endParaRPr sz="1800">
              <a:latin typeface="Calibri"/>
              <a:cs typeface="Calibri"/>
            </a:endParaRPr>
          </a:p>
        </p:txBody>
      </p:sp>
      <p:sp>
        <p:nvSpPr>
          <p:cNvPr id="10" name="object 9"/>
          <p:cNvSpPr txBox="1"/>
          <p:nvPr/>
        </p:nvSpPr>
        <p:spPr>
          <a:xfrm>
            <a:off x="3418986" y="4062567"/>
            <a:ext cx="2250440" cy="280670"/>
          </a:xfrm>
          <a:prstGeom prst="rect">
            <a:avLst/>
          </a:prstGeom>
          <a:solidFill>
            <a:srgbClr val="FF00FF"/>
          </a:solidFill>
        </p:spPr>
        <p:txBody>
          <a:bodyPr vert="horz" wrap="square" lIns="0" tIns="0" rIns="0" bIns="0" rtlCol="0">
            <a:spAutoFit/>
          </a:bodyPr>
          <a:lstStyle/>
          <a:p>
            <a:pPr>
              <a:lnSpc>
                <a:spcPts val="2095"/>
              </a:lnSpc>
            </a:pPr>
            <a:r>
              <a:rPr sz="1800" dirty="0">
                <a:latin typeface="Calibri"/>
                <a:cs typeface="Calibri"/>
              </a:rPr>
              <a:t>Complex</a:t>
            </a:r>
            <a:r>
              <a:rPr sz="1800" spc="-55" dirty="0">
                <a:latin typeface="Calibri"/>
                <a:cs typeface="Calibri"/>
              </a:rPr>
              <a:t> </a:t>
            </a:r>
            <a:r>
              <a:rPr sz="1800" dirty="0">
                <a:latin typeface="Calibri"/>
                <a:cs typeface="Calibri"/>
              </a:rPr>
              <a:t>app</a:t>
            </a:r>
            <a:r>
              <a:rPr sz="1800" spc="-35" dirty="0">
                <a:latin typeface="Calibri"/>
                <a:cs typeface="Calibri"/>
              </a:rPr>
              <a:t> </a:t>
            </a:r>
            <a:r>
              <a:rPr sz="1800" spc="-10" dirty="0">
                <a:latin typeface="Calibri"/>
                <a:cs typeface="Calibri"/>
              </a:rPr>
              <a:t>ecosystem</a:t>
            </a:r>
            <a:endParaRPr sz="1800">
              <a:latin typeface="Calibri"/>
              <a:cs typeface="Calibri"/>
            </a:endParaRPr>
          </a:p>
        </p:txBody>
      </p:sp>
      <p:sp>
        <p:nvSpPr>
          <p:cNvPr id="11" name="object 10"/>
          <p:cNvSpPr txBox="1"/>
          <p:nvPr/>
        </p:nvSpPr>
        <p:spPr>
          <a:xfrm>
            <a:off x="6169972" y="2524344"/>
            <a:ext cx="2045970" cy="280670"/>
          </a:xfrm>
          <a:prstGeom prst="rect">
            <a:avLst/>
          </a:prstGeom>
          <a:solidFill>
            <a:srgbClr val="800080"/>
          </a:solidFill>
        </p:spPr>
        <p:txBody>
          <a:bodyPr vert="horz" wrap="square" lIns="0" tIns="0" rIns="0" bIns="0" rtlCol="0">
            <a:spAutoFit/>
          </a:bodyPr>
          <a:lstStyle/>
          <a:p>
            <a:pPr>
              <a:lnSpc>
                <a:spcPts val="2090"/>
              </a:lnSpc>
            </a:pPr>
            <a:r>
              <a:rPr sz="1800" dirty="0">
                <a:solidFill>
                  <a:srgbClr val="FFFFFF"/>
                </a:solidFill>
                <a:latin typeface="Calibri"/>
                <a:cs typeface="Calibri"/>
              </a:rPr>
              <a:t>Avoid</a:t>
            </a:r>
            <a:r>
              <a:rPr sz="1800" spc="-85" dirty="0">
                <a:solidFill>
                  <a:srgbClr val="FFFFFF"/>
                </a:solidFill>
                <a:latin typeface="Calibri"/>
                <a:cs typeface="Calibri"/>
              </a:rPr>
              <a:t> </a:t>
            </a:r>
            <a:r>
              <a:rPr sz="1800" dirty="0">
                <a:solidFill>
                  <a:srgbClr val="FFFFFF"/>
                </a:solidFill>
                <a:latin typeface="Calibri"/>
                <a:cs typeface="Calibri"/>
              </a:rPr>
              <a:t>physical</a:t>
            </a:r>
            <a:r>
              <a:rPr sz="1800" spc="-80" dirty="0">
                <a:solidFill>
                  <a:srgbClr val="FFFFFF"/>
                </a:solidFill>
                <a:latin typeface="Calibri"/>
                <a:cs typeface="Calibri"/>
              </a:rPr>
              <a:t> </a:t>
            </a:r>
            <a:r>
              <a:rPr sz="1800" spc="-10" dirty="0">
                <a:solidFill>
                  <a:srgbClr val="FFFFFF"/>
                </a:solidFill>
                <a:latin typeface="Calibri"/>
                <a:cs typeface="Calibri"/>
              </a:rPr>
              <a:t>activity</a:t>
            </a:r>
            <a:endParaRPr sz="1800">
              <a:latin typeface="Calibri"/>
              <a:cs typeface="Calibri"/>
            </a:endParaRPr>
          </a:p>
        </p:txBody>
      </p:sp>
      <p:sp>
        <p:nvSpPr>
          <p:cNvPr id="17" name="object 15"/>
          <p:cNvSpPr txBox="1"/>
          <p:nvPr/>
        </p:nvSpPr>
        <p:spPr>
          <a:xfrm>
            <a:off x="1468266" y="5395586"/>
            <a:ext cx="8402319" cy="1179810"/>
          </a:xfrm>
          <a:prstGeom prst="rect">
            <a:avLst/>
          </a:prstGeom>
        </p:spPr>
        <p:txBody>
          <a:bodyPr vert="horz" wrap="square" lIns="0" tIns="12700" rIns="0" bIns="0" rtlCol="0">
            <a:spAutoFit/>
          </a:bodyPr>
          <a:lstStyle/>
          <a:p>
            <a:pPr marL="323850" lvl="0" indent="-285750">
              <a:spcBef>
                <a:spcPts val="100"/>
              </a:spcBef>
              <a:buClr>
                <a:schemeClr val="accent4"/>
              </a:buClr>
              <a:buFont typeface="Wingdings" panose="05000000000000000000" pitchFamily="2" charset="2"/>
              <a:buChar char="§"/>
            </a:pPr>
            <a:r>
              <a:rPr lang="en-GB" dirty="0">
                <a:cs typeface="Calibri"/>
              </a:rPr>
              <a:t>Next </a:t>
            </a:r>
            <a:r>
              <a:rPr lang="en-GB" kern="0" dirty="0">
                <a:solidFill>
                  <a:sysClr val="windowText" lastClr="000000"/>
                </a:solidFill>
                <a:cs typeface="Calibri"/>
              </a:rPr>
              <a:t>What</a:t>
            </a:r>
            <a:r>
              <a:rPr lang="en-GB" kern="0" spc="-65" dirty="0">
                <a:solidFill>
                  <a:sysClr val="windowText" lastClr="000000"/>
                </a:solidFill>
                <a:cs typeface="Calibri"/>
              </a:rPr>
              <a:t> </a:t>
            </a:r>
            <a:r>
              <a:rPr lang="en-GB" kern="0" dirty="0">
                <a:solidFill>
                  <a:sysClr val="windowText" lastClr="000000"/>
                </a:solidFill>
                <a:cs typeface="Calibri"/>
              </a:rPr>
              <a:t>we</a:t>
            </a:r>
            <a:r>
              <a:rPr lang="en-GB" kern="0" spc="-25" dirty="0">
                <a:solidFill>
                  <a:sysClr val="windowText" lastClr="000000"/>
                </a:solidFill>
                <a:cs typeface="Calibri"/>
              </a:rPr>
              <a:t> </a:t>
            </a:r>
            <a:r>
              <a:rPr lang="en-GB" kern="0" dirty="0">
                <a:solidFill>
                  <a:sysClr val="windowText" lastClr="000000"/>
                </a:solidFill>
                <a:cs typeface="Calibri"/>
              </a:rPr>
              <a:t>are</a:t>
            </a:r>
            <a:r>
              <a:rPr lang="en-GB" kern="0" spc="-30" dirty="0">
                <a:solidFill>
                  <a:sysClr val="windowText" lastClr="000000"/>
                </a:solidFill>
                <a:cs typeface="Calibri"/>
              </a:rPr>
              <a:t> </a:t>
            </a:r>
            <a:r>
              <a:rPr lang="en-GB" kern="0" dirty="0">
                <a:solidFill>
                  <a:sysClr val="windowText" lastClr="000000"/>
                </a:solidFill>
                <a:cs typeface="Calibri"/>
              </a:rPr>
              <a:t>going</a:t>
            </a:r>
            <a:r>
              <a:rPr lang="en-GB" kern="0" spc="-30" dirty="0">
                <a:solidFill>
                  <a:sysClr val="windowText" lastClr="000000"/>
                </a:solidFill>
                <a:cs typeface="Calibri"/>
              </a:rPr>
              <a:t> </a:t>
            </a:r>
            <a:r>
              <a:rPr lang="en-GB" kern="0" dirty="0">
                <a:solidFill>
                  <a:sysClr val="windowText" lastClr="000000"/>
                </a:solidFill>
                <a:cs typeface="Calibri"/>
              </a:rPr>
              <a:t>to</a:t>
            </a:r>
            <a:r>
              <a:rPr lang="en-GB" kern="0" spc="-40" dirty="0">
                <a:solidFill>
                  <a:sysClr val="windowText" lastClr="000000"/>
                </a:solidFill>
                <a:cs typeface="Calibri"/>
              </a:rPr>
              <a:t> </a:t>
            </a:r>
            <a:r>
              <a:rPr lang="en-GB" kern="0" dirty="0">
                <a:solidFill>
                  <a:sysClr val="windowText" lastClr="000000"/>
                </a:solidFill>
                <a:cs typeface="Calibri"/>
              </a:rPr>
              <a:t>do</a:t>
            </a:r>
            <a:r>
              <a:rPr lang="en-GB" kern="0" spc="-40" dirty="0">
                <a:solidFill>
                  <a:sysClr val="windowText" lastClr="000000"/>
                </a:solidFill>
                <a:cs typeface="Calibri"/>
              </a:rPr>
              <a:t> </a:t>
            </a:r>
            <a:r>
              <a:rPr lang="en-GB" kern="0" spc="-10" dirty="0">
                <a:solidFill>
                  <a:sysClr val="windowText" lastClr="000000"/>
                </a:solidFill>
                <a:cs typeface="Calibri"/>
              </a:rPr>
              <a:t>next?</a:t>
            </a:r>
            <a:endParaRPr lang="en-GB" kern="0" dirty="0">
              <a:solidFill>
                <a:sysClr val="windowText" lastClr="000000"/>
              </a:solidFill>
              <a:cs typeface="Calibri"/>
            </a:endParaRPr>
          </a:p>
          <a:p>
            <a:pPr marL="323850" lvl="0" indent="-285750">
              <a:buClr>
                <a:schemeClr val="accent4"/>
              </a:buClr>
              <a:buFont typeface="Wingdings" panose="05000000000000000000" pitchFamily="2" charset="2"/>
              <a:buChar char="§"/>
            </a:pPr>
            <a:r>
              <a:rPr lang="en-GB" kern="0" dirty="0">
                <a:solidFill>
                  <a:sysClr val="windowText" lastClr="000000"/>
                </a:solidFill>
                <a:cs typeface="Calibri"/>
              </a:rPr>
              <a:t>We</a:t>
            </a:r>
            <a:r>
              <a:rPr lang="en-GB" kern="0" spc="-55" dirty="0">
                <a:solidFill>
                  <a:sysClr val="windowText" lastClr="000000"/>
                </a:solidFill>
                <a:cs typeface="Calibri"/>
              </a:rPr>
              <a:t> </a:t>
            </a:r>
            <a:r>
              <a:rPr lang="en-GB" kern="0" dirty="0">
                <a:solidFill>
                  <a:sysClr val="windowText" lastClr="000000"/>
                </a:solidFill>
                <a:cs typeface="Calibri"/>
              </a:rPr>
              <a:t>can</a:t>
            </a:r>
            <a:r>
              <a:rPr lang="en-GB" kern="0" spc="-60" dirty="0">
                <a:solidFill>
                  <a:sysClr val="windowText" lastClr="000000"/>
                </a:solidFill>
                <a:cs typeface="Calibri"/>
              </a:rPr>
              <a:t> </a:t>
            </a:r>
            <a:r>
              <a:rPr lang="en-GB" kern="0" dirty="0">
                <a:solidFill>
                  <a:sysClr val="windowText" lastClr="000000"/>
                </a:solidFill>
                <a:cs typeface="Calibri"/>
              </a:rPr>
              <a:t>create</a:t>
            </a:r>
            <a:r>
              <a:rPr lang="en-GB" kern="0" spc="-45" dirty="0">
                <a:solidFill>
                  <a:sysClr val="windowText" lastClr="000000"/>
                </a:solidFill>
                <a:cs typeface="Calibri"/>
              </a:rPr>
              <a:t> </a:t>
            </a:r>
            <a:r>
              <a:rPr lang="en-GB" kern="0" dirty="0">
                <a:solidFill>
                  <a:sysClr val="windowText" lastClr="000000"/>
                </a:solidFill>
                <a:cs typeface="Calibri"/>
              </a:rPr>
              <a:t>a</a:t>
            </a:r>
            <a:r>
              <a:rPr lang="en-GB" kern="0" spc="-45" dirty="0">
                <a:solidFill>
                  <a:sysClr val="windowText" lastClr="000000"/>
                </a:solidFill>
                <a:cs typeface="Calibri"/>
              </a:rPr>
              <a:t> </a:t>
            </a:r>
            <a:r>
              <a:rPr lang="en-GB" kern="0" dirty="0">
                <a:solidFill>
                  <a:sysClr val="windowText" lastClr="000000"/>
                </a:solidFill>
                <a:cs typeface="Calibri"/>
              </a:rPr>
              <a:t>2</a:t>
            </a:r>
            <a:r>
              <a:rPr lang="en-GB" kern="0" baseline="25793" dirty="0">
                <a:solidFill>
                  <a:sysClr val="windowText" lastClr="000000"/>
                </a:solidFill>
                <a:cs typeface="Calibri"/>
              </a:rPr>
              <a:t>nd</a:t>
            </a:r>
            <a:r>
              <a:rPr lang="en-GB" kern="0" spc="165" baseline="25793" dirty="0">
                <a:solidFill>
                  <a:sysClr val="windowText" lastClr="000000"/>
                </a:solidFill>
                <a:cs typeface="Calibri"/>
              </a:rPr>
              <a:t>  </a:t>
            </a:r>
            <a:r>
              <a:rPr lang="en-GB" kern="0" dirty="0">
                <a:solidFill>
                  <a:sysClr val="windowText" lastClr="000000"/>
                </a:solidFill>
                <a:cs typeface="Calibri"/>
              </a:rPr>
              <a:t>Axis</a:t>
            </a:r>
            <a:r>
              <a:rPr lang="en-GB" kern="0" spc="-40" dirty="0">
                <a:solidFill>
                  <a:sysClr val="windowText" lastClr="000000"/>
                </a:solidFill>
                <a:cs typeface="Calibri"/>
              </a:rPr>
              <a:t> </a:t>
            </a:r>
            <a:r>
              <a:rPr lang="en-GB" kern="0" dirty="0">
                <a:solidFill>
                  <a:sysClr val="windowText" lastClr="000000"/>
                </a:solidFill>
                <a:cs typeface="Calibri"/>
              </a:rPr>
              <a:t>that</a:t>
            </a:r>
            <a:r>
              <a:rPr lang="en-GB" kern="0" spc="-60" dirty="0">
                <a:solidFill>
                  <a:sysClr val="windowText" lastClr="000000"/>
                </a:solidFill>
                <a:cs typeface="Calibri"/>
              </a:rPr>
              <a:t> </a:t>
            </a:r>
            <a:r>
              <a:rPr lang="en-GB" kern="0" spc="-10" dirty="0">
                <a:solidFill>
                  <a:sysClr val="windowText" lastClr="000000"/>
                </a:solidFill>
                <a:cs typeface="Calibri"/>
              </a:rPr>
              <a:t>differentiates</a:t>
            </a:r>
            <a:r>
              <a:rPr lang="en-GB" kern="0" spc="-30" dirty="0">
                <a:solidFill>
                  <a:sysClr val="windowText" lastClr="000000"/>
                </a:solidFill>
                <a:cs typeface="Calibri"/>
              </a:rPr>
              <a:t> </a:t>
            </a:r>
            <a:r>
              <a:rPr lang="en-GB" kern="0" dirty="0">
                <a:solidFill>
                  <a:sysClr val="windowText" lastClr="000000"/>
                </a:solidFill>
                <a:cs typeface="Calibri"/>
              </a:rPr>
              <a:t>between</a:t>
            </a:r>
            <a:r>
              <a:rPr lang="en-GB" kern="0" spc="-35" dirty="0">
                <a:solidFill>
                  <a:sysClr val="windowText" lastClr="000000"/>
                </a:solidFill>
                <a:cs typeface="Calibri"/>
              </a:rPr>
              <a:t> </a:t>
            </a:r>
            <a:r>
              <a:rPr lang="en-GB" b="1" kern="0" spc="-10" dirty="0">
                <a:solidFill>
                  <a:sysClr val="windowText" lastClr="000000"/>
                </a:solidFill>
                <a:cs typeface="Calibri"/>
              </a:rPr>
              <a:t>Positive</a:t>
            </a:r>
            <a:r>
              <a:rPr lang="en-GB" b="1" kern="0" spc="-60" dirty="0">
                <a:solidFill>
                  <a:sysClr val="windowText" lastClr="000000"/>
                </a:solidFill>
                <a:cs typeface="Calibri"/>
              </a:rPr>
              <a:t> </a:t>
            </a:r>
            <a:r>
              <a:rPr lang="en-GB" kern="0" dirty="0">
                <a:solidFill>
                  <a:sysClr val="windowText" lastClr="000000"/>
                </a:solidFill>
                <a:cs typeface="Calibri"/>
              </a:rPr>
              <a:t>and</a:t>
            </a:r>
            <a:r>
              <a:rPr lang="en-GB" kern="0" spc="-60" dirty="0">
                <a:solidFill>
                  <a:sysClr val="windowText" lastClr="000000"/>
                </a:solidFill>
                <a:cs typeface="Calibri"/>
              </a:rPr>
              <a:t> </a:t>
            </a:r>
            <a:r>
              <a:rPr lang="en-GB" b="1" kern="0" spc="-10" dirty="0">
                <a:solidFill>
                  <a:sysClr val="windowText" lastClr="000000"/>
                </a:solidFill>
                <a:cs typeface="Calibri"/>
              </a:rPr>
              <a:t>Negative</a:t>
            </a:r>
            <a:r>
              <a:rPr lang="en-GB" kern="0" dirty="0">
                <a:solidFill>
                  <a:sysClr val="windowText" lastClr="000000"/>
                </a:solidFill>
                <a:cs typeface="Calibri"/>
              </a:rPr>
              <a:t> </a:t>
            </a:r>
          </a:p>
          <a:p>
            <a:pPr marL="323850" lvl="0" indent="-285750">
              <a:buClr>
                <a:schemeClr val="accent4"/>
              </a:buClr>
              <a:buFont typeface="Wingdings" panose="05000000000000000000" pitchFamily="2" charset="2"/>
              <a:buChar char="§"/>
            </a:pPr>
            <a:r>
              <a:rPr lang="en-GB" kern="0" dirty="0">
                <a:solidFill>
                  <a:sysClr val="windowText" lastClr="000000"/>
                </a:solidFill>
                <a:cs typeface="Calibri"/>
              </a:rPr>
              <a:t>Concepts</a:t>
            </a:r>
            <a:r>
              <a:rPr lang="en-GB" kern="0" spc="-55" dirty="0">
                <a:solidFill>
                  <a:sysClr val="windowText" lastClr="000000"/>
                </a:solidFill>
                <a:cs typeface="Calibri"/>
              </a:rPr>
              <a:t> </a:t>
            </a:r>
            <a:r>
              <a:rPr lang="en-GB" kern="0" dirty="0">
                <a:solidFill>
                  <a:sysClr val="windowText" lastClr="000000"/>
                </a:solidFill>
                <a:cs typeface="Calibri"/>
              </a:rPr>
              <a:t>for</a:t>
            </a:r>
            <a:r>
              <a:rPr lang="en-GB" kern="0" spc="-55" dirty="0">
                <a:solidFill>
                  <a:sysClr val="windowText" lastClr="000000"/>
                </a:solidFill>
                <a:cs typeface="Calibri"/>
              </a:rPr>
              <a:t> </a:t>
            </a:r>
            <a:r>
              <a:rPr lang="en-GB" kern="0" dirty="0">
                <a:solidFill>
                  <a:sysClr val="windowText" lastClr="000000"/>
                </a:solidFill>
                <a:cs typeface="Calibri"/>
              </a:rPr>
              <a:t>each</a:t>
            </a:r>
            <a:r>
              <a:rPr lang="en-GB" kern="0" spc="-65" dirty="0">
                <a:solidFill>
                  <a:sysClr val="windowText" lastClr="000000"/>
                </a:solidFill>
                <a:cs typeface="Calibri"/>
              </a:rPr>
              <a:t> </a:t>
            </a:r>
            <a:r>
              <a:rPr lang="en-GB" kern="0" spc="-10" dirty="0">
                <a:solidFill>
                  <a:sysClr val="windowText" lastClr="000000"/>
                </a:solidFill>
                <a:cs typeface="Calibri"/>
              </a:rPr>
              <a:t>Category</a:t>
            </a:r>
            <a:endParaRPr lang="en-GB" kern="0" dirty="0">
              <a:solidFill>
                <a:sysClr val="windowText" lastClr="000000"/>
              </a:solidFill>
              <a:cs typeface="Calibri"/>
            </a:endParaRPr>
          </a:p>
          <a:p>
            <a:pPr marL="355600" indent="-342900">
              <a:lnSpc>
                <a:spcPct val="100000"/>
              </a:lnSpc>
              <a:spcBef>
                <a:spcPts val="100"/>
              </a:spcBef>
              <a:buClr>
                <a:schemeClr val="accent4"/>
              </a:buClr>
              <a:buFont typeface="Wingdings" panose="05000000000000000000" pitchFamily="2" charset="2"/>
              <a:buChar char="§"/>
            </a:pPr>
            <a:endParaRPr sz="2100" dirty="0">
              <a:latin typeface="Calibri"/>
              <a:cs typeface="Calibri"/>
            </a:endParaRPr>
          </a:p>
        </p:txBody>
      </p:sp>
      <p:sp>
        <p:nvSpPr>
          <p:cNvPr id="18" name="object 11"/>
          <p:cNvSpPr txBox="1"/>
          <p:nvPr/>
        </p:nvSpPr>
        <p:spPr>
          <a:xfrm>
            <a:off x="913578" y="2637019"/>
            <a:ext cx="2665638" cy="335989"/>
          </a:xfrm>
          <a:prstGeom prst="rect">
            <a:avLst/>
          </a:prstGeom>
        </p:spPr>
        <p:txBody>
          <a:bodyPr vert="horz" wrap="square" lIns="0" tIns="12700" rIns="0" bIns="0" rtlCol="0">
            <a:spAutoFit/>
          </a:bodyPr>
          <a:lstStyle/>
          <a:p>
            <a:pPr marL="355600" indent="-342900">
              <a:lnSpc>
                <a:spcPct val="100000"/>
              </a:lnSpc>
              <a:spcBef>
                <a:spcPts val="100"/>
              </a:spcBef>
              <a:buClr>
                <a:schemeClr val="accent4"/>
              </a:buClr>
              <a:buFont typeface="Wingdings" panose="05000000000000000000" pitchFamily="2" charset="2"/>
              <a:buChar char="§"/>
            </a:pPr>
            <a:r>
              <a:rPr sz="2100" spc="-10" dirty="0">
                <a:latin typeface="Calibri"/>
                <a:cs typeface="Calibri"/>
              </a:rPr>
              <a:t>Categories</a:t>
            </a:r>
            <a:r>
              <a:rPr sz="2100" spc="-35" dirty="0">
                <a:latin typeface="Calibri"/>
                <a:cs typeface="Calibri"/>
              </a:rPr>
              <a:t> </a:t>
            </a:r>
            <a:r>
              <a:rPr sz="2100" dirty="0">
                <a:latin typeface="Calibri"/>
                <a:cs typeface="Calibri"/>
              </a:rPr>
              <a:t>could</a:t>
            </a:r>
            <a:r>
              <a:rPr sz="2100" spc="-55" dirty="0">
                <a:latin typeface="Calibri"/>
                <a:cs typeface="Calibri"/>
              </a:rPr>
              <a:t> </a:t>
            </a:r>
            <a:r>
              <a:rPr sz="2100" spc="-25" dirty="0">
                <a:latin typeface="Calibri"/>
                <a:cs typeface="Calibri"/>
              </a:rPr>
              <a:t>be:</a:t>
            </a:r>
            <a:endParaRPr sz="2100" dirty="0">
              <a:latin typeface="Calibri"/>
              <a:cs typeface="Calibri"/>
            </a:endParaRPr>
          </a:p>
        </p:txBody>
      </p:sp>
      <p:sp>
        <p:nvSpPr>
          <p:cNvPr id="19" name="object 12"/>
          <p:cNvSpPr txBox="1"/>
          <p:nvPr/>
        </p:nvSpPr>
        <p:spPr>
          <a:xfrm>
            <a:off x="1348954" y="3057137"/>
            <a:ext cx="1794886" cy="1331134"/>
          </a:xfrm>
          <a:prstGeom prst="rect">
            <a:avLst/>
          </a:prstGeom>
        </p:spPr>
        <p:txBody>
          <a:bodyPr vert="horz" wrap="square" lIns="0" tIns="12700" rIns="0" bIns="0" rtlCol="0">
            <a:spAutoFit/>
          </a:bodyPr>
          <a:lstStyle/>
          <a:p>
            <a:pPr marL="355600" marR="5080" indent="-342900">
              <a:lnSpc>
                <a:spcPct val="100000"/>
              </a:lnSpc>
              <a:spcBef>
                <a:spcPts val="100"/>
              </a:spcBef>
              <a:buClr>
                <a:schemeClr val="accent4"/>
              </a:buClr>
              <a:buFont typeface="Arial" panose="020B0604020202020204" pitchFamily="34" charset="0"/>
              <a:buChar char="•"/>
            </a:pPr>
            <a:r>
              <a:rPr sz="2100" b="1" spc="-10" dirty="0">
                <a:latin typeface="Calibri"/>
                <a:cs typeface="Calibri"/>
              </a:rPr>
              <a:t>Physical</a:t>
            </a:r>
            <a:endParaRPr lang="en-GB" sz="2100" b="1" spc="-10" dirty="0">
              <a:latin typeface="Calibri"/>
              <a:cs typeface="Calibri"/>
            </a:endParaRPr>
          </a:p>
          <a:p>
            <a:pPr marL="355600" marR="5080" indent="-342900">
              <a:lnSpc>
                <a:spcPct val="100000"/>
              </a:lnSpc>
              <a:spcBef>
                <a:spcPts val="100"/>
              </a:spcBef>
              <a:buClr>
                <a:schemeClr val="accent4"/>
              </a:buClr>
              <a:buFont typeface="Arial" panose="020B0604020202020204" pitchFamily="34" charset="0"/>
              <a:buChar char="•"/>
            </a:pPr>
            <a:r>
              <a:rPr sz="2100" b="1" spc="-10" dirty="0">
                <a:latin typeface="Calibri"/>
                <a:cs typeface="Calibri"/>
              </a:rPr>
              <a:t>Practicality</a:t>
            </a:r>
            <a:endParaRPr lang="en-GB" sz="2100" b="1" spc="-10" dirty="0">
              <a:latin typeface="Calibri"/>
              <a:cs typeface="Calibri"/>
            </a:endParaRPr>
          </a:p>
          <a:p>
            <a:pPr marL="355600" marR="5080" indent="-342900">
              <a:lnSpc>
                <a:spcPct val="100000"/>
              </a:lnSpc>
              <a:spcBef>
                <a:spcPts val="100"/>
              </a:spcBef>
              <a:buClr>
                <a:schemeClr val="accent4"/>
              </a:buClr>
              <a:buFont typeface="Arial" panose="020B0604020202020204" pitchFamily="34" charset="0"/>
              <a:buChar char="•"/>
            </a:pPr>
            <a:r>
              <a:rPr sz="2100" b="1" spc="-10" dirty="0">
                <a:latin typeface="Calibri"/>
                <a:cs typeface="Calibri"/>
              </a:rPr>
              <a:t>Application</a:t>
            </a:r>
            <a:endParaRPr lang="en-GB" sz="2100" b="1" spc="-10" dirty="0">
              <a:latin typeface="Calibri"/>
              <a:cs typeface="Calibri"/>
            </a:endParaRPr>
          </a:p>
          <a:p>
            <a:pPr marL="355600" marR="5080" indent="-342900">
              <a:lnSpc>
                <a:spcPct val="100000"/>
              </a:lnSpc>
              <a:spcBef>
                <a:spcPts val="100"/>
              </a:spcBef>
              <a:buClr>
                <a:schemeClr val="accent4"/>
              </a:buClr>
              <a:buFont typeface="Arial" panose="020B0604020202020204" pitchFamily="34" charset="0"/>
              <a:buChar char="•"/>
            </a:pPr>
            <a:r>
              <a:rPr sz="2100" b="1" dirty="0">
                <a:latin typeface="Calibri"/>
                <a:cs typeface="Calibri"/>
              </a:rPr>
              <a:t>Ease</a:t>
            </a:r>
            <a:r>
              <a:rPr sz="2100" b="1" spc="-50" dirty="0">
                <a:latin typeface="Calibri"/>
                <a:cs typeface="Calibri"/>
              </a:rPr>
              <a:t> </a:t>
            </a:r>
            <a:r>
              <a:rPr sz="2100" b="1" dirty="0">
                <a:latin typeface="Calibri"/>
                <a:cs typeface="Calibri"/>
              </a:rPr>
              <a:t>of</a:t>
            </a:r>
            <a:r>
              <a:rPr sz="2100" b="1" spc="-45" dirty="0">
                <a:latin typeface="Calibri"/>
                <a:cs typeface="Calibri"/>
              </a:rPr>
              <a:t> </a:t>
            </a:r>
            <a:r>
              <a:rPr sz="2100" b="1" spc="-25" dirty="0">
                <a:latin typeface="Calibri"/>
                <a:cs typeface="Calibri"/>
              </a:rPr>
              <a:t>Use</a:t>
            </a:r>
            <a:endParaRPr sz="2100" dirty="0">
              <a:latin typeface="Calibri"/>
              <a:cs typeface="Calibri"/>
            </a:endParaRPr>
          </a:p>
        </p:txBody>
      </p:sp>
      <p:sp>
        <p:nvSpPr>
          <p:cNvPr id="2" name="Rectangle 1"/>
          <p:cNvSpPr/>
          <p:nvPr/>
        </p:nvSpPr>
        <p:spPr>
          <a:xfrm>
            <a:off x="1348954" y="1719498"/>
            <a:ext cx="9966393" cy="369332"/>
          </a:xfrm>
          <a:prstGeom prst="rect">
            <a:avLst/>
          </a:prstGeom>
        </p:spPr>
        <p:txBody>
          <a:bodyPr wrap="square">
            <a:spAutoFit/>
          </a:bodyPr>
          <a:lstStyle/>
          <a:p>
            <a:r>
              <a:rPr lang="en-GB" dirty="0"/>
              <a:t>So here is Axial Coding where we align the </a:t>
            </a:r>
            <a:r>
              <a:rPr lang="en-GB" b="1" dirty="0"/>
              <a:t>Concepts</a:t>
            </a:r>
            <a:r>
              <a:rPr lang="en-GB" dirty="0"/>
              <a:t> to the most relevant </a:t>
            </a:r>
            <a:r>
              <a:rPr lang="en-GB" b="1" dirty="0"/>
              <a:t>Categories</a:t>
            </a:r>
          </a:p>
        </p:txBody>
      </p:sp>
    </p:spTree>
    <p:extLst>
      <p:ext uri="{BB962C8B-B14F-4D97-AF65-F5344CB8AC3E}">
        <p14:creationId xmlns:p14="http://schemas.microsoft.com/office/powerpoint/2010/main" val="2630238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Axial</a:t>
            </a:r>
            <a:r>
              <a:rPr lang="en-GB" spc="-100" dirty="0"/>
              <a:t> </a:t>
            </a:r>
            <a:r>
              <a:rPr lang="en-GB" dirty="0"/>
              <a:t>Coding</a:t>
            </a:r>
            <a:r>
              <a:rPr lang="en-GB" spc="-114" dirty="0"/>
              <a:t> </a:t>
            </a:r>
            <a:endParaRPr lang="en-GB" dirty="0"/>
          </a:p>
        </p:txBody>
      </p:sp>
      <p:sp>
        <p:nvSpPr>
          <p:cNvPr id="2" name="Rectangle 1"/>
          <p:cNvSpPr/>
          <p:nvPr/>
        </p:nvSpPr>
        <p:spPr>
          <a:xfrm>
            <a:off x="1372284" y="1639236"/>
            <a:ext cx="9966393" cy="707886"/>
          </a:xfrm>
          <a:prstGeom prst="rect">
            <a:avLst/>
          </a:prstGeom>
        </p:spPr>
        <p:txBody>
          <a:bodyPr wrap="square">
            <a:spAutoFit/>
          </a:bodyPr>
          <a:lstStyle/>
          <a:p>
            <a:pPr marL="12700">
              <a:lnSpc>
                <a:spcPct val="100000"/>
              </a:lnSpc>
              <a:spcBef>
                <a:spcPts val="105"/>
              </a:spcBef>
            </a:pPr>
            <a:r>
              <a:rPr lang="en-GB" sz="2000" spc="-10" dirty="0">
                <a:latin typeface="Calibri"/>
                <a:cs typeface="Calibri"/>
              </a:rPr>
              <a:t>Negative</a:t>
            </a:r>
            <a:r>
              <a:rPr lang="en-GB" sz="2000" spc="-35" dirty="0">
                <a:latin typeface="Calibri"/>
                <a:cs typeface="Calibri"/>
              </a:rPr>
              <a:t> </a:t>
            </a:r>
            <a:r>
              <a:rPr lang="en-GB" sz="2000" spc="-10" dirty="0">
                <a:latin typeface="Calibri"/>
                <a:cs typeface="Calibri"/>
              </a:rPr>
              <a:t>concepts</a:t>
            </a:r>
            <a:r>
              <a:rPr lang="en-GB" sz="2000" spc="-50" dirty="0">
                <a:latin typeface="Calibri"/>
                <a:cs typeface="Calibri"/>
              </a:rPr>
              <a:t> </a:t>
            </a:r>
            <a:r>
              <a:rPr lang="en-GB" sz="2000" dirty="0">
                <a:latin typeface="Calibri"/>
                <a:cs typeface="Calibri"/>
              </a:rPr>
              <a:t>are</a:t>
            </a:r>
            <a:r>
              <a:rPr lang="en-GB" sz="2000" spc="-20" dirty="0">
                <a:latin typeface="Calibri"/>
                <a:cs typeface="Calibri"/>
              </a:rPr>
              <a:t> </a:t>
            </a:r>
            <a:r>
              <a:rPr lang="en-GB" sz="2000" dirty="0">
                <a:latin typeface="Calibri"/>
                <a:cs typeface="Calibri"/>
              </a:rPr>
              <a:t>terms</a:t>
            </a:r>
            <a:r>
              <a:rPr lang="en-GB" sz="2000" spc="-50" dirty="0">
                <a:latin typeface="Calibri"/>
                <a:cs typeface="Calibri"/>
              </a:rPr>
              <a:t> </a:t>
            </a:r>
            <a:r>
              <a:rPr lang="en-GB" sz="2000" dirty="0">
                <a:latin typeface="Calibri"/>
                <a:cs typeface="Calibri"/>
              </a:rPr>
              <a:t>as</a:t>
            </a:r>
            <a:r>
              <a:rPr lang="en-GB" sz="2000" spc="-30" dirty="0">
                <a:latin typeface="Calibri"/>
                <a:cs typeface="Calibri"/>
              </a:rPr>
              <a:t> </a:t>
            </a:r>
            <a:r>
              <a:rPr lang="en-GB" sz="2000" dirty="0">
                <a:latin typeface="Calibri"/>
                <a:cs typeface="Calibri"/>
              </a:rPr>
              <a:t>Barriers</a:t>
            </a:r>
            <a:r>
              <a:rPr lang="en-GB" sz="2000" spc="-5" dirty="0">
                <a:latin typeface="Calibri"/>
                <a:cs typeface="Calibri"/>
              </a:rPr>
              <a:t> </a:t>
            </a:r>
            <a:r>
              <a:rPr lang="en-GB" sz="2000" dirty="0">
                <a:latin typeface="Calibri"/>
                <a:cs typeface="Calibri"/>
              </a:rPr>
              <a:t>and</a:t>
            </a:r>
            <a:r>
              <a:rPr lang="en-GB" sz="2000" spc="-35" dirty="0">
                <a:latin typeface="Calibri"/>
                <a:cs typeface="Calibri"/>
              </a:rPr>
              <a:t> </a:t>
            </a:r>
            <a:r>
              <a:rPr lang="en-GB" sz="2000" dirty="0">
                <a:latin typeface="Calibri"/>
                <a:cs typeface="Calibri"/>
              </a:rPr>
              <a:t>Positive</a:t>
            </a:r>
            <a:r>
              <a:rPr lang="en-GB" sz="2000" spc="-45" dirty="0">
                <a:latin typeface="Calibri"/>
                <a:cs typeface="Calibri"/>
              </a:rPr>
              <a:t> </a:t>
            </a:r>
            <a:r>
              <a:rPr lang="en-GB" sz="2000" spc="-10" dirty="0">
                <a:latin typeface="Calibri"/>
                <a:cs typeface="Calibri"/>
              </a:rPr>
              <a:t>concepts</a:t>
            </a:r>
            <a:r>
              <a:rPr lang="en-GB" sz="2000" spc="-45" dirty="0">
                <a:latin typeface="Calibri"/>
                <a:cs typeface="Calibri"/>
              </a:rPr>
              <a:t> </a:t>
            </a:r>
            <a:r>
              <a:rPr lang="en-GB" sz="2000" dirty="0">
                <a:latin typeface="Calibri"/>
                <a:cs typeface="Calibri"/>
              </a:rPr>
              <a:t>are</a:t>
            </a:r>
            <a:r>
              <a:rPr lang="en-GB" sz="2000" spc="-25" dirty="0">
                <a:latin typeface="Calibri"/>
                <a:cs typeface="Calibri"/>
              </a:rPr>
              <a:t> </a:t>
            </a:r>
            <a:r>
              <a:rPr lang="en-GB" sz="2000" dirty="0">
                <a:latin typeface="Calibri"/>
                <a:cs typeface="Calibri"/>
              </a:rPr>
              <a:t>termed</a:t>
            </a:r>
            <a:r>
              <a:rPr lang="en-GB" sz="2000" spc="-35" dirty="0">
                <a:latin typeface="Calibri"/>
                <a:cs typeface="Calibri"/>
              </a:rPr>
              <a:t> </a:t>
            </a:r>
            <a:r>
              <a:rPr lang="en-GB" sz="2000" dirty="0">
                <a:latin typeface="Calibri"/>
                <a:cs typeface="Calibri"/>
              </a:rPr>
              <a:t>as</a:t>
            </a:r>
            <a:r>
              <a:rPr lang="en-GB" sz="2000" spc="-35" dirty="0">
                <a:latin typeface="Calibri"/>
                <a:cs typeface="Calibri"/>
              </a:rPr>
              <a:t> </a:t>
            </a:r>
            <a:r>
              <a:rPr lang="en-GB" sz="2000" spc="-10" dirty="0">
                <a:latin typeface="Calibri"/>
                <a:cs typeface="Calibri"/>
              </a:rPr>
              <a:t>Opportunities.</a:t>
            </a:r>
            <a:endParaRPr lang="en-GB" sz="2000" dirty="0">
              <a:latin typeface="Calibri"/>
              <a:cs typeface="Calibri"/>
            </a:endParaRPr>
          </a:p>
          <a:p>
            <a:pPr marL="12700">
              <a:lnSpc>
                <a:spcPct val="100000"/>
              </a:lnSpc>
            </a:pPr>
            <a:r>
              <a:rPr lang="en-GB" sz="2000" dirty="0">
                <a:latin typeface="Calibri"/>
                <a:cs typeface="Calibri"/>
              </a:rPr>
              <a:t>So</a:t>
            </a:r>
            <a:r>
              <a:rPr lang="en-GB" sz="2000" spc="-35" dirty="0">
                <a:latin typeface="Calibri"/>
                <a:cs typeface="Calibri"/>
              </a:rPr>
              <a:t> </a:t>
            </a:r>
            <a:r>
              <a:rPr lang="en-GB" sz="2000" dirty="0">
                <a:latin typeface="Calibri"/>
                <a:cs typeface="Calibri"/>
              </a:rPr>
              <a:t>i.e.</a:t>
            </a:r>
            <a:r>
              <a:rPr lang="en-GB" sz="2000" spc="-35" dirty="0">
                <a:latin typeface="Calibri"/>
                <a:cs typeface="Calibri"/>
              </a:rPr>
              <a:t> </a:t>
            </a:r>
            <a:r>
              <a:rPr lang="en-GB" sz="2000" dirty="0">
                <a:latin typeface="Calibri"/>
                <a:cs typeface="Calibri"/>
              </a:rPr>
              <a:t>there</a:t>
            </a:r>
            <a:r>
              <a:rPr lang="en-GB" sz="2000" spc="-30" dirty="0">
                <a:latin typeface="Calibri"/>
                <a:cs typeface="Calibri"/>
              </a:rPr>
              <a:t> </a:t>
            </a:r>
            <a:r>
              <a:rPr lang="en-GB" sz="2000" dirty="0">
                <a:latin typeface="Calibri"/>
                <a:cs typeface="Calibri"/>
              </a:rPr>
              <a:t>are</a:t>
            </a:r>
            <a:r>
              <a:rPr lang="en-GB" sz="2000" spc="-20" dirty="0">
                <a:latin typeface="Calibri"/>
                <a:cs typeface="Calibri"/>
              </a:rPr>
              <a:t> </a:t>
            </a:r>
            <a:r>
              <a:rPr lang="en-GB" sz="2000" spc="-10" dirty="0">
                <a:latin typeface="Calibri"/>
                <a:cs typeface="Calibri"/>
              </a:rPr>
              <a:t>physical</a:t>
            </a:r>
            <a:r>
              <a:rPr lang="en-GB" sz="2000" spc="-25" dirty="0">
                <a:latin typeface="Calibri"/>
                <a:cs typeface="Calibri"/>
              </a:rPr>
              <a:t> </a:t>
            </a:r>
            <a:r>
              <a:rPr lang="en-GB" sz="2000" dirty="0">
                <a:latin typeface="Calibri"/>
                <a:cs typeface="Calibri"/>
              </a:rPr>
              <a:t>opportunities</a:t>
            </a:r>
            <a:r>
              <a:rPr lang="en-GB" sz="2000" spc="-30" dirty="0">
                <a:latin typeface="Calibri"/>
                <a:cs typeface="Calibri"/>
              </a:rPr>
              <a:t> </a:t>
            </a:r>
            <a:r>
              <a:rPr lang="en-GB" sz="2000" dirty="0">
                <a:latin typeface="Calibri"/>
                <a:cs typeface="Calibri"/>
              </a:rPr>
              <a:t>that</a:t>
            </a:r>
            <a:r>
              <a:rPr lang="en-GB" sz="2000" spc="-35" dirty="0">
                <a:latin typeface="Calibri"/>
                <a:cs typeface="Calibri"/>
              </a:rPr>
              <a:t> </a:t>
            </a:r>
            <a:r>
              <a:rPr lang="en-GB" sz="2000" dirty="0">
                <a:latin typeface="Calibri"/>
                <a:cs typeface="Calibri"/>
              </a:rPr>
              <a:t>allow</a:t>
            </a:r>
            <a:r>
              <a:rPr lang="en-GB" sz="2000" spc="-50" dirty="0">
                <a:latin typeface="Calibri"/>
                <a:cs typeface="Calibri"/>
              </a:rPr>
              <a:t> </a:t>
            </a:r>
            <a:r>
              <a:rPr lang="en-GB" sz="2000" dirty="0">
                <a:latin typeface="Calibri"/>
                <a:cs typeface="Calibri"/>
              </a:rPr>
              <a:t>you</a:t>
            </a:r>
            <a:r>
              <a:rPr lang="en-GB" sz="2000" spc="-35" dirty="0">
                <a:latin typeface="Calibri"/>
                <a:cs typeface="Calibri"/>
              </a:rPr>
              <a:t> </a:t>
            </a:r>
            <a:r>
              <a:rPr lang="en-GB" sz="2000" dirty="0">
                <a:latin typeface="Calibri"/>
                <a:cs typeface="Calibri"/>
              </a:rPr>
              <a:t>to</a:t>
            </a:r>
            <a:r>
              <a:rPr lang="en-GB" sz="2000" spc="-30" dirty="0">
                <a:latin typeface="Calibri"/>
                <a:cs typeface="Calibri"/>
              </a:rPr>
              <a:t> </a:t>
            </a:r>
            <a:r>
              <a:rPr lang="en-GB" sz="2000" dirty="0">
                <a:latin typeface="Calibri"/>
                <a:cs typeface="Calibri"/>
              </a:rPr>
              <a:t>avoid</a:t>
            </a:r>
            <a:r>
              <a:rPr lang="en-GB" sz="2000" spc="-35" dirty="0">
                <a:latin typeface="Calibri"/>
                <a:cs typeface="Calibri"/>
              </a:rPr>
              <a:t> </a:t>
            </a:r>
            <a:r>
              <a:rPr lang="en-GB" sz="2000" spc="-10" dirty="0">
                <a:latin typeface="Calibri"/>
                <a:cs typeface="Calibri"/>
              </a:rPr>
              <a:t>physical</a:t>
            </a:r>
            <a:r>
              <a:rPr lang="en-GB" sz="2000" spc="-35" dirty="0">
                <a:latin typeface="Calibri"/>
                <a:cs typeface="Calibri"/>
              </a:rPr>
              <a:t> </a:t>
            </a:r>
            <a:r>
              <a:rPr lang="en-GB" sz="2000" spc="-10" dirty="0">
                <a:latin typeface="Calibri"/>
                <a:cs typeface="Calibri"/>
              </a:rPr>
              <a:t>activity.</a:t>
            </a:r>
            <a:endParaRPr lang="en-GB" sz="2000" b="1" dirty="0"/>
          </a:p>
        </p:txBody>
      </p:sp>
      <p:sp>
        <p:nvSpPr>
          <p:cNvPr id="15" name="object 3"/>
          <p:cNvSpPr txBox="1"/>
          <p:nvPr/>
        </p:nvSpPr>
        <p:spPr>
          <a:xfrm>
            <a:off x="2969247" y="3437612"/>
            <a:ext cx="1191260" cy="269304"/>
          </a:xfrm>
          <a:prstGeom prst="rect">
            <a:avLst/>
          </a:prstGeom>
          <a:solidFill>
            <a:srgbClr val="FFFF00"/>
          </a:solidFill>
        </p:spPr>
        <p:txBody>
          <a:bodyPr vert="horz" wrap="square" lIns="0" tIns="0" rIns="0" bIns="0" rtlCol="0">
            <a:spAutoFit/>
          </a:bodyPr>
          <a:lstStyle/>
          <a:p>
            <a:pPr algn="ctr">
              <a:lnSpc>
                <a:spcPts val="2090"/>
              </a:lnSpc>
            </a:pPr>
            <a:r>
              <a:rPr kern="0" dirty="0">
                <a:solidFill>
                  <a:sysClr val="windowText" lastClr="000000"/>
                </a:solidFill>
                <a:latin typeface="Calibri"/>
                <a:cs typeface="Calibri"/>
              </a:rPr>
              <a:t>Not</a:t>
            </a:r>
            <a:r>
              <a:rPr kern="0" spc="-5" dirty="0">
                <a:solidFill>
                  <a:sysClr val="windowText" lastClr="000000"/>
                </a:solidFill>
                <a:latin typeface="Calibri"/>
                <a:cs typeface="Calibri"/>
              </a:rPr>
              <a:t> </a:t>
            </a:r>
            <a:r>
              <a:rPr kern="0" spc="-10" dirty="0">
                <a:solidFill>
                  <a:sysClr val="windowText" lastClr="000000"/>
                </a:solidFill>
                <a:latin typeface="Calibri"/>
                <a:cs typeface="Calibri"/>
              </a:rPr>
              <a:t>Practical</a:t>
            </a:r>
            <a:endParaRPr kern="0">
              <a:solidFill>
                <a:sysClr val="windowText" lastClr="000000"/>
              </a:solidFill>
              <a:latin typeface="Calibri"/>
              <a:cs typeface="Calibri"/>
            </a:endParaRPr>
          </a:p>
        </p:txBody>
      </p:sp>
      <p:sp>
        <p:nvSpPr>
          <p:cNvPr id="16" name="object 4"/>
          <p:cNvSpPr txBox="1"/>
          <p:nvPr/>
        </p:nvSpPr>
        <p:spPr>
          <a:xfrm>
            <a:off x="6137008" y="3437612"/>
            <a:ext cx="1070610" cy="269304"/>
          </a:xfrm>
          <a:prstGeom prst="rect">
            <a:avLst/>
          </a:prstGeom>
          <a:solidFill>
            <a:srgbClr val="FFFF00"/>
          </a:solidFill>
        </p:spPr>
        <p:txBody>
          <a:bodyPr vert="horz" wrap="square" lIns="0" tIns="0" rIns="0" bIns="0" rtlCol="0">
            <a:spAutoFit/>
          </a:bodyPr>
          <a:lstStyle/>
          <a:p>
            <a:pPr marL="635" algn="ctr">
              <a:lnSpc>
                <a:spcPts val="2090"/>
              </a:lnSpc>
            </a:pPr>
            <a:r>
              <a:rPr kern="0" spc="-10" dirty="0">
                <a:solidFill>
                  <a:sysClr val="windowText" lastClr="000000"/>
                </a:solidFill>
                <a:latin typeface="Calibri"/>
                <a:cs typeface="Calibri"/>
              </a:rPr>
              <a:t>Convenient</a:t>
            </a:r>
            <a:endParaRPr kern="0">
              <a:solidFill>
                <a:sysClr val="windowText" lastClr="000000"/>
              </a:solidFill>
              <a:latin typeface="Calibri"/>
              <a:cs typeface="Calibri"/>
            </a:endParaRPr>
          </a:p>
        </p:txBody>
      </p:sp>
      <p:sp>
        <p:nvSpPr>
          <p:cNvPr id="20" name="object 5"/>
          <p:cNvSpPr txBox="1"/>
          <p:nvPr/>
        </p:nvSpPr>
        <p:spPr>
          <a:xfrm>
            <a:off x="2559038" y="2690599"/>
            <a:ext cx="1797685" cy="269304"/>
          </a:xfrm>
          <a:prstGeom prst="rect">
            <a:avLst/>
          </a:prstGeom>
          <a:solidFill>
            <a:srgbClr val="00FF00"/>
          </a:solidFill>
        </p:spPr>
        <p:txBody>
          <a:bodyPr vert="horz" wrap="square" lIns="0" tIns="0" rIns="0" bIns="0" rtlCol="0">
            <a:spAutoFit/>
          </a:bodyPr>
          <a:lstStyle/>
          <a:p>
            <a:pPr algn="ctr">
              <a:lnSpc>
                <a:spcPts val="2090"/>
              </a:lnSpc>
            </a:pPr>
            <a:r>
              <a:rPr kern="0" dirty="0">
                <a:solidFill>
                  <a:sysClr val="windowText" lastClr="000000"/>
                </a:solidFill>
                <a:latin typeface="Calibri"/>
                <a:cs typeface="Calibri"/>
              </a:rPr>
              <a:t>Physical</a:t>
            </a:r>
            <a:r>
              <a:rPr kern="0" spc="-100" dirty="0">
                <a:solidFill>
                  <a:sysClr val="windowText" lastClr="000000"/>
                </a:solidFill>
                <a:latin typeface="Calibri"/>
                <a:cs typeface="Calibri"/>
              </a:rPr>
              <a:t> </a:t>
            </a:r>
            <a:r>
              <a:rPr kern="0" spc="-10" dirty="0">
                <a:solidFill>
                  <a:sysClr val="windowText" lastClr="000000"/>
                </a:solidFill>
                <a:latin typeface="Calibri"/>
                <a:cs typeface="Calibri"/>
              </a:rPr>
              <a:t>discomfort</a:t>
            </a:r>
            <a:endParaRPr kern="0" dirty="0">
              <a:solidFill>
                <a:sysClr val="windowText" lastClr="000000"/>
              </a:solidFill>
              <a:latin typeface="Calibri"/>
              <a:cs typeface="Calibri"/>
            </a:endParaRPr>
          </a:p>
        </p:txBody>
      </p:sp>
      <p:sp>
        <p:nvSpPr>
          <p:cNvPr id="21" name="object 6"/>
          <p:cNvSpPr txBox="1"/>
          <p:nvPr/>
        </p:nvSpPr>
        <p:spPr>
          <a:xfrm>
            <a:off x="3303384" y="5053814"/>
            <a:ext cx="1713230" cy="269304"/>
          </a:xfrm>
          <a:prstGeom prst="rect">
            <a:avLst/>
          </a:prstGeom>
          <a:solidFill>
            <a:srgbClr val="00FFFF"/>
          </a:solidFill>
        </p:spPr>
        <p:txBody>
          <a:bodyPr vert="horz" wrap="square" lIns="0" tIns="0" rIns="0" bIns="0" rtlCol="0">
            <a:spAutoFit/>
          </a:bodyPr>
          <a:lstStyle/>
          <a:p>
            <a:pPr algn="ctr">
              <a:lnSpc>
                <a:spcPts val="2095"/>
              </a:lnSpc>
            </a:pPr>
            <a:r>
              <a:rPr kern="0" spc="-10" dirty="0">
                <a:solidFill>
                  <a:sysClr val="windowText" lastClr="000000"/>
                </a:solidFill>
                <a:latin typeface="Calibri"/>
                <a:cs typeface="Calibri"/>
              </a:rPr>
              <a:t>Require</a:t>
            </a:r>
            <a:r>
              <a:rPr kern="0" spc="-40" dirty="0">
                <a:solidFill>
                  <a:sysClr val="windowText" lastClr="000000"/>
                </a:solidFill>
                <a:latin typeface="Calibri"/>
                <a:cs typeface="Calibri"/>
              </a:rPr>
              <a:t> </a:t>
            </a:r>
            <a:r>
              <a:rPr kern="0" spc="-10" dirty="0">
                <a:solidFill>
                  <a:sysClr val="windowText" lastClr="000000"/>
                </a:solidFill>
                <a:latin typeface="Calibri"/>
                <a:cs typeface="Calibri"/>
              </a:rPr>
              <a:t>assistance</a:t>
            </a:r>
            <a:endParaRPr kern="0">
              <a:solidFill>
                <a:sysClr val="windowText" lastClr="000000"/>
              </a:solidFill>
              <a:latin typeface="Calibri"/>
              <a:cs typeface="Calibri"/>
            </a:endParaRPr>
          </a:p>
        </p:txBody>
      </p:sp>
      <p:sp>
        <p:nvSpPr>
          <p:cNvPr id="22" name="object 7"/>
          <p:cNvSpPr txBox="1"/>
          <p:nvPr/>
        </p:nvSpPr>
        <p:spPr>
          <a:xfrm>
            <a:off x="2025180" y="5053814"/>
            <a:ext cx="922019" cy="269304"/>
          </a:xfrm>
          <a:prstGeom prst="rect">
            <a:avLst/>
          </a:prstGeom>
          <a:solidFill>
            <a:srgbClr val="00FFFF"/>
          </a:solidFill>
        </p:spPr>
        <p:txBody>
          <a:bodyPr vert="horz" wrap="square" lIns="0" tIns="0" rIns="0" bIns="0" rtlCol="0">
            <a:spAutoFit/>
          </a:bodyPr>
          <a:lstStyle/>
          <a:p>
            <a:pPr algn="ctr">
              <a:lnSpc>
                <a:spcPts val="2095"/>
              </a:lnSpc>
            </a:pPr>
            <a:r>
              <a:rPr kern="0" spc="-10" dirty="0">
                <a:solidFill>
                  <a:sysClr val="windowText" lastClr="000000"/>
                </a:solidFill>
                <a:latin typeface="Calibri"/>
                <a:cs typeface="Calibri"/>
              </a:rPr>
              <a:t>Confusing</a:t>
            </a:r>
            <a:endParaRPr kern="0">
              <a:solidFill>
                <a:sysClr val="windowText" lastClr="000000"/>
              </a:solidFill>
              <a:latin typeface="Calibri"/>
              <a:cs typeface="Calibri"/>
            </a:endParaRPr>
          </a:p>
        </p:txBody>
      </p:sp>
      <p:sp>
        <p:nvSpPr>
          <p:cNvPr id="23" name="object 8"/>
          <p:cNvSpPr txBox="1"/>
          <p:nvPr/>
        </p:nvSpPr>
        <p:spPr>
          <a:xfrm>
            <a:off x="6124182" y="4191612"/>
            <a:ext cx="1082040" cy="269304"/>
          </a:xfrm>
          <a:prstGeom prst="rect">
            <a:avLst/>
          </a:prstGeom>
          <a:solidFill>
            <a:srgbClr val="FF00FF"/>
          </a:solidFill>
        </p:spPr>
        <p:txBody>
          <a:bodyPr vert="horz" wrap="square" lIns="0" tIns="0" rIns="0" bIns="0" rtlCol="0">
            <a:spAutoFit/>
          </a:bodyPr>
          <a:lstStyle/>
          <a:p>
            <a:pPr marL="635" algn="ctr">
              <a:lnSpc>
                <a:spcPts val="2095"/>
              </a:lnSpc>
            </a:pPr>
            <a:r>
              <a:rPr kern="0" dirty="0">
                <a:solidFill>
                  <a:sysClr val="windowText" lastClr="000000"/>
                </a:solidFill>
                <a:latin typeface="Calibri"/>
                <a:cs typeface="Calibri"/>
              </a:rPr>
              <a:t>Useful</a:t>
            </a:r>
            <a:r>
              <a:rPr kern="0" spc="-35" dirty="0">
                <a:solidFill>
                  <a:sysClr val="windowText" lastClr="000000"/>
                </a:solidFill>
                <a:latin typeface="Calibri"/>
                <a:cs typeface="Calibri"/>
              </a:rPr>
              <a:t> </a:t>
            </a:r>
            <a:r>
              <a:rPr kern="0" spc="-20" dirty="0">
                <a:solidFill>
                  <a:sysClr val="windowText" lastClr="000000"/>
                </a:solidFill>
                <a:latin typeface="Calibri"/>
                <a:cs typeface="Calibri"/>
              </a:rPr>
              <a:t>apps</a:t>
            </a:r>
            <a:endParaRPr kern="0">
              <a:solidFill>
                <a:sysClr val="windowText" lastClr="000000"/>
              </a:solidFill>
              <a:latin typeface="Calibri"/>
              <a:cs typeface="Calibri"/>
            </a:endParaRPr>
          </a:p>
        </p:txBody>
      </p:sp>
      <p:sp>
        <p:nvSpPr>
          <p:cNvPr id="24" name="object 9"/>
          <p:cNvSpPr txBox="1"/>
          <p:nvPr/>
        </p:nvSpPr>
        <p:spPr>
          <a:xfrm>
            <a:off x="2107692" y="4236570"/>
            <a:ext cx="2237740" cy="269304"/>
          </a:xfrm>
          <a:prstGeom prst="rect">
            <a:avLst/>
          </a:prstGeom>
          <a:solidFill>
            <a:srgbClr val="FF00FF"/>
          </a:solidFill>
        </p:spPr>
        <p:txBody>
          <a:bodyPr vert="horz" wrap="square" lIns="0" tIns="0" rIns="0" bIns="0" rtlCol="0">
            <a:spAutoFit/>
          </a:bodyPr>
          <a:lstStyle/>
          <a:p>
            <a:pPr algn="ctr">
              <a:lnSpc>
                <a:spcPts val="2095"/>
              </a:lnSpc>
            </a:pPr>
            <a:r>
              <a:rPr kern="0" dirty="0">
                <a:solidFill>
                  <a:sysClr val="windowText" lastClr="000000"/>
                </a:solidFill>
                <a:latin typeface="Calibri"/>
                <a:cs typeface="Calibri"/>
              </a:rPr>
              <a:t>Complex</a:t>
            </a:r>
            <a:r>
              <a:rPr kern="0" spc="-65" dirty="0">
                <a:solidFill>
                  <a:sysClr val="windowText" lastClr="000000"/>
                </a:solidFill>
                <a:latin typeface="Calibri"/>
                <a:cs typeface="Calibri"/>
              </a:rPr>
              <a:t> </a:t>
            </a:r>
            <a:r>
              <a:rPr kern="0" dirty="0">
                <a:solidFill>
                  <a:sysClr val="windowText" lastClr="000000"/>
                </a:solidFill>
                <a:latin typeface="Calibri"/>
                <a:cs typeface="Calibri"/>
              </a:rPr>
              <a:t>app</a:t>
            </a:r>
            <a:r>
              <a:rPr kern="0" spc="-45" dirty="0">
                <a:solidFill>
                  <a:sysClr val="windowText" lastClr="000000"/>
                </a:solidFill>
                <a:latin typeface="Calibri"/>
                <a:cs typeface="Calibri"/>
              </a:rPr>
              <a:t> </a:t>
            </a:r>
            <a:r>
              <a:rPr kern="0" spc="-10" dirty="0">
                <a:solidFill>
                  <a:sysClr val="windowText" lastClr="000000"/>
                </a:solidFill>
                <a:latin typeface="Calibri"/>
                <a:cs typeface="Calibri"/>
              </a:rPr>
              <a:t>ecosystem</a:t>
            </a:r>
            <a:endParaRPr kern="0">
              <a:solidFill>
                <a:sysClr val="windowText" lastClr="000000"/>
              </a:solidFill>
              <a:latin typeface="Calibri"/>
              <a:cs typeface="Calibri"/>
            </a:endParaRPr>
          </a:p>
        </p:txBody>
      </p:sp>
      <p:sp>
        <p:nvSpPr>
          <p:cNvPr id="25" name="object 10"/>
          <p:cNvSpPr txBox="1"/>
          <p:nvPr/>
        </p:nvSpPr>
        <p:spPr>
          <a:xfrm>
            <a:off x="5461876" y="2675866"/>
            <a:ext cx="2045970" cy="269304"/>
          </a:xfrm>
          <a:prstGeom prst="rect">
            <a:avLst/>
          </a:prstGeom>
          <a:solidFill>
            <a:srgbClr val="00FF00"/>
          </a:solidFill>
        </p:spPr>
        <p:txBody>
          <a:bodyPr vert="horz" wrap="square" lIns="0" tIns="0" rIns="0" bIns="0" rtlCol="0">
            <a:spAutoFit/>
          </a:bodyPr>
          <a:lstStyle/>
          <a:p>
            <a:pPr marL="635" algn="ctr">
              <a:lnSpc>
                <a:spcPts val="2095"/>
              </a:lnSpc>
            </a:pPr>
            <a:r>
              <a:rPr kern="0" dirty="0">
                <a:solidFill>
                  <a:sysClr val="windowText" lastClr="000000"/>
                </a:solidFill>
                <a:latin typeface="Calibri"/>
                <a:cs typeface="Calibri"/>
              </a:rPr>
              <a:t>Avoid</a:t>
            </a:r>
            <a:r>
              <a:rPr kern="0" spc="-90" dirty="0">
                <a:solidFill>
                  <a:sysClr val="windowText" lastClr="000000"/>
                </a:solidFill>
                <a:latin typeface="Calibri"/>
                <a:cs typeface="Calibri"/>
              </a:rPr>
              <a:t> </a:t>
            </a:r>
            <a:r>
              <a:rPr kern="0" dirty="0">
                <a:solidFill>
                  <a:sysClr val="windowText" lastClr="000000"/>
                </a:solidFill>
                <a:latin typeface="Calibri"/>
                <a:cs typeface="Calibri"/>
              </a:rPr>
              <a:t>physical</a:t>
            </a:r>
            <a:r>
              <a:rPr kern="0" spc="-80" dirty="0">
                <a:solidFill>
                  <a:sysClr val="windowText" lastClr="000000"/>
                </a:solidFill>
                <a:latin typeface="Calibri"/>
                <a:cs typeface="Calibri"/>
              </a:rPr>
              <a:t> </a:t>
            </a:r>
            <a:r>
              <a:rPr kern="0" spc="-10" dirty="0">
                <a:solidFill>
                  <a:sysClr val="windowText" lastClr="000000"/>
                </a:solidFill>
                <a:latin typeface="Calibri"/>
                <a:cs typeface="Calibri"/>
              </a:rPr>
              <a:t>activity</a:t>
            </a:r>
            <a:endParaRPr kern="0">
              <a:solidFill>
                <a:sysClr val="windowText" lastClr="000000"/>
              </a:solidFill>
              <a:latin typeface="Calibri"/>
              <a:cs typeface="Calibri"/>
            </a:endParaRPr>
          </a:p>
        </p:txBody>
      </p:sp>
      <p:sp>
        <p:nvSpPr>
          <p:cNvPr id="26" name="object 11"/>
          <p:cNvSpPr txBox="1"/>
          <p:nvPr/>
        </p:nvSpPr>
        <p:spPr>
          <a:xfrm>
            <a:off x="8013434" y="2607363"/>
            <a:ext cx="1036319" cy="391795"/>
          </a:xfrm>
          <a:prstGeom prst="rect">
            <a:avLst/>
          </a:prstGeom>
        </p:spPr>
        <p:txBody>
          <a:bodyPr vert="horz" wrap="square" lIns="0" tIns="12700" rIns="0" bIns="0" rtlCol="0">
            <a:spAutoFit/>
          </a:bodyPr>
          <a:lstStyle/>
          <a:p>
            <a:pPr marL="12700" algn="ctr">
              <a:spcBef>
                <a:spcPts val="100"/>
              </a:spcBef>
            </a:pPr>
            <a:r>
              <a:rPr sz="2400" b="1" kern="0" spc="-10" dirty="0">
                <a:solidFill>
                  <a:sysClr val="windowText" lastClr="000000"/>
                </a:solidFill>
                <a:latin typeface="Calibri"/>
                <a:cs typeface="Calibri"/>
              </a:rPr>
              <a:t>Physical</a:t>
            </a:r>
            <a:endParaRPr sz="2400" kern="0">
              <a:solidFill>
                <a:sysClr val="windowText" lastClr="000000"/>
              </a:solidFill>
              <a:latin typeface="Calibri"/>
              <a:cs typeface="Calibri"/>
            </a:endParaRPr>
          </a:p>
        </p:txBody>
      </p:sp>
      <p:sp>
        <p:nvSpPr>
          <p:cNvPr id="27" name="object 12"/>
          <p:cNvSpPr txBox="1"/>
          <p:nvPr/>
        </p:nvSpPr>
        <p:spPr>
          <a:xfrm>
            <a:off x="8013434" y="3348077"/>
            <a:ext cx="1424305" cy="391160"/>
          </a:xfrm>
          <a:prstGeom prst="rect">
            <a:avLst/>
          </a:prstGeom>
        </p:spPr>
        <p:txBody>
          <a:bodyPr vert="horz" wrap="square" lIns="0" tIns="12700" rIns="0" bIns="0" rtlCol="0">
            <a:spAutoFit/>
          </a:bodyPr>
          <a:lstStyle/>
          <a:p>
            <a:pPr marL="12700" algn="ctr">
              <a:spcBef>
                <a:spcPts val="100"/>
              </a:spcBef>
            </a:pPr>
            <a:r>
              <a:rPr sz="2400" b="1" kern="0" spc="-10" dirty="0">
                <a:solidFill>
                  <a:sysClr val="windowText" lastClr="000000"/>
                </a:solidFill>
                <a:latin typeface="Calibri"/>
                <a:cs typeface="Calibri"/>
              </a:rPr>
              <a:t>Practicality</a:t>
            </a:r>
            <a:endParaRPr sz="2400" kern="0">
              <a:solidFill>
                <a:sysClr val="windowText" lastClr="000000"/>
              </a:solidFill>
              <a:latin typeface="Calibri"/>
              <a:cs typeface="Calibri"/>
            </a:endParaRPr>
          </a:p>
        </p:txBody>
      </p:sp>
      <p:sp>
        <p:nvSpPr>
          <p:cNvPr id="28" name="object 13"/>
          <p:cNvSpPr txBox="1"/>
          <p:nvPr/>
        </p:nvSpPr>
        <p:spPr>
          <a:xfrm>
            <a:off x="8013434" y="4119552"/>
            <a:ext cx="1588770" cy="391795"/>
          </a:xfrm>
          <a:prstGeom prst="rect">
            <a:avLst/>
          </a:prstGeom>
        </p:spPr>
        <p:txBody>
          <a:bodyPr vert="horz" wrap="square" lIns="0" tIns="12700" rIns="0" bIns="0" rtlCol="0">
            <a:spAutoFit/>
          </a:bodyPr>
          <a:lstStyle/>
          <a:p>
            <a:pPr marL="12700" algn="ctr">
              <a:spcBef>
                <a:spcPts val="100"/>
              </a:spcBef>
            </a:pPr>
            <a:r>
              <a:rPr sz="2400" b="1" kern="0" spc="-10" dirty="0">
                <a:solidFill>
                  <a:sysClr val="windowText" lastClr="000000"/>
                </a:solidFill>
                <a:latin typeface="Calibri"/>
                <a:cs typeface="Calibri"/>
              </a:rPr>
              <a:t>Applications</a:t>
            </a:r>
            <a:endParaRPr sz="2400" kern="0">
              <a:solidFill>
                <a:sysClr val="windowText" lastClr="000000"/>
              </a:solidFill>
              <a:latin typeface="Calibri"/>
              <a:cs typeface="Calibri"/>
            </a:endParaRPr>
          </a:p>
        </p:txBody>
      </p:sp>
      <p:sp>
        <p:nvSpPr>
          <p:cNvPr id="29" name="object 14"/>
          <p:cNvSpPr txBox="1"/>
          <p:nvPr/>
        </p:nvSpPr>
        <p:spPr>
          <a:xfrm>
            <a:off x="8013434" y="4936340"/>
            <a:ext cx="1468120" cy="391160"/>
          </a:xfrm>
          <a:prstGeom prst="rect">
            <a:avLst/>
          </a:prstGeom>
        </p:spPr>
        <p:txBody>
          <a:bodyPr vert="horz" wrap="square" lIns="0" tIns="12700" rIns="0" bIns="0" rtlCol="0">
            <a:spAutoFit/>
          </a:bodyPr>
          <a:lstStyle/>
          <a:p>
            <a:pPr marL="12700" algn="ctr">
              <a:spcBef>
                <a:spcPts val="100"/>
              </a:spcBef>
            </a:pPr>
            <a:r>
              <a:rPr sz="2400" b="1" kern="0" dirty="0">
                <a:solidFill>
                  <a:sysClr val="windowText" lastClr="000000"/>
                </a:solidFill>
                <a:latin typeface="Calibri"/>
                <a:cs typeface="Calibri"/>
              </a:rPr>
              <a:t>Ease</a:t>
            </a:r>
            <a:r>
              <a:rPr sz="2400" b="1" kern="0" spc="-55" dirty="0">
                <a:solidFill>
                  <a:sysClr val="windowText" lastClr="000000"/>
                </a:solidFill>
                <a:latin typeface="Calibri"/>
                <a:cs typeface="Calibri"/>
              </a:rPr>
              <a:t> </a:t>
            </a:r>
            <a:r>
              <a:rPr sz="2400" b="1" kern="0" dirty="0">
                <a:solidFill>
                  <a:sysClr val="windowText" lastClr="000000"/>
                </a:solidFill>
                <a:latin typeface="Calibri"/>
                <a:cs typeface="Calibri"/>
              </a:rPr>
              <a:t>of</a:t>
            </a:r>
            <a:r>
              <a:rPr sz="2400" b="1" kern="0" spc="-65" dirty="0">
                <a:solidFill>
                  <a:sysClr val="windowText" lastClr="000000"/>
                </a:solidFill>
                <a:latin typeface="Calibri"/>
                <a:cs typeface="Calibri"/>
              </a:rPr>
              <a:t> </a:t>
            </a:r>
            <a:r>
              <a:rPr sz="2400" b="1" kern="0" spc="-25" dirty="0">
                <a:solidFill>
                  <a:sysClr val="windowText" lastClr="000000"/>
                </a:solidFill>
                <a:latin typeface="Calibri"/>
                <a:cs typeface="Calibri"/>
              </a:rPr>
              <a:t>Use</a:t>
            </a:r>
            <a:endParaRPr sz="2400" kern="0">
              <a:solidFill>
                <a:sysClr val="windowText" lastClr="000000"/>
              </a:solidFill>
              <a:latin typeface="Calibri"/>
              <a:cs typeface="Calibri"/>
            </a:endParaRPr>
          </a:p>
        </p:txBody>
      </p:sp>
      <p:sp>
        <p:nvSpPr>
          <p:cNvPr id="30" name="object 15"/>
          <p:cNvSpPr txBox="1"/>
          <p:nvPr/>
        </p:nvSpPr>
        <p:spPr>
          <a:xfrm>
            <a:off x="2641080" y="5626712"/>
            <a:ext cx="1018540" cy="391160"/>
          </a:xfrm>
          <a:prstGeom prst="rect">
            <a:avLst/>
          </a:prstGeom>
        </p:spPr>
        <p:txBody>
          <a:bodyPr vert="horz" wrap="square" lIns="0" tIns="12700" rIns="0" bIns="0" rtlCol="0">
            <a:spAutoFit/>
          </a:bodyPr>
          <a:lstStyle/>
          <a:p>
            <a:pPr marL="12700" algn="ctr">
              <a:spcBef>
                <a:spcPts val="100"/>
              </a:spcBef>
            </a:pPr>
            <a:r>
              <a:rPr sz="2400" b="1" kern="0" spc="-10" dirty="0">
                <a:solidFill>
                  <a:sysClr val="windowText" lastClr="000000"/>
                </a:solidFill>
                <a:latin typeface="Calibri"/>
                <a:cs typeface="Calibri"/>
              </a:rPr>
              <a:t>Barriers</a:t>
            </a:r>
            <a:endParaRPr sz="2400" kern="0">
              <a:solidFill>
                <a:sysClr val="windowText" lastClr="000000"/>
              </a:solidFill>
              <a:latin typeface="Calibri"/>
              <a:cs typeface="Calibri"/>
            </a:endParaRPr>
          </a:p>
        </p:txBody>
      </p:sp>
      <p:sp>
        <p:nvSpPr>
          <p:cNvPr id="31" name="object 16"/>
          <p:cNvSpPr txBox="1"/>
          <p:nvPr/>
        </p:nvSpPr>
        <p:spPr>
          <a:xfrm>
            <a:off x="5847195" y="5626712"/>
            <a:ext cx="1791970" cy="391160"/>
          </a:xfrm>
          <a:prstGeom prst="rect">
            <a:avLst/>
          </a:prstGeom>
        </p:spPr>
        <p:txBody>
          <a:bodyPr vert="horz" wrap="square" lIns="0" tIns="12700" rIns="0" bIns="0" rtlCol="0">
            <a:spAutoFit/>
          </a:bodyPr>
          <a:lstStyle/>
          <a:p>
            <a:pPr marL="12700" algn="ctr">
              <a:spcBef>
                <a:spcPts val="100"/>
              </a:spcBef>
            </a:pPr>
            <a:r>
              <a:rPr sz="2400" b="1" kern="0" spc="-10" dirty="0">
                <a:solidFill>
                  <a:sysClr val="windowText" lastClr="000000"/>
                </a:solidFill>
                <a:latin typeface="Calibri"/>
                <a:cs typeface="Calibri"/>
              </a:rPr>
              <a:t>Opportunities</a:t>
            </a:r>
            <a:endParaRPr sz="2400" kern="0" dirty="0">
              <a:solidFill>
                <a:sysClr val="windowText" lastClr="000000"/>
              </a:solidFill>
              <a:latin typeface="Calibri"/>
              <a:cs typeface="Calibri"/>
            </a:endParaRPr>
          </a:p>
        </p:txBody>
      </p:sp>
    </p:spTree>
    <p:extLst>
      <p:ext uri="{BB962C8B-B14F-4D97-AF65-F5344CB8AC3E}">
        <p14:creationId xmlns:p14="http://schemas.microsoft.com/office/powerpoint/2010/main" val="2373901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2039392"/>
            <a:ext cx="10515600" cy="4114800"/>
          </a:xfrm>
          <a:prstGeom prst="rect">
            <a:avLst/>
          </a:prstGeom>
        </p:spPr>
        <p:txBody>
          <a:bodyPr rtlCol="0">
            <a:normAutofit/>
          </a:bodyPr>
          <a:lstStyle/>
          <a:p>
            <a:pPr marL="266700" marR="153670" indent="-266700">
              <a:lnSpc>
                <a:spcPct val="90000"/>
              </a:lnSpc>
              <a:spcBef>
                <a:spcPts val="1000"/>
              </a:spcBef>
              <a:buClr>
                <a:schemeClr val="accent4"/>
              </a:buClr>
              <a:buFont typeface="Arial" panose="020B0604020202020204" pitchFamily="34" charset="0"/>
              <a:buChar char="•"/>
              <a:tabLst>
                <a:tab pos="241300" algn="l"/>
              </a:tabLst>
            </a:pPr>
            <a:r>
              <a:rPr lang="en-US" spc="-35" dirty="0">
                <a:solidFill>
                  <a:schemeClr val="tx1">
                    <a:lumMod val="75000"/>
                    <a:lumOff val="25000"/>
                  </a:schemeClr>
                </a:solidFill>
              </a:rPr>
              <a:t>Remember,</a:t>
            </a:r>
            <a:r>
              <a:rPr lang="en-US" spc="-85" dirty="0">
                <a:solidFill>
                  <a:schemeClr val="tx1">
                    <a:lumMod val="75000"/>
                    <a:lumOff val="25000"/>
                  </a:schemeClr>
                </a:solidFill>
              </a:rPr>
              <a:t> </a:t>
            </a:r>
            <a:r>
              <a:rPr lang="en-US" dirty="0">
                <a:solidFill>
                  <a:schemeClr val="tx1">
                    <a:lumMod val="75000"/>
                    <a:lumOff val="25000"/>
                  </a:schemeClr>
                </a:solidFill>
              </a:rPr>
              <a:t>we</a:t>
            </a:r>
            <a:r>
              <a:rPr lang="en-US" spc="-40" dirty="0">
                <a:solidFill>
                  <a:schemeClr val="tx1">
                    <a:lumMod val="75000"/>
                    <a:lumOff val="25000"/>
                  </a:schemeClr>
                </a:solidFill>
              </a:rPr>
              <a:t> </a:t>
            </a:r>
            <a:r>
              <a:rPr lang="en-US" dirty="0">
                <a:solidFill>
                  <a:schemeClr val="tx1">
                    <a:lumMod val="75000"/>
                    <a:lumOff val="25000"/>
                  </a:schemeClr>
                </a:solidFill>
              </a:rPr>
              <a:t>started</a:t>
            </a:r>
            <a:r>
              <a:rPr lang="en-US" spc="-70" dirty="0">
                <a:solidFill>
                  <a:schemeClr val="tx1">
                    <a:lumMod val="75000"/>
                    <a:lumOff val="25000"/>
                  </a:schemeClr>
                </a:solidFill>
              </a:rPr>
              <a:t> </a:t>
            </a:r>
            <a:r>
              <a:rPr lang="en-US" dirty="0">
                <a:solidFill>
                  <a:schemeClr val="tx1">
                    <a:lumMod val="75000"/>
                    <a:lumOff val="25000"/>
                  </a:schemeClr>
                </a:solidFill>
              </a:rPr>
              <a:t>from</a:t>
            </a:r>
            <a:r>
              <a:rPr lang="en-US" spc="-40" dirty="0">
                <a:solidFill>
                  <a:schemeClr val="tx1">
                    <a:lumMod val="75000"/>
                    <a:lumOff val="25000"/>
                  </a:schemeClr>
                </a:solidFill>
              </a:rPr>
              <a:t> </a:t>
            </a:r>
            <a:r>
              <a:rPr lang="en-US" spc="-10" dirty="0">
                <a:solidFill>
                  <a:schemeClr val="tx1">
                    <a:lumMod val="75000"/>
                    <a:lumOff val="25000"/>
                  </a:schemeClr>
                </a:solidFill>
              </a:rPr>
              <a:t>unstructured</a:t>
            </a:r>
            <a:r>
              <a:rPr lang="en-US" spc="-60" dirty="0">
                <a:solidFill>
                  <a:schemeClr val="tx1">
                    <a:lumMod val="75000"/>
                    <a:lumOff val="25000"/>
                  </a:schemeClr>
                </a:solidFill>
              </a:rPr>
              <a:t> </a:t>
            </a:r>
            <a:r>
              <a:rPr lang="en-US" dirty="0">
                <a:solidFill>
                  <a:schemeClr val="tx1">
                    <a:lumMod val="75000"/>
                    <a:lumOff val="25000"/>
                  </a:schemeClr>
                </a:solidFill>
              </a:rPr>
              <a:t>text</a:t>
            </a:r>
            <a:r>
              <a:rPr lang="en-US" spc="-70" dirty="0">
                <a:solidFill>
                  <a:schemeClr val="tx1">
                    <a:lumMod val="75000"/>
                    <a:lumOff val="25000"/>
                  </a:schemeClr>
                </a:solidFill>
              </a:rPr>
              <a:t> </a:t>
            </a:r>
            <a:r>
              <a:rPr lang="en-US" dirty="0">
                <a:solidFill>
                  <a:schemeClr val="tx1">
                    <a:lumMod val="75000"/>
                    <a:lumOff val="25000"/>
                  </a:schemeClr>
                </a:solidFill>
              </a:rPr>
              <a:t>and</a:t>
            </a:r>
            <a:r>
              <a:rPr lang="en-US" spc="-50" dirty="0">
                <a:solidFill>
                  <a:schemeClr val="tx1">
                    <a:lumMod val="75000"/>
                    <a:lumOff val="25000"/>
                  </a:schemeClr>
                </a:solidFill>
              </a:rPr>
              <a:t> </a:t>
            </a:r>
            <a:r>
              <a:rPr lang="en-US" dirty="0">
                <a:solidFill>
                  <a:schemeClr val="tx1">
                    <a:lumMod val="75000"/>
                    <a:lumOff val="25000"/>
                  </a:schemeClr>
                </a:solidFill>
              </a:rPr>
              <a:t>now</a:t>
            </a:r>
            <a:r>
              <a:rPr lang="en-US" spc="-40" dirty="0">
                <a:solidFill>
                  <a:schemeClr val="tx1">
                    <a:lumMod val="75000"/>
                    <a:lumOff val="25000"/>
                  </a:schemeClr>
                </a:solidFill>
              </a:rPr>
              <a:t> </a:t>
            </a:r>
            <a:r>
              <a:rPr lang="en-US" dirty="0">
                <a:solidFill>
                  <a:schemeClr val="tx1">
                    <a:lumMod val="75000"/>
                    <a:lumOff val="25000"/>
                  </a:schemeClr>
                </a:solidFill>
              </a:rPr>
              <a:t>we</a:t>
            </a:r>
            <a:r>
              <a:rPr lang="en-US" spc="-45" dirty="0">
                <a:solidFill>
                  <a:schemeClr val="tx1">
                    <a:lumMod val="75000"/>
                    <a:lumOff val="25000"/>
                  </a:schemeClr>
                </a:solidFill>
              </a:rPr>
              <a:t> </a:t>
            </a:r>
            <a:r>
              <a:rPr lang="en-US" spc="-20" dirty="0">
                <a:solidFill>
                  <a:schemeClr val="tx1">
                    <a:lumMod val="75000"/>
                    <a:lumOff val="25000"/>
                  </a:schemeClr>
                </a:solidFill>
              </a:rPr>
              <a:t>have generated</a:t>
            </a:r>
            <a:r>
              <a:rPr lang="en-US" spc="-60" dirty="0">
                <a:solidFill>
                  <a:schemeClr val="tx1">
                    <a:lumMod val="75000"/>
                    <a:lumOff val="25000"/>
                  </a:schemeClr>
                </a:solidFill>
              </a:rPr>
              <a:t> </a:t>
            </a:r>
            <a:r>
              <a:rPr lang="en-US" dirty="0">
                <a:solidFill>
                  <a:schemeClr val="tx1">
                    <a:lumMod val="75000"/>
                    <a:lumOff val="25000"/>
                  </a:schemeClr>
                </a:solidFill>
              </a:rPr>
              <a:t>some</a:t>
            </a:r>
            <a:r>
              <a:rPr lang="en-US" spc="-45" dirty="0">
                <a:solidFill>
                  <a:schemeClr val="tx1">
                    <a:lumMod val="75000"/>
                    <a:lumOff val="25000"/>
                  </a:schemeClr>
                </a:solidFill>
              </a:rPr>
              <a:t> </a:t>
            </a:r>
            <a:r>
              <a:rPr lang="en-US" spc="-10" dirty="0">
                <a:solidFill>
                  <a:schemeClr val="tx1">
                    <a:lumMod val="75000"/>
                    <a:lumOff val="25000"/>
                  </a:schemeClr>
                </a:solidFill>
              </a:rPr>
              <a:t>nice-</a:t>
            </a:r>
            <a:r>
              <a:rPr lang="en-US" dirty="0">
                <a:solidFill>
                  <a:schemeClr val="tx1">
                    <a:lumMod val="75000"/>
                    <a:lumOff val="25000"/>
                  </a:schemeClr>
                </a:solidFill>
              </a:rPr>
              <a:t>looking</a:t>
            </a:r>
            <a:r>
              <a:rPr lang="en-US" spc="-60" dirty="0">
                <a:solidFill>
                  <a:schemeClr val="tx1">
                    <a:lumMod val="75000"/>
                    <a:lumOff val="25000"/>
                  </a:schemeClr>
                </a:solidFill>
              </a:rPr>
              <a:t> </a:t>
            </a:r>
            <a:r>
              <a:rPr lang="en-US" dirty="0">
                <a:solidFill>
                  <a:schemeClr val="tx1">
                    <a:lumMod val="75000"/>
                    <a:lumOff val="25000"/>
                  </a:schemeClr>
                </a:solidFill>
              </a:rPr>
              <a:t>structured</a:t>
            </a:r>
            <a:r>
              <a:rPr lang="en-US" spc="-60" dirty="0">
                <a:solidFill>
                  <a:schemeClr val="tx1">
                    <a:lumMod val="75000"/>
                    <a:lumOff val="25000"/>
                  </a:schemeClr>
                </a:solidFill>
              </a:rPr>
              <a:t> </a:t>
            </a:r>
            <a:r>
              <a:rPr lang="en-US" spc="-10" dirty="0">
                <a:solidFill>
                  <a:schemeClr val="tx1">
                    <a:lumMod val="75000"/>
                    <a:lumOff val="25000"/>
                  </a:schemeClr>
                </a:solidFill>
              </a:rPr>
              <a:t>data.</a:t>
            </a:r>
            <a:endParaRPr lang="en-US" dirty="0">
              <a:solidFill>
                <a:schemeClr val="tx1">
                  <a:lumMod val="75000"/>
                  <a:lumOff val="25000"/>
                </a:schemeClr>
              </a:solidFill>
            </a:endParaRPr>
          </a:p>
          <a:p>
            <a:pPr marL="266700" indent="-266700">
              <a:lnSpc>
                <a:spcPct val="90000"/>
              </a:lnSpc>
              <a:spcBef>
                <a:spcPts val="1000"/>
              </a:spcBef>
              <a:buClr>
                <a:schemeClr val="accent4"/>
              </a:buClr>
              <a:buFont typeface="Arial" panose="020B0604020202020204" pitchFamily="34" charset="0"/>
              <a:buChar char="•"/>
              <a:tabLst>
                <a:tab pos="240029" algn="l"/>
              </a:tabLst>
            </a:pPr>
            <a:r>
              <a:rPr lang="en-US" dirty="0">
                <a:solidFill>
                  <a:schemeClr val="tx1">
                    <a:lumMod val="75000"/>
                    <a:lumOff val="25000"/>
                  </a:schemeClr>
                </a:solidFill>
              </a:rPr>
              <a:t>Right</a:t>
            </a:r>
            <a:r>
              <a:rPr lang="en-US" spc="-50" dirty="0">
                <a:solidFill>
                  <a:schemeClr val="tx1">
                    <a:lumMod val="75000"/>
                    <a:lumOff val="25000"/>
                  </a:schemeClr>
                </a:solidFill>
              </a:rPr>
              <a:t> </a:t>
            </a:r>
            <a:r>
              <a:rPr lang="en-US" dirty="0">
                <a:solidFill>
                  <a:schemeClr val="tx1">
                    <a:lumMod val="75000"/>
                    <a:lumOff val="25000"/>
                  </a:schemeClr>
                </a:solidFill>
              </a:rPr>
              <a:t>now</a:t>
            </a:r>
            <a:r>
              <a:rPr lang="en-US" spc="-40" dirty="0">
                <a:solidFill>
                  <a:schemeClr val="tx1">
                    <a:lumMod val="75000"/>
                    <a:lumOff val="25000"/>
                  </a:schemeClr>
                </a:solidFill>
              </a:rPr>
              <a:t> </a:t>
            </a:r>
            <a:r>
              <a:rPr lang="en-US" dirty="0">
                <a:solidFill>
                  <a:schemeClr val="tx1">
                    <a:lumMod val="75000"/>
                    <a:lumOff val="25000"/>
                  </a:schemeClr>
                </a:solidFill>
              </a:rPr>
              <a:t>there's</a:t>
            </a:r>
            <a:r>
              <a:rPr lang="en-US" spc="-40" dirty="0">
                <a:solidFill>
                  <a:schemeClr val="tx1">
                    <a:lumMod val="75000"/>
                    <a:lumOff val="25000"/>
                  </a:schemeClr>
                </a:solidFill>
              </a:rPr>
              <a:t> </a:t>
            </a:r>
            <a:r>
              <a:rPr lang="en-US" dirty="0">
                <a:solidFill>
                  <a:schemeClr val="tx1">
                    <a:lumMod val="75000"/>
                    <a:lumOff val="25000"/>
                  </a:schemeClr>
                </a:solidFill>
              </a:rPr>
              <a:t>not</a:t>
            </a:r>
            <a:r>
              <a:rPr lang="en-US" spc="-50" dirty="0">
                <a:solidFill>
                  <a:schemeClr val="tx1">
                    <a:lumMod val="75000"/>
                    <a:lumOff val="25000"/>
                  </a:schemeClr>
                </a:solidFill>
              </a:rPr>
              <a:t> </a:t>
            </a:r>
            <a:r>
              <a:rPr lang="en-US" dirty="0">
                <a:solidFill>
                  <a:schemeClr val="tx1">
                    <a:lumMod val="75000"/>
                    <a:lumOff val="25000"/>
                  </a:schemeClr>
                </a:solidFill>
              </a:rPr>
              <a:t>a</a:t>
            </a:r>
            <a:r>
              <a:rPr lang="en-US" spc="-40" dirty="0">
                <a:solidFill>
                  <a:schemeClr val="tx1">
                    <a:lumMod val="75000"/>
                    <a:lumOff val="25000"/>
                  </a:schemeClr>
                </a:solidFill>
              </a:rPr>
              <a:t> </a:t>
            </a:r>
            <a:r>
              <a:rPr lang="en-US" dirty="0">
                <a:solidFill>
                  <a:schemeClr val="tx1">
                    <a:lumMod val="75000"/>
                    <a:lumOff val="25000"/>
                  </a:schemeClr>
                </a:solidFill>
              </a:rPr>
              <a:t>lot</a:t>
            </a:r>
            <a:r>
              <a:rPr lang="en-US" spc="-45" dirty="0">
                <a:solidFill>
                  <a:schemeClr val="tx1">
                    <a:lumMod val="75000"/>
                    <a:lumOff val="25000"/>
                  </a:schemeClr>
                </a:solidFill>
              </a:rPr>
              <a:t> </a:t>
            </a:r>
            <a:r>
              <a:rPr lang="en-US" dirty="0">
                <a:solidFill>
                  <a:schemeClr val="tx1">
                    <a:lumMod val="75000"/>
                    <a:lumOff val="25000"/>
                  </a:schemeClr>
                </a:solidFill>
              </a:rPr>
              <a:t>to</a:t>
            </a:r>
            <a:r>
              <a:rPr lang="en-US" spc="-60" dirty="0">
                <a:solidFill>
                  <a:schemeClr val="tx1">
                    <a:lumMod val="75000"/>
                    <a:lumOff val="25000"/>
                  </a:schemeClr>
                </a:solidFill>
              </a:rPr>
              <a:t> </a:t>
            </a:r>
            <a:r>
              <a:rPr lang="en-US" dirty="0">
                <a:solidFill>
                  <a:schemeClr val="tx1">
                    <a:lumMod val="75000"/>
                    <a:lumOff val="25000"/>
                  </a:schemeClr>
                </a:solidFill>
              </a:rPr>
              <a:t>say</a:t>
            </a:r>
            <a:r>
              <a:rPr lang="en-US" spc="-35" dirty="0">
                <a:solidFill>
                  <a:schemeClr val="tx1">
                    <a:lumMod val="75000"/>
                    <a:lumOff val="25000"/>
                  </a:schemeClr>
                </a:solidFill>
              </a:rPr>
              <a:t> </a:t>
            </a:r>
            <a:r>
              <a:rPr lang="en-US" dirty="0">
                <a:solidFill>
                  <a:schemeClr val="tx1">
                    <a:lumMod val="75000"/>
                    <a:lumOff val="25000"/>
                  </a:schemeClr>
                </a:solidFill>
              </a:rPr>
              <a:t>other</a:t>
            </a:r>
            <a:r>
              <a:rPr lang="en-US" spc="-35" dirty="0">
                <a:solidFill>
                  <a:schemeClr val="tx1">
                    <a:lumMod val="75000"/>
                    <a:lumOff val="25000"/>
                  </a:schemeClr>
                </a:solidFill>
              </a:rPr>
              <a:t> </a:t>
            </a:r>
            <a:r>
              <a:rPr lang="en-US" dirty="0">
                <a:solidFill>
                  <a:schemeClr val="tx1">
                    <a:lumMod val="75000"/>
                    <a:lumOff val="25000"/>
                  </a:schemeClr>
                </a:solidFill>
              </a:rPr>
              <a:t>than</a:t>
            </a:r>
            <a:r>
              <a:rPr lang="en-US" spc="-50" dirty="0">
                <a:solidFill>
                  <a:schemeClr val="tx1">
                    <a:lumMod val="75000"/>
                    <a:lumOff val="25000"/>
                  </a:schemeClr>
                </a:solidFill>
              </a:rPr>
              <a:t> </a:t>
            </a:r>
            <a:r>
              <a:rPr lang="en-US" dirty="0">
                <a:solidFill>
                  <a:schemeClr val="tx1">
                    <a:lumMod val="75000"/>
                    <a:lumOff val="25000"/>
                  </a:schemeClr>
                </a:solidFill>
              </a:rPr>
              <a:t>there's</a:t>
            </a:r>
            <a:r>
              <a:rPr lang="en-US" spc="-45" dirty="0">
                <a:solidFill>
                  <a:schemeClr val="tx1">
                    <a:lumMod val="75000"/>
                    <a:lumOff val="25000"/>
                  </a:schemeClr>
                </a:solidFill>
              </a:rPr>
              <a:t> </a:t>
            </a:r>
            <a:r>
              <a:rPr lang="en-US" dirty="0">
                <a:solidFill>
                  <a:schemeClr val="tx1">
                    <a:lumMod val="75000"/>
                    <a:lumOff val="25000"/>
                  </a:schemeClr>
                </a:solidFill>
              </a:rPr>
              <a:t>quite</a:t>
            </a:r>
            <a:r>
              <a:rPr lang="en-US" spc="-35" dirty="0">
                <a:solidFill>
                  <a:schemeClr val="tx1">
                    <a:lumMod val="75000"/>
                    <a:lumOff val="25000"/>
                  </a:schemeClr>
                </a:solidFill>
              </a:rPr>
              <a:t> </a:t>
            </a:r>
            <a:r>
              <a:rPr lang="en-US" dirty="0">
                <a:solidFill>
                  <a:schemeClr val="tx1">
                    <a:lumMod val="75000"/>
                    <a:lumOff val="25000"/>
                  </a:schemeClr>
                </a:solidFill>
              </a:rPr>
              <a:t>a</a:t>
            </a:r>
            <a:r>
              <a:rPr lang="en-US" spc="-45" dirty="0">
                <a:solidFill>
                  <a:schemeClr val="tx1">
                    <a:lumMod val="75000"/>
                    <a:lumOff val="25000"/>
                  </a:schemeClr>
                </a:solidFill>
              </a:rPr>
              <a:t> </a:t>
            </a:r>
            <a:r>
              <a:rPr lang="en-US" spc="-25" dirty="0">
                <a:solidFill>
                  <a:schemeClr val="tx1">
                    <a:lumMod val="75000"/>
                    <a:lumOff val="25000"/>
                  </a:schemeClr>
                </a:solidFill>
              </a:rPr>
              <a:t>few</a:t>
            </a:r>
            <a:r>
              <a:rPr lang="en-US" dirty="0">
                <a:solidFill>
                  <a:schemeClr val="tx1">
                    <a:lumMod val="75000"/>
                    <a:lumOff val="25000"/>
                  </a:schemeClr>
                </a:solidFill>
              </a:rPr>
              <a:t> ‘Ease</a:t>
            </a:r>
            <a:r>
              <a:rPr lang="en-US" spc="-65" dirty="0">
                <a:solidFill>
                  <a:schemeClr val="tx1">
                    <a:lumMod val="75000"/>
                    <a:lumOff val="25000"/>
                  </a:schemeClr>
                </a:solidFill>
              </a:rPr>
              <a:t> </a:t>
            </a:r>
            <a:r>
              <a:rPr lang="en-US" dirty="0">
                <a:solidFill>
                  <a:schemeClr val="tx1">
                    <a:lumMod val="75000"/>
                    <a:lumOff val="25000"/>
                  </a:schemeClr>
                </a:solidFill>
              </a:rPr>
              <a:t>of</a:t>
            </a:r>
            <a:r>
              <a:rPr lang="en-US" spc="-55" dirty="0">
                <a:solidFill>
                  <a:schemeClr val="tx1">
                    <a:lumMod val="75000"/>
                    <a:lumOff val="25000"/>
                  </a:schemeClr>
                </a:solidFill>
              </a:rPr>
              <a:t> </a:t>
            </a:r>
            <a:r>
              <a:rPr lang="en-US" dirty="0">
                <a:solidFill>
                  <a:schemeClr val="tx1">
                    <a:lumMod val="75000"/>
                    <a:lumOff val="25000"/>
                  </a:schemeClr>
                </a:solidFill>
              </a:rPr>
              <a:t>Use’</a:t>
            </a:r>
            <a:r>
              <a:rPr lang="en-US" spc="-55" dirty="0">
                <a:solidFill>
                  <a:schemeClr val="tx1">
                    <a:lumMod val="75000"/>
                    <a:lumOff val="25000"/>
                  </a:schemeClr>
                </a:solidFill>
              </a:rPr>
              <a:t> </a:t>
            </a:r>
            <a:r>
              <a:rPr lang="en-US" spc="-10" dirty="0">
                <a:solidFill>
                  <a:schemeClr val="tx1">
                    <a:lumMod val="75000"/>
                    <a:lumOff val="25000"/>
                  </a:schemeClr>
                </a:solidFill>
              </a:rPr>
              <a:t>categories</a:t>
            </a:r>
            <a:r>
              <a:rPr lang="en-US" spc="-80" dirty="0">
                <a:solidFill>
                  <a:schemeClr val="tx1">
                    <a:lumMod val="75000"/>
                    <a:lumOff val="25000"/>
                  </a:schemeClr>
                </a:solidFill>
              </a:rPr>
              <a:t> </a:t>
            </a:r>
            <a:r>
              <a:rPr lang="en-US" dirty="0">
                <a:solidFill>
                  <a:schemeClr val="tx1">
                    <a:lumMod val="75000"/>
                    <a:lumOff val="25000"/>
                  </a:schemeClr>
                </a:solidFill>
              </a:rPr>
              <a:t>on</a:t>
            </a:r>
            <a:r>
              <a:rPr lang="en-US" spc="-60" dirty="0">
                <a:solidFill>
                  <a:schemeClr val="tx1">
                    <a:lumMod val="75000"/>
                    <a:lumOff val="25000"/>
                  </a:schemeClr>
                </a:solidFill>
              </a:rPr>
              <a:t> </a:t>
            </a:r>
            <a:r>
              <a:rPr lang="en-US" dirty="0">
                <a:solidFill>
                  <a:schemeClr val="tx1">
                    <a:lumMod val="75000"/>
                    <a:lumOff val="25000"/>
                  </a:schemeClr>
                </a:solidFill>
              </a:rPr>
              <a:t>barriers</a:t>
            </a:r>
            <a:r>
              <a:rPr lang="en-US" spc="-70" dirty="0">
                <a:solidFill>
                  <a:schemeClr val="tx1">
                    <a:lumMod val="75000"/>
                    <a:lumOff val="25000"/>
                  </a:schemeClr>
                </a:solidFill>
              </a:rPr>
              <a:t> </a:t>
            </a:r>
            <a:r>
              <a:rPr lang="en-US" dirty="0">
                <a:solidFill>
                  <a:schemeClr val="tx1">
                    <a:lumMod val="75000"/>
                    <a:lumOff val="25000"/>
                  </a:schemeClr>
                </a:solidFill>
              </a:rPr>
              <a:t>than</a:t>
            </a:r>
            <a:r>
              <a:rPr lang="en-US" spc="-55" dirty="0">
                <a:solidFill>
                  <a:schemeClr val="tx1">
                    <a:lumMod val="75000"/>
                    <a:lumOff val="25000"/>
                  </a:schemeClr>
                </a:solidFill>
              </a:rPr>
              <a:t> </a:t>
            </a:r>
            <a:r>
              <a:rPr lang="en-US" dirty="0">
                <a:solidFill>
                  <a:schemeClr val="tx1">
                    <a:lumMod val="75000"/>
                    <a:lumOff val="25000"/>
                  </a:schemeClr>
                </a:solidFill>
              </a:rPr>
              <a:t>anything</a:t>
            </a:r>
            <a:r>
              <a:rPr lang="en-US" spc="-70" dirty="0">
                <a:solidFill>
                  <a:schemeClr val="tx1">
                    <a:lumMod val="75000"/>
                    <a:lumOff val="25000"/>
                  </a:schemeClr>
                </a:solidFill>
              </a:rPr>
              <a:t> </a:t>
            </a:r>
            <a:r>
              <a:rPr lang="en-US" dirty="0">
                <a:solidFill>
                  <a:schemeClr val="tx1">
                    <a:lumMod val="75000"/>
                    <a:lumOff val="25000"/>
                  </a:schemeClr>
                </a:solidFill>
              </a:rPr>
              <a:t>else.</a:t>
            </a:r>
            <a:r>
              <a:rPr lang="en-US" spc="-60" dirty="0">
                <a:solidFill>
                  <a:schemeClr val="tx1">
                    <a:lumMod val="75000"/>
                    <a:lumOff val="25000"/>
                  </a:schemeClr>
                </a:solidFill>
              </a:rPr>
              <a:t> </a:t>
            </a:r>
            <a:r>
              <a:rPr lang="en-US" spc="-20" dirty="0">
                <a:solidFill>
                  <a:schemeClr val="tx1">
                    <a:lumMod val="75000"/>
                    <a:lumOff val="25000"/>
                  </a:schemeClr>
                </a:solidFill>
              </a:rPr>
              <a:t>That </a:t>
            </a:r>
            <a:r>
              <a:rPr lang="en-US" dirty="0">
                <a:solidFill>
                  <a:schemeClr val="tx1">
                    <a:lumMod val="75000"/>
                    <a:lumOff val="25000"/>
                  </a:schemeClr>
                </a:solidFill>
              </a:rPr>
              <a:t>suggest</a:t>
            </a:r>
            <a:r>
              <a:rPr lang="en-US" spc="-55" dirty="0">
                <a:solidFill>
                  <a:schemeClr val="tx1">
                    <a:lumMod val="75000"/>
                    <a:lumOff val="25000"/>
                  </a:schemeClr>
                </a:solidFill>
              </a:rPr>
              <a:t> </a:t>
            </a:r>
            <a:r>
              <a:rPr lang="en-US" dirty="0">
                <a:solidFill>
                  <a:schemeClr val="tx1">
                    <a:lumMod val="75000"/>
                    <a:lumOff val="25000"/>
                  </a:schemeClr>
                </a:solidFill>
              </a:rPr>
              <a:t>‘Ease</a:t>
            </a:r>
            <a:r>
              <a:rPr lang="en-US" spc="-35" dirty="0">
                <a:solidFill>
                  <a:schemeClr val="tx1">
                    <a:lumMod val="75000"/>
                    <a:lumOff val="25000"/>
                  </a:schemeClr>
                </a:solidFill>
              </a:rPr>
              <a:t> </a:t>
            </a:r>
            <a:r>
              <a:rPr lang="en-US" dirty="0">
                <a:solidFill>
                  <a:schemeClr val="tx1">
                    <a:lumMod val="75000"/>
                    <a:lumOff val="25000"/>
                  </a:schemeClr>
                </a:solidFill>
              </a:rPr>
              <a:t>of</a:t>
            </a:r>
            <a:r>
              <a:rPr lang="en-US" spc="-40" dirty="0">
                <a:solidFill>
                  <a:schemeClr val="tx1">
                    <a:lumMod val="75000"/>
                    <a:lumOff val="25000"/>
                  </a:schemeClr>
                </a:solidFill>
              </a:rPr>
              <a:t> </a:t>
            </a:r>
            <a:r>
              <a:rPr lang="en-US" dirty="0">
                <a:solidFill>
                  <a:schemeClr val="tx1">
                    <a:lumMod val="75000"/>
                    <a:lumOff val="25000"/>
                  </a:schemeClr>
                </a:solidFill>
              </a:rPr>
              <a:t>Use’</a:t>
            </a:r>
            <a:r>
              <a:rPr lang="en-US" spc="-35" dirty="0">
                <a:solidFill>
                  <a:schemeClr val="tx1">
                    <a:lumMod val="75000"/>
                    <a:lumOff val="25000"/>
                  </a:schemeClr>
                </a:solidFill>
              </a:rPr>
              <a:t> </a:t>
            </a:r>
            <a:r>
              <a:rPr lang="en-US" dirty="0">
                <a:solidFill>
                  <a:schemeClr val="tx1">
                    <a:lumMod val="75000"/>
                    <a:lumOff val="25000"/>
                  </a:schemeClr>
                </a:solidFill>
              </a:rPr>
              <a:t>to</a:t>
            </a:r>
            <a:r>
              <a:rPr lang="en-US" spc="-50" dirty="0">
                <a:solidFill>
                  <a:schemeClr val="tx1">
                    <a:lumMod val="75000"/>
                    <a:lumOff val="25000"/>
                  </a:schemeClr>
                </a:solidFill>
              </a:rPr>
              <a:t> </a:t>
            </a:r>
            <a:r>
              <a:rPr lang="en-US" dirty="0">
                <a:solidFill>
                  <a:schemeClr val="tx1">
                    <a:lumMod val="75000"/>
                    <a:lumOff val="25000"/>
                  </a:schemeClr>
                </a:solidFill>
              </a:rPr>
              <a:t>be</a:t>
            </a:r>
            <a:r>
              <a:rPr lang="en-US" spc="-35" dirty="0">
                <a:solidFill>
                  <a:schemeClr val="tx1">
                    <a:lumMod val="75000"/>
                    <a:lumOff val="25000"/>
                  </a:schemeClr>
                </a:solidFill>
              </a:rPr>
              <a:t> </a:t>
            </a:r>
            <a:r>
              <a:rPr lang="en-US" dirty="0">
                <a:solidFill>
                  <a:schemeClr val="tx1">
                    <a:lumMod val="75000"/>
                    <a:lumOff val="25000"/>
                  </a:schemeClr>
                </a:solidFill>
              </a:rPr>
              <a:t>the</a:t>
            </a:r>
            <a:r>
              <a:rPr lang="en-US" spc="-35" dirty="0">
                <a:solidFill>
                  <a:schemeClr val="tx1">
                    <a:lumMod val="75000"/>
                    <a:lumOff val="25000"/>
                  </a:schemeClr>
                </a:solidFill>
              </a:rPr>
              <a:t> </a:t>
            </a:r>
            <a:r>
              <a:rPr lang="en-US" dirty="0">
                <a:solidFill>
                  <a:schemeClr val="tx1">
                    <a:lumMod val="75000"/>
                    <a:lumOff val="25000"/>
                  </a:schemeClr>
                </a:solidFill>
              </a:rPr>
              <a:t>main</a:t>
            </a:r>
            <a:r>
              <a:rPr lang="en-US" spc="-50" dirty="0">
                <a:solidFill>
                  <a:schemeClr val="tx1">
                    <a:lumMod val="75000"/>
                    <a:lumOff val="25000"/>
                  </a:schemeClr>
                </a:solidFill>
              </a:rPr>
              <a:t> </a:t>
            </a:r>
            <a:r>
              <a:rPr lang="en-US" dirty="0">
                <a:solidFill>
                  <a:schemeClr val="tx1">
                    <a:lumMod val="75000"/>
                    <a:lumOff val="25000"/>
                  </a:schemeClr>
                </a:solidFill>
              </a:rPr>
              <a:t>thing</a:t>
            </a:r>
            <a:r>
              <a:rPr lang="en-US" spc="-60" dirty="0">
                <a:solidFill>
                  <a:schemeClr val="tx1">
                    <a:lumMod val="75000"/>
                    <a:lumOff val="25000"/>
                  </a:schemeClr>
                </a:solidFill>
              </a:rPr>
              <a:t> </a:t>
            </a:r>
            <a:r>
              <a:rPr lang="en-US" dirty="0">
                <a:solidFill>
                  <a:schemeClr val="tx1">
                    <a:lumMod val="75000"/>
                    <a:lumOff val="25000"/>
                  </a:schemeClr>
                </a:solidFill>
              </a:rPr>
              <a:t>to</a:t>
            </a:r>
            <a:r>
              <a:rPr lang="en-US" spc="-45" dirty="0">
                <a:solidFill>
                  <a:schemeClr val="tx1">
                    <a:lumMod val="75000"/>
                    <a:lumOff val="25000"/>
                  </a:schemeClr>
                </a:solidFill>
              </a:rPr>
              <a:t> </a:t>
            </a:r>
            <a:r>
              <a:rPr lang="en-US" dirty="0">
                <a:solidFill>
                  <a:schemeClr val="tx1">
                    <a:lumMod val="75000"/>
                    <a:lumOff val="25000"/>
                  </a:schemeClr>
                </a:solidFill>
              </a:rPr>
              <a:t>focus</a:t>
            </a:r>
            <a:r>
              <a:rPr lang="en-US" spc="-45" dirty="0">
                <a:solidFill>
                  <a:schemeClr val="tx1">
                    <a:lumMod val="75000"/>
                    <a:lumOff val="25000"/>
                  </a:schemeClr>
                </a:solidFill>
              </a:rPr>
              <a:t> </a:t>
            </a:r>
            <a:r>
              <a:rPr lang="en-US" spc="-25" dirty="0">
                <a:solidFill>
                  <a:schemeClr val="tx1">
                    <a:lumMod val="75000"/>
                    <a:lumOff val="25000"/>
                  </a:schemeClr>
                </a:solidFill>
              </a:rPr>
              <a:t>on.</a:t>
            </a:r>
            <a:endParaRPr lang="en-US" dirty="0">
              <a:solidFill>
                <a:schemeClr val="tx1">
                  <a:lumMod val="75000"/>
                  <a:lumOff val="25000"/>
                </a:schemeClr>
              </a:solidFill>
            </a:endParaRPr>
          </a:p>
          <a:p>
            <a:pPr marL="266700" indent="-266700">
              <a:lnSpc>
                <a:spcPct val="90000"/>
              </a:lnSpc>
              <a:spcBef>
                <a:spcPts val="1000"/>
              </a:spcBef>
              <a:buClr>
                <a:schemeClr val="accent4"/>
              </a:buClr>
              <a:buFont typeface="Arial" panose="020B0604020202020204" pitchFamily="34" charset="0"/>
              <a:buChar char="•"/>
              <a:tabLst>
                <a:tab pos="240029" algn="l"/>
              </a:tabLst>
            </a:pPr>
            <a:r>
              <a:rPr lang="en-US" dirty="0">
                <a:solidFill>
                  <a:schemeClr val="tx1">
                    <a:lumMod val="75000"/>
                    <a:lumOff val="25000"/>
                  </a:schemeClr>
                </a:solidFill>
              </a:rPr>
              <a:t>In</a:t>
            </a:r>
            <a:r>
              <a:rPr lang="en-US" spc="-50" dirty="0">
                <a:solidFill>
                  <a:schemeClr val="tx1">
                    <a:lumMod val="75000"/>
                    <a:lumOff val="25000"/>
                  </a:schemeClr>
                </a:solidFill>
              </a:rPr>
              <a:t> </a:t>
            </a:r>
            <a:r>
              <a:rPr lang="en-US" spc="-25" dirty="0">
                <a:solidFill>
                  <a:schemeClr val="tx1">
                    <a:lumMod val="75000"/>
                    <a:lumOff val="25000"/>
                  </a:schemeClr>
                </a:solidFill>
              </a:rPr>
              <a:t>real-</a:t>
            </a:r>
            <a:r>
              <a:rPr lang="en-US" dirty="0">
                <a:solidFill>
                  <a:schemeClr val="tx1">
                    <a:lumMod val="75000"/>
                    <a:lumOff val="25000"/>
                  </a:schemeClr>
                </a:solidFill>
              </a:rPr>
              <a:t>life</a:t>
            </a:r>
            <a:r>
              <a:rPr lang="en-US" spc="-45" dirty="0">
                <a:solidFill>
                  <a:schemeClr val="tx1">
                    <a:lumMod val="75000"/>
                    <a:lumOff val="25000"/>
                  </a:schemeClr>
                </a:solidFill>
              </a:rPr>
              <a:t> </a:t>
            </a:r>
            <a:r>
              <a:rPr lang="en-US" dirty="0">
                <a:solidFill>
                  <a:schemeClr val="tx1">
                    <a:lumMod val="75000"/>
                    <a:lumOff val="25000"/>
                  </a:schemeClr>
                </a:solidFill>
              </a:rPr>
              <a:t>scenarios,</a:t>
            </a:r>
            <a:r>
              <a:rPr lang="en-US" spc="-40" dirty="0">
                <a:solidFill>
                  <a:schemeClr val="tx1">
                    <a:lumMod val="75000"/>
                    <a:lumOff val="25000"/>
                  </a:schemeClr>
                </a:solidFill>
              </a:rPr>
              <a:t> </a:t>
            </a:r>
            <a:r>
              <a:rPr lang="en-US" dirty="0">
                <a:solidFill>
                  <a:schemeClr val="tx1">
                    <a:lumMod val="75000"/>
                    <a:lumOff val="25000"/>
                  </a:schemeClr>
                </a:solidFill>
              </a:rPr>
              <a:t>where</a:t>
            </a:r>
            <a:r>
              <a:rPr lang="en-US" spc="-55" dirty="0">
                <a:solidFill>
                  <a:schemeClr val="tx1">
                    <a:lumMod val="75000"/>
                    <a:lumOff val="25000"/>
                  </a:schemeClr>
                </a:solidFill>
              </a:rPr>
              <a:t> </a:t>
            </a:r>
            <a:r>
              <a:rPr lang="en-US" dirty="0">
                <a:solidFill>
                  <a:schemeClr val="tx1">
                    <a:lumMod val="75000"/>
                    <a:lumOff val="25000"/>
                  </a:schemeClr>
                </a:solidFill>
              </a:rPr>
              <a:t>we</a:t>
            </a:r>
            <a:r>
              <a:rPr lang="en-US" spc="-40" dirty="0">
                <a:solidFill>
                  <a:schemeClr val="tx1">
                    <a:lumMod val="75000"/>
                    <a:lumOff val="25000"/>
                  </a:schemeClr>
                </a:solidFill>
              </a:rPr>
              <a:t> </a:t>
            </a:r>
            <a:r>
              <a:rPr lang="en-US" dirty="0">
                <a:solidFill>
                  <a:schemeClr val="tx1">
                    <a:lumMod val="75000"/>
                    <a:lumOff val="25000"/>
                  </a:schemeClr>
                </a:solidFill>
              </a:rPr>
              <a:t>will</a:t>
            </a:r>
            <a:r>
              <a:rPr lang="en-US" spc="-60" dirty="0">
                <a:solidFill>
                  <a:schemeClr val="tx1">
                    <a:lumMod val="75000"/>
                    <a:lumOff val="25000"/>
                  </a:schemeClr>
                </a:solidFill>
              </a:rPr>
              <a:t> </a:t>
            </a:r>
            <a:r>
              <a:rPr lang="en-US" dirty="0">
                <a:solidFill>
                  <a:schemeClr val="tx1">
                    <a:lumMod val="75000"/>
                    <a:lumOff val="25000"/>
                  </a:schemeClr>
                </a:solidFill>
              </a:rPr>
              <a:t>collect</a:t>
            </a:r>
            <a:r>
              <a:rPr lang="en-US" spc="-50" dirty="0">
                <a:solidFill>
                  <a:schemeClr val="tx1">
                    <a:lumMod val="75000"/>
                    <a:lumOff val="25000"/>
                  </a:schemeClr>
                </a:solidFill>
              </a:rPr>
              <a:t> </a:t>
            </a:r>
            <a:r>
              <a:rPr lang="en-US" dirty="0">
                <a:solidFill>
                  <a:schemeClr val="tx1">
                    <a:lumMod val="75000"/>
                    <a:lumOff val="25000"/>
                  </a:schemeClr>
                </a:solidFill>
              </a:rPr>
              <a:t>data</a:t>
            </a:r>
            <a:r>
              <a:rPr lang="en-US" spc="-60" dirty="0">
                <a:solidFill>
                  <a:schemeClr val="tx1">
                    <a:lumMod val="75000"/>
                    <a:lumOff val="25000"/>
                  </a:schemeClr>
                </a:solidFill>
              </a:rPr>
              <a:t> </a:t>
            </a:r>
            <a:r>
              <a:rPr lang="en-US" dirty="0">
                <a:solidFill>
                  <a:schemeClr val="tx1">
                    <a:lumMod val="75000"/>
                    <a:lumOff val="25000"/>
                  </a:schemeClr>
                </a:solidFill>
              </a:rPr>
              <a:t>from</a:t>
            </a:r>
            <a:r>
              <a:rPr lang="en-US" spc="-60" dirty="0">
                <a:solidFill>
                  <a:schemeClr val="tx1">
                    <a:lumMod val="75000"/>
                    <a:lumOff val="25000"/>
                  </a:schemeClr>
                </a:solidFill>
              </a:rPr>
              <a:t> </a:t>
            </a:r>
            <a:r>
              <a:rPr lang="en-US" spc="-10" dirty="0">
                <a:solidFill>
                  <a:schemeClr val="tx1">
                    <a:lumMod val="75000"/>
                    <a:lumOff val="25000"/>
                  </a:schemeClr>
                </a:solidFill>
              </a:rPr>
              <a:t>several</a:t>
            </a:r>
            <a:r>
              <a:rPr lang="en-US" dirty="0">
                <a:solidFill>
                  <a:schemeClr val="tx1">
                    <a:lumMod val="75000"/>
                    <a:lumOff val="25000"/>
                  </a:schemeClr>
                </a:solidFill>
              </a:rPr>
              <a:t> </a:t>
            </a:r>
            <a:r>
              <a:rPr lang="en-US" spc="-10" dirty="0">
                <a:solidFill>
                  <a:schemeClr val="tx1">
                    <a:lumMod val="75000"/>
                    <a:lumOff val="25000"/>
                  </a:schemeClr>
                </a:solidFill>
              </a:rPr>
              <a:t>dozen</a:t>
            </a:r>
            <a:r>
              <a:rPr lang="en-US" spc="-45" dirty="0">
                <a:solidFill>
                  <a:schemeClr val="tx1">
                    <a:lumMod val="75000"/>
                    <a:lumOff val="25000"/>
                  </a:schemeClr>
                </a:solidFill>
              </a:rPr>
              <a:t> </a:t>
            </a:r>
            <a:r>
              <a:rPr lang="en-US" dirty="0">
                <a:solidFill>
                  <a:schemeClr val="tx1">
                    <a:lumMod val="75000"/>
                    <a:lumOff val="25000"/>
                  </a:schemeClr>
                </a:solidFill>
              </a:rPr>
              <a:t>participants,</a:t>
            </a:r>
            <a:r>
              <a:rPr lang="en-US" spc="-55" dirty="0">
                <a:solidFill>
                  <a:schemeClr val="tx1">
                    <a:lumMod val="75000"/>
                    <a:lumOff val="25000"/>
                  </a:schemeClr>
                </a:solidFill>
              </a:rPr>
              <a:t> </a:t>
            </a:r>
            <a:r>
              <a:rPr lang="en-US" dirty="0">
                <a:solidFill>
                  <a:schemeClr val="tx1">
                    <a:lumMod val="75000"/>
                    <a:lumOff val="25000"/>
                  </a:schemeClr>
                </a:solidFill>
              </a:rPr>
              <a:t>in</a:t>
            </a:r>
            <a:r>
              <a:rPr lang="en-US" spc="-40" dirty="0">
                <a:solidFill>
                  <a:schemeClr val="tx1">
                    <a:lumMod val="75000"/>
                    <a:lumOff val="25000"/>
                  </a:schemeClr>
                </a:solidFill>
              </a:rPr>
              <a:t> </a:t>
            </a:r>
            <a:r>
              <a:rPr lang="en-US" dirty="0">
                <a:solidFill>
                  <a:schemeClr val="tx1">
                    <a:lumMod val="75000"/>
                    <a:lumOff val="25000"/>
                  </a:schemeClr>
                </a:solidFill>
              </a:rPr>
              <a:t>that</a:t>
            </a:r>
            <a:r>
              <a:rPr lang="en-US" spc="-50" dirty="0">
                <a:solidFill>
                  <a:schemeClr val="tx1">
                    <a:lumMod val="75000"/>
                    <a:lumOff val="25000"/>
                  </a:schemeClr>
                </a:solidFill>
              </a:rPr>
              <a:t> </a:t>
            </a:r>
            <a:r>
              <a:rPr lang="en-US" dirty="0">
                <a:solidFill>
                  <a:schemeClr val="tx1">
                    <a:lumMod val="75000"/>
                    <a:lumOff val="25000"/>
                  </a:schemeClr>
                </a:solidFill>
              </a:rPr>
              <a:t>case</a:t>
            </a:r>
            <a:r>
              <a:rPr lang="en-US" spc="-35" dirty="0">
                <a:solidFill>
                  <a:schemeClr val="tx1">
                    <a:lumMod val="75000"/>
                    <a:lumOff val="25000"/>
                  </a:schemeClr>
                </a:solidFill>
              </a:rPr>
              <a:t> </a:t>
            </a:r>
            <a:r>
              <a:rPr lang="en-US" dirty="0">
                <a:solidFill>
                  <a:schemeClr val="tx1">
                    <a:lumMod val="75000"/>
                    <a:lumOff val="25000"/>
                  </a:schemeClr>
                </a:solidFill>
              </a:rPr>
              <a:t>our</a:t>
            </a:r>
            <a:r>
              <a:rPr lang="en-US" spc="-40" dirty="0">
                <a:solidFill>
                  <a:schemeClr val="tx1">
                    <a:lumMod val="75000"/>
                    <a:lumOff val="25000"/>
                  </a:schemeClr>
                </a:solidFill>
              </a:rPr>
              <a:t> </a:t>
            </a:r>
            <a:r>
              <a:rPr lang="en-US" dirty="0">
                <a:solidFill>
                  <a:schemeClr val="tx1">
                    <a:lumMod val="75000"/>
                    <a:lumOff val="25000"/>
                  </a:schemeClr>
                </a:solidFill>
              </a:rPr>
              <a:t>table</a:t>
            </a:r>
            <a:r>
              <a:rPr lang="en-US" spc="-60" dirty="0">
                <a:solidFill>
                  <a:schemeClr val="tx1">
                    <a:lumMod val="75000"/>
                    <a:lumOff val="25000"/>
                  </a:schemeClr>
                </a:solidFill>
              </a:rPr>
              <a:t> </a:t>
            </a:r>
            <a:r>
              <a:rPr lang="en-US" dirty="0">
                <a:solidFill>
                  <a:schemeClr val="tx1">
                    <a:lumMod val="75000"/>
                    <a:lumOff val="25000"/>
                  </a:schemeClr>
                </a:solidFill>
              </a:rPr>
              <a:t>will</a:t>
            </a:r>
            <a:r>
              <a:rPr lang="en-US" spc="-50" dirty="0">
                <a:solidFill>
                  <a:schemeClr val="tx1">
                    <a:lumMod val="75000"/>
                    <a:lumOff val="25000"/>
                  </a:schemeClr>
                </a:solidFill>
              </a:rPr>
              <a:t> </a:t>
            </a:r>
            <a:r>
              <a:rPr lang="en-US" dirty="0">
                <a:solidFill>
                  <a:schemeClr val="tx1">
                    <a:lumMod val="75000"/>
                    <a:lumOff val="25000"/>
                  </a:schemeClr>
                </a:solidFill>
              </a:rPr>
              <a:t>be</a:t>
            </a:r>
            <a:r>
              <a:rPr lang="en-US" spc="-35" dirty="0">
                <a:solidFill>
                  <a:schemeClr val="tx1">
                    <a:lumMod val="75000"/>
                    <a:lumOff val="25000"/>
                  </a:schemeClr>
                </a:solidFill>
              </a:rPr>
              <a:t> </a:t>
            </a:r>
            <a:r>
              <a:rPr lang="en-US" dirty="0">
                <a:solidFill>
                  <a:schemeClr val="tx1">
                    <a:lumMod val="75000"/>
                    <a:lumOff val="25000"/>
                  </a:schemeClr>
                </a:solidFill>
              </a:rPr>
              <a:t>lot</a:t>
            </a:r>
            <a:r>
              <a:rPr lang="en-US" spc="-40" dirty="0">
                <a:solidFill>
                  <a:schemeClr val="tx1">
                    <a:lumMod val="75000"/>
                    <a:lumOff val="25000"/>
                  </a:schemeClr>
                </a:solidFill>
              </a:rPr>
              <a:t> </a:t>
            </a:r>
            <a:r>
              <a:rPr lang="en-US" spc="-20" dirty="0">
                <a:solidFill>
                  <a:schemeClr val="tx1">
                    <a:lumMod val="75000"/>
                    <a:lumOff val="25000"/>
                  </a:schemeClr>
                </a:solidFill>
              </a:rPr>
              <a:t>more</a:t>
            </a:r>
            <a:r>
              <a:rPr lang="en-US" dirty="0">
                <a:solidFill>
                  <a:schemeClr val="tx1">
                    <a:lumMod val="75000"/>
                    <a:lumOff val="25000"/>
                  </a:schemeClr>
                </a:solidFill>
              </a:rPr>
              <a:t> </a:t>
            </a:r>
            <a:r>
              <a:rPr lang="en-US" spc="-10" dirty="0">
                <a:solidFill>
                  <a:schemeClr val="tx1">
                    <a:lumMod val="75000"/>
                    <a:lumOff val="25000"/>
                  </a:schemeClr>
                </a:solidFill>
              </a:rPr>
              <a:t>populated</a:t>
            </a:r>
            <a:r>
              <a:rPr lang="en-US" spc="-50" dirty="0">
                <a:solidFill>
                  <a:schemeClr val="tx1">
                    <a:lumMod val="75000"/>
                    <a:lumOff val="25000"/>
                  </a:schemeClr>
                </a:solidFill>
              </a:rPr>
              <a:t> </a:t>
            </a:r>
            <a:r>
              <a:rPr lang="en-US" dirty="0">
                <a:solidFill>
                  <a:schemeClr val="tx1">
                    <a:lumMod val="75000"/>
                    <a:lumOff val="25000"/>
                  </a:schemeClr>
                </a:solidFill>
              </a:rPr>
              <a:t>and</a:t>
            </a:r>
            <a:r>
              <a:rPr lang="en-US" spc="-45" dirty="0">
                <a:solidFill>
                  <a:schemeClr val="tx1">
                    <a:lumMod val="75000"/>
                    <a:lumOff val="25000"/>
                  </a:schemeClr>
                </a:solidFill>
              </a:rPr>
              <a:t> </a:t>
            </a:r>
            <a:r>
              <a:rPr lang="en-US" dirty="0">
                <a:solidFill>
                  <a:schemeClr val="tx1">
                    <a:lumMod val="75000"/>
                    <a:lumOff val="25000"/>
                  </a:schemeClr>
                </a:solidFill>
              </a:rPr>
              <a:t>then</a:t>
            </a:r>
            <a:r>
              <a:rPr lang="en-US" spc="-45" dirty="0">
                <a:solidFill>
                  <a:schemeClr val="tx1">
                    <a:lumMod val="75000"/>
                    <a:lumOff val="25000"/>
                  </a:schemeClr>
                </a:solidFill>
              </a:rPr>
              <a:t> </a:t>
            </a:r>
            <a:r>
              <a:rPr lang="en-US" dirty="0">
                <a:solidFill>
                  <a:schemeClr val="tx1">
                    <a:lumMod val="75000"/>
                    <a:lumOff val="25000"/>
                  </a:schemeClr>
                </a:solidFill>
              </a:rPr>
              <a:t>you</a:t>
            </a:r>
            <a:r>
              <a:rPr lang="en-US" spc="-50" dirty="0">
                <a:solidFill>
                  <a:schemeClr val="tx1">
                    <a:lumMod val="75000"/>
                    <a:lumOff val="25000"/>
                  </a:schemeClr>
                </a:solidFill>
              </a:rPr>
              <a:t> </a:t>
            </a:r>
            <a:r>
              <a:rPr lang="en-US" dirty="0">
                <a:solidFill>
                  <a:schemeClr val="tx1">
                    <a:lumMod val="75000"/>
                    <a:lumOff val="25000"/>
                  </a:schemeClr>
                </a:solidFill>
              </a:rPr>
              <a:t>can</a:t>
            </a:r>
            <a:r>
              <a:rPr lang="en-US" spc="-55" dirty="0">
                <a:solidFill>
                  <a:schemeClr val="tx1">
                    <a:lumMod val="75000"/>
                    <a:lumOff val="25000"/>
                  </a:schemeClr>
                </a:solidFill>
              </a:rPr>
              <a:t> </a:t>
            </a:r>
            <a:r>
              <a:rPr lang="en-US" dirty="0">
                <a:solidFill>
                  <a:schemeClr val="tx1">
                    <a:lumMod val="75000"/>
                    <a:lumOff val="25000"/>
                  </a:schemeClr>
                </a:solidFill>
              </a:rPr>
              <a:t>start</a:t>
            </a:r>
            <a:r>
              <a:rPr lang="en-US" spc="-60" dirty="0">
                <a:solidFill>
                  <a:schemeClr val="tx1">
                    <a:lumMod val="75000"/>
                    <a:lumOff val="25000"/>
                  </a:schemeClr>
                </a:solidFill>
              </a:rPr>
              <a:t> </a:t>
            </a:r>
            <a:r>
              <a:rPr lang="en-US" dirty="0">
                <a:solidFill>
                  <a:schemeClr val="tx1">
                    <a:lumMod val="75000"/>
                    <a:lumOff val="25000"/>
                  </a:schemeClr>
                </a:solidFill>
              </a:rPr>
              <a:t>seeing</a:t>
            </a:r>
            <a:r>
              <a:rPr lang="en-US" spc="-45" dirty="0">
                <a:solidFill>
                  <a:schemeClr val="tx1">
                    <a:lumMod val="75000"/>
                    <a:lumOff val="25000"/>
                  </a:schemeClr>
                </a:solidFill>
              </a:rPr>
              <a:t> </a:t>
            </a:r>
            <a:r>
              <a:rPr lang="en-US" dirty="0">
                <a:solidFill>
                  <a:schemeClr val="tx1">
                    <a:lumMod val="75000"/>
                    <a:lumOff val="25000"/>
                  </a:schemeClr>
                </a:solidFill>
              </a:rPr>
              <a:t>a</a:t>
            </a:r>
            <a:r>
              <a:rPr lang="en-US" spc="-45" dirty="0">
                <a:solidFill>
                  <a:schemeClr val="tx1">
                    <a:lumMod val="75000"/>
                    <a:lumOff val="25000"/>
                  </a:schemeClr>
                </a:solidFill>
              </a:rPr>
              <a:t> </a:t>
            </a:r>
            <a:r>
              <a:rPr lang="en-US" dirty="0">
                <a:solidFill>
                  <a:schemeClr val="tx1">
                    <a:lumMod val="75000"/>
                    <a:lumOff val="25000"/>
                  </a:schemeClr>
                </a:solidFill>
              </a:rPr>
              <a:t>lot</a:t>
            </a:r>
            <a:r>
              <a:rPr lang="en-US" spc="-55" dirty="0">
                <a:solidFill>
                  <a:schemeClr val="tx1">
                    <a:lumMod val="75000"/>
                    <a:lumOff val="25000"/>
                  </a:schemeClr>
                </a:solidFill>
              </a:rPr>
              <a:t> </a:t>
            </a:r>
            <a:r>
              <a:rPr lang="en-US" dirty="0">
                <a:solidFill>
                  <a:schemeClr val="tx1">
                    <a:lumMod val="75000"/>
                    <a:lumOff val="25000"/>
                  </a:schemeClr>
                </a:solidFill>
              </a:rPr>
              <a:t>more</a:t>
            </a:r>
            <a:r>
              <a:rPr lang="en-US" spc="-40" dirty="0">
                <a:solidFill>
                  <a:schemeClr val="tx1">
                    <a:lumMod val="75000"/>
                    <a:lumOff val="25000"/>
                  </a:schemeClr>
                </a:solidFill>
              </a:rPr>
              <a:t> </a:t>
            </a:r>
            <a:r>
              <a:rPr lang="en-US" spc="-10" dirty="0">
                <a:solidFill>
                  <a:schemeClr val="tx1">
                    <a:lumMod val="75000"/>
                    <a:lumOff val="25000"/>
                  </a:schemeClr>
                </a:solidFill>
              </a:rPr>
              <a:t>stronger</a:t>
            </a:r>
            <a:r>
              <a:rPr lang="en-US" dirty="0">
                <a:solidFill>
                  <a:schemeClr val="tx1">
                    <a:lumMod val="75000"/>
                    <a:lumOff val="25000"/>
                  </a:schemeClr>
                </a:solidFill>
              </a:rPr>
              <a:t> </a:t>
            </a:r>
            <a:r>
              <a:rPr lang="en-US" spc="-10" dirty="0">
                <a:solidFill>
                  <a:schemeClr val="tx1">
                    <a:lumMod val="75000"/>
                    <a:lumOff val="25000"/>
                  </a:schemeClr>
                </a:solidFill>
              </a:rPr>
              <a:t>relationships</a:t>
            </a:r>
            <a:r>
              <a:rPr lang="en-US" spc="-35" dirty="0">
                <a:solidFill>
                  <a:schemeClr val="tx1">
                    <a:lumMod val="75000"/>
                    <a:lumOff val="25000"/>
                  </a:schemeClr>
                </a:solidFill>
              </a:rPr>
              <a:t> </a:t>
            </a:r>
            <a:r>
              <a:rPr lang="en-US" dirty="0">
                <a:solidFill>
                  <a:schemeClr val="tx1">
                    <a:lumMod val="75000"/>
                    <a:lumOff val="25000"/>
                  </a:schemeClr>
                </a:solidFill>
              </a:rPr>
              <a:t>on</a:t>
            </a:r>
            <a:r>
              <a:rPr lang="en-US" spc="-35" dirty="0">
                <a:solidFill>
                  <a:schemeClr val="tx1">
                    <a:lumMod val="75000"/>
                    <a:lumOff val="25000"/>
                  </a:schemeClr>
                </a:solidFill>
              </a:rPr>
              <a:t> </a:t>
            </a:r>
            <a:r>
              <a:rPr lang="en-US" dirty="0">
                <a:solidFill>
                  <a:schemeClr val="tx1">
                    <a:lumMod val="75000"/>
                    <a:lumOff val="25000"/>
                  </a:schemeClr>
                </a:solidFill>
              </a:rPr>
              <a:t>which</a:t>
            </a:r>
            <a:r>
              <a:rPr lang="en-US" spc="-35" dirty="0">
                <a:solidFill>
                  <a:schemeClr val="tx1">
                    <a:lumMod val="75000"/>
                    <a:lumOff val="25000"/>
                  </a:schemeClr>
                </a:solidFill>
              </a:rPr>
              <a:t> </a:t>
            </a:r>
            <a:r>
              <a:rPr lang="en-US" dirty="0">
                <a:solidFill>
                  <a:schemeClr val="tx1">
                    <a:lumMod val="75000"/>
                    <a:lumOff val="25000"/>
                  </a:schemeClr>
                </a:solidFill>
              </a:rPr>
              <a:t>some</a:t>
            </a:r>
            <a:r>
              <a:rPr lang="en-US" spc="-35" dirty="0">
                <a:solidFill>
                  <a:schemeClr val="tx1">
                    <a:lumMod val="75000"/>
                    <a:lumOff val="25000"/>
                  </a:schemeClr>
                </a:solidFill>
              </a:rPr>
              <a:t> </a:t>
            </a:r>
            <a:r>
              <a:rPr lang="en-US" dirty="0">
                <a:solidFill>
                  <a:schemeClr val="tx1">
                    <a:lumMod val="75000"/>
                    <a:lumOff val="25000"/>
                  </a:schemeClr>
                </a:solidFill>
              </a:rPr>
              <a:t>good</a:t>
            </a:r>
            <a:r>
              <a:rPr lang="en-US" spc="-35" dirty="0">
                <a:solidFill>
                  <a:schemeClr val="tx1">
                    <a:lumMod val="75000"/>
                    <a:lumOff val="25000"/>
                  </a:schemeClr>
                </a:solidFill>
              </a:rPr>
              <a:t> </a:t>
            </a:r>
            <a:r>
              <a:rPr lang="en-US" spc="-10" dirty="0">
                <a:solidFill>
                  <a:schemeClr val="tx1">
                    <a:lumMod val="75000"/>
                    <a:lumOff val="25000"/>
                  </a:schemeClr>
                </a:solidFill>
              </a:rPr>
              <a:t>Analysis/recommendations </a:t>
            </a:r>
            <a:r>
              <a:rPr lang="en-US" dirty="0">
                <a:solidFill>
                  <a:schemeClr val="tx1">
                    <a:lumMod val="75000"/>
                    <a:lumOff val="25000"/>
                  </a:schemeClr>
                </a:solidFill>
              </a:rPr>
              <a:t>can</a:t>
            </a:r>
            <a:r>
              <a:rPr lang="en-US" spc="-30" dirty="0">
                <a:solidFill>
                  <a:schemeClr val="tx1">
                    <a:lumMod val="75000"/>
                    <a:lumOff val="25000"/>
                  </a:schemeClr>
                </a:solidFill>
              </a:rPr>
              <a:t> </a:t>
            </a:r>
            <a:r>
              <a:rPr lang="en-US" dirty="0">
                <a:solidFill>
                  <a:schemeClr val="tx1">
                    <a:lumMod val="75000"/>
                    <a:lumOff val="25000"/>
                  </a:schemeClr>
                </a:solidFill>
              </a:rPr>
              <a:t>be</a:t>
            </a:r>
            <a:r>
              <a:rPr lang="en-US" spc="-25" dirty="0">
                <a:solidFill>
                  <a:schemeClr val="tx1">
                    <a:lumMod val="75000"/>
                    <a:lumOff val="25000"/>
                  </a:schemeClr>
                </a:solidFill>
              </a:rPr>
              <a:t> </a:t>
            </a:r>
            <a:r>
              <a:rPr lang="en-US" spc="-10" dirty="0">
                <a:solidFill>
                  <a:schemeClr val="tx1">
                    <a:lumMod val="75000"/>
                    <a:lumOff val="25000"/>
                  </a:schemeClr>
                </a:solidFill>
              </a:rPr>
              <a:t>made.</a:t>
            </a:r>
            <a:endParaRPr lang="en-US" dirty="0">
              <a:solidFill>
                <a:schemeClr val="tx1">
                  <a:lumMod val="75000"/>
                  <a:lumOff val="25000"/>
                </a:schemeClr>
              </a:solidFill>
            </a:endParaRPr>
          </a:p>
          <a:p>
            <a:pPr marL="266700" indent="-266700">
              <a:lnSpc>
                <a:spcPct val="90000"/>
              </a:lnSpc>
              <a:spcBef>
                <a:spcPts val="1000"/>
              </a:spcBef>
              <a:buClr>
                <a:schemeClr val="accent4"/>
              </a:buClr>
              <a:buFont typeface="Arial" panose="020B0604020202020204" pitchFamily="34" charset="0"/>
              <a:buChar char="•"/>
              <a:tabLst>
                <a:tab pos="240029" algn="l"/>
              </a:tabLst>
            </a:pPr>
            <a:r>
              <a:rPr lang="en-US" dirty="0">
                <a:solidFill>
                  <a:schemeClr val="tx1">
                    <a:lumMod val="75000"/>
                    <a:lumOff val="25000"/>
                  </a:schemeClr>
                </a:solidFill>
              </a:rPr>
              <a:t>For</a:t>
            </a:r>
            <a:r>
              <a:rPr lang="en-US" spc="-40" dirty="0">
                <a:solidFill>
                  <a:schemeClr val="tx1">
                    <a:lumMod val="75000"/>
                    <a:lumOff val="25000"/>
                  </a:schemeClr>
                </a:solidFill>
              </a:rPr>
              <a:t> </a:t>
            </a:r>
            <a:r>
              <a:rPr lang="en-US" spc="-10" dirty="0">
                <a:solidFill>
                  <a:schemeClr val="tx1">
                    <a:lumMod val="75000"/>
                    <a:lumOff val="25000"/>
                  </a:schemeClr>
                </a:solidFill>
              </a:rPr>
              <a:t>example,</a:t>
            </a:r>
            <a:r>
              <a:rPr lang="en-US" spc="-55" dirty="0">
                <a:solidFill>
                  <a:schemeClr val="tx1">
                    <a:lumMod val="75000"/>
                    <a:lumOff val="25000"/>
                  </a:schemeClr>
                </a:solidFill>
              </a:rPr>
              <a:t> </a:t>
            </a:r>
            <a:r>
              <a:rPr lang="en-US" dirty="0">
                <a:solidFill>
                  <a:schemeClr val="tx1">
                    <a:lumMod val="75000"/>
                    <a:lumOff val="25000"/>
                  </a:schemeClr>
                </a:solidFill>
              </a:rPr>
              <a:t>at</a:t>
            </a:r>
            <a:r>
              <a:rPr lang="en-US" spc="-50" dirty="0">
                <a:solidFill>
                  <a:schemeClr val="tx1">
                    <a:lumMod val="75000"/>
                    <a:lumOff val="25000"/>
                  </a:schemeClr>
                </a:solidFill>
              </a:rPr>
              <a:t> </a:t>
            </a:r>
            <a:r>
              <a:rPr lang="en-US" dirty="0">
                <a:solidFill>
                  <a:schemeClr val="tx1">
                    <a:lumMod val="75000"/>
                    <a:lumOff val="25000"/>
                  </a:schemeClr>
                </a:solidFill>
              </a:rPr>
              <a:t>the</a:t>
            </a:r>
            <a:r>
              <a:rPr lang="en-US" spc="-40" dirty="0">
                <a:solidFill>
                  <a:schemeClr val="tx1">
                    <a:lumMod val="75000"/>
                    <a:lumOff val="25000"/>
                  </a:schemeClr>
                </a:solidFill>
              </a:rPr>
              <a:t> </a:t>
            </a:r>
            <a:r>
              <a:rPr lang="en-US" dirty="0">
                <a:solidFill>
                  <a:schemeClr val="tx1">
                    <a:lumMod val="75000"/>
                    <a:lumOff val="25000"/>
                  </a:schemeClr>
                </a:solidFill>
              </a:rPr>
              <a:t>end</a:t>
            </a:r>
            <a:r>
              <a:rPr lang="en-US" spc="-40" dirty="0">
                <a:solidFill>
                  <a:schemeClr val="tx1">
                    <a:lumMod val="75000"/>
                    <a:lumOff val="25000"/>
                  </a:schemeClr>
                </a:solidFill>
              </a:rPr>
              <a:t> </a:t>
            </a:r>
            <a:r>
              <a:rPr lang="en-US" dirty="0">
                <a:solidFill>
                  <a:schemeClr val="tx1">
                    <a:lumMod val="75000"/>
                    <a:lumOff val="25000"/>
                  </a:schemeClr>
                </a:solidFill>
              </a:rPr>
              <a:t>of</a:t>
            </a:r>
            <a:r>
              <a:rPr lang="en-US" spc="-45" dirty="0">
                <a:solidFill>
                  <a:schemeClr val="tx1">
                    <a:lumMod val="75000"/>
                    <a:lumOff val="25000"/>
                  </a:schemeClr>
                </a:solidFill>
              </a:rPr>
              <a:t> </a:t>
            </a:r>
            <a:r>
              <a:rPr lang="en-US" dirty="0">
                <a:solidFill>
                  <a:schemeClr val="tx1">
                    <a:lumMod val="75000"/>
                    <a:lumOff val="25000"/>
                  </a:schemeClr>
                </a:solidFill>
              </a:rPr>
              <a:t>Coding,</a:t>
            </a:r>
            <a:r>
              <a:rPr lang="en-US" spc="-35" dirty="0">
                <a:solidFill>
                  <a:schemeClr val="tx1">
                    <a:lumMod val="75000"/>
                    <a:lumOff val="25000"/>
                  </a:schemeClr>
                </a:solidFill>
              </a:rPr>
              <a:t> </a:t>
            </a:r>
            <a:r>
              <a:rPr lang="en-US" dirty="0">
                <a:solidFill>
                  <a:schemeClr val="tx1">
                    <a:lumMod val="75000"/>
                    <a:lumOff val="25000"/>
                  </a:schemeClr>
                </a:solidFill>
              </a:rPr>
              <a:t>you</a:t>
            </a:r>
            <a:r>
              <a:rPr lang="en-US" spc="-65" dirty="0">
                <a:solidFill>
                  <a:schemeClr val="tx1">
                    <a:lumMod val="75000"/>
                    <a:lumOff val="25000"/>
                  </a:schemeClr>
                </a:solidFill>
              </a:rPr>
              <a:t> </a:t>
            </a:r>
            <a:r>
              <a:rPr lang="en-US" dirty="0">
                <a:solidFill>
                  <a:schemeClr val="tx1">
                    <a:lumMod val="75000"/>
                    <a:lumOff val="25000"/>
                  </a:schemeClr>
                </a:solidFill>
              </a:rPr>
              <a:t>may</a:t>
            </a:r>
            <a:r>
              <a:rPr lang="en-US" spc="-45" dirty="0">
                <a:solidFill>
                  <a:schemeClr val="tx1">
                    <a:lumMod val="75000"/>
                    <a:lumOff val="25000"/>
                  </a:schemeClr>
                </a:solidFill>
              </a:rPr>
              <a:t> </a:t>
            </a:r>
            <a:r>
              <a:rPr lang="en-US" dirty="0">
                <a:solidFill>
                  <a:schemeClr val="tx1">
                    <a:lumMod val="75000"/>
                    <a:lumOff val="25000"/>
                  </a:schemeClr>
                </a:solidFill>
              </a:rPr>
              <a:t>see</a:t>
            </a:r>
            <a:r>
              <a:rPr lang="en-US" spc="-35" dirty="0">
                <a:solidFill>
                  <a:schemeClr val="tx1">
                    <a:lumMod val="75000"/>
                    <a:lumOff val="25000"/>
                  </a:schemeClr>
                </a:solidFill>
              </a:rPr>
              <a:t> </a:t>
            </a:r>
            <a:r>
              <a:rPr lang="en-US" dirty="0">
                <a:solidFill>
                  <a:schemeClr val="tx1">
                    <a:lumMod val="75000"/>
                    <a:lumOff val="25000"/>
                  </a:schemeClr>
                </a:solidFill>
              </a:rPr>
              <a:t>that</a:t>
            </a:r>
            <a:r>
              <a:rPr lang="en-US" spc="-50" dirty="0">
                <a:solidFill>
                  <a:schemeClr val="tx1">
                    <a:lumMod val="75000"/>
                    <a:lumOff val="25000"/>
                  </a:schemeClr>
                </a:solidFill>
              </a:rPr>
              <a:t> </a:t>
            </a:r>
            <a:r>
              <a:rPr lang="en-US" dirty="0">
                <a:solidFill>
                  <a:schemeClr val="tx1">
                    <a:lumMod val="75000"/>
                    <a:lumOff val="25000"/>
                  </a:schemeClr>
                </a:solidFill>
              </a:rPr>
              <a:t>‘Ease</a:t>
            </a:r>
            <a:r>
              <a:rPr lang="en-US" spc="-40" dirty="0">
                <a:solidFill>
                  <a:schemeClr val="tx1">
                    <a:lumMod val="75000"/>
                    <a:lumOff val="25000"/>
                  </a:schemeClr>
                </a:solidFill>
              </a:rPr>
              <a:t> </a:t>
            </a:r>
            <a:r>
              <a:rPr lang="en-US" dirty="0">
                <a:solidFill>
                  <a:schemeClr val="tx1">
                    <a:lumMod val="75000"/>
                    <a:lumOff val="25000"/>
                  </a:schemeClr>
                </a:solidFill>
              </a:rPr>
              <a:t>of</a:t>
            </a:r>
            <a:r>
              <a:rPr lang="en-US" spc="-40" dirty="0">
                <a:solidFill>
                  <a:schemeClr val="tx1">
                    <a:lumMod val="75000"/>
                    <a:lumOff val="25000"/>
                  </a:schemeClr>
                </a:solidFill>
              </a:rPr>
              <a:t> </a:t>
            </a:r>
            <a:r>
              <a:rPr lang="en-US" spc="-20" dirty="0">
                <a:solidFill>
                  <a:schemeClr val="tx1">
                    <a:lumMod val="75000"/>
                    <a:lumOff val="25000"/>
                  </a:schemeClr>
                </a:solidFill>
              </a:rPr>
              <a:t>Use’</a:t>
            </a:r>
            <a:r>
              <a:rPr lang="en-US" dirty="0">
                <a:solidFill>
                  <a:schemeClr val="tx1">
                    <a:lumMod val="75000"/>
                    <a:lumOff val="25000"/>
                  </a:schemeClr>
                </a:solidFill>
              </a:rPr>
              <a:t> </a:t>
            </a:r>
            <a:r>
              <a:rPr lang="en-US" spc="-10" dirty="0">
                <a:solidFill>
                  <a:schemeClr val="tx1">
                    <a:lumMod val="75000"/>
                    <a:lumOff val="25000"/>
                  </a:schemeClr>
                </a:solidFill>
              </a:rPr>
              <a:t>category</a:t>
            </a:r>
            <a:r>
              <a:rPr lang="en-US" spc="-50" dirty="0">
                <a:solidFill>
                  <a:schemeClr val="tx1">
                    <a:lumMod val="75000"/>
                    <a:lumOff val="25000"/>
                  </a:schemeClr>
                </a:solidFill>
              </a:rPr>
              <a:t> </a:t>
            </a:r>
            <a:r>
              <a:rPr lang="en-US" dirty="0">
                <a:solidFill>
                  <a:schemeClr val="tx1">
                    <a:lumMod val="75000"/>
                    <a:lumOff val="25000"/>
                  </a:schemeClr>
                </a:solidFill>
              </a:rPr>
              <a:t>pops</a:t>
            </a:r>
            <a:r>
              <a:rPr lang="en-US" spc="-20" dirty="0">
                <a:solidFill>
                  <a:schemeClr val="tx1">
                    <a:lumMod val="75000"/>
                    <a:lumOff val="25000"/>
                  </a:schemeClr>
                </a:solidFill>
              </a:rPr>
              <a:t> </a:t>
            </a:r>
            <a:r>
              <a:rPr lang="en-US" dirty="0">
                <a:solidFill>
                  <a:schemeClr val="tx1">
                    <a:lumMod val="75000"/>
                    <a:lumOff val="25000"/>
                  </a:schemeClr>
                </a:solidFill>
              </a:rPr>
              <a:t>up</a:t>
            </a:r>
            <a:r>
              <a:rPr lang="en-US" spc="-30" dirty="0">
                <a:solidFill>
                  <a:schemeClr val="tx1">
                    <a:lumMod val="75000"/>
                    <a:lumOff val="25000"/>
                  </a:schemeClr>
                </a:solidFill>
              </a:rPr>
              <a:t> </a:t>
            </a:r>
            <a:r>
              <a:rPr lang="en-US" dirty="0">
                <a:solidFill>
                  <a:schemeClr val="tx1">
                    <a:lumMod val="75000"/>
                    <a:lumOff val="25000"/>
                  </a:schemeClr>
                </a:solidFill>
              </a:rPr>
              <a:t>quite</a:t>
            </a:r>
            <a:r>
              <a:rPr lang="en-US" spc="-30" dirty="0">
                <a:solidFill>
                  <a:schemeClr val="tx1">
                    <a:lumMod val="75000"/>
                    <a:lumOff val="25000"/>
                  </a:schemeClr>
                </a:solidFill>
              </a:rPr>
              <a:t> </a:t>
            </a:r>
            <a:r>
              <a:rPr lang="en-US" dirty="0">
                <a:solidFill>
                  <a:schemeClr val="tx1">
                    <a:lumMod val="75000"/>
                    <a:lumOff val="25000"/>
                  </a:schemeClr>
                </a:solidFill>
              </a:rPr>
              <a:t>a</a:t>
            </a:r>
            <a:r>
              <a:rPr lang="en-US" spc="-25" dirty="0">
                <a:solidFill>
                  <a:schemeClr val="tx1">
                    <a:lumMod val="75000"/>
                    <a:lumOff val="25000"/>
                  </a:schemeClr>
                </a:solidFill>
              </a:rPr>
              <a:t> </a:t>
            </a:r>
            <a:r>
              <a:rPr lang="en-US" dirty="0">
                <a:solidFill>
                  <a:schemeClr val="tx1">
                    <a:lumMod val="75000"/>
                    <a:lumOff val="25000"/>
                  </a:schemeClr>
                </a:solidFill>
              </a:rPr>
              <a:t>lot</a:t>
            </a:r>
            <a:r>
              <a:rPr lang="en-US" spc="-45" dirty="0">
                <a:solidFill>
                  <a:schemeClr val="tx1">
                    <a:lumMod val="75000"/>
                    <a:lumOff val="25000"/>
                  </a:schemeClr>
                </a:solidFill>
              </a:rPr>
              <a:t> </a:t>
            </a:r>
            <a:r>
              <a:rPr lang="en-US" dirty="0">
                <a:solidFill>
                  <a:schemeClr val="tx1">
                    <a:lumMod val="75000"/>
                    <a:lumOff val="25000"/>
                  </a:schemeClr>
                </a:solidFill>
              </a:rPr>
              <a:t>as</a:t>
            </a:r>
            <a:r>
              <a:rPr lang="en-US" spc="-25" dirty="0">
                <a:solidFill>
                  <a:schemeClr val="tx1">
                    <a:lumMod val="75000"/>
                    <a:lumOff val="25000"/>
                  </a:schemeClr>
                </a:solidFill>
              </a:rPr>
              <a:t> </a:t>
            </a:r>
            <a:r>
              <a:rPr lang="en-US" dirty="0">
                <a:solidFill>
                  <a:schemeClr val="tx1">
                    <a:lumMod val="75000"/>
                    <a:lumOff val="25000"/>
                  </a:schemeClr>
                </a:solidFill>
              </a:rPr>
              <a:t>a</a:t>
            </a:r>
            <a:r>
              <a:rPr lang="en-US" spc="-25" dirty="0">
                <a:solidFill>
                  <a:schemeClr val="tx1">
                    <a:lumMod val="75000"/>
                    <a:lumOff val="25000"/>
                  </a:schemeClr>
                </a:solidFill>
              </a:rPr>
              <a:t> Barrier,</a:t>
            </a:r>
            <a:r>
              <a:rPr lang="en-US" spc="-55" dirty="0">
                <a:solidFill>
                  <a:schemeClr val="tx1">
                    <a:lumMod val="75000"/>
                    <a:lumOff val="25000"/>
                  </a:schemeClr>
                </a:solidFill>
              </a:rPr>
              <a:t> </a:t>
            </a:r>
            <a:r>
              <a:rPr lang="en-US" dirty="0">
                <a:solidFill>
                  <a:schemeClr val="tx1">
                    <a:lumMod val="75000"/>
                    <a:lumOff val="25000"/>
                  </a:schemeClr>
                </a:solidFill>
              </a:rPr>
              <a:t>so</a:t>
            </a:r>
            <a:r>
              <a:rPr lang="en-US" spc="-30" dirty="0">
                <a:solidFill>
                  <a:schemeClr val="tx1">
                    <a:lumMod val="75000"/>
                    <a:lumOff val="25000"/>
                  </a:schemeClr>
                </a:solidFill>
              </a:rPr>
              <a:t> </a:t>
            </a:r>
            <a:r>
              <a:rPr lang="en-US" dirty="0">
                <a:solidFill>
                  <a:schemeClr val="tx1">
                    <a:lumMod val="75000"/>
                    <a:lumOff val="25000"/>
                  </a:schemeClr>
                </a:solidFill>
              </a:rPr>
              <a:t>we</a:t>
            </a:r>
            <a:r>
              <a:rPr lang="en-US" spc="-20" dirty="0">
                <a:solidFill>
                  <a:schemeClr val="tx1">
                    <a:lumMod val="75000"/>
                    <a:lumOff val="25000"/>
                  </a:schemeClr>
                </a:solidFill>
              </a:rPr>
              <a:t> have</a:t>
            </a:r>
            <a:endParaRPr lang="en-US" dirty="0">
              <a:solidFill>
                <a:schemeClr val="tx1">
                  <a:lumMod val="75000"/>
                  <a:lumOff val="25000"/>
                </a:schemeClr>
              </a:solidFill>
            </a:endParaRPr>
          </a:p>
          <a:p>
            <a:pPr marL="266700" marR="132715" indent="-266700">
              <a:lnSpc>
                <a:spcPct val="90000"/>
              </a:lnSpc>
              <a:spcBef>
                <a:spcPts val="1000"/>
              </a:spcBef>
              <a:buClr>
                <a:schemeClr val="accent4"/>
              </a:buClr>
              <a:buFont typeface="Arial" panose="020B0604020202020204" pitchFamily="34" charset="0"/>
              <a:buChar char="•"/>
              <a:tabLst>
                <a:tab pos="241300" algn="l"/>
              </a:tabLst>
            </a:pPr>
            <a:r>
              <a:rPr lang="en-US" dirty="0">
                <a:solidFill>
                  <a:schemeClr val="tx1">
                    <a:lumMod val="75000"/>
                    <a:lumOff val="25000"/>
                  </a:schemeClr>
                </a:solidFill>
              </a:rPr>
              <a:t>The</a:t>
            </a:r>
            <a:r>
              <a:rPr lang="en-US" spc="-55" dirty="0">
                <a:solidFill>
                  <a:schemeClr val="tx1">
                    <a:lumMod val="75000"/>
                    <a:lumOff val="25000"/>
                  </a:schemeClr>
                </a:solidFill>
              </a:rPr>
              <a:t> </a:t>
            </a:r>
            <a:r>
              <a:rPr lang="en-US" dirty="0">
                <a:solidFill>
                  <a:schemeClr val="tx1">
                    <a:lumMod val="75000"/>
                    <a:lumOff val="25000"/>
                  </a:schemeClr>
                </a:solidFill>
              </a:rPr>
              <a:t>more</a:t>
            </a:r>
            <a:r>
              <a:rPr lang="en-US" spc="-70" dirty="0">
                <a:solidFill>
                  <a:schemeClr val="tx1">
                    <a:lumMod val="75000"/>
                    <a:lumOff val="25000"/>
                  </a:schemeClr>
                </a:solidFill>
              </a:rPr>
              <a:t> </a:t>
            </a:r>
            <a:r>
              <a:rPr lang="en-US" dirty="0">
                <a:solidFill>
                  <a:schemeClr val="tx1">
                    <a:lumMod val="75000"/>
                    <a:lumOff val="25000"/>
                  </a:schemeClr>
                </a:solidFill>
              </a:rPr>
              <a:t>data</a:t>
            </a:r>
            <a:r>
              <a:rPr lang="en-US" spc="-75" dirty="0">
                <a:solidFill>
                  <a:schemeClr val="tx1">
                    <a:lumMod val="75000"/>
                    <a:lumOff val="25000"/>
                  </a:schemeClr>
                </a:solidFill>
              </a:rPr>
              <a:t> </a:t>
            </a:r>
            <a:r>
              <a:rPr lang="en-US" dirty="0">
                <a:solidFill>
                  <a:schemeClr val="tx1">
                    <a:lumMod val="75000"/>
                    <a:lumOff val="25000"/>
                  </a:schemeClr>
                </a:solidFill>
              </a:rPr>
              <a:t>you</a:t>
            </a:r>
            <a:r>
              <a:rPr lang="en-US" spc="-65" dirty="0">
                <a:solidFill>
                  <a:schemeClr val="tx1">
                    <a:lumMod val="75000"/>
                    <a:lumOff val="25000"/>
                  </a:schemeClr>
                </a:solidFill>
              </a:rPr>
              <a:t> </a:t>
            </a:r>
            <a:r>
              <a:rPr lang="en-US" dirty="0">
                <a:solidFill>
                  <a:schemeClr val="tx1">
                    <a:lumMod val="75000"/>
                    <a:lumOff val="25000"/>
                  </a:schemeClr>
                </a:solidFill>
              </a:rPr>
              <a:t>have</a:t>
            </a:r>
            <a:r>
              <a:rPr lang="en-US" spc="-60" dirty="0">
                <a:solidFill>
                  <a:schemeClr val="tx1">
                    <a:lumMod val="75000"/>
                    <a:lumOff val="25000"/>
                  </a:schemeClr>
                </a:solidFill>
              </a:rPr>
              <a:t> </a:t>
            </a:r>
            <a:r>
              <a:rPr lang="en-US" spc="-35" dirty="0">
                <a:solidFill>
                  <a:schemeClr val="tx1">
                    <a:lumMod val="75000"/>
                    <a:lumOff val="25000"/>
                  </a:schemeClr>
                </a:solidFill>
              </a:rPr>
              <a:t>better,</a:t>
            </a:r>
            <a:r>
              <a:rPr lang="en-US" spc="-75" dirty="0">
                <a:solidFill>
                  <a:schemeClr val="tx1">
                    <a:lumMod val="75000"/>
                    <a:lumOff val="25000"/>
                  </a:schemeClr>
                </a:solidFill>
              </a:rPr>
              <a:t> </a:t>
            </a:r>
            <a:r>
              <a:rPr lang="en-US" dirty="0">
                <a:solidFill>
                  <a:schemeClr val="tx1">
                    <a:lumMod val="75000"/>
                    <a:lumOff val="25000"/>
                  </a:schemeClr>
                </a:solidFill>
              </a:rPr>
              <a:t>the</a:t>
            </a:r>
            <a:r>
              <a:rPr lang="en-US" spc="-60" dirty="0">
                <a:solidFill>
                  <a:schemeClr val="tx1">
                    <a:lumMod val="75000"/>
                    <a:lumOff val="25000"/>
                  </a:schemeClr>
                </a:solidFill>
              </a:rPr>
              <a:t> </a:t>
            </a:r>
            <a:r>
              <a:rPr lang="en-US" dirty="0">
                <a:solidFill>
                  <a:schemeClr val="tx1">
                    <a:lumMod val="75000"/>
                    <a:lumOff val="25000"/>
                  </a:schemeClr>
                </a:solidFill>
              </a:rPr>
              <a:t>more</a:t>
            </a:r>
            <a:r>
              <a:rPr lang="en-US" spc="-65" dirty="0">
                <a:solidFill>
                  <a:schemeClr val="tx1">
                    <a:lumMod val="75000"/>
                    <a:lumOff val="25000"/>
                  </a:schemeClr>
                </a:solidFill>
              </a:rPr>
              <a:t> </a:t>
            </a:r>
            <a:r>
              <a:rPr lang="en-US" spc="-10" dirty="0">
                <a:solidFill>
                  <a:schemeClr val="tx1">
                    <a:lumMod val="75000"/>
                    <a:lumOff val="25000"/>
                  </a:schemeClr>
                </a:solidFill>
              </a:rPr>
              <a:t>refined</a:t>
            </a:r>
            <a:r>
              <a:rPr lang="en-US" spc="-50" dirty="0">
                <a:solidFill>
                  <a:schemeClr val="tx1">
                    <a:lumMod val="75000"/>
                    <a:lumOff val="25000"/>
                  </a:schemeClr>
                </a:solidFill>
              </a:rPr>
              <a:t> </a:t>
            </a:r>
            <a:r>
              <a:rPr lang="en-US" dirty="0">
                <a:solidFill>
                  <a:schemeClr val="tx1">
                    <a:lumMod val="75000"/>
                    <a:lumOff val="25000"/>
                  </a:schemeClr>
                </a:solidFill>
              </a:rPr>
              <a:t>theory</a:t>
            </a:r>
            <a:r>
              <a:rPr lang="en-US" spc="-70" dirty="0">
                <a:solidFill>
                  <a:schemeClr val="tx1">
                    <a:lumMod val="75000"/>
                    <a:lumOff val="25000"/>
                  </a:schemeClr>
                </a:solidFill>
              </a:rPr>
              <a:t> </a:t>
            </a:r>
            <a:r>
              <a:rPr lang="en-US" dirty="0">
                <a:solidFill>
                  <a:schemeClr val="tx1">
                    <a:lumMod val="75000"/>
                    <a:lumOff val="25000"/>
                  </a:schemeClr>
                </a:solidFill>
              </a:rPr>
              <a:t>you</a:t>
            </a:r>
            <a:r>
              <a:rPr lang="en-US" spc="-70" dirty="0">
                <a:solidFill>
                  <a:schemeClr val="tx1">
                    <a:lumMod val="75000"/>
                    <a:lumOff val="25000"/>
                  </a:schemeClr>
                </a:solidFill>
              </a:rPr>
              <a:t> </a:t>
            </a:r>
            <a:r>
              <a:rPr lang="en-US" spc="-25" dirty="0">
                <a:solidFill>
                  <a:schemeClr val="tx1">
                    <a:lumMod val="75000"/>
                    <a:lumOff val="25000"/>
                  </a:schemeClr>
                </a:solidFill>
              </a:rPr>
              <a:t>can p</a:t>
            </a:r>
            <a:r>
              <a:rPr lang="en-US" spc="-10" dirty="0">
                <a:solidFill>
                  <a:schemeClr val="tx1">
                    <a:lumMod val="75000"/>
                    <a:lumOff val="25000"/>
                  </a:schemeClr>
                </a:solidFill>
              </a:rPr>
              <a:t>roduce.</a:t>
            </a:r>
            <a:endParaRPr lang="en-US" dirty="0">
              <a:solidFill>
                <a:schemeClr val="tx1">
                  <a:lumMod val="75000"/>
                  <a:lumOff val="25000"/>
                </a:schemeClr>
              </a:solidFill>
            </a:endParaRPr>
          </a:p>
          <a:p>
            <a:pPr marL="266700" indent="-266700">
              <a:lnSpc>
                <a:spcPct val="90000"/>
              </a:lnSpc>
              <a:spcBef>
                <a:spcPts val="1000"/>
              </a:spcBef>
              <a:buFont typeface="Arial" panose="020B0604020202020204" pitchFamily="34" charset="0"/>
              <a:buChar char="•"/>
            </a:pPr>
            <a:endParaRPr lang="en-US" b="1" dirty="0">
              <a:solidFill>
                <a:schemeClr val="tx1">
                  <a:lumMod val="75000"/>
                  <a:lumOff val="25000"/>
                </a:schemeClr>
              </a:solidFill>
            </a:endParaRPr>
          </a:p>
        </p:txBody>
      </p:sp>
      <p:sp>
        <p:nvSpPr>
          <p:cNvPr id="3" name="Title 2"/>
          <p:cNvSpPr>
            <a:spLocks noGrp="1"/>
          </p:cNvSpPr>
          <p:nvPr>
            <p:ph type="title"/>
          </p:nvPr>
        </p:nvSpPr>
        <p:spPr>
          <a:xfrm>
            <a:off x="838200" y="635000"/>
            <a:ext cx="10515600" cy="700115"/>
          </a:xfrm>
        </p:spPr>
        <p:txBody>
          <a:bodyPr rtlCol="0" anchor="ctr">
            <a:normAutofit/>
          </a:bodyPr>
          <a:lstStyle/>
          <a:p>
            <a:r>
              <a:rPr lang="en-GB" sz="4400"/>
              <a:t>Coding</a:t>
            </a:r>
            <a:r>
              <a:rPr lang="en-GB" sz="4400" spc="-114"/>
              <a:t> </a:t>
            </a:r>
            <a:endParaRPr lang="en-GB" sz="4400"/>
          </a:p>
        </p:txBody>
      </p:sp>
    </p:spTree>
    <p:extLst>
      <p:ext uri="{BB962C8B-B14F-4D97-AF65-F5344CB8AC3E}">
        <p14:creationId xmlns:p14="http://schemas.microsoft.com/office/powerpoint/2010/main" val="3597689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Generating</a:t>
            </a:r>
            <a:r>
              <a:rPr lang="en-GB" spc="-185" dirty="0"/>
              <a:t> </a:t>
            </a:r>
            <a:r>
              <a:rPr lang="en-GB" spc="-10" dirty="0"/>
              <a:t>Conclusions</a:t>
            </a:r>
            <a:r>
              <a:rPr lang="en-GB" spc="-114" dirty="0"/>
              <a:t> </a:t>
            </a:r>
            <a:endParaRPr lang="en-GB" dirty="0"/>
          </a:p>
        </p:txBody>
      </p:sp>
      <p:sp>
        <p:nvSpPr>
          <p:cNvPr id="2" name="Rectangle 1"/>
          <p:cNvSpPr/>
          <p:nvPr/>
        </p:nvSpPr>
        <p:spPr>
          <a:xfrm>
            <a:off x="983213" y="1741358"/>
            <a:ext cx="9966393" cy="3375283"/>
          </a:xfrm>
          <a:prstGeom prst="rect">
            <a:avLst/>
          </a:prstGeom>
        </p:spPr>
        <p:txBody>
          <a:bodyPr wrap="square">
            <a:spAutoFit/>
          </a:bodyPr>
          <a:lstStyle/>
          <a:p>
            <a:pPr marL="355600" marR="151130" lvl="0" indent="-342900">
              <a:lnSpc>
                <a:spcPts val="2500"/>
              </a:lnSpc>
              <a:spcBef>
                <a:spcPts val="705"/>
              </a:spcBef>
              <a:buClr>
                <a:schemeClr val="accent4"/>
              </a:buClr>
              <a:buFont typeface="Wingdings" panose="05000000000000000000" pitchFamily="2" charset="2"/>
              <a:buChar char="§"/>
              <a:tabLst>
                <a:tab pos="241300" algn="l"/>
              </a:tabLst>
            </a:pPr>
            <a:r>
              <a:rPr lang="en-GB" sz="2000" kern="0" dirty="0">
                <a:solidFill>
                  <a:sysClr val="windowText" lastClr="000000"/>
                </a:solidFill>
                <a:cs typeface="Calibri"/>
              </a:rPr>
              <a:t>Greatly</a:t>
            </a:r>
            <a:r>
              <a:rPr lang="en-GB" sz="2000" kern="0" spc="-65" dirty="0">
                <a:solidFill>
                  <a:sysClr val="windowText" lastClr="000000"/>
                </a:solidFill>
                <a:cs typeface="Calibri"/>
              </a:rPr>
              <a:t> </a:t>
            </a:r>
            <a:r>
              <a:rPr lang="en-GB" sz="2000" kern="0" dirty="0">
                <a:solidFill>
                  <a:sysClr val="windowText" lastClr="000000"/>
                </a:solidFill>
                <a:cs typeface="Calibri"/>
              </a:rPr>
              <a:t>depends</a:t>
            </a:r>
            <a:r>
              <a:rPr lang="en-GB" sz="2000" kern="0" spc="-85" dirty="0">
                <a:solidFill>
                  <a:sysClr val="windowText" lastClr="000000"/>
                </a:solidFill>
                <a:cs typeface="Calibri"/>
              </a:rPr>
              <a:t> </a:t>
            </a:r>
            <a:r>
              <a:rPr lang="en-GB" sz="2000" kern="0" dirty="0">
                <a:solidFill>
                  <a:sysClr val="windowText" lastClr="000000"/>
                </a:solidFill>
                <a:cs typeface="Calibri"/>
              </a:rPr>
              <a:t>on</a:t>
            </a:r>
            <a:r>
              <a:rPr lang="en-GB" sz="2000" kern="0" spc="-35" dirty="0">
                <a:solidFill>
                  <a:sysClr val="windowText" lastClr="000000"/>
                </a:solidFill>
                <a:cs typeface="Calibri"/>
              </a:rPr>
              <a:t> </a:t>
            </a:r>
            <a:r>
              <a:rPr lang="en-GB" sz="2000" kern="0" dirty="0">
                <a:solidFill>
                  <a:sysClr val="windowText" lastClr="000000"/>
                </a:solidFill>
                <a:cs typeface="Calibri"/>
              </a:rPr>
              <a:t>the</a:t>
            </a:r>
            <a:r>
              <a:rPr lang="en-GB" sz="2000" kern="0" spc="-55" dirty="0">
                <a:solidFill>
                  <a:sysClr val="windowText" lastClr="000000"/>
                </a:solidFill>
                <a:cs typeface="Calibri"/>
              </a:rPr>
              <a:t> </a:t>
            </a:r>
            <a:r>
              <a:rPr lang="en-GB" sz="2000" kern="0" dirty="0">
                <a:solidFill>
                  <a:sysClr val="windowText" lastClr="000000"/>
                </a:solidFill>
                <a:cs typeface="Calibri"/>
              </a:rPr>
              <a:t>data</a:t>
            </a:r>
            <a:r>
              <a:rPr lang="en-GB" sz="2000" kern="0" spc="-35" dirty="0">
                <a:solidFill>
                  <a:sysClr val="windowText" lastClr="000000"/>
                </a:solidFill>
                <a:cs typeface="Calibri"/>
              </a:rPr>
              <a:t> </a:t>
            </a:r>
            <a:r>
              <a:rPr lang="en-GB" sz="2000" kern="0" dirty="0">
                <a:solidFill>
                  <a:sysClr val="windowText" lastClr="000000"/>
                </a:solidFill>
                <a:cs typeface="Calibri"/>
              </a:rPr>
              <a:t>that</a:t>
            </a:r>
            <a:r>
              <a:rPr lang="en-GB" sz="2000" kern="0" spc="-50" dirty="0">
                <a:solidFill>
                  <a:sysClr val="windowText" lastClr="000000"/>
                </a:solidFill>
                <a:cs typeface="Calibri"/>
              </a:rPr>
              <a:t> </a:t>
            </a:r>
            <a:r>
              <a:rPr lang="en-GB" sz="2000" kern="0" dirty="0">
                <a:solidFill>
                  <a:sysClr val="windowText" lastClr="000000"/>
                </a:solidFill>
                <a:cs typeface="Calibri"/>
              </a:rPr>
              <a:t>emerged</a:t>
            </a:r>
            <a:r>
              <a:rPr lang="en-GB" sz="2000" kern="0" spc="-60" dirty="0">
                <a:solidFill>
                  <a:sysClr val="windowText" lastClr="000000"/>
                </a:solidFill>
                <a:cs typeface="Calibri"/>
              </a:rPr>
              <a:t> </a:t>
            </a:r>
            <a:r>
              <a:rPr lang="en-GB" sz="2000" kern="0" dirty="0">
                <a:solidFill>
                  <a:sysClr val="windowText" lastClr="000000"/>
                </a:solidFill>
                <a:cs typeface="Calibri"/>
              </a:rPr>
              <a:t>and</a:t>
            </a:r>
            <a:r>
              <a:rPr lang="en-GB" sz="2000" kern="0" spc="-50" dirty="0">
                <a:solidFill>
                  <a:sysClr val="windowText" lastClr="000000"/>
                </a:solidFill>
                <a:cs typeface="Calibri"/>
              </a:rPr>
              <a:t> </a:t>
            </a:r>
            <a:r>
              <a:rPr lang="en-GB" sz="2000" kern="0" dirty="0">
                <a:solidFill>
                  <a:sysClr val="windowText" lastClr="000000"/>
                </a:solidFill>
                <a:cs typeface="Calibri"/>
              </a:rPr>
              <a:t>the</a:t>
            </a:r>
            <a:r>
              <a:rPr lang="en-GB" sz="2000" kern="0" spc="-50" dirty="0">
                <a:solidFill>
                  <a:sysClr val="windowText" lastClr="000000"/>
                </a:solidFill>
                <a:cs typeface="Calibri"/>
              </a:rPr>
              <a:t> </a:t>
            </a:r>
            <a:r>
              <a:rPr lang="en-GB" sz="2000" kern="0" spc="-10" dirty="0">
                <a:solidFill>
                  <a:sysClr val="windowText" lastClr="000000"/>
                </a:solidFill>
                <a:cs typeface="Calibri"/>
              </a:rPr>
              <a:t>nature </a:t>
            </a:r>
            <a:r>
              <a:rPr lang="en-GB" sz="2000" kern="0" dirty="0">
                <a:solidFill>
                  <a:sysClr val="windowText" lastClr="000000"/>
                </a:solidFill>
                <a:cs typeface="Calibri"/>
              </a:rPr>
              <a:t>of</a:t>
            </a:r>
            <a:r>
              <a:rPr lang="en-GB" sz="2000" kern="0" spc="-5" dirty="0">
                <a:solidFill>
                  <a:sysClr val="windowText" lastClr="000000"/>
                </a:solidFill>
                <a:cs typeface="Calibri"/>
              </a:rPr>
              <a:t> </a:t>
            </a:r>
            <a:r>
              <a:rPr lang="en-GB" sz="2000" kern="0" dirty="0">
                <a:solidFill>
                  <a:sysClr val="windowText" lastClr="000000"/>
                </a:solidFill>
                <a:cs typeface="Calibri"/>
              </a:rPr>
              <a:t>the</a:t>
            </a:r>
            <a:r>
              <a:rPr lang="en-GB" sz="2000" kern="0" spc="-15" dirty="0">
                <a:solidFill>
                  <a:sysClr val="windowText" lastClr="000000"/>
                </a:solidFill>
                <a:cs typeface="Calibri"/>
              </a:rPr>
              <a:t> </a:t>
            </a:r>
            <a:r>
              <a:rPr lang="en-GB" sz="2000" kern="0" spc="-10" dirty="0">
                <a:solidFill>
                  <a:sysClr val="windowText" lastClr="000000"/>
                </a:solidFill>
                <a:cs typeface="Calibri"/>
              </a:rPr>
              <a:t>investigation.</a:t>
            </a:r>
            <a:endParaRPr lang="en-GB" sz="2000" kern="0" dirty="0">
              <a:solidFill>
                <a:sysClr val="windowText" lastClr="000000"/>
              </a:solidFill>
              <a:cs typeface="Calibri"/>
            </a:endParaRPr>
          </a:p>
          <a:p>
            <a:pPr marL="342900" lvl="0" indent="-342900">
              <a:spcBef>
                <a:spcPts val="720"/>
              </a:spcBef>
              <a:buClr>
                <a:schemeClr val="accent4"/>
              </a:buClr>
              <a:buFont typeface="Wingdings" panose="05000000000000000000" pitchFamily="2" charset="2"/>
              <a:buChar char="§"/>
            </a:pPr>
            <a:endParaRPr lang="en-GB" sz="2000" kern="0" dirty="0">
              <a:solidFill>
                <a:sysClr val="windowText" lastClr="000000"/>
              </a:solidFill>
              <a:cs typeface="Calibri"/>
            </a:endParaRPr>
          </a:p>
          <a:p>
            <a:pPr marL="355600" lvl="0" indent="-342900">
              <a:lnSpc>
                <a:spcPts val="3110"/>
              </a:lnSpc>
              <a:buClr>
                <a:schemeClr val="accent4"/>
              </a:buClr>
              <a:buFont typeface="Wingdings" panose="05000000000000000000" pitchFamily="2" charset="2"/>
              <a:buChar char="§"/>
              <a:tabLst>
                <a:tab pos="241300" algn="l"/>
              </a:tabLst>
            </a:pPr>
            <a:r>
              <a:rPr lang="en-GB" sz="2000" kern="0" dirty="0">
                <a:solidFill>
                  <a:sysClr val="windowText" lastClr="000000"/>
                </a:solidFill>
                <a:cs typeface="Calibri"/>
              </a:rPr>
              <a:t>Examples</a:t>
            </a:r>
            <a:r>
              <a:rPr lang="en-GB" sz="2000" kern="0" spc="-85" dirty="0">
                <a:solidFill>
                  <a:sysClr val="windowText" lastClr="000000"/>
                </a:solidFill>
                <a:cs typeface="Calibri"/>
              </a:rPr>
              <a:t> </a:t>
            </a:r>
            <a:r>
              <a:rPr lang="en-GB" sz="2000" kern="0" dirty="0">
                <a:solidFill>
                  <a:sysClr val="windowText" lastClr="000000"/>
                </a:solidFill>
                <a:cs typeface="Calibri"/>
              </a:rPr>
              <a:t>of</a:t>
            </a:r>
            <a:r>
              <a:rPr lang="en-GB" sz="2000" kern="0" spc="-55" dirty="0">
                <a:solidFill>
                  <a:sysClr val="windowText" lastClr="000000"/>
                </a:solidFill>
                <a:cs typeface="Calibri"/>
              </a:rPr>
              <a:t> </a:t>
            </a:r>
            <a:r>
              <a:rPr lang="en-GB" sz="2000" kern="0" spc="-10" dirty="0">
                <a:solidFill>
                  <a:sysClr val="windowText" lastClr="000000"/>
                </a:solidFill>
                <a:cs typeface="Calibri"/>
              </a:rPr>
              <a:t>conclusions:</a:t>
            </a:r>
          </a:p>
          <a:p>
            <a:pPr marL="12700" lvl="0">
              <a:lnSpc>
                <a:spcPts val="3110"/>
              </a:lnSpc>
              <a:buClr>
                <a:schemeClr val="accent4"/>
              </a:buClr>
              <a:tabLst>
                <a:tab pos="241300" algn="l"/>
              </a:tabLst>
            </a:pPr>
            <a:endParaRPr lang="en-GB" sz="2000" kern="0" dirty="0">
              <a:solidFill>
                <a:sysClr val="windowText" lastClr="000000"/>
              </a:solidFill>
              <a:cs typeface="Calibri"/>
            </a:endParaRPr>
          </a:p>
          <a:p>
            <a:pPr marL="812800" lvl="1" indent="-342900">
              <a:lnSpc>
                <a:spcPts val="2365"/>
              </a:lnSpc>
              <a:buClr>
                <a:schemeClr val="accent4"/>
              </a:buClr>
              <a:buFont typeface="Arial" panose="020B0604020202020204" pitchFamily="34" charset="0"/>
              <a:buChar char="•"/>
              <a:tabLst>
                <a:tab pos="697865" algn="l"/>
              </a:tabLst>
            </a:pPr>
            <a:r>
              <a:rPr lang="en-GB" sz="2000" kern="0" dirty="0">
                <a:solidFill>
                  <a:sysClr val="windowText" lastClr="000000"/>
                </a:solidFill>
                <a:cs typeface="Calibri"/>
              </a:rPr>
              <a:t>A</a:t>
            </a:r>
            <a:r>
              <a:rPr lang="en-GB" sz="2000" kern="0" spc="-65" dirty="0">
                <a:solidFill>
                  <a:sysClr val="windowText" lastClr="000000"/>
                </a:solidFill>
                <a:cs typeface="Calibri"/>
              </a:rPr>
              <a:t> </a:t>
            </a:r>
            <a:r>
              <a:rPr lang="en-GB" sz="2000" kern="0" dirty="0">
                <a:solidFill>
                  <a:sysClr val="windowText" lastClr="000000"/>
                </a:solidFill>
                <a:cs typeface="Calibri"/>
              </a:rPr>
              <a:t>comparison</a:t>
            </a:r>
            <a:r>
              <a:rPr lang="en-GB" sz="2000" kern="0" spc="-65" dirty="0">
                <a:solidFill>
                  <a:sysClr val="windowText" lastClr="000000"/>
                </a:solidFill>
                <a:cs typeface="Calibri"/>
              </a:rPr>
              <a:t> </a:t>
            </a:r>
            <a:r>
              <a:rPr lang="en-GB" sz="2000" kern="0" dirty="0">
                <a:solidFill>
                  <a:sysClr val="windowText" lastClr="000000"/>
                </a:solidFill>
                <a:cs typeface="Calibri"/>
              </a:rPr>
              <a:t>between</a:t>
            </a:r>
            <a:r>
              <a:rPr lang="en-GB" sz="2000" kern="0" spc="-50" dirty="0">
                <a:solidFill>
                  <a:sysClr val="windowText" lastClr="000000"/>
                </a:solidFill>
                <a:cs typeface="Calibri"/>
              </a:rPr>
              <a:t> </a:t>
            </a:r>
            <a:r>
              <a:rPr lang="en-GB" sz="2000" kern="0" dirty="0">
                <a:solidFill>
                  <a:sysClr val="windowText" lastClr="000000"/>
                </a:solidFill>
                <a:cs typeface="Calibri"/>
              </a:rPr>
              <a:t>variables</a:t>
            </a:r>
            <a:r>
              <a:rPr lang="en-GB" sz="2000" kern="0" spc="-70" dirty="0">
                <a:solidFill>
                  <a:sysClr val="windowText" lastClr="000000"/>
                </a:solidFill>
                <a:cs typeface="Calibri"/>
              </a:rPr>
              <a:t> </a:t>
            </a:r>
            <a:r>
              <a:rPr lang="en-GB" sz="2000" kern="0" dirty="0">
                <a:solidFill>
                  <a:sysClr val="windowText" lastClr="000000"/>
                </a:solidFill>
                <a:cs typeface="Calibri"/>
              </a:rPr>
              <a:t>(e.g.</a:t>
            </a:r>
            <a:r>
              <a:rPr lang="en-GB" sz="2000" kern="0" spc="-60" dirty="0">
                <a:solidFill>
                  <a:sysClr val="windowText" lastClr="000000"/>
                </a:solidFill>
                <a:cs typeface="Calibri"/>
              </a:rPr>
              <a:t> </a:t>
            </a:r>
            <a:r>
              <a:rPr lang="en-GB" sz="2000" kern="0" dirty="0">
                <a:solidFill>
                  <a:sysClr val="windowText" lastClr="000000"/>
                </a:solidFill>
                <a:cs typeface="Calibri"/>
              </a:rPr>
              <a:t>comparison</a:t>
            </a:r>
            <a:r>
              <a:rPr lang="en-GB" sz="2000" kern="0" spc="-65" dirty="0">
                <a:solidFill>
                  <a:sysClr val="windowText" lastClr="000000"/>
                </a:solidFill>
                <a:cs typeface="Calibri"/>
              </a:rPr>
              <a:t> </a:t>
            </a:r>
            <a:r>
              <a:rPr lang="en-GB" sz="2000" kern="0" spc="-10" dirty="0">
                <a:solidFill>
                  <a:sysClr val="windowText" lastClr="000000"/>
                </a:solidFill>
                <a:cs typeface="Calibri"/>
              </a:rPr>
              <a:t>between</a:t>
            </a:r>
            <a:r>
              <a:rPr lang="en-GB" sz="2000" kern="0" dirty="0">
                <a:solidFill>
                  <a:sysClr val="windowText" lastClr="000000"/>
                </a:solidFill>
                <a:cs typeface="Calibri"/>
              </a:rPr>
              <a:t> frequency</a:t>
            </a:r>
            <a:r>
              <a:rPr lang="en-GB" sz="2000" kern="0" spc="-55" dirty="0">
                <a:solidFill>
                  <a:sysClr val="windowText" lastClr="000000"/>
                </a:solidFill>
                <a:cs typeface="Calibri"/>
              </a:rPr>
              <a:t> </a:t>
            </a:r>
            <a:r>
              <a:rPr lang="en-GB" sz="2000" kern="0" dirty="0">
                <a:solidFill>
                  <a:sysClr val="windowText" lastClr="000000"/>
                </a:solidFill>
                <a:cs typeface="Calibri"/>
              </a:rPr>
              <a:t>of</a:t>
            </a:r>
            <a:r>
              <a:rPr lang="en-GB" sz="2000" kern="0" spc="-55" dirty="0">
                <a:solidFill>
                  <a:sysClr val="windowText" lastClr="000000"/>
                </a:solidFill>
                <a:cs typeface="Calibri"/>
              </a:rPr>
              <a:t> </a:t>
            </a:r>
            <a:r>
              <a:rPr lang="en-GB" sz="2000" kern="0" dirty="0">
                <a:solidFill>
                  <a:sysClr val="windowText" lastClr="000000"/>
                </a:solidFill>
                <a:cs typeface="Calibri"/>
              </a:rPr>
              <a:t>physical</a:t>
            </a:r>
            <a:r>
              <a:rPr lang="en-GB" sz="2000" kern="0" spc="-60" dirty="0">
                <a:solidFill>
                  <a:sysClr val="windowText" lastClr="000000"/>
                </a:solidFill>
                <a:cs typeface="Calibri"/>
              </a:rPr>
              <a:t> </a:t>
            </a:r>
            <a:r>
              <a:rPr lang="en-GB" sz="2000" kern="0" dirty="0">
                <a:solidFill>
                  <a:sysClr val="windowText" lastClr="000000"/>
                </a:solidFill>
                <a:cs typeface="Calibri"/>
              </a:rPr>
              <a:t>barriers</a:t>
            </a:r>
            <a:r>
              <a:rPr lang="en-GB" sz="2000" kern="0" spc="-70" dirty="0">
                <a:solidFill>
                  <a:sysClr val="windowText" lastClr="000000"/>
                </a:solidFill>
                <a:cs typeface="Calibri"/>
              </a:rPr>
              <a:t> </a:t>
            </a:r>
            <a:r>
              <a:rPr lang="en-GB" sz="2000" kern="0" dirty="0">
                <a:solidFill>
                  <a:sysClr val="windowText" lastClr="000000"/>
                </a:solidFill>
                <a:cs typeface="Calibri"/>
              </a:rPr>
              <a:t>for</a:t>
            </a:r>
            <a:r>
              <a:rPr lang="en-GB" sz="2000" kern="0" spc="-60" dirty="0">
                <a:solidFill>
                  <a:sysClr val="windowText" lastClr="000000"/>
                </a:solidFill>
                <a:cs typeface="Calibri"/>
              </a:rPr>
              <a:t> </a:t>
            </a:r>
            <a:r>
              <a:rPr lang="en-GB" sz="2000" kern="0" dirty="0">
                <a:solidFill>
                  <a:sysClr val="windowText" lastClr="000000"/>
                </a:solidFill>
                <a:cs typeface="Calibri"/>
              </a:rPr>
              <a:t>male</a:t>
            </a:r>
            <a:r>
              <a:rPr lang="en-GB" sz="2000" kern="0" spc="-65" dirty="0">
                <a:solidFill>
                  <a:sysClr val="windowText" lastClr="000000"/>
                </a:solidFill>
                <a:cs typeface="Calibri"/>
              </a:rPr>
              <a:t> </a:t>
            </a:r>
            <a:r>
              <a:rPr lang="en-GB" sz="2000" kern="0" dirty="0">
                <a:solidFill>
                  <a:sysClr val="windowText" lastClr="000000"/>
                </a:solidFill>
                <a:cs typeface="Calibri"/>
              </a:rPr>
              <a:t>and</a:t>
            </a:r>
            <a:r>
              <a:rPr lang="en-GB" sz="2000" kern="0" spc="-60" dirty="0">
                <a:solidFill>
                  <a:sysClr val="windowText" lastClr="000000"/>
                </a:solidFill>
                <a:cs typeface="Calibri"/>
              </a:rPr>
              <a:t> </a:t>
            </a:r>
            <a:r>
              <a:rPr lang="en-GB" sz="2000" kern="0" dirty="0">
                <a:solidFill>
                  <a:sysClr val="windowText" lastClr="000000"/>
                </a:solidFill>
                <a:cs typeface="Calibri"/>
              </a:rPr>
              <a:t>female</a:t>
            </a:r>
            <a:r>
              <a:rPr lang="en-GB" sz="2000" kern="0" spc="-40" dirty="0">
                <a:solidFill>
                  <a:sysClr val="windowText" lastClr="000000"/>
                </a:solidFill>
                <a:cs typeface="Calibri"/>
              </a:rPr>
              <a:t> </a:t>
            </a:r>
            <a:r>
              <a:rPr lang="en-GB" sz="2000" kern="0" spc="-10" dirty="0">
                <a:solidFill>
                  <a:sysClr val="windowText" lastClr="000000"/>
                </a:solidFill>
                <a:cs typeface="Calibri"/>
              </a:rPr>
              <a:t>elderly).</a:t>
            </a:r>
            <a:endParaRPr lang="en-GB" sz="2000" kern="0" dirty="0">
              <a:solidFill>
                <a:sysClr val="windowText" lastClr="000000"/>
              </a:solidFill>
              <a:cs typeface="Calibri"/>
            </a:endParaRPr>
          </a:p>
          <a:p>
            <a:pPr marL="812165" marR="240665" lvl="1" indent="-342900">
              <a:lnSpc>
                <a:spcPct val="80000"/>
              </a:lnSpc>
              <a:spcBef>
                <a:spcPts val="515"/>
              </a:spcBef>
              <a:buClr>
                <a:schemeClr val="accent4"/>
              </a:buClr>
              <a:buFont typeface="Arial" panose="020B0604020202020204" pitchFamily="34" charset="0"/>
              <a:buChar char="•"/>
              <a:tabLst>
                <a:tab pos="697865" algn="l"/>
              </a:tabLst>
            </a:pPr>
            <a:r>
              <a:rPr lang="en-GB" sz="2000" kern="0" spc="-40" dirty="0">
                <a:solidFill>
                  <a:sysClr val="windowText" lastClr="000000"/>
                </a:solidFill>
                <a:cs typeface="Calibri"/>
              </a:rPr>
              <a:t>You</a:t>
            </a:r>
            <a:r>
              <a:rPr lang="en-GB" sz="2000" kern="0" spc="-45" dirty="0">
                <a:solidFill>
                  <a:sysClr val="windowText" lastClr="000000"/>
                </a:solidFill>
                <a:cs typeface="Calibri"/>
              </a:rPr>
              <a:t> </a:t>
            </a:r>
            <a:r>
              <a:rPr lang="en-GB" sz="2000" kern="0" dirty="0">
                <a:solidFill>
                  <a:sysClr val="windowText" lastClr="000000"/>
                </a:solidFill>
                <a:cs typeface="Calibri"/>
              </a:rPr>
              <a:t>can</a:t>
            </a:r>
            <a:r>
              <a:rPr lang="en-GB" sz="2000" kern="0" spc="-35" dirty="0">
                <a:solidFill>
                  <a:sysClr val="windowText" lastClr="000000"/>
                </a:solidFill>
                <a:cs typeface="Calibri"/>
              </a:rPr>
              <a:t> </a:t>
            </a:r>
            <a:r>
              <a:rPr lang="en-GB" sz="2000" kern="0" dirty="0">
                <a:solidFill>
                  <a:sysClr val="windowText" lastClr="000000"/>
                </a:solidFill>
                <a:cs typeface="Calibri"/>
              </a:rPr>
              <a:t>have</a:t>
            </a:r>
            <a:r>
              <a:rPr lang="en-GB" sz="2000" kern="0" spc="-45" dirty="0">
                <a:solidFill>
                  <a:sysClr val="windowText" lastClr="000000"/>
                </a:solidFill>
                <a:cs typeface="Calibri"/>
              </a:rPr>
              <a:t> </a:t>
            </a:r>
            <a:r>
              <a:rPr lang="en-GB" sz="2000" kern="0" dirty="0">
                <a:solidFill>
                  <a:sysClr val="windowText" lastClr="000000"/>
                </a:solidFill>
                <a:cs typeface="Calibri"/>
              </a:rPr>
              <a:t>a</a:t>
            </a:r>
            <a:r>
              <a:rPr lang="en-GB" sz="2000" kern="0" spc="-45" dirty="0">
                <a:solidFill>
                  <a:sysClr val="windowText" lastClr="000000"/>
                </a:solidFill>
                <a:cs typeface="Calibri"/>
              </a:rPr>
              <a:t> </a:t>
            </a:r>
            <a:r>
              <a:rPr lang="en-GB" sz="2000" kern="0" spc="-10" dirty="0">
                <a:solidFill>
                  <a:sysClr val="windowText" lastClr="000000"/>
                </a:solidFill>
                <a:cs typeface="Calibri"/>
              </a:rPr>
              <a:t>recommendation</a:t>
            </a:r>
            <a:r>
              <a:rPr lang="en-GB" sz="2000" kern="0" spc="-20" dirty="0">
                <a:solidFill>
                  <a:sysClr val="windowText" lastClr="000000"/>
                </a:solidFill>
                <a:cs typeface="Calibri"/>
              </a:rPr>
              <a:t> </a:t>
            </a:r>
            <a:r>
              <a:rPr lang="en-GB" sz="2000" kern="0" dirty="0">
                <a:solidFill>
                  <a:sysClr val="windowText" lastClr="000000"/>
                </a:solidFill>
                <a:cs typeface="Calibri"/>
              </a:rPr>
              <a:t>for</a:t>
            </a:r>
            <a:r>
              <a:rPr lang="en-GB" sz="2000" kern="0" spc="-45" dirty="0">
                <a:solidFill>
                  <a:sysClr val="windowText" lastClr="000000"/>
                </a:solidFill>
                <a:cs typeface="Calibri"/>
              </a:rPr>
              <a:t> </a:t>
            </a:r>
            <a:r>
              <a:rPr lang="en-GB" sz="2000" kern="0" dirty="0">
                <a:solidFill>
                  <a:sysClr val="windowText" lastClr="000000"/>
                </a:solidFill>
                <a:cs typeface="Calibri"/>
              </a:rPr>
              <a:t>future</a:t>
            </a:r>
            <a:r>
              <a:rPr lang="en-GB" sz="2000" kern="0" spc="-45" dirty="0">
                <a:solidFill>
                  <a:sysClr val="windowText" lastClr="000000"/>
                </a:solidFill>
                <a:cs typeface="Calibri"/>
              </a:rPr>
              <a:t> </a:t>
            </a:r>
            <a:r>
              <a:rPr lang="en-GB" sz="2000" kern="0" dirty="0">
                <a:solidFill>
                  <a:sysClr val="windowText" lastClr="000000"/>
                </a:solidFill>
                <a:cs typeface="Calibri"/>
              </a:rPr>
              <a:t>design,</a:t>
            </a:r>
            <a:r>
              <a:rPr lang="en-GB" sz="2000" kern="0" spc="-45" dirty="0">
                <a:solidFill>
                  <a:sysClr val="windowText" lastClr="000000"/>
                </a:solidFill>
                <a:cs typeface="Calibri"/>
              </a:rPr>
              <a:t> </a:t>
            </a:r>
            <a:r>
              <a:rPr lang="en-GB" sz="2000" kern="0" dirty="0">
                <a:solidFill>
                  <a:sysClr val="windowText" lastClr="000000"/>
                </a:solidFill>
                <a:cs typeface="Calibri"/>
              </a:rPr>
              <a:t>(e.g.</a:t>
            </a:r>
            <a:r>
              <a:rPr lang="en-GB" sz="2000" kern="0" spc="-45" dirty="0">
                <a:solidFill>
                  <a:sysClr val="windowText" lastClr="000000"/>
                </a:solidFill>
                <a:cs typeface="Calibri"/>
              </a:rPr>
              <a:t> </a:t>
            </a:r>
            <a:r>
              <a:rPr lang="en-GB" sz="2000" kern="0" spc="-10" dirty="0">
                <a:solidFill>
                  <a:sysClr val="windowText" lastClr="000000"/>
                </a:solidFill>
                <a:cs typeface="Calibri"/>
              </a:rPr>
              <a:t>primary barrier/problem</a:t>
            </a:r>
            <a:r>
              <a:rPr lang="en-GB" sz="2000" kern="0" spc="-15" dirty="0">
                <a:solidFill>
                  <a:sysClr val="windowText" lastClr="000000"/>
                </a:solidFill>
                <a:cs typeface="Calibri"/>
              </a:rPr>
              <a:t> </a:t>
            </a:r>
            <a:r>
              <a:rPr lang="en-GB" sz="2000" kern="0" dirty="0">
                <a:solidFill>
                  <a:sysClr val="windowText" lastClr="000000"/>
                </a:solidFill>
                <a:cs typeface="Calibri"/>
              </a:rPr>
              <a:t>is</a:t>
            </a:r>
            <a:r>
              <a:rPr lang="en-GB" sz="2000" kern="0" spc="5" dirty="0">
                <a:solidFill>
                  <a:sysClr val="windowText" lastClr="000000"/>
                </a:solidFill>
                <a:cs typeface="Calibri"/>
              </a:rPr>
              <a:t> </a:t>
            </a:r>
            <a:r>
              <a:rPr lang="en-GB" sz="2000" kern="0" spc="-10" dirty="0">
                <a:solidFill>
                  <a:sysClr val="windowText" lastClr="000000"/>
                </a:solidFill>
                <a:cs typeface="Calibri"/>
              </a:rPr>
              <a:t>cognitive).</a:t>
            </a:r>
            <a:endParaRPr lang="en-GB" sz="2000" kern="0" dirty="0">
              <a:solidFill>
                <a:sysClr val="windowText" lastClr="000000"/>
              </a:solidFill>
              <a:cs typeface="Calibri"/>
            </a:endParaRPr>
          </a:p>
          <a:p>
            <a:pPr marL="926465" lvl="0">
              <a:lnSpc>
                <a:spcPts val="2355"/>
              </a:lnSpc>
              <a:buClr>
                <a:schemeClr val="accent4"/>
              </a:buClr>
            </a:pPr>
            <a:r>
              <a:rPr lang="en-GB" sz="2000" kern="0" dirty="0">
                <a:solidFill>
                  <a:sysClr val="windowText" lastClr="000000"/>
                </a:solidFill>
                <a:cs typeface="Calibri"/>
              </a:rPr>
              <a:t>So</a:t>
            </a:r>
            <a:r>
              <a:rPr lang="en-GB" sz="2000" kern="0" spc="-35" dirty="0">
                <a:solidFill>
                  <a:sysClr val="windowText" lastClr="000000"/>
                </a:solidFill>
                <a:cs typeface="Calibri"/>
              </a:rPr>
              <a:t> </a:t>
            </a:r>
            <a:r>
              <a:rPr lang="en-GB" sz="2000" kern="0" dirty="0">
                <a:solidFill>
                  <a:sysClr val="windowText" lastClr="000000"/>
                </a:solidFill>
                <a:cs typeface="Calibri"/>
              </a:rPr>
              <a:t>we</a:t>
            </a:r>
            <a:r>
              <a:rPr lang="en-GB" sz="2000" kern="0" spc="-35" dirty="0">
                <a:solidFill>
                  <a:sysClr val="windowText" lastClr="000000"/>
                </a:solidFill>
                <a:cs typeface="Calibri"/>
              </a:rPr>
              <a:t> </a:t>
            </a:r>
            <a:r>
              <a:rPr lang="en-GB" sz="2000" kern="0" dirty="0">
                <a:solidFill>
                  <a:sysClr val="windowText" lastClr="000000"/>
                </a:solidFill>
                <a:cs typeface="Calibri"/>
              </a:rPr>
              <a:t>should</a:t>
            </a:r>
            <a:r>
              <a:rPr lang="en-GB" sz="2000" kern="0" spc="-65" dirty="0">
                <a:solidFill>
                  <a:sysClr val="windowText" lastClr="000000"/>
                </a:solidFill>
                <a:cs typeface="Calibri"/>
              </a:rPr>
              <a:t> </a:t>
            </a:r>
            <a:r>
              <a:rPr lang="en-GB" sz="2000" kern="0" dirty="0">
                <a:solidFill>
                  <a:sysClr val="windowText" lastClr="000000"/>
                </a:solidFill>
                <a:cs typeface="Calibri"/>
              </a:rPr>
              <a:t>focus</a:t>
            </a:r>
            <a:r>
              <a:rPr lang="en-GB" sz="2000" kern="0" spc="-40" dirty="0">
                <a:solidFill>
                  <a:sysClr val="windowText" lastClr="000000"/>
                </a:solidFill>
                <a:cs typeface="Calibri"/>
              </a:rPr>
              <a:t> </a:t>
            </a:r>
            <a:r>
              <a:rPr lang="en-GB" sz="2000" kern="0" dirty="0">
                <a:solidFill>
                  <a:sysClr val="windowText" lastClr="000000"/>
                </a:solidFill>
                <a:cs typeface="Calibri"/>
              </a:rPr>
              <a:t>on</a:t>
            </a:r>
            <a:r>
              <a:rPr lang="en-GB" sz="2000" kern="0" spc="-35" dirty="0">
                <a:solidFill>
                  <a:sysClr val="windowText" lastClr="000000"/>
                </a:solidFill>
                <a:cs typeface="Calibri"/>
              </a:rPr>
              <a:t> </a:t>
            </a:r>
            <a:r>
              <a:rPr lang="en-GB" sz="2000" kern="0" spc="-10" dirty="0">
                <a:solidFill>
                  <a:sysClr val="windowText" lastClr="000000"/>
                </a:solidFill>
                <a:cs typeface="Calibri"/>
              </a:rPr>
              <a:t>documentation</a:t>
            </a:r>
            <a:r>
              <a:rPr lang="en-GB" sz="2000" kern="0" spc="-50" dirty="0">
                <a:solidFill>
                  <a:sysClr val="windowText" lastClr="000000"/>
                </a:solidFill>
                <a:cs typeface="Calibri"/>
              </a:rPr>
              <a:t> </a:t>
            </a:r>
            <a:r>
              <a:rPr lang="en-GB" sz="2000" kern="0" dirty="0">
                <a:solidFill>
                  <a:sysClr val="windowText" lastClr="000000"/>
                </a:solidFill>
                <a:cs typeface="Calibri"/>
              </a:rPr>
              <a:t>and</a:t>
            </a:r>
            <a:r>
              <a:rPr lang="en-GB" sz="2000" kern="0" spc="-55" dirty="0">
                <a:solidFill>
                  <a:sysClr val="windowText" lastClr="000000"/>
                </a:solidFill>
                <a:cs typeface="Calibri"/>
              </a:rPr>
              <a:t> </a:t>
            </a:r>
            <a:r>
              <a:rPr lang="en-GB" sz="2000" kern="0" dirty="0">
                <a:solidFill>
                  <a:sysClr val="windowText" lastClr="000000"/>
                </a:solidFill>
                <a:cs typeface="Calibri"/>
              </a:rPr>
              <a:t>tutorials,</a:t>
            </a:r>
            <a:r>
              <a:rPr lang="en-GB" sz="2000" kern="0" spc="-45" dirty="0">
                <a:solidFill>
                  <a:sysClr val="windowText" lastClr="000000"/>
                </a:solidFill>
                <a:cs typeface="Calibri"/>
              </a:rPr>
              <a:t> </a:t>
            </a:r>
            <a:r>
              <a:rPr lang="en-GB" sz="2000" kern="0" dirty="0">
                <a:solidFill>
                  <a:sysClr val="windowText" lastClr="000000"/>
                </a:solidFill>
                <a:cs typeface="Calibri"/>
              </a:rPr>
              <a:t>rather</a:t>
            </a:r>
            <a:r>
              <a:rPr lang="en-GB" sz="2000" kern="0" spc="-40" dirty="0">
                <a:solidFill>
                  <a:sysClr val="windowText" lastClr="000000"/>
                </a:solidFill>
                <a:cs typeface="Calibri"/>
              </a:rPr>
              <a:t> </a:t>
            </a:r>
            <a:r>
              <a:rPr lang="en-GB" sz="2000" kern="0" spc="-20" dirty="0">
                <a:solidFill>
                  <a:sysClr val="windowText" lastClr="000000"/>
                </a:solidFill>
                <a:cs typeface="Calibri"/>
              </a:rPr>
              <a:t>than</a:t>
            </a:r>
            <a:r>
              <a:rPr lang="en-GB" sz="2000" kern="0" dirty="0">
                <a:solidFill>
                  <a:sysClr val="windowText" lastClr="000000"/>
                </a:solidFill>
                <a:cs typeface="Calibri"/>
              </a:rPr>
              <a:t> </a:t>
            </a:r>
            <a:r>
              <a:rPr lang="en-GB" sz="2000" kern="0" spc="-10" dirty="0">
                <a:solidFill>
                  <a:sysClr val="windowText" lastClr="000000"/>
                </a:solidFill>
                <a:cs typeface="Calibri"/>
              </a:rPr>
              <a:t>Technology</a:t>
            </a:r>
            <a:r>
              <a:rPr lang="en-GB" sz="2000" kern="0" dirty="0">
                <a:solidFill>
                  <a:sysClr val="windowText" lastClr="000000"/>
                </a:solidFill>
                <a:cs typeface="Calibri"/>
              </a:rPr>
              <a:t> </a:t>
            </a:r>
            <a:r>
              <a:rPr lang="en-GB" sz="2000" kern="0" spc="-10" dirty="0">
                <a:solidFill>
                  <a:sysClr val="windowText" lastClr="000000"/>
                </a:solidFill>
                <a:cs typeface="Calibri"/>
              </a:rPr>
              <a:t>aspects.</a:t>
            </a:r>
            <a:endParaRPr lang="en-GB" sz="2000" kern="0" dirty="0">
              <a:solidFill>
                <a:sysClr val="windowText" lastClr="000000"/>
              </a:solidFill>
              <a:cs typeface="Calibri"/>
            </a:endParaRPr>
          </a:p>
          <a:p>
            <a:pPr marL="12700">
              <a:lnSpc>
                <a:spcPct val="100000"/>
              </a:lnSpc>
              <a:spcBef>
                <a:spcPts val="105"/>
              </a:spcBef>
            </a:pPr>
            <a:endParaRPr lang="en-GB" b="1" dirty="0"/>
          </a:p>
        </p:txBody>
      </p:sp>
    </p:spTree>
    <p:extLst>
      <p:ext uri="{BB962C8B-B14F-4D97-AF65-F5344CB8AC3E}">
        <p14:creationId xmlns:p14="http://schemas.microsoft.com/office/powerpoint/2010/main" val="302630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6245" y="1779619"/>
            <a:ext cx="10515600" cy="4114800"/>
          </a:xfrm>
          <a:prstGeom prst="rect">
            <a:avLst/>
          </a:prstGeom>
        </p:spPr>
        <p:txBody>
          <a:bodyPr rtlCol="0">
            <a:normAutofit/>
          </a:bodyPr>
          <a:lstStyle/>
          <a:p>
            <a:pPr marL="266700" marR="151130" lvl="0" indent="-266700">
              <a:lnSpc>
                <a:spcPct val="90000"/>
              </a:lnSpc>
              <a:spcBef>
                <a:spcPts val="1000"/>
              </a:spcBef>
              <a:buClr>
                <a:schemeClr val="accent4"/>
              </a:buClr>
              <a:buFont typeface="Arial" panose="020B0604020202020204" pitchFamily="34" charset="0"/>
              <a:buChar char="•"/>
              <a:tabLst>
                <a:tab pos="241300" algn="l"/>
              </a:tabLst>
            </a:pPr>
            <a:r>
              <a:rPr lang="en-US" spc="-10" dirty="0">
                <a:solidFill>
                  <a:schemeClr val="tx1">
                    <a:lumMod val="75000"/>
                    <a:lumOff val="25000"/>
                  </a:schemeClr>
                </a:solidFill>
              </a:rPr>
              <a:t>Have focused so far on text analysis…</a:t>
            </a:r>
          </a:p>
          <a:p>
            <a:pPr marL="266700" marR="151130" lvl="0" indent="-266700">
              <a:lnSpc>
                <a:spcPct val="90000"/>
              </a:lnSpc>
              <a:spcBef>
                <a:spcPts val="1000"/>
              </a:spcBef>
              <a:buClr>
                <a:schemeClr val="accent4"/>
              </a:buClr>
              <a:buFont typeface="Arial" panose="020B0604020202020204" pitchFamily="34" charset="0"/>
              <a:buChar char="•"/>
              <a:tabLst>
                <a:tab pos="241300" algn="l"/>
              </a:tabLst>
            </a:pPr>
            <a:endParaRPr lang="en-US" spc="-10" dirty="0">
              <a:solidFill>
                <a:schemeClr val="tx1">
                  <a:lumMod val="75000"/>
                  <a:lumOff val="25000"/>
                </a:schemeClr>
              </a:solidFill>
            </a:endParaRPr>
          </a:p>
          <a:p>
            <a:pPr marL="266700" marR="151130" lvl="0" indent="-266700">
              <a:lnSpc>
                <a:spcPct val="90000"/>
              </a:lnSpc>
              <a:spcBef>
                <a:spcPts val="1000"/>
              </a:spcBef>
              <a:buClr>
                <a:schemeClr val="accent4"/>
              </a:buClr>
              <a:buFont typeface="Arial" panose="020B0604020202020204" pitchFamily="34" charset="0"/>
              <a:buChar char="•"/>
              <a:tabLst>
                <a:tab pos="241300" algn="l"/>
              </a:tabLst>
            </a:pPr>
            <a:r>
              <a:rPr lang="en-US" spc="-10" dirty="0">
                <a:solidFill>
                  <a:schemeClr val="tx1">
                    <a:lumMod val="75000"/>
                    <a:lumOff val="25000"/>
                  </a:schemeClr>
                </a:solidFill>
              </a:rPr>
              <a:t>Could equally apply similar methodologies (qualitative methods generally) to data in other modalities</a:t>
            </a:r>
          </a:p>
          <a:p>
            <a:pPr marL="266700" marR="151130" lvl="0" indent="-266700">
              <a:lnSpc>
                <a:spcPct val="90000"/>
              </a:lnSpc>
              <a:spcBef>
                <a:spcPts val="1000"/>
              </a:spcBef>
              <a:buClr>
                <a:schemeClr val="accent4"/>
              </a:buClr>
              <a:buFont typeface="Arial" panose="020B0604020202020204" pitchFamily="34" charset="0"/>
              <a:buChar char="•"/>
              <a:tabLst>
                <a:tab pos="241300" algn="l"/>
              </a:tabLst>
            </a:pPr>
            <a:endParaRPr lang="en-US" spc="-10" dirty="0">
              <a:solidFill>
                <a:schemeClr val="tx1">
                  <a:lumMod val="75000"/>
                  <a:lumOff val="25000"/>
                </a:schemeClr>
              </a:solidFill>
            </a:endParaRPr>
          </a:p>
          <a:p>
            <a:pPr marL="266700" marR="151130" lvl="0" indent="-266700">
              <a:lnSpc>
                <a:spcPct val="90000"/>
              </a:lnSpc>
              <a:spcBef>
                <a:spcPts val="1000"/>
              </a:spcBef>
              <a:buClr>
                <a:schemeClr val="accent4"/>
              </a:buClr>
              <a:buFont typeface="Arial" panose="020B0604020202020204" pitchFamily="34" charset="0"/>
              <a:buChar char="•"/>
              <a:tabLst>
                <a:tab pos="241300" algn="l"/>
              </a:tabLst>
            </a:pPr>
            <a:r>
              <a:rPr lang="en-US" spc="-10" dirty="0">
                <a:solidFill>
                  <a:schemeClr val="tx1">
                    <a:lumMod val="75000"/>
                    <a:lumOff val="25000"/>
                  </a:schemeClr>
                </a:solidFill>
              </a:rPr>
              <a:t>Audio data: e.g. recordings of interviews, conversations, etc. Perhaps start with a transcript, then apply thematic analysis, </a:t>
            </a:r>
            <a:r>
              <a:rPr lang="en-US" spc="-10" dirty="0" err="1">
                <a:solidFill>
                  <a:schemeClr val="tx1">
                    <a:lumMod val="75000"/>
                    <a:lumOff val="25000"/>
                  </a:schemeClr>
                </a:solidFill>
              </a:rPr>
              <a:t>etc</a:t>
            </a:r>
            <a:endParaRPr lang="en-US" spc="-10" dirty="0">
              <a:solidFill>
                <a:schemeClr val="tx1">
                  <a:lumMod val="75000"/>
                  <a:lumOff val="25000"/>
                </a:schemeClr>
              </a:solidFill>
            </a:endParaRPr>
          </a:p>
          <a:p>
            <a:pPr marL="266700" marR="151130" lvl="0" indent="-266700">
              <a:lnSpc>
                <a:spcPct val="90000"/>
              </a:lnSpc>
              <a:spcBef>
                <a:spcPts val="1000"/>
              </a:spcBef>
              <a:buClr>
                <a:schemeClr val="accent4"/>
              </a:buClr>
              <a:buFont typeface="Arial" panose="020B0604020202020204" pitchFamily="34" charset="0"/>
              <a:buChar char="•"/>
              <a:tabLst>
                <a:tab pos="241300" algn="l"/>
              </a:tabLst>
            </a:pPr>
            <a:endParaRPr lang="en-US" spc="-10" dirty="0">
              <a:solidFill>
                <a:schemeClr val="tx1">
                  <a:lumMod val="75000"/>
                  <a:lumOff val="25000"/>
                </a:schemeClr>
              </a:solidFill>
            </a:endParaRPr>
          </a:p>
          <a:p>
            <a:pPr marL="266700" marR="151130" lvl="0" indent="-266700">
              <a:lnSpc>
                <a:spcPct val="90000"/>
              </a:lnSpc>
              <a:spcBef>
                <a:spcPts val="1000"/>
              </a:spcBef>
              <a:buClr>
                <a:schemeClr val="accent4"/>
              </a:buClr>
              <a:buFont typeface="Arial" panose="020B0604020202020204" pitchFamily="34" charset="0"/>
              <a:buChar char="•"/>
              <a:tabLst>
                <a:tab pos="241300" algn="l"/>
              </a:tabLst>
            </a:pPr>
            <a:r>
              <a:rPr lang="en-US" spc="-10" dirty="0">
                <a:solidFill>
                  <a:schemeClr val="tx1">
                    <a:lumMod val="75000"/>
                    <a:lumOff val="25000"/>
                  </a:schemeClr>
                </a:solidFill>
              </a:rPr>
              <a:t>Video data: e.g. recorded interactions, performance, etc. Could code the </a:t>
            </a:r>
            <a:r>
              <a:rPr lang="en-US" spc="-10" dirty="0" err="1">
                <a:solidFill>
                  <a:schemeClr val="tx1">
                    <a:lumMod val="75000"/>
                    <a:lumOff val="25000"/>
                  </a:schemeClr>
                </a:solidFill>
              </a:rPr>
              <a:t>behaviour</a:t>
            </a:r>
            <a:r>
              <a:rPr lang="en-US" spc="-10" dirty="0">
                <a:solidFill>
                  <a:schemeClr val="tx1">
                    <a:lumMod val="75000"/>
                    <a:lumOff val="25000"/>
                  </a:schemeClr>
                </a:solidFill>
              </a:rPr>
              <a:t> by trained coders working from an established code book</a:t>
            </a:r>
          </a:p>
          <a:p>
            <a:pPr marR="151130" lvl="0">
              <a:lnSpc>
                <a:spcPct val="90000"/>
              </a:lnSpc>
              <a:spcBef>
                <a:spcPts val="1000"/>
              </a:spcBef>
              <a:buClr>
                <a:schemeClr val="accent4"/>
              </a:buClr>
              <a:tabLst>
                <a:tab pos="241300" algn="l"/>
              </a:tabLst>
            </a:pPr>
            <a:endParaRPr lang="en-US" dirty="0">
              <a:solidFill>
                <a:schemeClr val="tx1">
                  <a:lumMod val="75000"/>
                  <a:lumOff val="25000"/>
                </a:schemeClr>
              </a:solidFill>
            </a:endParaRPr>
          </a:p>
          <a:p>
            <a:pPr marL="266700" indent="-266700">
              <a:lnSpc>
                <a:spcPct val="90000"/>
              </a:lnSpc>
              <a:spcBef>
                <a:spcPts val="1000"/>
              </a:spcBef>
              <a:buFont typeface="Arial" panose="020B0604020202020204" pitchFamily="34" charset="0"/>
              <a:buChar char="•"/>
            </a:pPr>
            <a:endParaRPr lang="en-US" b="1" dirty="0">
              <a:solidFill>
                <a:schemeClr val="tx1">
                  <a:lumMod val="75000"/>
                  <a:lumOff val="25000"/>
                </a:schemeClr>
              </a:solidFill>
            </a:endParaRPr>
          </a:p>
        </p:txBody>
      </p:sp>
      <p:sp>
        <p:nvSpPr>
          <p:cNvPr id="3" name="Title 2"/>
          <p:cNvSpPr>
            <a:spLocks noGrp="1"/>
          </p:cNvSpPr>
          <p:nvPr>
            <p:ph type="title"/>
          </p:nvPr>
        </p:nvSpPr>
        <p:spPr>
          <a:xfrm>
            <a:off x="838200" y="635000"/>
            <a:ext cx="10515600" cy="700115"/>
          </a:xfrm>
        </p:spPr>
        <p:txBody>
          <a:bodyPr rtlCol="0" anchor="ctr">
            <a:normAutofit/>
          </a:bodyPr>
          <a:lstStyle/>
          <a:p>
            <a:r>
              <a:rPr lang="en-GB" sz="4400" spc="-10"/>
              <a:t>Multi-</a:t>
            </a:r>
            <a:r>
              <a:rPr lang="en-GB" sz="4400"/>
              <a:t>modal</a:t>
            </a:r>
            <a:r>
              <a:rPr lang="en-GB" sz="4400" spc="40"/>
              <a:t> </a:t>
            </a:r>
            <a:r>
              <a:rPr lang="en-GB" sz="4400" spc="-20"/>
              <a:t>data</a:t>
            </a:r>
            <a:endParaRPr lang="en-GB" sz="4400"/>
          </a:p>
        </p:txBody>
      </p:sp>
    </p:spTree>
    <p:extLst>
      <p:ext uri="{BB962C8B-B14F-4D97-AF65-F5344CB8AC3E}">
        <p14:creationId xmlns:p14="http://schemas.microsoft.com/office/powerpoint/2010/main" val="3799013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40FB369-654E-689F-059B-8EDE18627CC7}"/>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0" y="0"/>
            <a:ext cx="12192000" cy="6858000"/>
          </a:xfrm>
          <a:prstGeom prst="rect">
            <a:avLst/>
          </a:prstGeom>
          <a:noFill/>
        </p:spPr>
      </p:pic>
      <p:sp>
        <p:nvSpPr>
          <p:cNvPr id="4" name="Title 3">
            <a:extLst>
              <a:ext uri="{FF2B5EF4-FFF2-40B4-BE49-F238E27FC236}">
                <a16:creationId xmlns:a16="http://schemas.microsoft.com/office/drawing/2014/main" id="{30C1D0E0-1A33-E61C-6285-DCE942B4F6DE}"/>
              </a:ext>
            </a:extLst>
          </p:cNvPr>
          <p:cNvSpPr>
            <a:spLocks noGrp="1"/>
          </p:cNvSpPr>
          <p:nvPr>
            <p:ph type="title"/>
          </p:nvPr>
        </p:nvSpPr>
        <p:spPr>
          <a:xfrm>
            <a:off x="1721291" y="1898030"/>
            <a:ext cx="3924935" cy="1695637"/>
          </a:xfrm>
        </p:spPr>
        <p:txBody>
          <a:bodyPr>
            <a:noAutofit/>
          </a:bodyPr>
          <a:lstStyle/>
          <a:p>
            <a:r>
              <a:rPr lang="en-GB" dirty="0"/>
              <a:t>From this point on…you’re a scientific  researcher!</a:t>
            </a:r>
          </a:p>
        </p:txBody>
      </p:sp>
      <p:sp>
        <p:nvSpPr>
          <p:cNvPr id="16" name="Text Placeholder 3">
            <a:extLst>
              <a:ext uri="{FF2B5EF4-FFF2-40B4-BE49-F238E27FC236}">
                <a16:creationId xmlns:a16="http://schemas.microsoft.com/office/drawing/2014/main" id="{C7336734-6E1B-86C1-1C89-0DF6BC77D000}"/>
              </a:ext>
            </a:extLst>
          </p:cNvPr>
          <p:cNvSpPr>
            <a:spLocks noGrp="1"/>
          </p:cNvSpPr>
          <p:nvPr>
            <p:ph type="body" sz="quarter" idx="11"/>
          </p:nvPr>
        </p:nvSpPr>
        <p:spPr>
          <a:xfrm>
            <a:off x="1099124" y="985096"/>
            <a:ext cx="3924934" cy="490538"/>
          </a:xfrm>
        </p:spPr>
        <p:txBody>
          <a:bodyPr/>
          <a:lstStyle/>
          <a:p>
            <a:r>
              <a:rPr lang="en-US" dirty="0"/>
              <a:t>Congratulations</a:t>
            </a:r>
          </a:p>
        </p:txBody>
      </p:sp>
      <p:sp>
        <p:nvSpPr>
          <p:cNvPr id="18" name="Text Placeholder 4">
            <a:extLst>
              <a:ext uri="{FF2B5EF4-FFF2-40B4-BE49-F238E27FC236}">
                <a16:creationId xmlns:a16="http://schemas.microsoft.com/office/drawing/2014/main" id="{CC0C9F82-91C8-08F9-00DA-6E459334C7A9}"/>
              </a:ext>
            </a:extLst>
          </p:cNvPr>
          <p:cNvSpPr>
            <a:spLocks noGrp="1"/>
          </p:cNvSpPr>
          <p:nvPr>
            <p:ph type="body" sz="quarter" idx="13"/>
          </p:nvPr>
        </p:nvSpPr>
        <p:spPr>
          <a:xfrm>
            <a:off x="3061591" y="4816192"/>
            <a:ext cx="3222836" cy="1168530"/>
          </a:xfrm>
        </p:spPr>
        <p:txBody>
          <a:bodyPr/>
          <a:lstStyle/>
          <a:p>
            <a:r>
              <a:rPr lang="en-US" dirty="0"/>
              <a:t>Mad or otherwise </a:t>
            </a:r>
          </a:p>
        </p:txBody>
      </p:sp>
      <p:pic>
        <p:nvPicPr>
          <p:cNvPr id="2" name="Picture 1">
            <a:extLst>
              <a:ext uri="{FF2B5EF4-FFF2-40B4-BE49-F238E27FC236}">
                <a16:creationId xmlns:a16="http://schemas.microsoft.com/office/drawing/2014/main" id="{70B7A4FA-2719-389C-F09F-AB86D5CC8F43}"/>
              </a:ext>
            </a:extLst>
          </p:cNvPr>
          <p:cNvPicPr>
            <a:picLocks noChangeAspect="1"/>
          </p:cNvPicPr>
          <p:nvPr/>
        </p:nvPicPr>
        <p:blipFill>
          <a:blip r:embed="rId4"/>
          <a:stretch>
            <a:fillRect/>
          </a:stretch>
        </p:blipFill>
        <p:spPr>
          <a:xfrm>
            <a:off x="249382" y="712643"/>
            <a:ext cx="7439054" cy="5324476"/>
          </a:xfrm>
          <a:prstGeom prst="rect">
            <a:avLst/>
          </a:prstGeom>
        </p:spPr>
      </p:pic>
    </p:spTree>
    <p:extLst>
      <p:ext uri="{BB962C8B-B14F-4D97-AF65-F5344CB8AC3E}">
        <p14:creationId xmlns:p14="http://schemas.microsoft.com/office/powerpoint/2010/main" val="1349438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ECEC7B-9358-61EF-8D42-0FC1835CE28D}"/>
              </a:ext>
            </a:extLst>
          </p:cNvPr>
          <p:cNvSpPr>
            <a:spLocks noGrp="1"/>
          </p:cNvSpPr>
          <p:nvPr>
            <p:ph type="title"/>
          </p:nvPr>
        </p:nvSpPr>
        <p:spPr>
          <a:xfrm>
            <a:off x="841248" y="365760"/>
            <a:ext cx="10515600" cy="1325880"/>
          </a:xfrm>
        </p:spPr>
        <p:txBody>
          <a:bodyPr anchor="ctr">
            <a:normAutofit/>
          </a:bodyPr>
          <a:lstStyle/>
          <a:p>
            <a:pPr algn="ctr"/>
            <a:r>
              <a:rPr lang="en-US" sz="4800" dirty="0">
                <a:solidFill>
                  <a:schemeClr val="tx1"/>
                </a:solidFill>
              </a:rPr>
              <a:t> </a:t>
            </a:r>
            <a:endParaRPr lang="en-GB" sz="4800" dirty="0">
              <a:solidFill>
                <a:schemeClr val="tx1"/>
              </a:solidFill>
            </a:endParaRPr>
          </a:p>
        </p:txBody>
      </p:sp>
      <p:pic>
        <p:nvPicPr>
          <p:cNvPr id="4" name="Picture 3">
            <a:extLst>
              <a:ext uri="{FF2B5EF4-FFF2-40B4-BE49-F238E27FC236}">
                <a16:creationId xmlns:a16="http://schemas.microsoft.com/office/drawing/2014/main" id="{48CA1113-4524-2852-6B70-9C62F99B7CB6}"/>
              </a:ext>
            </a:extLst>
          </p:cNvPr>
          <p:cNvPicPr>
            <a:picLocks noChangeAspect="1"/>
          </p:cNvPicPr>
          <p:nvPr/>
        </p:nvPicPr>
        <p:blipFill>
          <a:blip r:embed="rId3"/>
          <a:srcRect t="-480" r="-2" b="-2"/>
          <a:stretch/>
        </p:blipFill>
        <p:spPr>
          <a:xfrm>
            <a:off x="244900" y="200771"/>
            <a:ext cx="2973847" cy="3228230"/>
          </a:xfrm>
          <a:prstGeom prst="rect">
            <a:avLst/>
          </a:prstGeom>
          <a:noFill/>
        </p:spPr>
      </p:pic>
      <p:sp>
        <p:nvSpPr>
          <p:cNvPr id="2" name="Content Placeholder 1">
            <a:extLst>
              <a:ext uri="{FF2B5EF4-FFF2-40B4-BE49-F238E27FC236}">
                <a16:creationId xmlns:a16="http://schemas.microsoft.com/office/drawing/2014/main" id="{15B5FFB2-A5AC-699F-29F2-299D023C83C6}"/>
              </a:ext>
            </a:extLst>
          </p:cNvPr>
          <p:cNvSpPr>
            <a:spLocks noGrp="1"/>
          </p:cNvSpPr>
          <p:nvPr>
            <p:ph sz="quarter" idx="4294967295"/>
          </p:nvPr>
        </p:nvSpPr>
        <p:spPr>
          <a:xfrm>
            <a:off x="3436527" y="477773"/>
            <a:ext cx="8081963" cy="5779163"/>
          </a:xfrm>
          <a:prstGeom prst="rect">
            <a:avLst/>
          </a:prstGeom>
          <a:solidFill>
            <a:srgbClr val="F2F2F2"/>
          </a:solidFill>
        </p:spPr>
        <p:txBody>
          <a:bodyPr anchor="t">
            <a:normAutofit lnSpcReduction="10000"/>
          </a:bodyPr>
          <a:lstStyle/>
          <a:p>
            <a:pPr marL="0" indent="0" algn="ctr">
              <a:buNone/>
            </a:pPr>
            <a:r>
              <a:rPr lang="en-US" sz="3600" b="1" dirty="0">
                <a:solidFill>
                  <a:srgbClr val="003300"/>
                </a:solidFill>
                <a:effectLst>
                  <a:outerShdw blurRad="38100" dist="38100" dir="2700000" algn="tl">
                    <a:srgbClr val="000000">
                      <a:alpha val="43137"/>
                    </a:srgbClr>
                  </a:outerShdw>
                </a:effectLst>
              </a:rPr>
              <a:t>Thematic Analysis</a:t>
            </a:r>
            <a:endParaRPr lang="en-US" sz="3600" b="1" kern="1200" dirty="0">
              <a:solidFill>
                <a:srgbClr val="003300"/>
              </a:solidFill>
              <a:effectLst>
                <a:outerShdw blurRad="38100" dist="38100" dir="2700000" algn="tl">
                  <a:srgbClr val="000000">
                    <a:alpha val="43137"/>
                  </a:srgbClr>
                </a:outerShdw>
              </a:effectLst>
            </a:endParaRPr>
          </a:p>
          <a:p>
            <a:pPr marL="0" indent="0" algn="ctr">
              <a:buNone/>
            </a:pPr>
            <a:r>
              <a:rPr lang="en-US" sz="1600" b="1" kern="1200" dirty="0">
                <a:solidFill>
                  <a:schemeClr val="tx1"/>
                </a:solidFill>
              </a:rPr>
              <a:t>Duration: </a:t>
            </a:r>
            <a:r>
              <a:rPr lang="en-US" sz="1600" dirty="0">
                <a:solidFill>
                  <a:schemeClr val="tx1"/>
                </a:solidFill>
              </a:rPr>
              <a:t>40</a:t>
            </a:r>
            <a:r>
              <a:rPr lang="en-US" sz="1600" kern="1200" dirty="0">
                <a:solidFill>
                  <a:schemeClr val="tx1"/>
                </a:solidFill>
              </a:rPr>
              <a:t> minutes </a:t>
            </a:r>
          </a:p>
          <a:p>
            <a:pPr marL="714375" indent="-714375" algn="just">
              <a:buNone/>
            </a:pPr>
            <a:r>
              <a:rPr lang="en-GB" sz="1600" b="1" dirty="0"/>
              <a:t>Objective: </a:t>
            </a:r>
            <a:r>
              <a:rPr lang="en-GB" sz="1600" dirty="0"/>
              <a:t>To help students develop a deep understanding of thematic analysis as a qualitative research method. The task encourages students to identify themes within a given dataset, analyse how these themes are developed, and reflect on the methodological choices involved in thematic analysis..</a:t>
            </a:r>
          </a:p>
          <a:p>
            <a:pPr marL="0" indent="0" algn="ctr">
              <a:buNone/>
            </a:pPr>
            <a:r>
              <a:rPr lang="en-GB" sz="1600" dirty="0"/>
              <a:t>Task Description</a:t>
            </a:r>
          </a:p>
          <a:p>
            <a:pPr marL="0" indent="0">
              <a:buNone/>
            </a:pPr>
            <a:r>
              <a:rPr lang="en-GB" sz="1600" b="1" dirty="0"/>
              <a:t>Dataset Review (10 minutes):</a:t>
            </a:r>
          </a:p>
          <a:p>
            <a:pPr marL="0" indent="0">
              <a:buNone/>
            </a:pPr>
            <a:r>
              <a:rPr lang="en-GB" sz="1600" dirty="0"/>
              <a:t>Each group will select a qualitative dataset (e.g., interview transcripts, focus group discussions, or open-ended survey responses) relevant to a specific research topic (e.g., healthcare, technology adoption, workplace diversity, etc.).</a:t>
            </a:r>
          </a:p>
          <a:p>
            <a:r>
              <a:rPr lang="en-GB" sz="1600" b="1" dirty="0"/>
              <a:t>Initial Coding (10 minutes):</a:t>
            </a:r>
            <a:br>
              <a:rPr lang="en-GB" sz="1600" dirty="0"/>
            </a:br>
            <a:r>
              <a:rPr lang="en-GB" sz="1600" dirty="0"/>
              <a:t>Each group will identify and list initial codes based on recurring ideas, phrases, or patterns in the text. Discuss as a group which codes seem most relevant to the research question or topic.</a:t>
            </a:r>
          </a:p>
          <a:p>
            <a:r>
              <a:rPr lang="en-GB" sz="1600" b="1" dirty="0"/>
              <a:t>Theme Identification (10 minutes):</a:t>
            </a:r>
            <a:br>
              <a:rPr lang="en-GB" sz="1600" dirty="0"/>
            </a:br>
            <a:r>
              <a:rPr lang="en-GB" sz="1600" dirty="0"/>
              <a:t>After coding, group similar codes together to create 2-3 overarching themes. Write a brief description of each theme and justify why these themes were chosen.</a:t>
            </a:r>
          </a:p>
          <a:p>
            <a:r>
              <a:rPr lang="en-GB" sz="1600" b="1" dirty="0"/>
              <a:t>Quick Reflection (10 minutes):</a:t>
            </a:r>
            <a:br>
              <a:rPr lang="en-GB" sz="1600" dirty="0"/>
            </a:br>
            <a:r>
              <a:rPr lang="en-GB" sz="1600" dirty="0"/>
              <a:t>Reflect on the process: What challenges did your group face? How might thematic analysis be useful in research?</a:t>
            </a:r>
          </a:p>
          <a:p>
            <a:pPr marL="0" indent="0">
              <a:buNone/>
            </a:pPr>
            <a:endParaRPr lang="en-GB" sz="1600" dirty="0"/>
          </a:p>
          <a:p>
            <a:pPr marL="0" indent="0">
              <a:buNone/>
            </a:pPr>
            <a:endParaRPr lang="en-GB" sz="1600" dirty="0"/>
          </a:p>
          <a:p>
            <a:pPr marL="0" indent="0">
              <a:buNone/>
            </a:pPr>
            <a:endParaRPr lang="en-GB" sz="1600" dirty="0"/>
          </a:p>
          <a:p>
            <a:pPr marL="0" indent="0" algn="ctr">
              <a:buNone/>
            </a:pPr>
            <a:endParaRPr lang="en-US" sz="1600" kern="1200" dirty="0">
              <a:solidFill>
                <a:schemeClr val="tx1"/>
              </a:solidFill>
            </a:endParaRPr>
          </a:p>
        </p:txBody>
      </p:sp>
    </p:spTree>
    <p:extLst>
      <p:ext uri="{BB962C8B-B14F-4D97-AF65-F5344CB8AC3E}">
        <p14:creationId xmlns:p14="http://schemas.microsoft.com/office/powerpoint/2010/main" val="1824499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4EB77E-0C3E-FCCA-E05D-971D1F911504}"/>
              </a:ext>
            </a:extLst>
          </p:cNvPr>
          <p:cNvPicPr>
            <a:picLocks noChangeAspect="1"/>
          </p:cNvPicPr>
          <p:nvPr/>
        </p:nvPicPr>
        <p:blipFill>
          <a:blip r:embed="rId2"/>
          <a:srcRect t="2429" r="-3" b="1397"/>
          <a:stretch/>
        </p:blipFill>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a:noFill/>
        </p:spPr>
      </p:pic>
      <p:sp>
        <p:nvSpPr>
          <p:cNvPr id="21" name="Text Placeholder 2">
            <a:extLst>
              <a:ext uri="{FF2B5EF4-FFF2-40B4-BE49-F238E27FC236}">
                <a16:creationId xmlns:a16="http://schemas.microsoft.com/office/drawing/2014/main" id="{5008B246-BC91-8BA6-FD45-2FA834E18CAE}"/>
              </a:ext>
            </a:extLst>
          </p:cNvPr>
          <p:cNvSpPr>
            <a:spLocks noGrp="1"/>
          </p:cNvSpPr>
          <p:nvPr>
            <p:ph type="body" sz="quarter" idx="12"/>
          </p:nvPr>
        </p:nvSpPr>
        <p:spPr>
          <a:xfrm>
            <a:off x="660400" y="2044700"/>
            <a:ext cx="4275138" cy="3560763"/>
          </a:xfrm>
        </p:spPr>
        <p:txBody>
          <a:bodyPr/>
          <a:lstStyle/>
          <a:p>
            <a:r>
              <a:rPr lang="en-US" dirty="0"/>
              <a:t>Spend 10 mins just writing, you can either reflect on today’s lesson, capture ideas for a dissertation, reflect on today’s topics and how can they be </a:t>
            </a:r>
            <a:r>
              <a:rPr lang="en-GB" dirty="0"/>
              <a:t>applied to your research </a:t>
            </a:r>
          </a:p>
          <a:p>
            <a:r>
              <a:rPr lang="en-GB" dirty="0"/>
              <a:t>Free write if you like also – just simply write. </a:t>
            </a:r>
          </a:p>
          <a:p>
            <a:endParaRPr lang="en-US" dirty="0"/>
          </a:p>
        </p:txBody>
      </p:sp>
      <p:sp>
        <p:nvSpPr>
          <p:cNvPr id="16" name="Title 2">
            <a:extLst>
              <a:ext uri="{FF2B5EF4-FFF2-40B4-BE49-F238E27FC236}">
                <a16:creationId xmlns:a16="http://schemas.microsoft.com/office/drawing/2014/main" id="{9109154A-ED81-F668-8C52-27D453698BEB}"/>
              </a:ext>
            </a:extLst>
          </p:cNvPr>
          <p:cNvSpPr>
            <a:spLocks noGrp="1"/>
          </p:cNvSpPr>
          <p:nvPr>
            <p:ph type="title"/>
          </p:nvPr>
        </p:nvSpPr>
        <p:spPr>
          <a:xfrm>
            <a:off x="660400" y="805213"/>
            <a:ext cx="4275138" cy="830997"/>
          </a:xfrm>
        </p:spPr>
        <p:txBody>
          <a:bodyPr>
            <a:normAutofit/>
          </a:bodyPr>
          <a:lstStyle/>
          <a:p>
            <a:r>
              <a:rPr lang="en-US" sz="2600" dirty="0"/>
              <a:t>Reflection &amp; Writing – 10 Mins</a:t>
            </a:r>
          </a:p>
        </p:txBody>
      </p:sp>
    </p:spTree>
    <p:extLst>
      <p:ext uri="{BB962C8B-B14F-4D97-AF65-F5344CB8AC3E}">
        <p14:creationId xmlns:p14="http://schemas.microsoft.com/office/powerpoint/2010/main" val="18910198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7746" b="7746"/>
          <a:stretch/>
        </p:blipFill>
        <p:spPr>
          <a:xfrm>
            <a:off x="20" y="10"/>
            <a:ext cx="12191980" cy="6857990"/>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6" name="Text Placeholder 5">
            <a:extLst>
              <a:ext uri="{FF2B5EF4-FFF2-40B4-BE49-F238E27FC236}">
                <a16:creationId xmlns:a16="http://schemas.microsoft.com/office/drawing/2014/main" id="{83BCC5C9-D87D-55FC-86B8-0613C32EE263}"/>
              </a:ext>
            </a:extLst>
          </p:cNvPr>
          <p:cNvSpPr>
            <a:spLocks noGrp="1"/>
          </p:cNvSpPr>
          <p:nvPr>
            <p:ph type="body" sz="quarter" idx="11"/>
          </p:nvPr>
        </p:nvSpPr>
        <p:spPr>
          <a:xfrm>
            <a:off x="8154609" y="6201251"/>
            <a:ext cx="3924934" cy="490538"/>
          </a:xfrm>
        </p:spPr>
        <p:txBody>
          <a:bodyPr>
            <a:normAutofit/>
          </a:bodyPr>
          <a:lstStyle/>
          <a:p>
            <a:r>
              <a:rPr lang="en-GB" dirty="0"/>
              <a:t>Or answers ?</a:t>
            </a:r>
          </a:p>
        </p:txBody>
      </p:sp>
      <p:sp>
        <p:nvSpPr>
          <p:cNvPr id="25" name="Title 3">
            <a:extLst>
              <a:ext uri="{FF2B5EF4-FFF2-40B4-BE49-F238E27FC236}">
                <a16:creationId xmlns:a16="http://schemas.microsoft.com/office/drawing/2014/main" id="{0EB3CC0A-22A0-5855-9B31-36F6CFB0B297}"/>
              </a:ext>
            </a:extLst>
          </p:cNvPr>
          <p:cNvSpPr>
            <a:spLocks noGrp="1"/>
          </p:cNvSpPr>
          <p:nvPr>
            <p:ph type="title"/>
          </p:nvPr>
        </p:nvSpPr>
        <p:spPr>
          <a:xfrm>
            <a:off x="392148" y="287293"/>
            <a:ext cx="3924934" cy="1695637"/>
          </a:xfrm>
        </p:spPr>
        <p:txBody>
          <a:bodyPr/>
          <a:lstStyle/>
          <a:p>
            <a:r>
              <a:rPr lang="en-US" dirty="0"/>
              <a:t>Questions??</a:t>
            </a:r>
          </a:p>
        </p:txBody>
      </p:sp>
    </p:spTree>
    <p:extLst>
      <p:ext uri="{BB962C8B-B14F-4D97-AF65-F5344CB8AC3E}">
        <p14:creationId xmlns:p14="http://schemas.microsoft.com/office/powerpoint/2010/main" val="715534863"/>
      </p:ext>
    </p:extLst>
  </p:cSld>
  <p:clrMapOvr>
    <a:masterClrMapping/>
  </p:clrMapOvr>
</p:sld>
</file>

<file path=ppt/theme/theme1.xml><?xml version="1.0" encoding="utf-8"?>
<a:theme xmlns:a="http://schemas.openxmlformats.org/drawingml/2006/main" name="COM7302 - Lecture Notes Template ">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89f7b614-c64b-4738-997e-aac1eab42931" xsi:nil="true"/>
    <_activity xmlns="89f7b614-c64b-4738-997e-aac1eab4293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7C986513D50A4C9143007A1A38EF2E" ma:contentTypeVersion="18" ma:contentTypeDescription="Create a new document." ma:contentTypeScope="" ma:versionID="21e1fbfe0a6ca7a30510918adfd9cbd6">
  <xsd:schema xmlns:xsd="http://www.w3.org/2001/XMLSchema" xmlns:xs="http://www.w3.org/2001/XMLSchema" xmlns:p="http://schemas.microsoft.com/office/2006/metadata/properties" xmlns:ns3="d1f5d9b0-cdb0-4c3a-b058-450b9d105468" xmlns:ns4="89f7b614-c64b-4738-997e-aac1eab42931" targetNamespace="http://schemas.microsoft.com/office/2006/metadata/properties" ma:root="true" ma:fieldsID="573784e5b50c325d55c9015ced130b1b" ns3:_="" ns4:_="">
    <xsd:import namespace="d1f5d9b0-cdb0-4c3a-b058-450b9d105468"/>
    <xsd:import namespace="89f7b614-c64b-4738-997e-aac1eab4293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f5d9b0-cdb0-4c3a-b058-450b9d1054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f7b614-c64b-4738-997e-aac1eab4293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89f7b614-c64b-4738-997e-aac1eab42931"/>
    <ds:schemaRef ds:uri="http://purl.org/dc/dcmitype/"/>
    <ds:schemaRef ds:uri="http://schemas.microsoft.com/office/2006/documentManagement/types"/>
    <ds:schemaRef ds:uri="http://purl.org/dc/elements/1.1/"/>
    <ds:schemaRef ds:uri="http://schemas.microsoft.com/office/2006/metadata/properties"/>
    <ds:schemaRef ds:uri="http://purl.org/dc/terms/"/>
    <ds:schemaRef ds:uri="http://www.w3.org/XML/1998/namespace"/>
    <ds:schemaRef ds:uri="http://schemas.microsoft.com/office/infopath/2007/PartnerControls"/>
    <ds:schemaRef ds:uri="http://schemas.openxmlformats.org/package/2006/metadata/core-properties"/>
    <ds:schemaRef ds:uri="d1f5d9b0-cdb0-4c3a-b058-450b9d105468"/>
  </ds:schemaRefs>
</ds:datastoreItem>
</file>

<file path=customXml/itemProps3.xml><?xml version="1.0" encoding="utf-8"?>
<ds:datastoreItem xmlns:ds="http://schemas.openxmlformats.org/officeDocument/2006/customXml" ds:itemID="{E76D721A-0366-442E-A691-0B57DD6C12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f5d9b0-cdb0-4c3a-b058-450b9d105468"/>
    <ds:schemaRef ds:uri="89f7b614-c64b-4738-997e-aac1eab429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8261</TotalTime>
  <Words>4058</Words>
  <Application>Microsoft Office PowerPoint</Application>
  <PresentationFormat>Widescreen</PresentationFormat>
  <Paragraphs>400</Paragraphs>
  <Slides>37</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Aptos Display</vt:lpstr>
      <vt:lpstr>Arial</vt:lpstr>
      <vt:lpstr>Arial MT</vt:lpstr>
      <vt:lpstr>Calibri</vt:lpstr>
      <vt:lpstr>Calibri Light</vt:lpstr>
      <vt:lpstr>Helvetica Neue</vt:lpstr>
      <vt:lpstr>inherit</vt:lpstr>
      <vt:lpstr>Wingdings</vt:lpstr>
      <vt:lpstr>COM7302 - Lecture Notes Template </vt:lpstr>
      <vt:lpstr>COM7302 – Research Methods  Welcome</vt:lpstr>
      <vt:lpstr>Qualitative Data Analysis Techniques</vt:lpstr>
      <vt:lpstr>By the end of the session, you should be able to…</vt:lpstr>
      <vt:lpstr>All the resources will be posted to the Moodle page </vt:lpstr>
      <vt:lpstr>Qualitative Research - Plan</vt:lpstr>
      <vt:lpstr>What is Qualitative Research?</vt:lpstr>
      <vt:lpstr>Qualitative Data Analysis</vt:lpstr>
      <vt:lpstr>Three Stages of Qualitative Research</vt:lpstr>
      <vt:lpstr>Data Collection Methods</vt:lpstr>
      <vt:lpstr>Comparison of different data collection methods</vt:lpstr>
      <vt:lpstr> </vt:lpstr>
      <vt:lpstr>Data  Analysis Techniques</vt:lpstr>
      <vt:lpstr>Analyse Data (Content) – In a nutshell</vt:lpstr>
      <vt:lpstr>Content Analysis</vt:lpstr>
      <vt:lpstr>Steps involved in Content Analysis</vt:lpstr>
      <vt:lpstr>Content Analysis</vt:lpstr>
      <vt:lpstr>Narrative Analysis</vt:lpstr>
      <vt:lpstr>Narrative Analysis</vt:lpstr>
      <vt:lpstr>Grounded Theory Analysis</vt:lpstr>
      <vt:lpstr>Grounded Theory Analysis</vt:lpstr>
      <vt:lpstr>Thematic analysis</vt:lpstr>
      <vt:lpstr>Thematic Analysis - Reading and Chunking</vt:lpstr>
      <vt:lpstr>Thematic Analysis - Reading and Chunking</vt:lpstr>
      <vt:lpstr>Thematic Analysis - Reading and Chunking</vt:lpstr>
      <vt:lpstr>Example: Qualitative Data</vt:lpstr>
      <vt:lpstr>Coding example</vt:lpstr>
      <vt:lpstr>Coding - Chunking</vt:lpstr>
      <vt:lpstr>Coding – Conversion to Concepts</vt:lpstr>
      <vt:lpstr>Axial Coding – Relating Concepts to Categories</vt:lpstr>
      <vt:lpstr>Axial Coding </vt:lpstr>
      <vt:lpstr>Coding </vt:lpstr>
      <vt:lpstr>Generating Conclusions </vt:lpstr>
      <vt:lpstr>Multi-modal data</vt:lpstr>
      <vt:lpstr>From this point on…you’re a scientific  researcher!</vt:lpstr>
      <vt:lpstr> </vt:lpstr>
      <vt:lpstr>Reflection &amp; Writing – 10 Mins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Overview</dc:title>
  <dc:creator>Tighe, Bren</dc:creator>
  <cp:lastModifiedBy>Tighe, Bren</cp:lastModifiedBy>
  <cp:revision>147</cp:revision>
  <dcterms:created xsi:type="dcterms:W3CDTF">2023-01-23T08:43:55Z</dcterms:created>
  <dcterms:modified xsi:type="dcterms:W3CDTF">2024-11-11T08:57:13Z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0x010100D17C986513D50A4C9143007A1A38EF2E</vt:lpwstr>
  </property>
</Properties>
</file>