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429" r:id="rId10"/>
    <p:sldId id="430" r:id="rId9"/>
    <p:sldId id="431" r:id="rId45"/>
    <p:sldId id="432" r:id="rId46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33.xml"/><Relationship Id="rId10" Type="http://schemas.openxmlformats.org/officeDocument/2006/relationships/slide" Target="slides/slide3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5" Type="http://schemas.openxmlformats.org/officeDocument/2006/relationships/slide" Target="slides/slide34.xml"/><Relationship Id="rId46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4 – Session 2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Qualitative Data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Explain what qualitative data analysis is and how it differs from quantitative analysis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Apply thematic analysis to a short extract: chunk, code, form concepts and categories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Judge how thematic analysis does or does not fit your own design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Submit a report that is ready, with your declaration of software and AI use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Reflect on what thematic analysis showed you, where it fits or does not fit your design, and how you would show your analysis is rigorous. Free write if you like.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Today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91440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Qualitative analysis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91440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Thematic analysis worked example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91440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Apply it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report is due Friday 27 November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Zoom 4 on Thursday is the report clinic, and your oral-defence check is issued there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Bring your analysis plan paragraph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is qualitative research?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Examines non-numeric data: interview transcripts, open responses, text, images, audio and video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Explores situations where numbers alone cannot give insight: stories, social patterns, perspectives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An inductive approach: the findings are not decided in advance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Goal: turn unstructured data into a structured form that can be analysed and reported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Three stages of qualitative research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0584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1. Select or create the data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2. Analyse systematically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3. Generate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Example: voice commands to a smart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Stage 1: obtain recordings of the commands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Stage 2: decide the purpose of each command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Stage 3: find the most common types of command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Collecting qualitative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3657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Advantage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Questionnaires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Cheap and easy to administer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Rigid; no chance to follow up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Interviews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Deep, rich single perspective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Costly to collect a lot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Focus groups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Cost-effective; group dynamics give new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Dominant members can take over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Field studies (involved)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Natural setting; engaged participants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Biased analysis; may alter behaviour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Observation (detached)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Outsider can see patterns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Limited ability to probe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Internet-based observation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Large amounts of data on many topics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Consent and data protection concerns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Diary studies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Long-term; good when privacy matters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Needs incentives; high effort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Approaches you may meet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965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Code text into categories, then look for patterns and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Narrative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965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Analyse the stories people tell, their structure, context and 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Grounded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965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Build a theory from data through open, axial and selective coding, collecting and analysing in tandem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6344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224E"/>
                </a:solidFill>
              </a:rPr>
              <a:t>Read about these in your pre-reading. Today we learn one method well: thematic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6344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Thematic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324A"/>
                </a:solidFill>
              </a:rPr>
              <a:t>A systematic way of breaking down rich data by tagging observations with codes, so that significant themes can be found. The themes come from the data.</a:t>
            </a:r>
          </a:p>
        </p:txBody>
      </p:sp>
      <p:sp>
        <p:nvSpPr>
          <p:cNvPr id="5" name="Pentagon 4"/>
          <p:cNvSpPr/>
          <p:nvPr/>
        </p:nvSpPr>
        <p:spPr>
          <a:xfrm>
            <a:off x="822960" y="2926080"/>
            <a:ext cx="2029967" cy="100584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Read and understand</a:t>
            </a:r>
          </a:p>
        </p:txBody>
      </p:sp>
      <p:sp>
        <p:nvSpPr>
          <p:cNvPr id="6" name="Chevron 5"/>
          <p:cNvSpPr/>
          <p:nvPr/>
        </p:nvSpPr>
        <p:spPr>
          <a:xfrm>
            <a:off x="2944368" y="2926080"/>
            <a:ext cx="2029967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Chunk</a:t>
            </a:r>
          </a:p>
        </p:txBody>
      </p:sp>
      <p:sp>
        <p:nvSpPr>
          <p:cNvPr id="7" name="Chevron 6"/>
          <p:cNvSpPr/>
          <p:nvPr/>
        </p:nvSpPr>
        <p:spPr>
          <a:xfrm>
            <a:off x="5065776" y="2926080"/>
            <a:ext cx="2029967" cy="1005840"/>
          </a:xfrm>
          <a:prstGeom prst="chevron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8" name="Chevron 7"/>
          <p:cNvSpPr/>
          <p:nvPr/>
        </p:nvSpPr>
        <p:spPr>
          <a:xfrm>
            <a:off x="7187183" y="2926080"/>
            <a:ext cx="2029967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Concepts</a:t>
            </a:r>
          </a:p>
        </p:txBody>
      </p:sp>
      <p:sp>
        <p:nvSpPr>
          <p:cNvPr id="9" name="Chevron 8"/>
          <p:cNvSpPr/>
          <p:nvPr/>
        </p:nvSpPr>
        <p:spPr>
          <a:xfrm>
            <a:off x="9308592" y="2926080"/>
            <a:ext cx="2029967" cy="1005840"/>
          </a:xfrm>
          <a:prstGeom prst="chevron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Example question: why do fewer elderly people buy smartphones?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72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1: read and 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324A"/>
                </a:solidFill>
              </a:rPr>
              <a:t>Split big blocks of text into smaller ones. Each chunk is one idea, usually a sentence. Read closely and more than once. We care about meaning, not the exact words: what is this person telling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1224E"/>
                </a:solidFill>
              </a:rPr>
              <a:t>"I love how many different cases it comes with. I enjoy switching them up now and then, and I always choose the sleek, modern colours. When my neighbour drops by for cake, I often get compliments. However, the text on the screen is a bit small, and if I increase the size, there's only space for a few words. But my daughter is always there to help if I need it, so it's not really an issue. Plus, I don't do much reading on it anyway."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578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1224E"/>
                </a:solidFill>
              </a:rPr>
              <a:t>What is the key point here?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2578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2: code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2C599D"/>
                </a:solidFill>
              </a:rPr>
              <a:t>Feedback from adults about their experience of technology. Select the chunks that matter.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224E"/>
                </a:solidFill>
              </a:rPr>
              <a:t>"</a:t>
            </a:r>
            <a:r>
              <a:rPr sz="1700" b="0" i="0">
                <a:solidFill>
                  <a:srgbClr val="11224E"/>
                </a:solidFill>
              </a:rPr>
              <a:t>I find the size of the </a:t>
            </a:r>
            <a:r>
              <a:rPr sz="1700" b="1" i="0">
                <a:solidFill>
                  <a:srgbClr val="FA6F1A"/>
                </a:solidFill>
              </a:rPr>
              <a:t>text on the iPhone screen too small</a:t>
            </a:r>
            <a:r>
              <a:rPr sz="1700" b="0" i="0">
                <a:solidFill>
                  <a:srgbClr val="11224E"/>
                </a:solidFill>
              </a:rPr>
              <a:t>, and if you make it bigger, then there's not a lot of space for more than a few words. It's just not practical.</a:t>
            </a:r>
            <a:r>
              <a:rPr sz="1700" b="0" i="0">
                <a:solidFill>
                  <a:srgbClr val="11224E"/>
                </a:solidFill>
              </a:rPr>
              <a:t>"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224E"/>
                </a:solidFill>
              </a:rPr>
              <a:t>"</a:t>
            </a:r>
            <a:r>
              <a:rPr sz="1700" b="0" i="0">
                <a:solidFill>
                  <a:srgbClr val="11224E"/>
                </a:solidFill>
              </a:rPr>
              <a:t>I've yet to find a desk chair that doesn't </a:t>
            </a:r>
            <a:r>
              <a:rPr sz="1700" b="1" i="0">
                <a:solidFill>
                  <a:srgbClr val="FA6F1A"/>
                </a:solidFill>
              </a:rPr>
              <a:t>make my back hurt</a:t>
            </a:r>
            <a:r>
              <a:rPr sz="1700" b="0" i="0">
                <a:solidFill>
                  <a:srgbClr val="11224E"/>
                </a:solidFill>
              </a:rPr>
              <a:t> more than it already does.</a:t>
            </a:r>
            <a:r>
              <a:rPr sz="1700" b="0" i="0">
                <a:solidFill>
                  <a:srgbClr val="11224E"/>
                </a:solidFill>
              </a:rPr>
              <a:t>"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224E"/>
                </a:solidFill>
              </a:rPr>
              <a:t>"</a:t>
            </a:r>
            <a:r>
              <a:rPr sz="1700" b="0" i="0">
                <a:solidFill>
                  <a:srgbClr val="11224E"/>
                </a:solidFill>
              </a:rPr>
              <a:t>I love </a:t>
            </a:r>
            <a:r>
              <a:rPr sz="1700" b="1" i="0">
                <a:solidFill>
                  <a:srgbClr val="FA6F1A"/>
                </a:solidFill>
              </a:rPr>
              <a:t>Skype</a:t>
            </a:r>
            <a:r>
              <a:rPr sz="1700" b="0" i="0">
                <a:solidFill>
                  <a:srgbClr val="11224E"/>
                </a:solidFill>
              </a:rPr>
              <a:t> most of all. Sometimes I have to </a:t>
            </a:r>
            <a:r>
              <a:rPr sz="1700" b="1" i="0">
                <a:solidFill>
                  <a:srgbClr val="FA6F1A"/>
                </a:solidFill>
              </a:rPr>
              <a:t>ask my daughter to get it to work</a:t>
            </a:r>
            <a:r>
              <a:rPr sz="1700" b="0" i="0">
                <a:solidFill>
                  <a:srgbClr val="11224E"/>
                </a:solidFill>
              </a:rPr>
              <a:t>, but when it does it's so </a:t>
            </a:r>
            <a:r>
              <a:rPr sz="1700" b="1" i="0">
                <a:solidFill>
                  <a:srgbClr val="FA6F1A"/>
                </a:solidFill>
              </a:rPr>
              <a:t>convenient</a:t>
            </a:r>
            <a:r>
              <a:rPr sz="1700" b="0" i="0">
                <a:solidFill>
                  <a:srgbClr val="11224E"/>
                </a:solidFill>
              </a:rPr>
              <a:t> and lets me connect with my grandkids.</a:t>
            </a:r>
            <a:r>
              <a:rPr sz="1700" b="0" i="0">
                <a:solidFill>
                  <a:srgbClr val="11224E"/>
                </a:solidFill>
              </a:rPr>
              <a:t>"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224E"/>
                </a:solidFill>
              </a:rPr>
              <a:t>"</a:t>
            </a:r>
            <a:r>
              <a:rPr sz="1700" b="0" i="0">
                <a:solidFill>
                  <a:srgbClr val="11224E"/>
                </a:solidFill>
              </a:rPr>
              <a:t>I can't get it to work. </a:t>
            </a:r>
            <a:r>
              <a:rPr sz="1700" b="1" i="0">
                <a:solidFill>
                  <a:srgbClr val="FA6F1A"/>
                </a:solidFill>
              </a:rPr>
              <a:t>SMS, email and now whatsapp and facebook</a:t>
            </a:r>
            <a:r>
              <a:rPr sz="1700" b="0" i="0">
                <a:solidFill>
                  <a:srgbClr val="11224E"/>
                </a:solidFill>
              </a:rPr>
              <a:t>… </a:t>
            </a:r>
            <a:r>
              <a:rPr sz="1700" b="1" i="0">
                <a:solidFill>
                  <a:srgbClr val="FA6F1A"/>
                </a:solidFill>
              </a:rPr>
              <a:t>It's all too confusing</a:t>
            </a:r>
            <a:r>
              <a:rPr sz="1700" b="0" i="0">
                <a:solidFill>
                  <a:srgbClr val="11224E"/>
                </a:solidFill>
              </a:rPr>
              <a:t>.</a:t>
            </a:r>
            <a:r>
              <a:rPr sz="1700" b="0" i="0">
                <a:solidFill>
                  <a:srgbClr val="11224E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3: from chunks to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2C599D"/>
                </a:solidFill>
              </a:rPr>
              <a:t>Strip out the specific content and name the idea behind each chunk.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7744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0"/>
                <a:gridCol w="4206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Chunk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text on the iPhone screen too small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Not practical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make my back hurt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Physical discomfort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Skype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Useful apps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ask my daughter to get it to work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Require assistance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convenient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Convenient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SMS, email and now whatsapp and facebook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Complex app ecosystem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It's all too confusing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Confusing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4: from concepts to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2C599D"/>
                </a:solidFill>
              </a:rPr>
              <a:t>Axial coding: relate concepts to categories, and separate Barriers from Opportunities.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31720"/>
          <a:ext cx="105155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263"/>
                <a:gridCol w="3874168"/>
                <a:gridCol w="3874168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Barriers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Opportunities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Physical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Physical discomfort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Avoid physical activity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Practicality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Not practical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Convenient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Applications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Complex app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Useful apps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Ease of use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Confusing</a:t>
                      </a:r>
                    </a:p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Require assistance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80644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We moved from unstructured text to structured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0644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5: generate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In this tiny sample, Ease of use has the most barriers, so it is the place to focus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With dozens of participants the pattern would be stronger and more reliable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Conclusions depend on the data and your question: a comparison between groups, or a recommendation for design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Here: put effort into documentation and tutorials rather than only into the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The same approach works on transcripts of audio, and on coded video behaviour.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Main task: apply thematic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Take the extract from your task sheet (or an excerpt of your own data if you are qualitative or mixed)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Chunk it, then code the chunks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Turn codes into concepts, then group them into categories with Barriers and Opportunities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Write two or three sentences on what the pattern suggests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Record every step: your table is your evidence of rigour.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Share your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Which categories did you find, and why those?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Where did you and your group disagree about a code?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What would a second coder have done differently?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Disagreement about codes is useful: it is where rigour comes from.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Does it fit your design?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What data would you code, and from whom?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What might your chunks and concepts look like?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Which rigour or trustworthiness standard fits your paradigm? This is the heart of your 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Be specific to your own design: generic reflection scores badly.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Before you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2,500 words plus or minus 10%, excluding references, under the four fixed headings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Your Methodology names a specific analysis approach and your ethics are specific to your proposal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Your Reflection names a rigour standard that fits your paradigm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Your declaration of software and generative AI use is at the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Due Friday 27 November 2026. The report is final once submitted.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Zoom 4: report clinic and your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Report clinic: common weaknesses against the marking criteria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Your oral-defence check is issued: one of four fixed methodological checks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The defence is 4 minutes plus or minus 30 seconds, with no generative AI and no scripts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Come with questions about your report; it is due the next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Next campus session: the oral defence workshop.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