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05" r:id="rId5"/>
  </p:sldMasterIdLst>
  <p:notesMasterIdLst>
    <p:notesMasterId r:id="rId20"/>
  </p:notesMasterIdLst>
  <p:handoutMasterIdLst>
    <p:handoutMasterId r:id="rId21"/>
  </p:handoutMasterIdLst>
  <p:sldIdLst>
    <p:sldId id="324" r:id="rId6"/>
    <p:sldId id="354" r:id="rId7"/>
    <p:sldId id="393" r:id="rId8"/>
    <p:sldId id="395" r:id="rId9"/>
    <p:sldId id="394" r:id="rId10"/>
    <p:sldId id="396" r:id="rId11"/>
    <p:sldId id="397" r:id="rId12"/>
    <p:sldId id="398" r:id="rId13"/>
    <p:sldId id="399" r:id="rId14"/>
    <p:sldId id="400" r:id="rId15"/>
    <p:sldId id="401" r:id="rId16"/>
    <p:sldId id="410" r:id="rId17"/>
    <p:sldId id="409" r:id="rId18"/>
    <p:sldId id="383" r:id="rId19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F2B7"/>
    <a:srgbClr val="AAAAAA"/>
    <a:srgbClr val="44546A"/>
    <a:srgbClr val="0F4761"/>
    <a:srgbClr val="FEA82D"/>
    <a:srgbClr val="D9F7DC"/>
    <a:srgbClr val="C25EBB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81919" autoAdjust="0"/>
  </p:normalViewPr>
  <p:slideViewPr>
    <p:cSldViewPr snapToGrid="0">
      <p:cViewPr varScale="1">
        <p:scale>
          <a:sx n="155" d="100"/>
          <a:sy n="155" d="100"/>
        </p:scale>
        <p:origin x="2592" y="15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svg"/><Relationship Id="rId2" Type="http://schemas.openxmlformats.org/officeDocument/2006/relationships/image" Target="../media/image11.svg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Relationship Id="rId7" Type="http://schemas.openxmlformats.org/officeDocument/2006/relationships/image" Target="../media/image16.svg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svg"/><Relationship Id="rId2" Type="http://schemas.openxmlformats.org/officeDocument/2006/relationships/image" Target="../media/image11.svg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Relationship Id="rId7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2014FD-9458-4DA2-8316-255275FECAB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9B6316C-0907-4D1F-A181-20AD227CB668}">
      <dgm:prSet custT="1"/>
      <dgm:spPr/>
      <dgm:t>
        <a:bodyPr/>
        <a:lstStyle/>
        <a:p>
          <a:r>
            <a:rPr lang="en-US" sz="1800" b="1" i="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Exploratory Questions: </a:t>
          </a:r>
          <a:r>
            <a:rPr lang="en-US" sz="1800" b="0" i="0" baseline="0" dirty="0"/>
            <a:t>Investigating unknown areas or underexplored topics.</a:t>
          </a:r>
          <a:endParaRPr lang="en-US" sz="1800" dirty="0"/>
        </a:p>
      </dgm:t>
    </dgm:pt>
    <dgm:pt modelId="{FACCDA9A-50C6-4BAC-8E9E-B2B8AD8D48DA}" type="parTrans" cxnId="{73832247-8514-4587-904E-BFBBBFB5942F}">
      <dgm:prSet/>
      <dgm:spPr/>
      <dgm:t>
        <a:bodyPr/>
        <a:lstStyle/>
        <a:p>
          <a:endParaRPr lang="en-US" sz="2000"/>
        </a:p>
      </dgm:t>
    </dgm:pt>
    <dgm:pt modelId="{213BDABB-2391-4CEB-88CF-A9BF7723709F}" type="sibTrans" cxnId="{73832247-8514-4587-904E-BFBBBFB5942F}">
      <dgm:prSet/>
      <dgm:spPr/>
      <dgm:t>
        <a:bodyPr/>
        <a:lstStyle/>
        <a:p>
          <a:endParaRPr lang="en-US" sz="2000"/>
        </a:p>
      </dgm:t>
    </dgm:pt>
    <dgm:pt modelId="{30330E1F-E008-4959-9970-23E45D0A14F6}">
      <dgm:prSet custT="1"/>
      <dgm:spPr/>
      <dgm:t>
        <a:bodyPr/>
        <a:lstStyle/>
        <a:p>
          <a:r>
            <a:rPr lang="en-US" sz="1800" b="1" i="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Predictive Questions: </a:t>
          </a:r>
          <a:r>
            <a:rPr lang="en-US" sz="1800" b="0" i="0" baseline="0" dirty="0"/>
            <a:t>Using data to forecast outcomes or trends.</a:t>
          </a:r>
          <a:endParaRPr lang="en-US" sz="1800" dirty="0"/>
        </a:p>
      </dgm:t>
    </dgm:pt>
    <dgm:pt modelId="{325AD331-D8C0-423C-BD0E-620E059D041F}" type="parTrans" cxnId="{0B6F95D5-9723-4090-8E1F-1CF5353CC95B}">
      <dgm:prSet/>
      <dgm:spPr/>
      <dgm:t>
        <a:bodyPr/>
        <a:lstStyle/>
        <a:p>
          <a:endParaRPr lang="en-US" sz="2000"/>
        </a:p>
      </dgm:t>
    </dgm:pt>
    <dgm:pt modelId="{E6ACE78F-B999-49CF-903F-82B52A88AA86}" type="sibTrans" cxnId="{0B6F95D5-9723-4090-8E1F-1CF5353CC95B}">
      <dgm:prSet/>
      <dgm:spPr/>
      <dgm:t>
        <a:bodyPr/>
        <a:lstStyle/>
        <a:p>
          <a:endParaRPr lang="en-US" sz="2000"/>
        </a:p>
      </dgm:t>
    </dgm:pt>
    <dgm:pt modelId="{EDBA6C1C-DBBA-4FA1-85BF-5DE5BD278167}">
      <dgm:prSet custT="1"/>
      <dgm:spPr/>
      <dgm:t>
        <a:bodyPr/>
        <a:lstStyle/>
        <a:p>
          <a:r>
            <a:rPr lang="en-US" sz="1800" b="1" i="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Interpretive Questions: </a:t>
          </a:r>
          <a:r>
            <a:rPr lang="en-US" sz="1800" b="0" i="0" baseline="0" dirty="0"/>
            <a:t>Understanding meanings, perspectives, or subjective experiences.</a:t>
          </a:r>
          <a:endParaRPr lang="en-US" sz="1800" dirty="0"/>
        </a:p>
      </dgm:t>
    </dgm:pt>
    <dgm:pt modelId="{E7FF88D2-956D-47A6-A92E-41C51BB0D3E4}" type="parTrans" cxnId="{7902E446-0EDB-4DD1-86CF-985E0A946876}">
      <dgm:prSet/>
      <dgm:spPr/>
      <dgm:t>
        <a:bodyPr/>
        <a:lstStyle/>
        <a:p>
          <a:endParaRPr lang="en-US" sz="2000"/>
        </a:p>
      </dgm:t>
    </dgm:pt>
    <dgm:pt modelId="{53FA9CED-9CCF-475C-B20C-46C061A3CE97}" type="sibTrans" cxnId="{7902E446-0EDB-4DD1-86CF-985E0A946876}">
      <dgm:prSet/>
      <dgm:spPr/>
      <dgm:t>
        <a:bodyPr/>
        <a:lstStyle/>
        <a:p>
          <a:endParaRPr lang="en-US" sz="2000"/>
        </a:p>
      </dgm:t>
    </dgm:pt>
    <dgm:pt modelId="{EC027FBC-C743-441E-8726-8140BA479967}">
      <dgm:prSet custT="1"/>
      <dgm:spPr/>
      <dgm:t>
        <a:bodyPr/>
        <a:lstStyle/>
        <a:p>
          <a:r>
            <a:rPr lang="en-US" sz="1800" b="1" i="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Relationship-Based Questions: </a:t>
          </a:r>
          <a:r>
            <a:rPr lang="en-US" sz="1800" b="0" i="0" baseline="0" dirty="0"/>
            <a:t>Exploring connections or correlations between variables.</a:t>
          </a:r>
          <a:endParaRPr lang="en-US" sz="1800" dirty="0"/>
        </a:p>
      </dgm:t>
    </dgm:pt>
    <dgm:pt modelId="{293D71C7-F8B9-412D-9711-C73FA53A5D10}" type="parTrans" cxnId="{89B8FDFD-F1C4-4EFE-B5CE-712DA0DBE10F}">
      <dgm:prSet/>
      <dgm:spPr/>
      <dgm:t>
        <a:bodyPr/>
        <a:lstStyle/>
        <a:p>
          <a:endParaRPr lang="en-US" sz="2000"/>
        </a:p>
      </dgm:t>
    </dgm:pt>
    <dgm:pt modelId="{A520E508-E661-492F-AD90-7063951602A1}" type="sibTrans" cxnId="{89B8FDFD-F1C4-4EFE-B5CE-712DA0DBE10F}">
      <dgm:prSet/>
      <dgm:spPr/>
      <dgm:t>
        <a:bodyPr/>
        <a:lstStyle/>
        <a:p>
          <a:endParaRPr lang="en-US" sz="2000"/>
        </a:p>
      </dgm:t>
    </dgm:pt>
    <dgm:pt modelId="{9CD25B4F-AD06-4597-9394-3900C8D3B861}">
      <dgm:prSet custT="1"/>
      <dgm:spPr/>
      <dgm:t>
        <a:bodyPr/>
        <a:lstStyle/>
        <a:p>
          <a:r>
            <a:rPr lang="en-US" sz="1800" b="1" i="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Descriptive Questions: </a:t>
          </a:r>
          <a:r>
            <a:rPr lang="en-US" sz="1800" b="0" i="0" baseline="0" dirty="0"/>
            <a:t>Describing the characteristics or status of a phenomenon.</a:t>
          </a:r>
          <a:endParaRPr lang="en-US" sz="1800" dirty="0"/>
        </a:p>
      </dgm:t>
    </dgm:pt>
    <dgm:pt modelId="{28432A87-8741-4032-A086-1D130341182A}" type="parTrans" cxnId="{82D5703C-9C3E-4CEE-A682-9B5FDE002793}">
      <dgm:prSet/>
      <dgm:spPr/>
      <dgm:t>
        <a:bodyPr/>
        <a:lstStyle/>
        <a:p>
          <a:endParaRPr lang="en-US" sz="2000"/>
        </a:p>
      </dgm:t>
    </dgm:pt>
    <dgm:pt modelId="{E27AA353-0C68-4CDD-A759-86BAE9CCF6D3}" type="sibTrans" cxnId="{82D5703C-9C3E-4CEE-A682-9B5FDE002793}">
      <dgm:prSet/>
      <dgm:spPr/>
      <dgm:t>
        <a:bodyPr/>
        <a:lstStyle/>
        <a:p>
          <a:endParaRPr lang="en-US" sz="2000"/>
        </a:p>
      </dgm:t>
    </dgm:pt>
    <dgm:pt modelId="{98CFE6F4-BD55-4BC6-B72E-DE138361CB5E}">
      <dgm:prSet custT="1"/>
      <dgm:spPr/>
      <dgm:t>
        <a:bodyPr/>
        <a:lstStyle/>
        <a:p>
          <a:r>
            <a:rPr lang="en-US" sz="1800" b="1" i="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Comparative Questions: </a:t>
          </a:r>
          <a:r>
            <a:rPr lang="en-US" sz="1800" b="0" i="0" baseline="0" dirty="0"/>
            <a:t>Evaluating two or more variables, methods, or groups to identify differences or effectiveness.</a:t>
          </a:r>
          <a:endParaRPr lang="en-US" sz="1800" dirty="0"/>
        </a:p>
      </dgm:t>
    </dgm:pt>
    <dgm:pt modelId="{2577C7D2-5D61-4E61-8A7C-E7E563CC0899}" type="parTrans" cxnId="{087BB207-99DB-4DD7-AA9E-8366AC1C128E}">
      <dgm:prSet/>
      <dgm:spPr/>
      <dgm:t>
        <a:bodyPr/>
        <a:lstStyle/>
        <a:p>
          <a:endParaRPr lang="en-US" sz="2000"/>
        </a:p>
      </dgm:t>
    </dgm:pt>
    <dgm:pt modelId="{997D244B-734F-4D7C-B6BB-2725B590712B}" type="sibTrans" cxnId="{087BB207-99DB-4DD7-AA9E-8366AC1C128E}">
      <dgm:prSet/>
      <dgm:spPr/>
      <dgm:t>
        <a:bodyPr/>
        <a:lstStyle/>
        <a:p>
          <a:endParaRPr lang="en-US" sz="2000"/>
        </a:p>
      </dgm:t>
    </dgm:pt>
    <dgm:pt modelId="{156E1E4A-CFF6-47EF-A69F-8D3BE7150D79}">
      <dgm:prSet custT="1"/>
      <dgm:spPr/>
      <dgm:t>
        <a:bodyPr/>
        <a:lstStyle/>
        <a:p>
          <a:r>
            <a:rPr lang="en-US" sz="1800" b="1" i="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Causal Questions: </a:t>
          </a:r>
          <a:r>
            <a:rPr lang="en-US" sz="1800" b="0" i="0" baseline="0" dirty="0"/>
            <a:t>Examining cause-and-effect relationships between variables. </a:t>
          </a:r>
          <a:endParaRPr lang="en-US" sz="1800" dirty="0"/>
        </a:p>
      </dgm:t>
    </dgm:pt>
    <dgm:pt modelId="{AD9CA693-C57D-4D08-819A-826A6CC37851}" type="parTrans" cxnId="{23A19FA0-6236-434B-90E0-E829C295AEF5}">
      <dgm:prSet/>
      <dgm:spPr/>
      <dgm:t>
        <a:bodyPr/>
        <a:lstStyle/>
        <a:p>
          <a:endParaRPr lang="en-US" sz="2000"/>
        </a:p>
      </dgm:t>
    </dgm:pt>
    <dgm:pt modelId="{F6583266-41C1-439A-A01E-E4E56EA57DAB}" type="sibTrans" cxnId="{23A19FA0-6236-434B-90E0-E829C295AEF5}">
      <dgm:prSet/>
      <dgm:spPr/>
      <dgm:t>
        <a:bodyPr/>
        <a:lstStyle/>
        <a:p>
          <a:endParaRPr lang="en-US" sz="2000"/>
        </a:p>
      </dgm:t>
    </dgm:pt>
    <dgm:pt modelId="{12A12C6A-1C3D-4E80-9EDE-C024C4464517}" type="pres">
      <dgm:prSet presAssocID="{022014FD-9458-4DA2-8316-255275FECAB1}" presName="root" presStyleCnt="0">
        <dgm:presLayoutVars>
          <dgm:dir/>
          <dgm:resizeHandles val="exact"/>
        </dgm:presLayoutVars>
      </dgm:prSet>
      <dgm:spPr/>
    </dgm:pt>
    <dgm:pt modelId="{43D0567C-C2E2-4FF1-AF7C-84CEAA783708}" type="pres">
      <dgm:prSet presAssocID="{39B6316C-0907-4D1F-A181-20AD227CB668}" presName="compNode" presStyleCnt="0"/>
      <dgm:spPr/>
    </dgm:pt>
    <dgm:pt modelId="{7F79F941-08DE-4D6E-A1A3-919A594C4339}" type="pres">
      <dgm:prSet presAssocID="{39B6316C-0907-4D1F-A181-20AD227CB668}" presName="bgRect" presStyleLbl="bgShp" presStyleIdx="0" presStyleCnt="7"/>
      <dgm:spPr/>
    </dgm:pt>
    <dgm:pt modelId="{25F0CD26-2B22-4565-AFC4-7B9BFD1BEEBB}" type="pres">
      <dgm:prSet presAssocID="{39B6316C-0907-4D1F-A181-20AD227CB668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EEE18B9B-1655-4558-A180-633FF1EFC815}" type="pres">
      <dgm:prSet presAssocID="{39B6316C-0907-4D1F-A181-20AD227CB668}" presName="spaceRect" presStyleCnt="0"/>
      <dgm:spPr/>
    </dgm:pt>
    <dgm:pt modelId="{CA407265-7629-4D6B-AF72-257EDD0E6D7E}" type="pres">
      <dgm:prSet presAssocID="{39B6316C-0907-4D1F-A181-20AD227CB668}" presName="parTx" presStyleLbl="revTx" presStyleIdx="0" presStyleCnt="7">
        <dgm:presLayoutVars>
          <dgm:chMax val="0"/>
          <dgm:chPref val="0"/>
        </dgm:presLayoutVars>
      </dgm:prSet>
      <dgm:spPr/>
    </dgm:pt>
    <dgm:pt modelId="{FB24D571-114A-4869-9E40-35FD0B897DDF}" type="pres">
      <dgm:prSet presAssocID="{213BDABB-2391-4CEB-88CF-A9BF7723709F}" presName="sibTrans" presStyleCnt="0"/>
      <dgm:spPr/>
    </dgm:pt>
    <dgm:pt modelId="{4CC11B53-117C-4BE3-AAE1-2F19DC1DEE0F}" type="pres">
      <dgm:prSet presAssocID="{30330E1F-E008-4959-9970-23E45D0A14F6}" presName="compNode" presStyleCnt="0"/>
      <dgm:spPr/>
    </dgm:pt>
    <dgm:pt modelId="{E14B397C-46BB-47DF-BAEA-66A78F85608D}" type="pres">
      <dgm:prSet presAssocID="{30330E1F-E008-4959-9970-23E45D0A14F6}" presName="bgRect" presStyleLbl="bgShp" presStyleIdx="1" presStyleCnt="7"/>
      <dgm:spPr/>
    </dgm:pt>
    <dgm:pt modelId="{871A1374-684D-4D88-9CBF-88FD9CB0A1A5}" type="pres">
      <dgm:prSet presAssocID="{30330E1F-E008-4959-9970-23E45D0A14F6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EDB2A854-B752-41E4-92D9-3ABBA59D7A56}" type="pres">
      <dgm:prSet presAssocID="{30330E1F-E008-4959-9970-23E45D0A14F6}" presName="spaceRect" presStyleCnt="0"/>
      <dgm:spPr/>
    </dgm:pt>
    <dgm:pt modelId="{594678CA-F280-47DC-B4D3-420472EF2FE0}" type="pres">
      <dgm:prSet presAssocID="{30330E1F-E008-4959-9970-23E45D0A14F6}" presName="parTx" presStyleLbl="revTx" presStyleIdx="1" presStyleCnt="7">
        <dgm:presLayoutVars>
          <dgm:chMax val="0"/>
          <dgm:chPref val="0"/>
        </dgm:presLayoutVars>
      </dgm:prSet>
      <dgm:spPr/>
    </dgm:pt>
    <dgm:pt modelId="{86303F7E-0D14-40AA-8D53-165D68177CB4}" type="pres">
      <dgm:prSet presAssocID="{E6ACE78F-B999-49CF-903F-82B52A88AA86}" presName="sibTrans" presStyleCnt="0"/>
      <dgm:spPr/>
    </dgm:pt>
    <dgm:pt modelId="{40129BB5-DA35-47A7-8509-CA960F790B2A}" type="pres">
      <dgm:prSet presAssocID="{EDBA6C1C-DBBA-4FA1-85BF-5DE5BD278167}" presName="compNode" presStyleCnt="0"/>
      <dgm:spPr/>
    </dgm:pt>
    <dgm:pt modelId="{19F83F2C-FDB9-4BC3-86D2-0692DF209606}" type="pres">
      <dgm:prSet presAssocID="{EDBA6C1C-DBBA-4FA1-85BF-5DE5BD278167}" presName="bgRect" presStyleLbl="bgShp" presStyleIdx="2" presStyleCnt="7"/>
      <dgm:spPr/>
    </dgm:pt>
    <dgm:pt modelId="{96FAB502-8E10-4ED2-9759-3C740C93BEFF}" type="pres">
      <dgm:prSet presAssocID="{EDBA6C1C-DBBA-4FA1-85BF-5DE5BD278167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572FE14F-1A33-4780-8CE8-755BD27C8000}" type="pres">
      <dgm:prSet presAssocID="{EDBA6C1C-DBBA-4FA1-85BF-5DE5BD278167}" presName="spaceRect" presStyleCnt="0"/>
      <dgm:spPr/>
    </dgm:pt>
    <dgm:pt modelId="{E06A0F67-CCE2-4A74-8F46-384CCDB0023D}" type="pres">
      <dgm:prSet presAssocID="{EDBA6C1C-DBBA-4FA1-85BF-5DE5BD278167}" presName="parTx" presStyleLbl="revTx" presStyleIdx="2" presStyleCnt="7">
        <dgm:presLayoutVars>
          <dgm:chMax val="0"/>
          <dgm:chPref val="0"/>
        </dgm:presLayoutVars>
      </dgm:prSet>
      <dgm:spPr/>
    </dgm:pt>
    <dgm:pt modelId="{5AB5C2CC-092F-45BA-85A7-EA31F1CC9969}" type="pres">
      <dgm:prSet presAssocID="{53FA9CED-9CCF-475C-B20C-46C061A3CE97}" presName="sibTrans" presStyleCnt="0"/>
      <dgm:spPr/>
    </dgm:pt>
    <dgm:pt modelId="{3AF05D19-14A8-43D6-9E7D-6570C3FB9A51}" type="pres">
      <dgm:prSet presAssocID="{EC027FBC-C743-441E-8726-8140BA479967}" presName="compNode" presStyleCnt="0"/>
      <dgm:spPr/>
    </dgm:pt>
    <dgm:pt modelId="{0F03E922-3175-439C-96C7-A08C1FBEB757}" type="pres">
      <dgm:prSet presAssocID="{EC027FBC-C743-441E-8726-8140BA479967}" presName="bgRect" presStyleLbl="bgShp" presStyleIdx="3" presStyleCnt="7"/>
      <dgm:spPr/>
    </dgm:pt>
    <dgm:pt modelId="{D5838DB8-56CD-477E-BE57-AC79DB00E886}" type="pres">
      <dgm:prSet presAssocID="{EC027FBC-C743-441E-8726-8140BA479967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EF816B85-7BC7-437E-99FB-7D963F091CFB}" type="pres">
      <dgm:prSet presAssocID="{EC027FBC-C743-441E-8726-8140BA479967}" presName="spaceRect" presStyleCnt="0"/>
      <dgm:spPr/>
    </dgm:pt>
    <dgm:pt modelId="{0CB7C29D-B967-4113-A263-A760E0EAA1E9}" type="pres">
      <dgm:prSet presAssocID="{EC027FBC-C743-441E-8726-8140BA479967}" presName="parTx" presStyleLbl="revTx" presStyleIdx="3" presStyleCnt="7">
        <dgm:presLayoutVars>
          <dgm:chMax val="0"/>
          <dgm:chPref val="0"/>
        </dgm:presLayoutVars>
      </dgm:prSet>
      <dgm:spPr/>
    </dgm:pt>
    <dgm:pt modelId="{9C99D2FD-40C6-4FF7-B801-5C8D10B634C6}" type="pres">
      <dgm:prSet presAssocID="{A520E508-E661-492F-AD90-7063951602A1}" presName="sibTrans" presStyleCnt="0"/>
      <dgm:spPr/>
    </dgm:pt>
    <dgm:pt modelId="{80C2AB34-F926-4DFD-B133-226EBDF18BC7}" type="pres">
      <dgm:prSet presAssocID="{9CD25B4F-AD06-4597-9394-3900C8D3B861}" presName="compNode" presStyleCnt="0"/>
      <dgm:spPr/>
    </dgm:pt>
    <dgm:pt modelId="{9CFB871B-9CF7-4976-92F2-AF3747265DC8}" type="pres">
      <dgm:prSet presAssocID="{9CD25B4F-AD06-4597-9394-3900C8D3B861}" presName="bgRect" presStyleLbl="bgShp" presStyleIdx="4" presStyleCnt="7"/>
      <dgm:spPr/>
    </dgm:pt>
    <dgm:pt modelId="{11E590D9-D82F-4190-9C40-C83B7871E1A3}" type="pres">
      <dgm:prSet presAssocID="{9CD25B4F-AD06-4597-9394-3900C8D3B861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0E7D4132-697D-4AEC-B660-87534D18570F}" type="pres">
      <dgm:prSet presAssocID="{9CD25B4F-AD06-4597-9394-3900C8D3B861}" presName="spaceRect" presStyleCnt="0"/>
      <dgm:spPr/>
    </dgm:pt>
    <dgm:pt modelId="{AE58414E-2DE0-427F-8924-06A36AE9CC26}" type="pres">
      <dgm:prSet presAssocID="{9CD25B4F-AD06-4597-9394-3900C8D3B861}" presName="parTx" presStyleLbl="revTx" presStyleIdx="4" presStyleCnt="7">
        <dgm:presLayoutVars>
          <dgm:chMax val="0"/>
          <dgm:chPref val="0"/>
        </dgm:presLayoutVars>
      </dgm:prSet>
      <dgm:spPr/>
    </dgm:pt>
    <dgm:pt modelId="{A45419CB-D376-492E-81DB-6EC2DB5E3B22}" type="pres">
      <dgm:prSet presAssocID="{E27AA353-0C68-4CDD-A759-86BAE9CCF6D3}" presName="sibTrans" presStyleCnt="0"/>
      <dgm:spPr/>
    </dgm:pt>
    <dgm:pt modelId="{5655B6C3-A19D-4E49-8866-36B6B55E9D4C}" type="pres">
      <dgm:prSet presAssocID="{98CFE6F4-BD55-4BC6-B72E-DE138361CB5E}" presName="compNode" presStyleCnt="0"/>
      <dgm:spPr/>
    </dgm:pt>
    <dgm:pt modelId="{0AB54366-DB96-4298-9295-A9BEDD765945}" type="pres">
      <dgm:prSet presAssocID="{98CFE6F4-BD55-4BC6-B72E-DE138361CB5E}" presName="bgRect" presStyleLbl="bgShp" presStyleIdx="5" presStyleCnt="7"/>
      <dgm:spPr/>
    </dgm:pt>
    <dgm:pt modelId="{894FD983-B3FF-4CDF-9BA1-EDDD395CB1BF}" type="pres">
      <dgm:prSet presAssocID="{98CFE6F4-BD55-4BC6-B72E-DE138361CB5E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FA35B6D-404A-45DC-9331-F80B70E94A08}" type="pres">
      <dgm:prSet presAssocID="{98CFE6F4-BD55-4BC6-B72E-DE138361CB5E}" presName="spaceRect" presStyleCnt="0"/>
      <dgm:spPr/>
    </dgm:pt>
    <dgm:pt modelId="{4B92E6CF-DB55-4D13-8DFD-D30897C11ADE}" type="pres">
      <dgm:prSet presAssocID="{98CFE6F4-BD55-4BC6-B72E-DE138361CB5E}" presName="parTx" presStyleLbl="revTx" presStyleIdx="5" presStyleCnt="7">
        <dgm:presLayoutVars>
          <dgm:chMax val="0"/>
          <dgm:chPref val="0"/>
        </dgm:presLayoutVars>
      </dgm:prSet>
      <dgm:spPr/>
    </dgm:pt>
    <dgm:pt modelId="{089EF207-9B12-4243-AF37-72E220C8F6FE}" type="pres">
      <dgm:prSet presAssocID="{997D244B-734F-4D7C-B6BB-2725B590712B}" presName="sibTrans" presStyleCnt="0"/>
      <dgm:spPr/>
    </dgm:pt>
    <dgm:pt modelId="{8932C471-284B-4D8B-9A79-C698D7D58788}" type="pres">
      <dgm:prSet presAssocID="{156E1E4A-CFF6-47EF-A69F-8D3BE7150D79}" presName="compNode" presStyleCnt="0"/>
      <dgm:spPr/>
    </dgm:pt>
    <dgm:pt modelId="{9F63F51B-138C-4291-A782-512426F6484F}" type="pres">
      <dgm:prSet presAssocID="{156E1E4A-CFF6-47EF-A69F-8D3BE7150D79}" presName="bgRect" presStyleLbl="bgShp" presStyleIdx="6" presStyleCnt="7"/>
      <dgm:spPr/>
    </dgm:pt>
    <dgm:pt modelId="{7402CA82-9501-4EF9-BB14-F71ACD4861ED}" type="pres">
      <dgm:prSet presAssocID="{156E1E4A-CFF6-47EF-A69F-8D3BE7150D79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2803493F-B6E3-491C-A8B5-D9B3DDB8EECB}" type="pres">
      <dgm:prSet presAssocID="{156E1E4A-CFF6-47EF-A69F-8D3BE7150D79}" presName="spaceRect" presStyleCnt="0"/>
      <dgm:spPr/>
    </dgm:pt>
    <dgm:pt modelId="{8E9B3C59-28E8-4C11-85CE-E715C539F3AB}" type="pres">
      <dgm:prSet presAssocID="{156E1E4A-CFF6-47EF-A69F-8D3BE7150D79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087BB207-99DB-4DD7-AA9E-8366AC1C128E}" srcId="{022014FD-9458-4DA2-8316-255275FECAB1}" destId="{98CFE6F4-BD55-4BC6-B72E-DE138361CB5E}" srcOrd="5" destOrd="0" parTransId="{2577C7D2-5D61-4E61-8A7C-E7E563CC0899}" sibTransId="{997D244B-734F-4D7C-B6BB-2725B590712B}"/>
    <dgm:cxn modelId="{F641743B-1530-4F5D-9BC1-78A5818882A2}" type="presOf" srcId="{022014FD-9458-4DA2-8316-255275FECAB1}" destId="{12A12C6A-1C3D-4E80-9EDE-C024C4464517}" srcOrd="0" destOrd="0" presId="urn:microsoft.com/office/officeart/2018/2/layout/IconVerticalSolidList"/>
    <dgm:cxn modelId="{82D5703C-9C3E-4CEE-A682-9B5FDE002793}" srcId="{022014FD-9458-4DA2-8316-255275FECAB1}" destId="{9CD25B4F-AD06-4597-9394-3900C8D3B861}" srcOrd="4" destOrd="0" parTransId="{28432A87-8741-4032-A086-1D130341182A}" sibTransId="{E27AA353-0C68-4CDD-A759-86BAE9CCF6D3}"/>
    <dgm:cxn modelId="{A46ECC43-9D02-4DD9-9D57-2946BCCC631B}" type="presOf" srcId="{30330E1F-E008-4959-9970-23E45D0A14F6}" destId="{594678CA-F280-47DC-B4D3-420472EF2FE0}" srcOrd="0" destOrd="0" presId="urn:microsoft.com/office/officeart/2018/2/layout/IconVerticalSolidList"/>
    <dgm:cxn modelId="{41A13964-DDBC-4419-909A-F7A604A5F638}" type="presOf" srcId="{98CFE6F4-BD55-4BC6-B72E-DE138361CB5E}" destId="{4B92E6CF-DB55-4D13-8DFD-D30897C11ADE}" srcOrd="0" destOrd="0" presId="urn:microsoft.com/office/officeart/2018/2/layout/IconVerticalSolidList"/>
    <dgm:cxn modelId="{7902E446-0EDB-4DD1-86CF-985E0A946876}" srcId="{022014FD-9458-4DA2-8316-255275FECAB1}" destId="{EDBA6C1C-DBBA-4FA1-85BF-5DE5BD278167}" srcOrd="2" destOrd="0" parTransId="{E7FF88D2-956D-47A6-A92E-41C51BB0D3E4}" sibTransId="{53FA9CED-9CCF-475C-B20C-46C061A3CE97}"/>
    <dgm:cxn modelId="{73832247-8514-4587-904E-BFBBBFB5942F}" srcId="{022014FD-9458-4DA2-8316-255275FECAB1}" destId="{39B6316C-0907-4D1F-A181-20AD227CB668}" srcOrd="0" destOrd="0" parTransId="{FACCDA9A-50C6-4BAC-8E9E-B2B8AD8D48DA}" sibTransId="{213BDABB-2391-4CEB-88CF-A9BF7723709F}"/>
    <dgm:cxn modelId="{6CC6CF75-F90F-446F-9462-727F4E35B5E6}" type="presOf" srcId="{EC027FBC-C743-441E-8726-8140BA479967}" destId="{0CB7C29D-B967-4113-A263-A760E0EAA1E9}" srcOrd="0" destOrd="0" presId="urn:microsoft.com/office/officeart/2018/2/layout/IconVerticalSolidList"/>
    <dgm:cxn modelId="{3E340679-1E61-4552-9191-8827677E983B}" type="presOf" srcId="{EDBA6C1C-DBBA-4FA1-85BF-5DE5BD278167}" destId="{E06A0F67-CCE2-4A74-8F46-384CCDB0023D}" srcOrd="0" destOrd="0" presId="urn:microsoft.com/office/officeart/2018/2/layout/IconVerticalSolidList"/>
    <dgm:cxn modelId="{02DAA38A-5206-4E55-88FA-2AC1962B7488}" type="presOf" srcId="{39B6316C-0907-4D1F-A181-20AD227CB668}" destId="{CA407265-7629-4D6B-AF72-257EDD0E6D7E}" srcOrd="0" destOrd="0" presId="urn:microsoft.com/office/officeart/2018/2/layout/IconVerticalSolidList"/>
    <dgm:cxn modelId="{AA280997-735F-4BEC-ACCC-9D058907C146}" type="presOf" srcId="{9CD25B4F-AD06-4597-9394-3900C8D3B861}" destId="{AE58414E-2DE0-427F-8924-06A36AE9CC26}" srcOrd="0" destOrd="0" presId="urn:microsoft.com/office/officeart/2018/2/layout/IconVerticalSolidList"/>
    <dgm:cxn modelId="{23A19FA0-6236-434B-90E0-E829C295AEF5}" srcId="{022014FD-9458-4DA2-8316-255275FECAB1}" destId="{156E1E4A-CFF6-47EF-A69F-8D3BE7150D79}" srcOrd="6" destOrd="0" parTransId="{AD9CA693-C57D-4D08-819A-826A6CC37851}" sibTransId="{F6583266-41C1-439A-A01E-E4E56EA57DAB}"/>
    <dgm:cxn modelId="{0B6F95D5-9723-4090-8E1F-1CF5353CC95B}" srcId="{022014FD-9458-4DA2-8316-255275FECAB1}" destId="{30330E1F-E008-4959-9970-23E45D0A14F6}" srcOrd="1" destOrd="0" parTransId="{325AD331-D8C0-423C-BD0E-620E059D041F}" sibTransId="{E6ACE78F-B999-49CF-903F-82B52A88AA86}"/>
    <dgm:cxn modelId="{5E3718ED-C854-400D-96F4-DD67B38994B6}" type="presOf" srcId="{156E1E4A-CFF6-47EF-A69F-8D3BE7150D79}" destId="{8E9B3C59-28E8-4C11-85CE-E715C539F3AB}" srcOrd="0" destOrd="0" presId="urn:microsoft.com/office/officeart/2018/2/layout/IconVerticalSolidList"/>
    <dgm:cxn modelId="{89B8FDFD-F1C4-4EFE-B5CE-712DA0DBE10F}" srcId="{022014FD-9458-4DA2-8316-255275FECAB1}" destId="{EC027FBC-C743-441E-8726-8140BA479967}" srcOrd="3" destOrd="0" parTransId="{293D71C7-F8B9-412D-9711-C73FA53A5D10}" sibTransId="{A520E508-E661-492F-AD90-7063951602A1}"/>
    <dgm:cxn modelId="{FC2E6BE4-34B3-4FDB-B36A-84AAF4F061C5}" type="presParOf" srcId="{12A12C6A-1C3D-4E80-9EDE-C024C4464517}" destId="{43D0567C-C2E2-4FF1-AF7C-84CEAA783708}" srcOrd="0" destOrd="0" presId="urn:microsoft.com/office/officeart/2018/2/layout/IconVerticalSolidList"/>
    <dgm:cxn modelId="{E2A02F55-13D7-43D9-B570-B2BD643A6597}" type="presParOf" srcId="{43D0567C-C2E2-4FF1-AF7C-84CEAA783708}" destId="{7F79F941-08DE-4D6E-A1A3-919A594C4339}" srcOrd="0" destOrd="0" presId="urn:microsoft.com/office/officeart/2018/2/layout/IconVerticalSolidList"/>
    <dgm:cxn modelId="{2C16B834-8355-42C0-8B4E-ED538BC5E57D}" type="presParOf" srcId="{43D0567C-C2E2-4FF1-AF7C-84CEAA783708}" destId="{25F0CD26-2B22-4565-AFC4-7B9BFD1BEEBB}" srcOrd="1" destOrd="0" presId="urn:microsoft.com/office/officeart/2018/2/layout/IconVerticalSolidList"/>
    <dgm:cxn modelId="{F899B2A3-4B7E-41C8-8126-331A118053F3}" type="presParOf" srcId="{43D0567C-C2E2-4FF1-AF7C-84CEAA783708}" destId="{EEE18B9B-1655-4558-A180-633FF1EFC815}" srcOrd="2" destOrd="0" presId="urn:microsoft.com/office/officeart/2018/2/layout/IconVerticalSolidList"/>
    <dgm:cxn modelId="{AF1BDF47-1FF8-4F82-B3D0-A143E6A40545}" type="presParOf" srcId="{43D0567C-C2E2-4FF1-AF7C-84CEAA783708}" destId="{CA407265-7629-4D6B-AF72-257EDD0E6D7E}" srcOrd="3" destOrd="0" presId="urn:microsoft.com/office/officeart/2018/2/layout/IconVerticalSolidList"/>
    <dgm:cxn modelId="{5B2561CD-B99D-4171-A8B0-87EEDA095F52}" type="presParOf" srcId="{12A12C6A-1C3D-4E80-9EDE-C024C4464517}" destId="{FB24D571-114A-4869-9E40-35FD0B897DDF}" srcOrd="1" destOrd="0" presId="urn:microsoft.com/office/officeart/2018/2/layout/IconVerticalSolidList"/>
    <dgm:cxn modelId="{21730261-9606-43B3-A9F3-D4B1A48501D4}" type="presParOf" srcId="{12A12C6A-1C3D-4E80-9EDE-C024C4464517}" destId="{4CC11B53-117C-4BE3-AAE1-2F19DC1DEE0F}" srcOrd="2" destOrd="0" presId="urn:microsoft.com/office/officeart/2018/2/layout/IconVerticalSolidList"/>
    <dgm:cxn modelId="{264CF4E5-3247-43E8-B405-12004D6A16B2}" type="presParOf" srcId="{4CC11B53-117C-4BE3-AAE1-2F19DC1DEE0F}" destId="{E14B397C-46BB-47DF-BAEA-66A78F85608D}" srcOrd="0" destOrd="0" presId="urn:microsoft.com/office/officeart/2018/2/layout/IconVerticalSolidList"/>
    <dgm:cxn modelId="{3429016A-540F-49B0-ADFE-8C558D3E23EF}" type="presParOf" srcId="{4CC11B53-117C-4BE3-AAE1-2F19DC1DEE0F}" destId="{871A1374-684D-4D88-9CBF-88FD9CB0A1A5}" srcOrd="1" destOrd="0" presId="urn:microsoft.com/office/officeart/2018/2/layout/IconVerticalSolidList"/>
    <dgm:cxn modelId="{92280A8B-DFBD-4193-BE6D-FA9B7AB2160D}" type="presParOf" srcId="{4CC11B53-117C-4BE3-AAE1-2F19DC1DEE0F}" destId="{EDB2A854-B752-41E4-92D9-3ABBA59D7A56}" srcOrd="2" destOrd="0" presId="urn:microsoft.com/office/officeart/2018/2/layout/IconVerticalSolidList"/>
    <dgm:cxn modelId="{1C00EEE2-99D5-4DF8-A3A4-AC633466828F}" type="presParOf" srcId="{4CC11B53-117C-4BE3-AAE1-2F19DC1DEE0F}" destId="{594678CA-F280-47DC-B4D3-420472EF2FE0}" srcOrd="3" destOrd="0" presId="urn:microsoft.com/office/officeart/2018/2/layout/IconVerticalSolidList"/>
    <dgm:cxn modelId="{E6139A76-3509-4928-B5D7-4956864DB61B}" type="presParOf" srcId="{12A12C6A-1C3D-4E80-9EDE-C024C4464517}" destId="{86303F7E-0D14-40AA-8D53-165D68177CB4}" srcOrd="3" destOrd="0" presId="urn:microsoft.com/office/officeart/2018/2/layout/IconVerticalSolidList"/>
    <dgm:cxn modelId="{925FF5C6-3E02-4517-9B5F-2AC0D9D25877}" type="presParOf" srcId="{12A12C6A-1C3D-4E80-9EDE-C024C4464517}" destId="{40129BB5-DA35-47A7-8509-CA960F790B2A}" srcOrd="4" destOrd="0" presId="urn:microsoft.com/office/officeart/2018/2/layout/IconVerticalSolidList"/>
    <dgm:cxn modelId="{62C18365-658D-4658-96E6-5FBA1761885E}" type="presParOf" srcId="{40129BB5-DA35-47A7-8509-CA960F790B2A}" destId="{19F83F2C-FDB9-4BC3-86D2-0692DF209606}" srcOrd="0" destOrd="0" presId="urn:microsoft.com/office/officeart/2018/2/layout/IconVerticalSolidList"/>
    <dgm:cxn modelId="{F2186778-EF8D-4FB9-B153-9B731B0A9439}" type="presParOf" srcId="{40129BB5-DA35-47A7-8509-CA960F790B2A}" destId="{96FAB502-8E10-4ED2-9759-3C740C93BEFF}" srcOrd="1" destOrd="0" presId="urn:microsoft.com/office/officeart/2018/2/layout/IconVerticalSolidList"/>
    <dgm:cxn modelId="{6AB42FDB-01D0-40DF-A485-58CA2EA0B20D}" type="presParOf" srcId="{40129BB5-DA35-47A7-8509-CA960F790B2A}" destId="{572FE14F-1A33-4780-8CE8-755BD27C8000}" srcOrd="2" destOrd="0" presId="urn:microsoft.com/office/officeart/2018/2/layout/IconVerticalSolidList"/>
    <dgm:cxn modelId="{85D18994-879E-4922-9DD9-C4BE4C7D182A}" type="presParOf" srcId="{40129BB5-DA35-47A7-8509-CA960F790B2A}" destId="{E06A0F67-CCE2-4A74-8F46-384CCDB0023D}" srcOrd="3" destOrd="0" presId="urn:microsoft.com/office/officeart/2018/2/layout/IconVerticalSolidList"/>
    <dgm:cxn modelId="{6E3CF10A-6F74-4B3A-A1DA-0EB182F39807}" type="presParOf" srcId="{12A12C6A-1C3D-4E80-9EDE-C024C4464517}" destId="{5AB5C2CC-092F-45BA-85A7-EA31F1CC9969}" srcOrd="5" destOrd="0" presId="urn:microsoft.com/office/officeart/2018/2/layout/IconVerticalSolidList"/>
    <dgm:cxn modelId="{BF22E457-9DAB-40FA-8BFD-4554940AD333}" type="presParOf" srcId="{12A12C6A-1C3D-4E80-9EDE-C024C4464517}" destId="{3AF05D19-14A8-43D6-9E7D-6570C3FB9A51}" srcOrd="6" destOrd="0" presId="urn:microsoft.com/office/officeart/2018/2/layout/IconVerticalSolidList"/>
    <dgm:cxn modelId="{335C330A-A7FD-455C-8AB3-1BD2D9A0122E}" type="presParOf" srcId="{3AF05D19-14A8-43D6-9E7D-6570C3FB9A51}" destId="{0F03E922-3175-439C-96C7-A08C1FBEB757}" srcOrd="0" destOrd="0" presId="urn:microsoft.com/office/officeart/2018/2/layout/IconVerticalSolidList"/>
    <dgm:cxn modelId="{1FBC29CD-7D44-4CFB-852E-A6F8A3CC155E}" type="presParOf" srcId="{3AF05D19-14A8-43D6-9E7D-6570C3FB9A51}" destId="{D5838DB8-56CD-477E-BE57-AC79DB00E886}" srcOrd="1" destOrd="0" presId="urn:microsoft.com/office/officeart/2018/2/layout/IconVerticalSolidList"/>
    <dgm:cxn modelId="{F0D013A9-7A2A-40C8-9323-D9ECA107330F}" type="presParOf" srcId="{3AF05D19-14A8-43D6-9E7D-6570C3FB9A51}" destId="{EF816B85-7BC7-437E-99FB-7D963F091CFB}" srcOrd="2" destOrd="0" presId="urn:microsoft.com/office/officeart/2018/2/layout/IconVerticalSolidList"/>
    <dgm:cxn modelId="{ECFC6121-2D10-42D0-A483-11C73C2541F3}" type="presParOf" srcId="{3AF05D19-14A8-43D6-9E7D-6570C3FB9A51}" destId="{0CB7C29D-B967-4113-A263-A760E0EAA1E9}" srcOrd="3" destOrd="0" presId="urn:microsoft.com/office/officeart/2018/2/layout/IconVerticalSolidList"/>
    <dgm:cxn modelId="{7A9E4488-18D3-4FC9-BFB6-5DD580481880}" type="presParOf" srcId="{12A12C6A-1C3D-4E80-9EDE-C024C4464517}" destId="{9C99D2FD-40C6-4FF7-B801-5C8D10B634C6}" srcOrd="7" destOrd="0" presId="urn:microsoft.com/office/officeart/2018/2/layout/IconVerticalSolidList"/>
    <dgm:cxn modelId="{5C2B1D82-73F4-4459-9D34-B3455C27EF5C}" type="presParOf" srcId="{12A12C6A-1C3D-4E80-9EDE-C024C4464517}" destId="{80C2AB34-F926-4DFD-B133-226EBDF18BC7}" srcOrd="8" destOrd="0" presId="urn:microsoft.com/office/officeart/2018/2/layout/IconVerticalSolidList"/>
    <dgm:cxn modelId="{DF87B799-D2BA-4279-8D99-586B6B45023D}" type="presParOf" srcId="{80C2AB34-F926-4DFD-B133-226EBDF18BC7}" destId="{9CFB871B-9CF7-4976-92F2-AF3747265DC8}" srcOrd="0" destOrd="0" presId="urn:microsoft.com/office/officeart/2018/2/layout/IconVerticalSolidList"/>
    <dgm:cxn modelId="{2CE7C147-989B-4745-AD83-D90D18F4AAC2}" type="presParOf" srcId="{80C2AB34-F926-4DFD-B133-226EBDF18BC7}" destId="{11E590D9-D82F-4190-9C40-C83B7871E1A3}" srcOrd="1" destOrd="0" presId="urn:microsoft.com/office/officeart/2018/2/layout/IconVerticalSolidList"/>
    <dgm:cxn modelId="{621A564E-CFF2-4A57-A9B7-E16040B3FA0C}" type="presParOf" srcId="{80C2AB34-F926-4DFD-B133-226EBDF18BC7}" destId="{0E7D4132-697D-4AEC-B660-87534D18570F}" srcOrd="2" destOrd="0" presId="urn:microsoft.com/office/officeart/2018/2/layout/IconVerticalSolidList"/>
    <dgm:cxn modelId="{2B726407-C679-44EC-AC47-E1A657347A31}" type="presParOf" srcId="{80C2AB34-F926-4DFD-B133-226EBDF18BC7}" destId="{AE58414E-2DE0-427F-8924-06A36AE9CC26}" srcOrd="3" destOrd="0" presId="urn:microsoft.com/office/officeart/2018/2/layout/IconVerticalSolidList"/>
    <dgm:cxn modelId="{027B81D0-4E7E-41EB-A62C-2DC141223B64}" type="presParOf" srcId="{12A12C6A-1C3D-4E80-9EDE-C024C4464517}" destId="{A45419CB-D376-492E-81DB-6EC2DB5E3B22}" srcOrd="9" destOrd="0" presId="urn:microsoft.com/office/officeart/2018/2/layout/IconVerticalSolidList"/>
    <dgm:cxn modelId="{8B895FD2-B671-4FFF-85E3-E7D3E598D1FE}" type="presParOf" srcId="{12A12C6A-1C3D-4E80-9EDE-C024C4464517}" destId="{5655B6C3-A19D-4E49-8866-36B6B55E9D4C}" srcOrd="10" destOrd="0" presId="urn:microsoft.com/office/officeart/2018/2/layout/IconVerticalSolidList"/>
    <dgm:cxn modelId="{1ED0C84B-79B9-4E39-836F-FE86B8D94A10}" type="presParOf" srcId="{5655B6C3-A19D-4E49-8866-36B6B55E9D4C}" destId="{0AB54366-DB96-4298-9295-A9BEDD765945}" srcOrd="0" destOrd="0" presId="urn:microsoft.com/office/officeart/2018/2/layout/IconVerticalSolidList"/>
    <dgm:cxn modelId="{4D9863B2-D512-4529-BAF4-21D5F8AA4A30}" type="presParOf" srcId="{5655B6C3-A19D-4E49-8866-36B6B55E9D4C}" destId="{894FD983-B3FF-4CDF-9BA1-EDDD395CB1BF}" srcOrd="1" destOrd="0" presId="urn:microsoft.com/office/officeart/2018/2/layout/IconVerticalSolidList"/>
    <dgm:cxn modelId="{108D292A-AC03-47DE-A8F5-2CC03118E40A}" type="presParOf" srcId="{5655B6C3-A19D-4E49-8866-36B6B55E9D4C}" destId="{8FA35B6D-404A-45DC-9331-F80B70E94A08}" srcOrd="2" destOrd="0" presId="urn:microsoft.com/office/officeart/2018/2/layout/IconVerticalSolidList"/>
    <dgm:cxn modelId="{1807B154-3CC0-4766-97C3-EF820766AEFF}" type="presParOf" srcId="{5655B6C3-A19D-4E49-8866-36B6B55E9D4C}" destId="{4B92E6CF-DB55-4D13-8DFD-D30897C11ADE}" srcOrd="3" destOrd="0" presId="urn:microsoft.com/office/officeart/2018/2/layout/IconVerticalSolidList"/>
    <dgm:cxn modelId="{4744E5BE-9316-4663-A64E-674B00018142}" type="presParOf" srcId="{12A12C6A-1C3D-4E80-9EDE-C024C4464517}" destId="{089EF207-9B12-4243-AF37-72E220C8F6FE}" srcOrd="11" destOrd="0" presId="urn:microsoft.com/office/officeart/2018/2/layout/IconVerticalSolidList"/>
    <dgm:cxn modelId="{DE899A83-5F7D-4F86-9856-6CA6DB1BCAD4}" type="presParOf" srcId="{12A12C6A-1C3D-4E80-9EDE-C024C4464517}" destId="{8932C471-284B-4D8B-9A79-C698D7D58788}" srcOrd="12" destOrd="0" presId="urn:microsoft.com/office/officeart/2018/2/layout/IconVerticalSolidList"/>
    <dgm:cxn modelId="{3534CFDD-82F4-4167-82E5-8B8E04767526}" type="presParOf" srcId="{8932C471-284B-4D8B-9A79-C698D7D58788}" destId="{9F63F51B-138C-4291-A782-512426F6484F}" srcOrd="0" destOrd="0" presId="urn:microsoft.com/office/officeart/2018/2/layout/IconVerticalSolidList"/>
    <dgm:cxn modelId="{36649FFC-7731-439B-B0FC-32BCA753A000}" type="presParOf" srcId="{8932C471-284B-4D8B-9A79-C698D7D58788}" destId="{7402CA82-9501-4EF9-BB14-F71ACD4861ED}" srcOrd="1" destOrd="0" presId="urn:microsoft.com/office/officeart/2018/2/layout/IconVerticalSolidList"/>
    <dgm:cxn modelId="{FEA3CE14-FF0B-42F7-9232-A853D36CA2C5}" type="presParOf" srcId="{8932C471-284B-4D8B-9A79-C698D7D58788}" destId="{2803493F-B6E3-491C-A8B5-D9B3DDB8EECB}" srcOrd="2" destOrd="0" presId="urn:microsoft.com/office/officeart/2018/2/layout/IconVerticalSolidList"/>
    <dgm:cxn modelId="{18BF06EC-DF7C-4BD8-B26F-60ED1BDD9EC2}" type="presParOf" srcId="{8932C471-284B-4D8B-9A79-C698D7D58788}" destId="{8E9B3C59-28E8-4C11-85CE-E715C539F3A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71C92B-BE68-407A-B687-489E20F4C856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69ED6D89-DE11-4C21-AA84-50EB542D1F82}">
      <dgm:prSet/>
      <dgm:spPr/>
      <dgm:t>
        <a:bodyPr/>
        <a:lstStyle/>
        <a:p>
          <a:r>
            <a:rPr lang="en-US" b="1"/>
            <a:t>Alignment with Philosophical Foundations</a:t>
          </a:r>
          <a:r>
            <a:rPr lang="en-US"/>
            <a:t>:</a:t>
          </a:r>
        </a:p>
      </dgm:t>
    </dgm:pt>
    <dgm:pt modelId="{1A23CF77-D766-4FC1-A36F-89A722DB0283}" type="parTrans" cxnId="{9DD1C474-EDEF-4825-A901-C618161EA8E8}">
      <dgm:prSet/>
      <dgm:spPr/>
      <dgm:t>
        <a:bodyPr/>
        <a:lstStyle/>
        <a:p>
          <a:endParaRPr lang="en-US"/>
        </a:p>
      </dgm:t>
    </dgm:pt>
    <dgm:pt modelId="{130AB5DD-E8BC-44EC-B7DA-09E2A58DF51E}" type="sibTrans" cxnId="{9DD1C474-EDEF-4825-A901-C618161EA8E8}">
      <dgm:prSet/>
      <dgm:spPr/>
      <dgm:t>
        <a:bodyPr/>
        <a:lstStyle/>
        <a:p>
          <a:endParaRPr lang="en-US"/>
        </a:p>
      </dgm:t>
    </dgm:pt>
    <dgm:pt modelId="{653C6225-98FD-45C8-B35A-0B49086FC189}">
      <dgm:prSet/>
      <dgm:spPr/>
      <dgm:t>
        <a:bodyPr/>
        <a:lstStyle/>
        <a:p>
          <a:r>
            <a:rPr lang="en-US"/>
            <a:t>Is the research question consistent with your </a:t>
          </a:r>
          <a:r>
            <a:rPr lang="en-US" b="1"/>
            <a:t>ontological</a:t>
          </a:r>
          <a:r>
            <a:rPr lang="en-US"/>
            <a:t> and </a:t>
          </a:r>
          <a:r>
            <a:rPr lang="en-US" b="1"/>
            <a:t>epistemological</a:t>
          </a:r>
          <a:r>
            <a:rPr lang="en-US"/>
            <a:t> stance?</a:t>
          </a:r>
        </a:p>
      </dgm:t>
    </dgm:pt>
    <dgm:pt modelId="{80568B7E-FCDB-4C05-BCB8-EBBBD593A340}" type="parTrans" cxnId="{614A426F-D0D4-4087-A7A0-1731630A1307}">
      <dgm:prSet/>
      <dgm:spPr/>
      <dgm:t>
        <a:bodyPr/>
        <a:lstStyle/>
        <a:p>
          <a:endParaRPr lang="en-US"/>
        </a:p>
      </dgm:t>
    </dgm:pt>
    <dgm:pt modelId="{2B7799D8-010D-45D4-8E9E-90DC9C98B6F2}" type="sibTrans" cxnId="{614A426F-D0D4-4087-A7A0-1731630A1307}">
      <dgm:prSet/>
      <dgm:spPr/>
      <dgm:t>
        <a:bodyPr/>
        <a:lstStyle/>
        <a:p>
          <a:endParaRPr lang="en-US"/>
        </a:p>
      </dgm:t>
    </dgm:pt>
    <dgm:pt modelId="{AF42CD48-4357-4329-8350-570A0276493B}">
      <dgm:prSet/>
      <dgm:spPr/>
      <dgm:t>
        <a:bodyPr/>
        <a:lstStyle/>
        <a:p>
          <a:r>
            <a:rPr lang="en-US" b="1"/>
            <a:t>Clarity and Focus</a:t>
          </a:r>
          <a:r>
            <a:rPr lang="en-US"/>
            <a:t>:</a:t>
          </a:r>
        </a:p>
      </dgm:t>
    </dgm:pt>
    <dgm:pt modelId="{AD58FC13-2812-4DB1-B320-4CF7900B8C58}" type="parTrans" cxnId="{45592009-44AA-4C49-B81D-6E85EE32A215}">
      <dgm:prSet/>
      <dgm:spPr/>
      <dgm:t>
        <a:bodyPr/>
        <a:lstStyle/>
        <a:p>
          <a:endParaRPr lang="en-US"/>
        </a:p>
      </dgm:t>
    </dgm:pt>
    <dgm:pt modelId="{189F7A40-17CE-42B9-AE7E-BBB2E87F75D8}" type="sibTrans" cxnId="{45592009-44AA-4C49-B81D-6E85EE32A215}">
      <dgm:prSet/>
      <dgm:spPr/>
      <dgm:t>
        <a:bodyPr/>
        <a:lstStyle/>
        <a:p>
          <a:endParaRPr lang="en-US"/>
        </a:p>
      </dgm:t>
    </dgm:pt>
    <dgm:pt modelId="{0CAF801C-B030-4E41-9450-0A322D81C473}">
      <dgm:prSet/>
      <dgm:spPr/>
      <dgm:t>
        <a:bodyPr/>
        <a:lstStyle/>
        <a:p>
          <a:r>
            <a:rPr lang="en-US"/>
            <a:t>Is the research question </a:t>
          </a:r>
          <a:r>
            <a:rPr lang="en-US" b="1"/>
            <a:t>clear</a:t>
          </a:r>
          <a:r>
            <a:rPr lang="en-US"/>
            <a:t> and </a:t>
          </a:r>
          <a:r>
            <a:rPr lang="en-US" b="1"/>
            <a:t>precise</a:t>
          </a:r>
          <a:r>
            <a:rPr lang="en-US"/>
            <a:t>? Does it avoid ambiguity?</a:t>
          </a:r>
        </a:p>
      </dgm:t>
    </dgm:pt>
    <dgm:pt modelId="{5D14783B-AB4D-4B17-BFB4-B6617583EF2D}" type="parTrans" cxnId="{B487FE77-A8BA-4515-9958-6DA677AA236A}">
      <dgm:prSet/>
      <dgm:spPr/>
      <dgm:t>
        <a:bodyPr/>
        <a:lstStyle/>
        <a:p>
          <a:endParaRPr lang="en-US"/>
        </a:p>
      </dgm:t>
    </dgm:pt>
    <dgm:pt modelId="{2BED0FE7-2238-4D04-B3FE-FA6E136B2D8D}" type="sibTrans" cxnId="{B487FE77-A8BA-4515-9958-6DA677AA236A}">
      <dgm:prSet/>
      <dgm:spPr/>
      <dgm:t>
        <a:bodyPr/>
        <a:lstStyle/>
        <a:p>
          <a:endParaRPr lang="en-US"/>
        </a:p>
      </dgm:t>
    </dgm:pt>
    <dgm:pt modelId="{8677DE68-7260-4DED-92E9-A13E25C70A5E}">
      <dgm:prSet/>
      <dgm:spPr/>
      <dgm:t>
        <a:bodyPr/>
        <a:lstStyle/>
        <a:p>
          <a:r>
            <a:rPr lang="en-US" b="1"/>
            <a:t>Feasibility</a:t>
          </a:r>
          <a:r>
            <a:rPr lang="en-US"/>
            <a:t>:</a:t>
          </a:r>
        </a:p>
      </dgm:t>
    </dgm:pt>
    <dgm:pt modelId="{0113E892-D3EE-4207-84D0-27D68E4DABC2}" type="parTrans" cxnId="{E506C5EF-9528-435B-BBE7-B717B4FD2CDF}">
      <dgm:prSet/>
      <dgm:spPr/>
      <dgm:t>
        <a:bodyPr/>
        <a:lstStyle/>
        <a:p>
          <a:endParaRPr lang="en-US"/>
        </a:p>
      </dgm:t>
    </dgm:pt>
    <dgm:pt modelId="{EC9129F3-6537-4E83-A575-182E56A48EEE}" type="sibTrans" cxnId="{E506C5EF-9528-435B-BBE7-B717B4FD2CDF}">
      <dgm:prSet/>
      <dgm:spPr/>
      <dgm:t>
        <a:bodyPr/>
        <a:lstStyle/>
        <a:p>
          <a:endParaRPr lang="en-US"/>
        </a:p>
      </dgm:t>
    </dgm:pt>
    <dgm:pt modelId="{5FA4C180-142D-4EDA-B017-149A695490C0}">
      <dgm:prSet/>
      <dgm:spPr/>
      <dgm:t>
        <a:bodyPr/>
        <a:lstStyle/>
        <a:p>
          <a:r>
            <a:rPr lang="en-US"/>
            <a:t>Can the question be answered within the available </a:t>
          </a:r>
          <a:r>
            <a:rPr lang="en-US" b="1"/>
            <a:t>time</a:t>
          </a:r>
          <a:r>
            <a:rPr lang="en-US"/>
            <a:t>, </a:t>
          </a:r>
          <a:r>
            <a:rPr lang="en-US" b="1"/>
            <a:t>resources</a:t>
          </a:r>
          <a:r>
            <a:rPr lang="en-US"/>
            <a:t>, and </a:t>
          </a:r>
          <a:r>
            <a:rPr lang="en-US" b="1"/>
            <a:t>access</a:t>
          </a:r>
          <a:r>
            <a:rPr lang="en-US"/>
            <a:t> to data?</a:t>
          </a:r>
        </a:p>
      </dgm:t>
    </dgm:pt>
    <dgm:pt modelId="{FE2B7C76-63FE-4B42-AF51-27DFD3AA5E8F}" type="parTrans" cxnId="{8174B169-58AB-4522-8294-46AFB40FE557}">
      <dgm:prSet/>
      <dgm:spPr/>
      <dgm:t>
        <a:bodyPr/>
        <a:lstStyle/>
        <a:p>
          <a:endParaRPr lang="en-US"/>
        </a:p>
      </dgm:t>
    </dgm:pt>
    <dgm:pt modelId="{817028B6-1537-4551-B68C-270E2A1E1C37}" type="sibTrans" cxnId="{8174B169-58AB-4522-8294-46AFB40FE557}">
      <dgm:prSet/>
      <dgm:spPr/>
      <dgm:t>
        <a:bodyPr/>
        <a:lstStyle/>
        <a:p>
          <a:endParaRPr lang="en-US"/>
        </a:p>
      </dgm:t>
    </dgm:pt>
    <dgm:pt modelId="{853589AD-05F1-4A8D-AEF1-BCA45CCCFDD6}">
      <dgm:prSet/>
      <dgm:spPr/>
      <dgm:t>
        <a:bodyPr/>
        <a:lstStyle/>
        <a:p>
          <a:r>
            <a:rPr lang="en-US" b="1"/>
            <a:t>Ethical Considerations</a:t>
          </a:r>
          <a:r>
            <a:rPr lang="en-US"/>
            <a:t>:</a:t>
          </a:r>
        </a:p>
      </dgm:t>
    </dgm:pt>
    <dgm:pt modelId="{F012AB5E-F76A-4D6D-98B9-D3B0E73948D2}" type="parTrans" cxnId="{D45379C8-E5B7-49F3-983A-BB4412BFBDC7}">
      <dgm:prSet/>
      <dgm:spPr/>
      <dgm:t>
        <a:bodyPr/>
        <a:lstStyle/>
        <a:p>
          <a:endParaRPr lang="en-US"/>
        </a:p>
      </dgm:t>
    </dgm:pt>
    <dgm:pt modelId="{0E66EC6E-A2F7-46BC-8F3C-36A8F4438F21}" type="sibTrans" cxnId="{D45379C8-E5B7-49F3-983A-BB4412BFBDC7}">
      <dgm:prSet/>
      <dgm:spPr/>
      <dgm:t>
        <a:bodyPr/>
        <a:lstStyle/>
        <a:p>
          <a:endParaRPr lang="en-US"/>
        </a:p>
      </dgm:t>
    </dgm:pt>
    <dgm:pt modelId="{0EF262A5-79DC-40F8-B23C-1B3FC2E9F381}">
      <dgm:prSet/>
      <dgm:spPr/>
      <dgm:t>
        <a:bodyPr/>
        <a:lstStyle/>
        <a:p>
          <a:r>
            <a:rPr lang="en-US"/>
            <a:t>Does the question respect </a:t>
          </a:r>
          <a:r>
            <a:rPr lang="en-US" b="1"/>
            <a:t>ethical guidelines</a:t>
          </a:r>
          <a:r>
            <a:rPr lang="en-US"/>
            <a:t> and take into account the values associated with the topic?</a:t>
          </a:r>
        </a:p>
      </dgm:t>
    </dgm:pt>
    <dgm:pt modelId="{E7B62A2E-EECB-4199-9CAF-C2CFF08BC274}" type="parTrans" cxnId="{0F0D0F6C-A541-45AD-B854-9B8A40BE20CA}">
      <dgm:prSet/>
      <dgm:spPr/>
      <dgm:t>
        <a:bodyPr/>
        <a:lstStyle/>
        <a:p>
          <a:endParaRPr lang="en-US"/>
        </a:p>
      </dgm:t>
    </dgm:pt>
    <dgm:pt modelId="{F411668A-209B-42E1-A188-E11AB8D64260}" type="sibTrans" cxnId="{0F0D0F6C-A541-45AD-B854-9B8A40BE20CA}">
      <dgm:prSet/>
      <dgm:spPr/>
      <dgm:t>
        <a:bodyPr/>
        <a:lstStyle/>
        <a:p>
          <a:endParaRPr lang="en-US"/>
        </a:p>
      </dgm:t>
    </dgm:pt>
    <dgm:pt modelId="{85ECE2CC-019E-4807-9ECF-DE148F858175}" type="pres">
      <dgm:prSet presAssocID="{0A71C92B-BE68-407A-B687-489E20F4C856}" presName="Name0" presStyleCnt="0">
        <dgm:presLayoutVars>
          <dgm:dir/>
          <dgm:animLvl val="lvl"/>
          <dgm:resizeHandles val="exact"/>
        </dgm:presLayoutVars>
      </dgm:prSet>
      <dgm:spPr/>
    </dgm:pt>
    <dgm:pt modelId="{7ADF1282-18DE-4D5F-AAA6-17AAE93AF815}" type="pres">
      <dgm:prSet presAssocID="{69ED6D89-DE11-4C21-AA84-50EB542D1F82}" presName="linNode" presStyleCnt="0"/>
      <dgm:spPr/>
    </dgm:pt>
    <dgm:pt modelId="{621AD3AE-1D01-48A2-80FF-B32D8FD27071}" type="pres">
      <dgm:prSet presAssocID="{69ED6D89-DE11-4C21-AA84-50EB542D1F82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5E381C18-A8E7-4050-B544-0F60EBEB04B9}" type="pres">
      <dgm:prSet presAssocID="{69ED6D89-DE11-4C21-AA84-50EB542D1F82}" presName="descendantText" presStyleLbl="alignAccFollowNode1" presStyleIdx="0" presStyleCnt="4">
        <dgm:presLayoutVars>
          <dgm:bulletEnabled val="1"/>
        </dgm:presLayoutVars>
      </dgm:prSet>
      <dgm:spPr/>
    </dgm:pt>
    <dgm:pt modelId="{01834C8D-D8CA-42DE-A8B3-557302BDF6E1}" type="pres">
      <dgm:prSet presAssocID="{130AB5DD-E8BC-44EC-B7DA-09E2A58DF51E}" presName="sp" presStyleCnt="0"/>
      <dgm:spPr/>
    </dgm:pt>
    <dgm:pt modelId="{AD629BEA-DA7C-458E-A374-92DE376BBFC8}" type="pres">
      <dgm:prSet presAssocID="{AF42CD48-4357-4329-8350-570A0276493B}" presName="linNode" presStyleCnt="0"/>
      <dgm:spPr/>
    </dgm:pt>
    <dgm:pt modelId="{7A6180F1-9944-429E-B710-D9D0B3A2EEA5}" type="pres">
      <dgm:prSet presAssocID="{AF42CD48-4357-4329-8350-570A0276493B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35856C17-AFEE-4185-AA3E-06C0D9BDA1AD}" type="pres">
      <dgm:prSet presAssocID="{AF42CD48-4357-4329-8350-570A0276493B}" presName="descendantText" presStyleLbl="alignAccFollowNode1" presStyleIdx="1" presStyleCnt="4">
        <dgm:presLayoutVars>
          <dgm:bulletEnabled val="1"/>
        </dgm:presLayoutVars>
      </dgm:prSet>
      <dgm:spPr/>
    </dgm:pt>
    <dgm:pt modelId="{0B942E49-B2A7-44ED-9297-08DD38A636B7}" type="pres">
      <dgm:prSet presAssocID="{189F7A40-17CE-42B9-AE7E-BBB2E87F75D8}" presName="sp" presStyleCnt="0"/>
      <dgm:spPr/>
    </dgm:pt>
    <dgm:pt modelId="{BC28A547-CE27-4226-B822-A28C7C64C1C0}" type="pres">
      <dgm:prSet presAssocID="{8677DE68-7260-4DED-92E9-A13E25C70A5E}" presName="linNode" presStyleCnt="0"/>
      <dgm:spPr/>
    </dgm:pt>
    <dgm:pt modelId="{BFD48C95-BB9B-4A32-B6B0-C9AB823B0660}" type="pres">
      <dgm:prSet presAssocID="{8677DE68-7260-4DED-92E9-A13E25C70A5E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82B36652-2B44-40FB-B2B6-7536C0FBC71A}" type="pres">
      <dgm:prSet presAssocID="{8677DE68-7260-4DED-92E9-A13E25C70A5E}" presName="descendantText" presStyleLbl="alignAccFollowNode1" presStyleIdx="2" presStyleCnt="4">
        <dgm:presLayoutVars>
          <dgm:bulletEnabled val="1"/>
        </dgm:presLayoutVars>
      </dgm:prSet>
      <dgm:spPr/>
    </dgm:pt>
    <dgm:pt modelId="{1862E124-2658-4E9F-9ABB-6B64F44A6176}" type="pres">
      <dgm:prSet presAssocID="{EC9129F3-6537-4E83-A575-182E56A48EEE}" presName="sp" presStyleCnt="0"/>
      <dgm:spPr/>
    </dgm:pt>
    <dgm:pt modelId="{C710E336-B50E-4189-9379-B528E5939DFB}" type="pres">
      <dgm:prSet presAssocID="{853589AD-05F1-4A8D-AEF1-BCA45CCCFDD6}" presName="linNode" presStyleCnt="0"/>
      <dgm:spPr/>
    </dgm:pt>
    <dgm:pt modelId="{12C3D1BC-9768-4DFB-A936-7B1B7CA57EFA}" type="pres">
      <dgm:prSet presAssocID="{853589AD-05F1-4A8D-AEF1-BCA45CCCFDD6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EFE4A9DF-AA0F-4A35-9EB7-B6AF2486CC3F}" type="pres">
      <dgm:prSet presAssocID="{853589AD-05F1-4A8D-AEF1-BCA45CCCFDD6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45592009-44AA-4C49-B81D-6E85EE32A215}" srcId="{0A71C92B-BE68-407A-B687-489E20F4C856}" destId="{AF42CD48-4357-4329-8350-570A0276493B}" srcOrd="1" destOrd="0" parTransId="{AD58FC13-2812-4DB1-B320-4CF7900B8C58}" sibTransId="{189F7A40-17CE-42B9-AE7E-BBB2E87F75D8}"/>
    <dgm:cxn modelId="{560DF315-ED78-4B4A-91D9-1A8018790C8E}" type="presOf" srcId="{853589AD-05F1-4A8D-AEF1-BCA45CCCFDD6}" destId="{12C3D1BC-9768-4DFB-A936-7B1B7CA57EFA}" srcOrd="0" destOrd="0" presId="urn:microsoft.com/office/officeart/2005/8/layout/vList5"/>
    <dgm:cxn modelId="{70DBD619-39F9-40A1-BB73-2E83FEFB96E5}" type="presOf" srcId="{69ED6D89-DE11-4C21-AA84-50EB542D1F82}" destId="{621AD3AE-1D01-48A2-80FF-B32D8FD27071}" srcOrd="0" destOrd="0" presId="urn:microsoft.com/office/officeart/2005/8/layout/vList5"/>
    <dgm:cxn modelId="{7831635E-CC45-43FD-BA3D-159FA31610A3}" type="presOf" srcId="{8677DE68-7260-4DED-92E9-A13E25C70A5E}" destId="{BFD48C95-BB9B-4A32-B6B0-C9AB823B0660}" srcOrd="0" destOrd="0" presId="urn:microsoft.com/office/officeart/2005/8/layout/vList5"/>
    <dgm:cxn modelId="{18BC4143-737A-4DA7-8223-E260DAD5A99D}" type="presOf" srcId="{653C6225-98FD-45C8-B35A-0B49086FC189}" destId="{5E381C18-A8E7-4050-B544-0F60EBEB04B9}" srcOrd="0" destOrd="0" presId="urn:microsoft.com/office/officeart/2005/8/layout/vList5"/>
    <dgm:cxn modelId="{8174B169-58AB-4522-8294-46AFB40FE557}" srcId="{8677DE68-7260-4DED-92E9-A13E25C70A5E}" destId="{5FA4C180-142D-4EDA-B017-149A695490C0}" srcOrd="0" destOrd="0" parTransId="{FE2B7C76-63FE-4B42-AF51-27DFD3AA5E8F}" sibTransId="{817028B6-1537-4551-B68C-270E2A1E1C37}"/>
    <dgm:cxn modelId="{0F0D0F6C-A541-45AD-B854-9B8A40BE20CA}" srcId="{853589AD-05F1-4A8D-AEF1-BCA45CCCFDD6}" destId="{0EF262A5-79DC-40F8-B23C-1B3FC2E9F381}" srcOrd="0" destOrd="0" parTransId="{E7B62A2E-EECB-4199-9CAF-C2CFF08BC274}" sibTransId="{F411668A-209B-42E1-A188-E11AB8D64260}"/>
    <dgm:cxn modelId="{27AC9B4D-FB96-45C4-9F0D-7798FFE77B1A}" type="presOf" srcId="{AF42CD48-4357-4329-8350-570A0276493B}" destId="{7A6180F1-9944-429E-B710-D9D0B3A2EEA5}" srcOrd="0" destOrd="0" presId="urn:microsoft.com/office/officeart/2005/8/layout/vList5"/>
    <dgm:cxn modelId="{614A426F-D0D4-4087-A7A0-1731630A1307}" srcId="{69ED6D89-DE11-4C21-AA84-50EB542D1F82}" destId="{653C6225-98FD-45C8-B35A-0B49086FC189}" srcOrd="0" destOrd="0" parTransId="{80568B7E-FCDB-4C05-BCB8-EBBBD593A340}" sibTransId="{2B7799D8-010D-45D4-8E9E-90DC9C98B6F2}"/>
    <dgm:cxn modelId="{9DD1C474-EDEF-4825-A901-C618161EA8E8}" srcId="{0A71C92B-BE68-407A-B687-489E20F4C856}" destId="{69ED6D89-DE11-4C21-AA84-50EB542D1F82}" srcOrd="0" destOrd="0" parTransId="{1A23CF77-D766-4FC1-A36F-89A722DB0283}" sibTransId="{130AB5DD-E8BC-44EC-B7DA-09E2A58DF51E}"/>
    <dgm:cxn modelId="{B487FE77-A8BA-4515-9958-6DA677AA236A}" srcId="{AF42CD48-4357-4329-8350-570A0276493B}" destId="{0CAF801C-B030-4E41-9450-0A322D81C473}" srcOrd="0" destOrd="0" parTransId="{5D14783B-AB4D-4B17-BFB4-B6617583EF2D}" sibTransId="{2BED0FE7-2238-4D04-B3FE-FA6E136B2D8D}"/>
    <dgm:cxn modelId="{31DEBA5A-D536-4F0E-B0EE-6D12F1F0697A}" type="presOf" srcId="{0EF262A5-79DC-40F8-B23C-1B3FC2E9F381}" destId="{EFE4A9DF-AA0F-4A35-9EB7-B6AF2486CC3F}" srcOrd="0" destOrd="0" presId="urn:microsoft.com/office/officeart/2005/8/layout/vList5"/>
    <dgm:cxn modelId="{89DAB0A4-E9AD-400B-B363-3D4FEEF76D24}" type="presOf" srcId="{0CAF801C-B030-4E41-9450-0A322D81C473}" destId="{35856C17-AFEE-4185-AA3E-06C0D9BDA1AD}" srcOrd="0" destOrd="0" presId="urn:microsoft.com/office/officeart/2005/8/layout/vList5"/>
    <dgm:cxn modelId="{EC87B8A5-B291-4B14-B128-C360FB81FE6E}" type="presOf" srcId="{0A71C92B-BE68-407A-B687-489E20F4C856}" destId="{85ECE2CC-019E-4807-9ECF-DE148F858175}" srcOrd="0" destOrd="0" presId="urn:microsoft.com/office/officeart/2005/8/layout/vList5"/>
    <dgm:cxn modelId="{D45379C8-E5B7-49F3-983A-BB4412BFBDC7}" srcId="{0A71C92B-BE68-407A-B687-489E20F4C856}" destId="{853589AD-05F1-4A8D-AEF1-BCA45CCCFDD6}" srcOrd="3" destOrd="0" parTransId="{F012AB5E-F76A-4D6D-98B9-D3B0E73948D2}" sibTransId="{0E66EC6E-A2F7-46BC-8F3C-36A8F4438F21}"/>
    <dgm:cxn modelId="{256FAFD8-0DCE-4AB1-AE3E-5AD953667CC0}" type="presOf" srcId="{5FA4C180-142D-4EDA-B017-149A695490C0}" destId="{82B36652-2B44-40FB-B2B6-7536C0FBC71A}" srcOrd="0" destOrd="0" presId="urn:microsoft.com/office/officeart/2005/8/layout/vList5"/>
    <dgm:cxn modelId="{E506C5EF-9528-435B-BBE7-B717B4FD2CDF}" srcId="{0A71C92B-BE68-407A-B687-489E20F4C856}" destId="{8677DE68-7260-4DED-92E9-A13E25C70A5E}" srcOrd="2" destOrd="0" parTransId="{0113E892-D3EE-4207-84D0-27D68E4DABC2}" sibTransId="{EC9129F3-6537-4E83-A575-182E56A48EEE}"/>
    <dgm:cxn modelId="{A811D861-5CED-4C6B-BB40-3D578055B4E9}" type="presParOf" srcId="{85ECE2CC-019E-4807-9ECF-DE148F858175}" destId="{7ADF1282-18DE-4D5F-AAA6-17AAE93AF815}" srcOrd="0" destOrd="0" presId="urn:microsoft.com/office/officeart/2005/8/layout/vList5"/>
    <dgm:cxn modelId="{BDC038B2-62DB-4F3D-A40F-B71AA4E0C54C}" type="presParOf" srcId="{7ADF1282-18DE-4D5F-AAA6-17AAE93AF815}" destId="{621AD3AE-1D01-48A2-80FF-B32D8FD27071}" srcOrd="0" destOrd="0" presId="urn:microsoft.com/office/officeart/2005/8/layout/vList5"/>
    <dgm:cxn modelId="{0DC482B2-48F6-4217-A2FC-E8DA29A3D24D}" type="presParOf" srcId="{7ADF1282-18DE-4D5F-AAA6-17AAE93AF815}" destId="{5E381C18-A8E7-4050-B544-0F60EBEB04B9}" srcOrd="1" destOrd="0" presId="urn:microsoft.com/office/officeart/2005/8/layout/vList5"/>
    <dgm:cxn modelId="{99DCFFD0-D6D7-4358-A0F3-A7B167E823BE}" type="presParOf" srcId="{85ECE2CC-019E-4807-9ECF-DE148F858175}" destId="{01834C8D-D8CA-42DE-A8B3-557302BDF6E1}" srcOrd="1" destOrd="0" presId="urn:microsoft.com/office/officeart/2005/8/layout/vList5"/>
    <dgm:cxn modelId="{C843DD55-BC0F-4E6C-B6A5-26C563ED198E}" type="presParOf" srcId="{85ECE2CC-019E-4807-9ECF-DE148F858175}" destId="{AD629BEA-DA7C-458E-A374-92DE376BBFC8}" srcOrd="2" destOrd="0" presId="urn:microsoft.com/office/officeart/2005/8/layout/vList5"/>
    <dgm:cxn modelId="{8BAAB9F7-23FB-4EC8-8EB9-B050F16789BC}" type="presParOf" srcId="{AD629BEA-DA7C-458E-A374-92DE376BBFC8}" destId="{7A6180F1-9944-429E-B710-D9D0B3A2EEA5}" srcOrd="0" destOrd="0" presId="urn:microsoft.com/office/officeart/2005/8/layout/vList5"/>
    <dgm:cxn modelId="{5B7A2D48-A891-457A-AA39-C3C4437D0172}" type="presParOf" srcId="{AD629BEA-DA7C-458E-A374-92DE376BBFC8}" destId="{35856C17-AFEE-4185-AA3E-06C0D9BDA1AD}" srcOrd="1" destOrd="0" presId="urn:microsoft.com/office/officeart/2005/8/layout/vList5"/>
    <dgm:cxn modelId="{26D556B6-AFD0-4109-8550-328188DFB85C}" type="presParOf" srcId="{85ECE2CC-019E-4807-9ECF-DE148F858175}" destId="{0B942E49-B2A7-44ED-9297-08DD38A636B7}" srcOrd="3" destOrd="0" presId="urn:microsoft.com/office/officeart/2005/8/layout/vList5"/>
    <dgm:cxn modelId="{635FA110-CF63-40B5-9EA1-9D5BAB2D6A55}" type="presParOf" srcId="{85ECE2CC-019E-4807-9ECF-DE148F858175}" destId="{BC28A547-CE27-4226-B822-A28C7C64C1C0}" srcOrd="4" destOrd="0" presId="urn:microsoft.com/office/officeart/2005/8/layout/vList5"/>
    <dgm:cxn modelId="{BF2EA7F1-E6C4-4ADD-B564-EFD333F267D9}" type="presParOf" srcId="{BC28A547-CE27-4226-B822-A28C7C64C1C0}" destId="{BFD48C95-BB9B-4A32-B6B0-C9AB823B0660}" srcOrd="0" destOrd="0" presId="urn:microsoft.com/office/officeart/2005/8/layout/vList5"/>
    <dgm:cxn modelId="{209B93FD-F92A-4ABA-806A-48E6F444171E}" type="presParOf" srcId="{BC28A547-CE27-4226-B822-A28C7C64C1C0}" destId="{82B36652-2B44-40FB-B2B6-7536C0FBC71A}" srcOrd="1" destOrd="0" presId="urn:microsoft.com/office/officeart/2005/8/layout/vList5"/>
    <dgm:cxn modelId="{364ACA30-69CF-4AD5-84FE-38E69447E698}" type="presParOf" srcId="{85ECE2CC-019E-4807-9ECF-DE148F858175}" destId="{1862E124-2658-4E9F-9ABB-6B64F44A6176}" srcOrd="5" destOrd="0" presId="urn:microsoft.com/office/officeart/2005/8/layout/vList5"/>
    <dgm:cxn modelId="{B71EBD56-026E-4336-83C1-2F8096973D80}" type="presParOf" srcId="{85ECE2CC-019E-4807-9ECF-DE148F858175}" destId="{C710E336-B50E-4189-9379-B528E5939DFB}" srcOrd="6" destOrd="0" presId="urn:microsoft.com/office/officeart/2005/8/layout/vList5"/>
    <dgm:cxn modelId="{2FB9635D-5AFE-4861-B0A2-B09444D99232}" type="presParOf" srcId="{C710E336-B50E-4189-9379-B528E5939DFB}" destId="{12C3D1BC-9768-4DFB-A936-7B1B7CA57EFA}" srcOrd="0" destOrd="0" presId="urn:microsoft.com/office/officeart/2005/8/layout/vList5"/>
    <dgm:cxn modelId="{65A06371-B0E0-4F03-A80A-E7A0B4159B10}" type="presParOf" srcId="{C710E336-B50E-4189-9379-B528E5939DFB}" destId="{EFE4A9DF-AA0F-4A35-9EB7-B6AF2486CC3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79F941-08DE-4D6E-A1A3-919A594C4339}">
      <dsp:nvSpPr>
        <dsp:cNvPr id="0" name=""/>
        <dsp:cNvSpPr/>
      </dsp:nvSpPr>
      <dsp:spPr>
        <a:xfrm>
          <a:off x="0" y="2360"/>
          <a:ext cx="10515600" cy="35984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F0CD26-2B22-4565-AFC4-7B9BFD1BEEBB}">
      <dsp:nvSpPr>
        <dsp:cNvPr id="0" name=""/>
        <dsp:cNvSpPr/>
      </dsp:nvSpPr>
      <dsp:spPr>
        <a:xfrm>
          <a:off x="108852" y="83325"/>
          <a:ext cx="198106" cy="19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07265-7629-4D6B-AF72-257EDD0E6D7E}">
      <dsp:nvSpPr>
        <dsp:cNvPr id="0" name=""/>
        <dsp:cNvSpPr/>
      </dsp:nvSpPr>
      <dsp:spPr>
        <a:xfrm>
          <a:off x="415811" y="2360"/>
          <a:ext cx="10031476" cy="483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175" tIns="51175" rIns="51175" bIns="511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Exploratory Questions: </a:t>
          </a:r>
          <a:r>
            <a:rPr lang="en-US" sz="1800" b="0" i="0" kern="1200" baseline="0" dirty="0"/>
            <a:t>Investigating unknown areas or underexplored topics.</a:t>
          </a:r>
          <a:endParaRPr lang="en-US" sz="1800" kern="1200" dirty="0"/>
        </a:p>
      </dsp:txBody>
      <dsp:txXfrm>
        <a:off x="415811" y="2360"/>
        <a:ext cx="10031476" cy="483538"/>
      </dsp:txXfrm>
    </dsp:sp>
    <dsp:sp modelId="{E14B397C-46BB-47DF-BAEA-66A78F85608D}">
      <dsp:nvSpPr>
        <dsp:cNvPr id="0" name=""/>
        <dsp:cNvSpPr/>
      </dsp:nvSpPr>
      <dsp:spPr>
        <a:xfrm>
          <a:off x="0" y="606783"/>
          <a:ext cx="10515600" cy="35984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1A1374-684D-4D88-9CBF-88FD9CB0A1A5}">
      <dsp:nvSpPr>
        <dsp:cNvPr id="0" name=""/>
        <dsp:cNvSpPr/>
      </dsp:nvSpPr>
      <dsp:spPr>
        <a:xfrm>
          <a:off x="108852" y="687748"/>
          <a:ext cx="198106" cy="19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4678CA-F280-47DC-B4D3-420472EF2FE0}">
      <dsp:nvSpPr>
        <dsp:cNvPr id="0" name=""/>
        <dsp:cNvSpPr/>
      </dsp:nvSpPr>
      <dsp:spPr>
        <a:xfrm>
          <a:off x="415811" y="606783"/>
          <a:ext cx="10031476" cy="483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175" tIns="51175" rIns="51175" bIns="511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Predictive Questions: </a:t>
          </a:r>
          <a:r>
            <a:rPr lang="en-US" sz="1800" b="0" i="0" kern="1200" baseline="0" dirty="0"/>
            <a:t>Using data to forecast outcomes or trends.</a:t>
          </a:r>
          <a:endParaRPr lang="en-US" sz="1800" kern="1200" dirty="0"/>
        </a:p>
      </dsp:txBody>
      <dsp:txXfrm>
        <a:off x="415811" y="606783"/>
        <a:ext cx="10031476" cy="483538"/>
      </dsp:txXfrm>
    </dsp:sp>
    <dsp:sp modelId="{19F83F2C-FDB9-4BC3-86D2-0692DF209606}">
      <dsp:nvSpPr>
        <dsp:cNvPr id="0" name=""/>
        <dsp:cNvSpPr/>
      </dsp:nvSpPr>
      <dsp:spPr>
        <a:xfrm>
          <a:off x="0" y="1211207"/>
          <a:ext cx="10515600" cy="35984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FAB502-8E10-4ED2-9759-3C740C93BEFF}">
      <dsp:nvSpPr>
        <dsp:cNvPr id="0" name=""/>
        <dsp:cNvSpPr/>
      </dsp:nvSpPr>
      <dsp:spPr>
        <a:xfrm>
          <a:off x="108852" y="1292171"/>
          <a:ext cx="198106" cy="19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6A0F67-CCE2-4A74-8F46-384CCDB0023D}">
      <dsp:nvSpPr>
        <dsp:cNvPr id="0" name=""/>
        <dsp:cNvSpPr/>
      </dsp:nvSpPr>
      <dsp:spPr>
        <a:xfrm>
          <a:off x="415811" y="1211207"/>
          <a:ext cx="10031476" cy="483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175" tIns="51175" rIns="51175" bIns="511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Interpretive Questions: </a:t>
          </a:r>
          <a:r>
            <a:rPr lang="en-US" sz="1800" b="0" i="0" kern="1200" baseline="0" dirty="0"/>
            <a:t>Understanding meanings, perspectives, or subjective experiences.</a:t>
          </a:r>
          <a:endParaRPr lang="en-US" sz="1800" kern="1200" dirty="0"/>
        </a:p>
      </dsp:txBody>
      <dsp:txXfrm>
        <a:off x="415811" y="1211207"/>
        <a:ext cx="10031476" cy="483538"/>
      </dsp:txXfrm>
    </dsp:sp>
    <dsp:sp modelId="{0F03E922-3175-439C-96C7-A08C1FBEB757}">
      <dsp:nvSpPr>
        <dsp:cNvPr id="0" name=""/>
        <dsp:cNvSpPr/>
      </dsp:nvSpPr>
      <dsp:spPr>
        <a:xfrm>
          <a:off x="0" y="1815630"/>
          <a:ext cx="10515600" cy="35984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838DB8-56CD-477E-BE57-AC79DB00E886}">
      <dsp:nvSpPr>
        <dsp:cNvPr id="0" name=""/>
        <dsp:cNvSpPr/>
      </dsp:nvSpPr>
      <dsp:spPr>
        <a:xfrm>
          <a:off x="108852" y="1896595"/>
          <a:ext cx="198106" cy="19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7C29D-B967-4113-A263-A760E0EAA1E9}">
      <dsp:nvSpPr>
        <dsp:cNvPr id="0" name=""/>
        <dsp:cNvSpPr/>
      </dsp:nvSpPr>
      <dsp:spPr>
        <a:xfrm>
          <a:off x="415811" y="1815630"/>
          <a:ext cx="10031476" cy="483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175" tIns="51175" rIns="51175" bIns="511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Relationship-Based Questions: </a:t>
          </a:r>
          <a:r>
            <a:rPr lang="en-US" sz="1800" b="0" i="0" kern="1200" baseline="0" dirty="0"/>
            <a:t>Exploring connections or correlations between variables.</a:t>
          </a:r>
          <a:endParaRPr lang="en-US" sz="1800" kern="1200" dirty="0"/>
        </a:p>
      </dsp:txBody>
      <dsp:txXfrm>
        <a:off x="415811" y="1815630"/>
        <a:ext cx="10031476" cy="483538"/>
      </dsp:txXfrm>
    </dsp:sp>
    <dsp:sp modelId="{9CFB871B-9CF7-4976-92F2-AF3747265DC8}">
      <dsp:nvSpPr>
        <dsp:cNvPr id="0" name=""/>
        <dsp:cNvSpPr/>
      </dsp:nvSpPr>
      <dsp:spPr>
        <a:xfrm>
          <a:off x="0" y="2420054"/>
          <a:ext cx="10515600" cy="35984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E590D9-D82F-4190-9C40-C83B7871E1A3}">
      <dsp:nvSpPr>
        <dsp:cNvPr id="0" name=""/>
        <dsp:cNvSpPr/>
      </dsp:nvSpPr>
      <dsp:spPr>
        <a:xfrm>
          <a:off x="108852" y="2501018"/>
          <a:ext cx="198106" cy="19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58414E-2DE0-427F-8924-06A36AE9CC26}">
      <dsp:nvSpPr>
        <dsp:cNvPr id="0" name=""/>
        <dsp:cNvSpPr/>
      </dsp:nvSpPr>
      <dsp:spPr>
        <a:xfrm>
          <a:off x="415811" y="2420054"/>
          <a:ext cx="10031476" cy="483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175" tIns="51175" rIns="51175" bIns="511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Descriptive Questions: </a:t>
          </a:r>
          <a:r>
            <a:rPr lang="en-US" sz="1800" b="0" i="0" kern="1200" baseline="0" dirty="0"/>
            <a:t>Describing the characteristics or status of a phenomenon.</a:t>
          </a:r>
          <a:endParaRPr lang="en-US" sz="1800" kern="1200" dirty="0"/>
        </a:p>
      </dsp:txBody>
      <dsp:txXfrm>
        <a:off x="415811" y="2420054"/>
        <a:ext cx="10031476" cy="483538"/>
      </dsp:txXfrm>
    </dsp:sp>
    <dsp:sp modelId="{0AB54366-DB96-4298-9295-A9BEDD765945}">
      <dsp:nvSpPr>
        <dsp:cNvPr id="0" name=""/>
        <dsp:cNvSpPr/>
      </dsp:nvSpPr>
      <dsp:spPr>
        <a:xfrm>
          <a:off x="0" y="3024477"/>
          <a:ext cx="10515600" cy="35984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4FD983-B3FF-4CDF-9BA1-EDDD395CB1BF}">
      <dsp:nvSpPr>
        <dsp:cNvPr id="0" name=""/>
        <dsp:cNvSpPr/>
      </dsp:nvSpPr>
      <dsp:spPr>
        <a:xfrm>
          <a:off x="108852" y="3105442"/>
          <a:ext cx="198106" cy="19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92E6CF-DB55-4D13-8DFD-D30897C11ADE}">
      <dsp:nvSpPr>
        <dsp:cNvPr id="0" name=""/>
        <dsp:cNvSpPr/>
      </dsp:nvSpPr>
      <dsp:spPr>
        <a:xfrm>
          <a:off x="415811" y="3024477"/>
          <a:ext cx="10031476" cy="483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175" tIns="51175" rIns="51175" bIns="511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Comparative Questions: </a:t>
          </a:r>
          <a:r>
            <a:rPr lang="en-US" sz="1800" b="0" i="0" kern="1200" baseline="0" dirty="0"/>
            <a:t>Evaluating two or more variables, methods, or groups to identify differences or effectiveness.</a:t>
          </a:r>
          <a:endParaRPr lang="en-US" sz="1800" kern="1200" dirty="0"/>
        </a:p>
      </dsp:txBody>
      <dsp:txXfrm>
        <a:off x="415811" y="3024477"/>
        <a:ext cx="10031476" cy="483538"/>
      </dsp:txXfrm>
    </dsp:sp>
    <dsp:sp modelId="{9F63F51B-138C-4291-A782-512426F6484F}">
      <dsp:nvSpPr>
        <dsp:cNvPr id="0" name=""/>
        <dsp:cNvSpPr/>
      </dsp:nvSpPr>
      <dsp:spPr>
        <a:xfrm>
          <a:off x="0" y="3628900"/>
          <a:ext cx="10515600" cy="35984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02CA82-9501-4EF9-BB14-F71ACD4861ED}">
      <dsp:nvSpPr>
        <dsp:cNvPr id="0" name=""/>
        <dsp:cNvSpPr/>
      </dsp:nvSpPr>
      <dsp:spPr>
        <a:xfrm>
          <a:off x="108852" y="3709865"/>
          <a:ext cx="198106" cy="19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9B3C59-28E8-4C11-85CE-E715C539F3AB}">
      <dsp:nvSpPr>
        <dsp:cNvPr id="0" name=""/>
        <dsp:cNvSpPr/>
      </dsp:nvSpPr>
      <dsp:spPr>
        <a:xfrm>
          <a:off x="415811" y="3628900"/>
          <a:ext cx="10031476" cy="483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175" tIns="51175" rIns="51175" bIns="511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Causal Questions: </a:t>
          </a:r>
          <a:r>
            <a:rPr lang="en-US" sz="1800" b="0" i="0" kern="1200" baseline="0" dirty="0"/>
            <a:t>Examining cause-and-effect relationships between variables. </a:t>
          </a:r>
          <a:endParaRPr lang="en-US" sz="1800" kern="1200" dirty="0"/>
        </a:p>
      </dsp:txBody>
      <dsp:txXfrm>
        <a:off x="415811" y="3628900"/>
        <a:ext cx="10031476" cy="4835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81C18-A8E7-4050-B544-0F60EBEB04B9}">
      <dsp:nvSpPr>
        <dsp:cNvPr id="0" name=""/>
        <dsp:cNvSpPr/>
      </dsp:nvSpPr>
      <dsp:spPr>
        <a:xfrm rot="5400000">
          <a:off x="6754397" y="-2867669"/>
          <a:ext cx="792420" cy="6729984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Is the research question consistent with your </a:t>
          </a:r>
          <a:r>
            <a:rPr lang="en-US" sz="2200" b="1" kern="1200"/>
            <a:t>ontological</a:t>
          </a:r>
          <a:r>
            <a:rPr lang="en-US" sz="2200" kern="1200"/>
            <a:t> and </a:t>
          </a:r>
          <a:r>
            <a:rPr lang="en-US" sz="2200" b="1" kern="1200"/>
            <a:t>epistemological</a:t>
          </a:r>
          <a:r>
            <a:rPr lang="en-US" sz="2200" kern="1200"/>
            <a:t> stance?</a:t>
          </a:r>
        </a:p>
      </dsp:txBody>
      <dsp:txXfrm rot="-5400000">
        <a:off x="3785616" y="139795"/>
        <a:ext cx="6691301" cy="715054"/>
      </dsp:txXfrm>
    </dsp:sp>
    <dsp:sp modelId="{621AD3AE-1D01-48A2-80FF-B32D8FD27071}">
      <dsp:nvSpPr>
        <dsp:cNvPr id="0" name=""/>
        <dsp:cNvSpPr/>
      </dsp:nvSpPr>
      <dsp:spPr>
        <a:xfrm>
          <a:off x="0" y="2059"/>
          <a:ext cx="3785616" cy="99052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Alignment with Philosophical Foundations</a:t>
          </a:r>
          <a:r>
            <a:rPr lang="en-US" sz="2600" kern="1200"/>
            <a:t>:</a:t>
          </a:r>
        </a:p>
      </dsp:txBody>
      <dsp:txXfrm>
        <a:off x="48353" y="50412"/>
        <a:ext cx="3688910" cy="893819"/>
      </dsp:txXfrm>
    </dsp:sp>
    <dsp:sp modelId="{35856C17-AFEE-4185-AA3E-06C0D9BDA1AD}">
      <dsp:nvSpPr>
        <dsp:cNvPr id="0" name=""/>
        <dsp:cNvSpPr/>
      </dsp:nvSpPr>
      <dsp:spPr>
        <a:xfrm rot="5400000">
          <a:off x="6754397" y="-1827617"/>
          <a:ext cx="792420" cy="6729984"/>
        </a:xfrm>
        <a:prstGeom prst="round2SameRect">
          <a:avLst/>
        </a:prstGeom>
        <a:solidFill>
          <a:schemeClr val="accent3">
            <a:tint val="40000"/>
            <a:alpha val="90000"/>
            <a:hueOff val="-4316637"/>
            <a:satOff val="27656"/>
            <a:lumOff val="2621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-4316637"/>
              <a:satOff val="27656"/>
              <a:lumOff val="26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Is the research question </a:t>
          </a:r>
          <a:r>
            <a:rPr lang="en-US" sz="2200" b="1" kern="1200"/>
            <a:t>clear</a:t>
          </a:r>
          <a:r>
            <a:rPr lang="en-US" sz="2200" kern="1200"/>
            <a:t> and </a:t>
          </a:r>
          <a:r>
            <a:rPr lang="en-US" sz="2200" b="1" kern="1200"/>
            <a:t>precise</a:t>
          </a:r>
          <a:r>
            <a:rPr lang="en-US" sz="2200" kern="1200"/>
            <a:t>? Does it avoid ambiguity?</a:t>
          </a:r>
        </a:p>
      </dsp:txBody>
      <dsp:txXfrm rot="-5400000">
        <a:off x="3785616" y="1179847"/>
        <a:ext cx="6691301" cy="715054"/>
      </dsp:txXfrm>
    </dsp:sp>
    <dsp:sp modelId="{7A6180F1-9944-429E-B710-D9D0B3A2EEA5}">
      <dsp:nvSpPr>
        <dsp:cNvPr id="0" name=""/>
        <dsp:cNvSpPr/>
      </dsp:nvSpPr>
      <dsp:spPr>
        <a:xfrm>
          <a:off x="0" y="1042111"/>
          <a:ext cx="3785616" cy="990525"/>
        </a:xfrm>
        <a:prstGeom prst="roundRect">
          <a:avLst/>
        </a:prstGeom>
        <a:solidFill>
          <a:schemeClr val="accent3">
            <a:hueOff val="-3884135"/>
            <a:satOff val="11136"/>
            <a:lumOff val="902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Clarity and Focus</a:t>
          </a:r>
          <a:r>
            <a:rPr lang="en-US" sz="2600" kern="1200"/>
            <a:t>:</a:t>
          </a:r>
        </a:p>
      </dsp:txBody>
      <dsp:txXfrm>
        <a:off x="48353" y="1090464"/>
        <a:ext cx="3688910" cy="893819"/>
      </dsp:txXfrm>
    </dsp:sp>
    <dsp:sp modelId="{82B36652-2B44-40FB-B2B6-7536C0FBC71A}">
      <dsp:nvSpPr>
        <dsp:cNvPr id="0" name=""/>
        <dsp:cNvSpPr/>
      </dsp:nvSpPr>
      <dsp:spPr>
        <a:xfrm rot="5400000">
          <a:off x="6754397" y="-787566"/>
          <a:ext cx="792420" cy="6729984"/>
        </a:xfrm>
        <a:prstGeom prst="round2SameRect">
          <a:avLst/>
        </a:prstGeom>
        <a:solidFill>
          <a:schemeClr val="accent3">
            <a:tint val="40000"/>
            <a:alpha val="90000"/>
            <a:hueOff val="-8633275"/>
            <a:satOff val="55312"/>
            <a:lumOff val="5241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-8633275"/>
              <a:satOff val="55312"/>
              <a:lumOff val="52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Can the question be answered within the available </a:t>
          </a:r>
          <a:r>
            <a:rPr lang="en-US" sz="2200" b="1" kern="1200"/>
            <a:t>time</a:t>
          </a:r>
          <a:r>
            <a:rPr lang="en-US" sz="2200" kern="1200"/>
            <a:t>, </a:t>
          </a:r>
          <a:r>
            <a:rPr lang="en-US" sz="2200" b="1" kern="1200"/>
            <a:t>resources</a:t>
          </a:r>
          <a:r>
            <a:rPr lang="en-US" sz="2200" kern="1200"/>
            <a:t>, and </a:t>
          </a:r>
          <a:r>
            <a:rPr lang="en-US" sz="2200" b="1" kern="1200"/>
            <a:t>access</a:t>
          </a:r>
          <a:r>
            <a:rPr lang="en-US" sz="2200" kern="1200"/>
            <a:t> to data?</a:t>
          </a:r>
        </a:p>
      </dsp:txBody>
      <dsp:txXfrm rot="-5400000">
        <a:off x="3785616" y="2219898"/>
        <a:ext cx="6691301" cy="715054"/>
      </dsp:txXfrm>
    </dsp:sp>
    <dsp:sp modelId="{BFD48C95-BB9B-4A32-B6B0-C9AB823B0660}">
      <dsp:nvSpPr>
        <dsp:cNvPr id="0" name=""/>
        <dsp:cNvSpPr/>
      </dsp:nvSpPr>
      <dsp:spPr>
        <a:xfrm>
          <a:off x="0" y="2082163"/>
          <a:ext cx="3785616" cy="990525"/>
        </a:xfrm>
        <a:prstGeom prst="roundRect">
          <a:avLst/>
        </a:prstGeom>
        <a:solidFill>
          <a:schemeClr val="accent3">
            <a:hueOff val="-7768270"/>
            <a:satOff val="22271"/>
            <a:lumOff val="180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Feasibility</a:t>
          </a:r>
          <a:r>
            <a:rPr lang="en-US" sz="2600" kern="1200"/>
            <a:t>:</a:t>
          </a:r>
        </a:p>
      </dsp:txBody>
      <dsp:txXfrm>
        <a:off x="48353" y="2130516"/>
        <a:ext cx="3688910" cy="893819"/>
      </dsp:txXfrm>
    </dsp:sp>
    <dsp:sp modelId="{EFE4A9DF-AA0F-4A35-9EB7-B6AF2486CC3F}">
      <dsp:nvSpPr>
        <dsp:cNvPr id="0" name=""/>
        <dsp:cNvSpPr/>
      </dsp:nvSpPr>
      <dsp:spPr>
        <a:xfrm rot="5400000">
          <a:off x="6754397" y="252485"/>
          <a:ext cx="792420" cy="6729984"/>
        </a:xfrm>
        <a:prstGeom prst="round2SameRect">
          <a:avLst/>
        </a:prstGeom>
        <a:solidFill>
          <a:schemeClr val="accent3">
            <a:tint val="40000"/>
            <a:alpha val="90000"/>
            <a:hueOff val="-12949912"/>
            <a:satOff val="82968"/>
            <a:lumOff val="7862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-12949912"/>
              <a:satOff val="82968"/>
              <a:lumOff val="786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Does the question respect </a:t>
          </a:r>
          <a:r>
            <a:rPr lang="en-US" sz="2200" b="1" kern="1200"/>
            <a:t>ethical guidelines</a:t>
          </a:r>
          <a:r>
            <a:rPr lang="en-US" sz="2200" kern="1200"/>
            <a:t> and take into account the values associated with the topic?</a:t>
          </a:r>
        </a:p>
      </dsp:txBody>
      <dsp:txXfrm rot="-5400000">
        <a:off x="3785616" y="3259950"/>
        <a:ext cx="6691301" cy="715054"/>
      </dsp:txXfrm>
    </dsp:sp>
    <dsp:sp modelId="{12C3D1BC-9768-4DFB-A936-7B1B7CA57EFA}">
      <dsp:nvSpPr>
        <dsp:cNvPr id="0" name=""/>
        <dsp:cNvSpPr/>
      </dsp:nvSpPr>
      <dsp:spPr>
        <a:xfrm>
          <a:off x="0" y="3122215"/>
          <a:ext cx="3785616" cy="990525"/>
        </a:xfrm>
        <a:prstGeom prst="roundRect">
          <a:avLst/>
        </a:prstGeom>
        <a:solidFill>
          <a:schemeClr val="accent3">
            <a:hueOff val="-11652404"/>
            <a:satOff val="33407"/>
            <a:lumOff val="2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Ethical Considerations</a:t>
          </a:r>
          <a:r>
            <a:rPr lang="en-US" sz="2600" kern="1200"/>
            <a:t>:</a:t>
          </a:r>
        </a:p>
      </dsp:txBody>
      <dsp:txXfrm>
        <a:off x="48353" y="3170568"/>
        <a:ext cx="3688910" cy="893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91AB1A-C669-4C56-AA7A-D7DE065A4843}" type="datetime1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046ED-6F38-493D-8BA0-9E754A816323}" type="datetime1">
              <a:rPr lang="en-GB" smtClean="0"/>
              <a:pPr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n-GB" noProof="0" smtClean="0"/>
              <a:t>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96641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Descriptive questions are used when the aim is to gather </a:t>
            </a:r>
            <a:r>
              <a:rPr lang="en-US" b="1" dirty="0"/>
              <a:t>basic information</a:t>
            </a:r>
            <a:r>
              <a:rPr lang="en-US" dirty="0"/>
              <a:t> or establish the </a:t>
            </a:r>
            <a:r>
              <a:rPr lang="en-US" b="1" dirty="0"/>
              <a:t>status</a:t>
            </a:r>
            <a:r>
              <a:rPr lang="en-US" dirty="0"/>
              <a:t> of a topic without digging deeper into causes or comparisons.</a:t>
            </a:r>
          </a:p>
          <a:p>
            <a:endParaRPr lang="en-US" dirty="0"/>
          </a:p>
          <a:p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Descriptive Questions: </a:t>
            </a:r>
            <a:r>
              <a:rPr lang="en-GB" sz="2800" u="sng" dirty="0"/>
              <a:t>Explore phenomena - describe its characteristics or behaviour.</a:t>
            </a:r>
          </a:p>
          <a:p>
            <a:pPr lvl="1"/>
            <a:r>
              <a:rPr lang="en-GB" sz="2400" dirty="0"/>
              <a:t>Example (CS): “What are the key characteristics of neural networks used in image recognition?”</a:t>
            </a:r>
          </a:p>
          <a:p>
            <a:pPr lvl="1"/>
            <a:r>
              <a:rPr lang="en-GB" sz="2400" dirty="0"/>
              <a:t>Example (CY): “How frequently do phishing attacks occur in healthcare institutions?”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n-GB" noProof="0" smtClean="0"/>
              <a:t>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63369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Notes</a:t>
            </a:r>
            <a:r>
              <a:rPr lang="en-US" dirty="0"/>
              <a:t>: Comparative questions allow researchers to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evaluate</a:t>
            </a:r>
            <a:r>
              <a:rPr lang="en-US" dirty="0"/>
              <a:t> and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contrast</a:t>
            </a:r>
            <a:r>
              <a:rPr lang="en-US" dirty="0"/>
              <a:t> different variables or techniques to determine which performs better under certain conditions.</a:t>
            </a:r>
          </a:p>
          <a:p>
            <a:endParaRPr lang="en-US" dirty="0"/>
          </a:p>
          <a:p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Comparative Questions: </a:t>
            </a:r>
            <a:r>
              <a:rPr lang="en-GB" sz="2800" u="sng" dirty="0"/>
              <a:t>Compare two or more items, methods, or groups.</a:t>
            </a:r>
          </a:p>
          <a:p>
            <a:pPr lvl="1"/>
            <a:r>
              <a:rPr lang="en-GB" sz="2400" dirty="0"/>
              <a:t>Example (CS): “Which sorting algorithm performs best under real-time constraints: Quicksort or Heapsort?”</a:t>
            </a:r>
          </a:p>
          <a:p>
            <a:pPr lvl="1"/>
            <a:r>
              <a:rPr lang="en-GB" sz="2400" dirty="0"/>
              <a:t>Example (DA): “How do different machine learning models compare in terms of accuracy for predicting fraudulent transactions?”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n-GB" noProof="0" smtClean="0"/>
              <a:t>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32934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</a:t>
            </a:r>
            <a:r>
              <a:rPr lang="en-US" dirty="0"/>
              <a:t>: Causal questions are key when the goal is to </a:t>
            </a:r>
            <a:r>
              <a:rPr lang="en-US" b="1" dirty="0"/>
              <a:t>test hypotheses</a:t>
            </a:r>
            <a:r>
              <a:rPr lang="en-US" dirty="0"/>
              <a:t> and </a:t>
            </a:r>
            <a:r>
              <a:rPr lang="en-US" b="1" dirty="0"/>
              <a:t>measure the impact</a:t>
            </a:r>
            <a:r>
              <a:rPr lang="en-US" dirty="0"/>
              <a:t> or </a:t>
            </a:r>
            <a:r>
              <a:rPr lang="en-US" b="1" dirty="0"/>
              <a:t>effects</a:t>
            </a:r>
            <a:r>
              <a:rPr lang="en-US" dirty="0"/>
              <a:t> of one variable on another.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n-GB" noProof="0" smtClean="0"/>
              <a:t>10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84820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6044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01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  <p:sp>
        <p:nvSpPr>
          <p:cNvPr id="4" name="Hexagon 3">
            <a:extLst>
              <a:ext uri="{FF2B5EF4-FFF2-40B4-BE49-F238E27FC236}">
                <a16:creationId xmlns:a16="http://schemas.microsoft.com/office/drawing/2014/main" id="{02EFDB6D-A908-36D7-35D8-AB8FD9008337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9AE87C3-49B8-1C89-4D2B-8F65D68539B9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D94E2D36-2BEB-9F15-F2E3-84FEAB512991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AA0B740B-2FE0-19FB-9199-41E8FB6371E1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782235E-6025-12F9-8881-306369DB7C6B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D1A6C30-9E69-C642-8AE1-30A8CEC2A28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1" name="Picture 10">
            <a:hlinkClick r:id="rId2"/>
            <a:extLst>
              <a:ext uri="{FF2B5EF4-FFF2-40B4-BE49-F238E27FC236}">
                <a16:creationId xmlns:a16="http://schemas.microsoft.com/office/drawing/2014/main" id="{F62EE852-B994-CAD3-56BB-7699FA84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20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5" name="Rectangle 4" descr="Tall office building looking up">
            <a:extLst>
              <a:ext uri="{FF2B5EF4-FFF2-40B4-BE49-F238E27FC236}">
                <a16:creationId xmlns:a16="http://schemas.microsoft.com/office/drawing/2014/main" id="{083ED6C1-B896-0EE1-0EB4-70D463229E1B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2C5E802-5A33-10B1-00C1-FDD2A058D40D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28B9E23B-EC53-A54A-D68B-4DE461EA51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36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6" name="Oval 5" descr="Tall office building looking up">
            <a:extLst>
              <a:ext uri="{FF2B5EF4-FFF2-40B4-BE49-F238E27FC236}">
                <a16:creationId xmlns:a16="http://schemas.microsoft.com/office/drawing/2014/main" id="{DD4EA124-ED41-ED8F-A0D9-A44B1A06F87D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AD970E-C52F-C6BC-9937-32C889405FB4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0B8C96-B41F-8535-3716-1E878FEDCC6F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257809-DB42-5B9A-ECAE-338D697DCCDD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2764E1D-14C7-954C-925F-75B8EDD9107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82AD0F96-3697-FF35-4CA4-B06D47CB23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59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800AAB-297F-072F-EB54-1320773DC342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C3AD9-AEB3-02EC-1CC1-2AC54487BB35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94151-B597-BF9E-A282-F052320680B6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17149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504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141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73ECC6-14C6-5675-355F-F3E33088BECC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58D6F0-8200-47F7-8A3C-8D72A49F60CF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FD7A81C-1120-7827-F9B5-40E3A2932699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3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08475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7ECF9BC1-9710-8066-D8F0-9A364F14DD6E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B101F1A2-2A5D-DAAD-08BC-B70C60C99436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147B027-BA88-EC0D-B295-6CEC0B55EDC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C4C61D9-C668-CF96-8B2A-9C0A54BC0957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3781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5281028A-12C2-5C9C-4B0F-A005E8B5CA0A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B0A491FE-8686-1E36-8F8D-0053ADE3F85F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482B3B29-735C-82BF-92B5-1FD3E5F764DB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7845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893646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927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3F41645-0093-1ABA-9570-1D8070EC9D55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98CF0B3-BFB7-DA61-98B1-3EA565BD04C2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D4E483-67D5-E854-4960-9CDF1369CAB5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546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272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424ACC82-4D1F-BBEC-8CED-3B78CD4AAFDE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1A6161CF-7ADC-7809-147B-486701FC832E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F9241FBE-9EE0-D6B5-67DF-24381A2423BB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802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F3E98C-9CC3-2BF7-BAD0-9DDDF7ACAA54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02D312-514B-7332-35D6-F379B3D8075D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4B703C-4A3A-D244-6A9D-A072DBF1B83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46644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5579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419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813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566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2529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3743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75647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79385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0785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90920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211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5584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37034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25428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252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hyperlink" Target="https://moodle.bolton.ac.uk/course/view.php?id=23108" TargetMode="External"/><Relationship Id="rId1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2.xml"/><Relationship Id="rId29" Type="http://schemas.openxmlformats.org/officeDocument/2006/relationships/theme" Target="../theme/theme2.xml"/><Relationship Id="rId30" Type="http://schemas.openxmlformats.org/officeDocument/2006/relationships/hyperlink" Target="https://moodle.bolton.ac.uk/course/view.php?id=23108" TargetMode="External"/><Relationship Id="rId3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Research Methods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16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  <p:sldLayoutId id="214748370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Research Methods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30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4CA3EC1-26DA-C60F-3E7B-54795CFBAC8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Research Methods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4755C-F02F-1E14-47EF-91EA16DAF6B6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7" name="Picture 6">
            <a:hlinkClick r:id="rId30"/>
            <a:extLst>
              <a:ext uri="{FF2B5EF4-FFF2-40B4-BE49-F238E27FC236}">
                <a16:creationId xmlns:a16="http://schemas.microsoft.com/office/drawing/2014/main" id="{314EDD93-667C-6B79-9896-AB233E430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4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hyperlink" Target="https://www.vecteezy.com/vector-art/11431565-aim-achievement-business-motivation-finance-target-solution-searching-goals-and-objectives-business-grow-business-plan-goal-setting-concept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hyperlink" Target="https://www.questionpro.com/blog/comparative-analysis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hyperlink" Target="https://uta.pressbooks.pub/foundationsofsocialworkresearch/chapter/4-2-causality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jpg"/><Relationship Id="rId4" Type="http://schemas.openxmlformats.org/officeDocument/2006/relationships/hyperlink" Target="http://culturefit.com/developing-2016-trends-computer-sciences-bradley-universit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69164" y="5646852"/>
            <a:ext cx="3222836" cy="1168530"/>
          </a:xfrm>
        </p:spPr>
        <p:txBody>
          <a:bodyPr rtlCol="0"/>
          <a:lstStyle/>
          <a:p>
            <a:pPr rtl="0"/>
            <a:r>
              <a:rPr lang="en-GB" dirty="0"/>
              <a:t>Week 2 – Pre-reading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592" y="2480689"/>
            <a:ext cx="8584027" cy="1695637"/>
          </a:xfrm>
        </p:spPr>
        <p:txBody>
          <a:bodyPr rtlCol="0"/>
          <a:lstStyle/>
          <a:p>
            <a:pPr algn="ctr"/>
            <a:r>
              <a:rPr lang="en-GB" dirty="0"/>
              <a:t>Research Methods</a:t>
            </a:r>
            <a:br>
              <a:rPr lang="en-GB" dirty="0"/>
            </a:br>
            <a:br>
              <a:rPr lang="en-GB" dirty="0"/>
            </a:br>
            <a:r>
              <a:rPr lang="en-GB" sz="4800" dirty="0"/>
              <a:t>Research Questions - Pre-Reading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439" t="3605" r="12155" b="-3605"/>
          <a:stretch/>
        </p:blipFill>
        <p:spPr>
          <a:xfrm>
            <a:off x="5733416" y="624239"/>
            <a:ext cx="5855754" cy="5631571"/>
          </a:xfrm>
          <a:noFill/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737510" cy="3560763"/>
          </a:xfrm>
        </p:spPr>
        <p:txBody>
          <a:bodyPr rtlCol="0">
            <a:normAutofit/>
          </a:bodyPr>
          <a:lstStyle/>
          <a:p>
            <a:pPr rtl="0">
              <a:lnSpc>
                <a:spcPct val="140000"/>
              </a:lnSpc>
            </a:pPr>
            <a:r>
              <a:rPr lang="en-GB" sz="1700" dirty="0"/>
              <a:t>Identify the different types of research questions and how they can be applied to different research approaches. </a:t>
            </a:r>
          </a:p>
          <a:p>
            <a:pPr>
              <a:lnSpc>
                <a:spcPct val="140000"/>
              </a:lnSpc>
            </a:pPr>
            <a:r>
              <a:rPr lang="en-US" sz="1800" dirty="0"/>
              <a:t>Use the 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Effective Research Questions</a:t>
            </a:r>
            <a:r>
              <a:rPr lang="en-US" sz="1800" dirty="0"/>
              <a:t> checklist when writing your research questions. </a:t>
            </a:r>
          </a:p>
          <a:p>
            <a:pPr>
              <a:lnSpc>
                <a:spcPct val="140000"/>
              </a:lnSpc>
            </a:pPr>
            <a:r>
              <a:rPr lang="en-US" sz="1800" dirty="0"/>
              <a:t>Start drafting your research questions. </a:t>
            </a:r>
            <a:endParaRPr lang="en-GB" sz="1700" dirty="0"/>
          </a:p>
          <a:p>
            <a:pPr rtl="0">
              <a:lnSpc>
                <a:spcPct val="140000"/>
              </a:lnSpc>
            </a:pPr>
            <a:endParaRPr lang="en-US" sz="17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 rtlCol="0">
            <a:normAutofit/>
          </a:bodyPr>
          <a:lstStyle/>
          <a:p>
            <a:pPr rtl="0"/>
            <a:r>
              <a:rPr lang="en-GB" sz="2600"/>
              <a:t>By the end of the session, you should be able to…</a:t>
            </a:r>
          </a:p>
        </p:txBody>
      </p:sp>
    </p:spTree>
    <p:extLst>
      <p:ext uri="{BB962C8B-B14F-4D97-AF65-F5344CB8AC3E}">
        <p14:creationId xmlns:p14="http://schemas.microsoft.com/office/powerpoint/2010/main" val="965681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Yellow question mark">
            <a:extLst>
              <a:ext uri="{FF2B5EF4-FFF2-40B4-BE49-F238E27FC236}">
                <a16:creationId xmlns:a16="http://schemas.microsoft.com/office/drawing/2014/main" id="{0E45CA37-E98C-5782-AAF6-1CDE577C92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50"/>
          <a:stretch/>
        </p:blipFill>
        <p:spPr>
          <a:xfrm>
            <a:off x="0" y="0"/>
            <a:ext cx="12191980" cy="685800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B7B854B-6690-596D-A3C4-F7AD199FC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953826">
            <a:off x="64330" y="3992312"/>
            <a:ext cx="8780057" cy="1695637"/>
          </a:xfrm>
          <a:scene3d>
            <a:camera prst="isometricTopUp"/>
            <a:lightRig rig="threePt" dir="t">
              <a:rot lat="0" lon="0" rev="17400000"/>
            </a:lightRig>
          </a:scene3d>
          <a:sp3d z="-69850">
            <a:bevelT w="0" h="400050"/>
            <a:extrusionClr>
              <a:schemeClr val="bg1"/>
            </a:extrusionClr>
          </a:sp3d>
        </p:spPr>
        <p:txBody>
          <a:bodyPr>
            <a:normAutofit fontScale="90000"/>
            <a:sp3d extrusionH="82550" prstMaterial="matte"/>
          </a:bodyPr>
          <a:lstStyle/>
          <a:p>
            <a:r>
              <a:rPr lang="en-GB" sz="6000" dirty="0">
                <a:solidFill>
                  <a:srgbClr val="FEA82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There’s more than one type of question?</a:t>
            </a:r>
          </a:p>
        </p:txBody>
      </p:sp>
    </p:spTree>
    <p:extLst>
      <p:ext uri="{BB962C8B-B14F-4D97-AF65-F5344CB8AC3E}">
        <p14:creationId xmlns:p14="http://schemas.microsoft.com/office/powerpoint/2010/main" val="2198129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0A8AA8-EE4B-E742-064D-C2436A1BEE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7914" y="1516828"/>
            <a:ext cx="11676172" cy="4432151"/>
          </a:xfrm>
          <a:solidFill>
            <a:schemeClr val="bg1">
              <a:lumMod val="85000"/>
            </a:schemeClr>
          </a:solidFill>
        </p:spPr>
        <p:txBody>
          <a:bodyPr>
            <a:normAutofit fontScale="92500" lnSpcReduction="20000"/>
          </a:bodyPr>
          <a:lstStyle/>
          <a:p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Descriptive Questions: </a:t>
            </a:r>
            <a:r>
              <a:rPr lang="en-GB" sz="2800" u="sng" dirty="0"/>
              <a:t>Explore phenomena - describe its characteristics or behaviour.</a:t>
            </a:r>
          </a:p>
          <a:p>
            <a:pPr lvl="1"/>
            <a:r>
              <a:rPr lang="en-GB" sz="2400" dirty="0"/>
              <a:t>Example (CS): “What are the key characteristics of neural networks used in image recognition?”</a:t>
            </a:r>
          </a:p>
          <a:p>
            <a:pPr lvl="1"/>
            <a:r>
              <a:rPr lang="en-GB" sz="2400" dirty="0"/>
              <a:t>Example (CY): “How frequently do phishing attacks occur in healthcare institutions?”</a:t>
            </a:r>
          </a:p>
          <a:p>
            <a:pPr marL="266700" lvl="1" indent="0">
              <a:buNone/>
            </a:pPr>
            <a:endParaRPr lang="en-GB" sz="2400" dirty="0"/>
          </a:p>
          <a:p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Comparative Questions: </a:t>
            </a:r>
            <a:r>
              <a:rPr lang="en-GB" sz="2800" u="sng" dirty="0"/>
              <a:t>Compare two or more items, methods, or groups.</a:t>
            </a:r>
          </a:p>
          <a:p>
            <a:pPr lvl="1"/>
            <a:r>
              <a:rPr lang="en-GB" sz="2400" dirty="0"/>
              <a:t>Example (CS): “Which sorting algorithm performs best under real-time constraints: Quicksort or Heapsort?”</a:t>
            </a:r>
          </a:p>
          <a:p>
            <a:pPr lvl="1"/>
            <a:r>
              <a:rPr lang="en-GB" sz="2400" dirty="0"/>
              <a:t>Example (DA): “How do different machine learning models compare in terms of accuracy for predicting fraudulent transactions?”</a:t>
            </a:r>
          </a:p>
          <a:p>
            <a:pPr marL="266700" lvl="1" indent="0">
              <a:buNone/>
            </a:pPr>
            <a:endParaRPr lang="en-GB" sz="2400" dirty="0"/>
          </a:p>
          <a:p>
            <a:r>
              <a:rPr lang="en-GB" sz="2800" b="1" dirty="0"/>
              <a:t>Causal Questions: </a:t>
            </a:r>
            <a:r>
              <a:rPr lang="en-GB" sz="2800" u="sng" dirty="0"/>
              <a:t>Investigate cause-and-effect relationships between variables.</a:t>
            </a:r>
          </a:p>
          <a:p>
            <a:pPr lvl="1"/>
            <a:r>
              <a:rPr lang="en-GB" sz="2400" dirty="0"/>
              <a:t>Example (CY): “What is the effect of two-factor authentication on preventing data breaches in cloud systems?”</a:t>
            </a:r>
          </a:p>
          <a:p>
            <a:pPr lvl="1"/>
            <a:r>
              <a:rPr lang="en-GB" sz="2400" dirty="0"/>
              <a:t>Example (CS): “How does the introduction of AI-based malware affect system performance?”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B8C4B75D-58E1-03C9-C4D6-99F9E0C7D4B8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2"/>
          <a:srcRect l="18733" t="4674" r="10668" b="58721"/>
          <a:stretch/>
        </p:blipFill>
        <p:spPr>
          <a:xfrm>
            <a:off x="9273092" y="0"/>
            <a:ext cx="2918908" cy="1516828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DA5CC080-F364-0A75-E3CF-CCCBF305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484" y="216666"/>
            <a:ext cx="10075732" cy="830997"/>
          </a:xfrm>
        </p:spPr>
        <p:txBody>
          <a:bodyPr/>
          <a:lstStyle/>
          <a:p>
            <a:r>
              <a:rPr lang="en-GB" dirty="0"/>
              <a:t>Yup, There sure is!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1DF08584-88E4-AF0D-1AF1-876F6F02C4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3" b="2683"/>
          <a:stretch/>
        </p:blipFill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64804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2CC982-DCA7-A3D3-E2CA-D2C444250CA6}"/>
              </a:ext>
            </a:extLst>
          </p:cNvPr>
          <p:cNvSpPr txBox="1"/>
          <p:nvPr/>
        </p:nvSpPr>
        <p:spPr>
          <a:xfrm>
            <a:off x="838200" y="2039392"/>
            <a:ext cx="5162550" cy="41148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marL="266700" indent="-2667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Exploratory, Predictive, Interpretive, and Relationship-Based Questions</a:t>
            </a:r>
            <a:r>
              <a:rPr lang="en-US" sz="24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</a:p>
          <a:p>
            <a:pPr lvl="1">
              <a:spcBef>
                <a:spcPts val="1000"/>
              </a:spcBef>
            </a:pPr>
            <a:r>
              <a:rPr lang="en-US" sz="24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These types of research questions help define the </a:t>
            </a:r>
            <a:r>
              <a:rPr 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approach</a:t>
            </a:r>
            <a:r>
              <a:rPr lang="en-US" sz="24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 investigating a research problem.</a:t>
            </a:r>
          </a:p>
          <a:p>
            <a:pPr marL="723900" lvl="1" indent="-2667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They guide how data will be collected, analyzed, and interpreted in research.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845AF76-0407-4AA4-0713-18FE7C891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10515600" cy="1325880"/>
          </a:xfrm>
        </p:spPr>
        <p:txBody>
          <a:bodyPr anchor="ctr">
            <a:normAutofit/>
          </a:bodyPr>
          <a:lstStyle/>
          <a:p>
            <a:r>
              <a:rPr lang="en-GB" sz="4400"/>
              <a:t>Types of Research Questions</a:t>
            </a:r>
            <a:br>
              <a:rPr lang="en-GB" sz="4400"/>
            </a:br>
            <a:endParaRPr lang="en-GB" sz="4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9C8914-CD69-4418-A2CF-9BC03D72B33C}"/>
              </a:ext>
            </a:extLst>
          </p:cNvPr>
          <p:cNvSpPr txBox="1"/>
          <p:nvPr/>
        </p:nvSpPr>
        <p:spPr>
          <a:xfrm>
            <a:off x="6191250" y="2039392"/>
            <a:ext cx="5162550" cy="41148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Descriptive, Comparative, and Causal Research Questions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Purpose</a:t>
            </a:r>
            <a:r>
              <a:rPr lang="en-US" sz="24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These questions define different ways to investigate various phenomena, either by describing, comparing, or determining cause-and-effect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2050806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4BA2C3-A1DD-CD02-FBC9-531722E9D4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8501" y="1673632"/>
            <a:ext cx="10515600" cy="41148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Exploratory Questions: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Purpose: </a:t>
            </a:r>
            <a:r>
              <a:rPr lang="en-US" dirty="0"/>
              <a:t>Seek to explore unknown areas or phenomena where little research exists. They are often used when researchers are starting to investigate a new or under-researched topic.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Questions: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CS: </a:t>
            </a:r>
            <a:r>
              <a:rPr lang="en-US" dirty="0"/>
              <a:t>“What are the emerging challenges in developing real-time edge computing algorithms?”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DA: </a:t>
            </a:r>
            <a:r>
              <a:rPr lang="en-US" dirty="0"/>
              <a:t>“What data characteristics influence the scalability of machine learning models in high-volume environments?”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CY: </a:t>
            </a:r>
            <a:r>
              <a:rPr lang="en-US" dirty="0"/>
              <a:t>“What new trends are emerging in insider threat detection methods within financial organizations?”</a:t>
            </a:r>
          </a:p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Predictive Questions: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Purpose: </a:t>
            </a:r>
            <a:r>
              <a:rPr lang="en-US" dirty="0"/>
              <a:t>Focus on making predictions based on patterns or models. These questions are typically used in quantitative research, especially in fields involving statistical modeling or AI.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Questions: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CS: </a:t>
            </a:r>
            <a:r>
              <a:rPr lang="en-US" dirty="0"/>
              <a:t>“How accurately can machine learning models predict system failures in cloud infrastructures?”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DA: </a:t>
            </a:r>
            <a:r>
              <a:rPr lang="en-US" dirty="0"/>
              <a:t>“What factors most effectively predict customer churn in e-commerce platforms?”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CY: </a:t>
            </a:r>
            <a:r>
              <a:rPr lang="en-US" dirty="0"/>
              <a:t>“Can historical data on phishing attacks be used to predict the likelihood of future incidents in healthcare systems?”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F45C6F-ECDC-080C-A038-DAAB2A4CB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Exploratory and Predictive Questions</a:t>
            </a:r>
          </a:p>
        </p:txBody>
      </p:sp>
    </p:spTree>
    <p:extLst>
      <p:ext uri="{BB962C8B-B14F-4D97-AF65-F5344CB8AC3E}">
        <p14:creationId xmlns:p14="http://schemas.microsoft.com/office/powerpoint/2010/main" val="3355948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94A2EC-DAE9-076B-263B-9A34403D0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Interpretive and Relationship-Based Questions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E37355-1F52-5B53-37FB-8588F249DD2E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888402" y="1554909"/>
            <a:ext cx="10165976" cy="4576949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Interpretive Questions: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Purpose</a:t>
            </a:r>
            <a:r>
              <a:rPr lang="en-US" dirty="0"/>
              <a:t>: Aim to understand how people or systems interpret or make sense of certain phenomena. These are commonly used in qualitative research, where the focus is on meaning rather than measurement.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Questions: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CS:</a:t>
            </a:r>
            <a:r>
              <a:rPr lang="en-US" dirty="0"/>
              <a:t> “How do software developers perceive the ethical implications of AI in autonomous decision-making systems?”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DA:</a:t>
            </a:r>
            <a:r>
              <a:rPr lang="en-US" dirty="0"/>
              <a:t> “How do data scientists interpret the impact of biased datasets on predictive accuracy?”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CY:</a:t>
            </a:r>
            <a:r>
              <a:rPr lang="en-US" dirty="0"/>
              <a:t> “What are the perceptions of cybersecurity professionals regarding the human factor in organizational cyber vulnerabilities?”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Relationship-Based Questions: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Purpose: </a:t>
            </a:r>
            <a:r>
              <a:rPr lang="en-US" dirty="0"/>
              <a:t>Investigate relationships between two or more variables. These questions are often used in correlational or causal research to determine how changes in one variable affect another.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Questions: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CS: </a:t>
            </a:r>
            <a:r>
              <a:rPr lang="en-US" dirty="0"/>
              <a:t>“What is the relationship between code complexity and software vulnerability in open-source projects?”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DA:</a:t>
            </a:r>
            <a:r>
              <a:rPr lang="en-US" b="1" dirty="0"/>
              <a:t> </a:t>
            </a:r>
            <a:r>
              <a:rPr lang="en-US" dirty="0"/>
              <a:t>“How does the volume of training data impact the accuracy of machine learning models for fraud detection?”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CY:</a:t>
            </a:r>
            <a:r>
              <a:rPr lang="en-US" b="1" dirty="0"/>
              <a:t> </a:t>
            </a:r>
            <a:r>
              <a:rPr lang="en-US" dirty="0"/>
              <a:t>“What is the relationship between employee training programs and the reduction of successful phishing attacks in SMEs?”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9636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E54FCF-F1F4-CA74-14F9-B847709949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8429" y="1410299"/>
            <a:ext cx="6170706" cy="5236365"/>
          </a:xfrm>
        </p:spPr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Descriptive Questions</a:t>
            </a:r>
            <a:r>
              <a:rPr lang="en-US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Purpose</a:t>
            </a:r>
            <a:r>
              <a:rPr lang="en-US" dirty="0"/>
              <a:t>: Seek to describe the characteristics or functions of a phenomenon. These questions often start with "what" or "how."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</a:t>
            </a:r>
            <a:r>
              <a:rPr lang="en-US" dirty="0"/>
              <a:t>: Useful in understanding the nature or state of something without requiring comparison or causation.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Questions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CS</a:t>
            </a:r>
            <a:r>
              <a:rPr lang="en-US" sz="2000" dirty="0"/>
              <a:t>: “What are the current challenges in developing AI-driven recommendation systems?”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DA</a:t>
            </a:r>
            <a:r>
              <a:rPr lang="en-US" sz="2000" dirty="0"/>
              <a:t>: “What data preprocessing techniques are most commonly used in sentiment analysis models?”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CY</a:t>
            </a:r>
            <a:r>
              <a:rPr lang="en-US" sz="2000" dirty="0"/>
              <a:t>: “What types of cybersecurity threats are most prevalent in financial institutions?”</a:t>
            </a:r>
          </a:p>
          <a:p>
            <a:endParaRPr lang="en-GB" dirty="0"/>
          </a:p>
        </p:txBody>
      </p:sp>
      <p:pic>
        <p:nvPicPr>
          <p:cNvPr id="5" name="Picture Placeholder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B429D43-3C4C-43DA-16F0-D5BBE384E28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8817" r="8817"/>
          <a:stretch>
            <a:fillRect/>
          </a:stretch>
        </p:blipFill>
        <p:spPr>
          <a:xfrm>
            <a:off x="7089775" y="785813"/>
            <a:ext cx="4441825" cy="539273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998E1B9-F805-0249-D44B-E013C9688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63" y="370682"/>
            <a:ext cx="4275138" cy="830997"/>
          </a:xfrm>
        </p:spPr>
        <p:txBody>
          <a:bodyPr>
            <a:normAutofit/>
          </a:bodyPr>
          <a:lstStyle/>
          <a:p>
            <a:r>
              <a:rPr lang="en-GB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Descriptive Research Questions</a:t>
            </a:r>
          </a:p>
        </p:txBody>
      </p:sp>
    </p:spTree>
    <p:extLst>
      <p:ext uri="{BB962C8B-B14F-4D97-AF65-F5344CB8AC3E}">
        <p14:creationId xmlns:p14="http://schemas.microsoft.com/office/powerpoint/2010/main" val="2578218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E54FCF-F1F4-CA74-14F9-B847709949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8429" y="1410299"/>
            <a:ext cx="6170706" cy="5236365"/>
          </a:xfrm>
        </p:spPr>
        <p:txBody>
          <a:bodyPr>
            <a:norm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Comparative Questions: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Purpose</a:t>
            </a:r>
            <a:r>
              <a:rPr lang="en-US" sz="2400" dirty="0"/>
              <a:t>: Compare two or more groups, methods, or variables to identify similarities or differences. Often these questions start with “which” or “how.”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Questions: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</a:t>
            </a:r>
            <a:r>
              <a:rPr lang="en-US" sz="2000" dirty="0"/>
              <a:t>: “Which algorithm, A or B, performs better in large-scale real-time data sorting?”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</a:t>
            </a:r>
            <a:r>
              <a:rPr lang="en-US" sz="2000" dirty="0"/>
              <a:t>: “How do different feature selection methods affect the accuracy of machine learning models in customer segmentation?”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</a:t>
            </a:r>
            <a:r>
              <a:rPr lang="en-US" sz="2000" dirty="0"/>
              <a:t>: “How does the performance of intrusion detection systems differ between cloud-based and on-premise deployments?”</a:t>
            </a:r>
          </a:p>
          <a:p>
            <a:endParaRPr lang="en-GB" sz="2400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7B429D43-3C4C-43DA-16F0-D5BBE384E28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50900" t="-2394" r="-84" b="2394"/>
          <a:stretch/>
        </p:blipFill>
        <p:spPr>
          <a:xfrm>
            <a:off x="7089775" y="785813"/>
            <a:ext cx="4441825" cy="539273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998E1B9-F805-0249-D44B-E013C9688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63" y="370682"/>
            <a:ext cx="4275138" cy="830997"/>
          </a:xfrm>
        </p:spPr>
        <p:txBody>
          <a:bodyPr>
            <a:normAutofit/>
          </a:bodyPr>
          <a:lstStyle/>
          <a:p>
            <a:r>
              <a:rPr lang="en-GB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Comparative Research Questions</a:t>
            </a:r>
          </a:p>
        </p:txBody>
      </p:sp>
    </p:spTree>
    <p:extLst>
      <p:ext uri="{BB962C8B-B14F-4D97-AF65-F5344CB8AC3E}">
        <p14:creationId xmlns:p14="http://schemas.microsoft.com/office/powerpoint/2010/main" val="186156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98E1B9-F805-0249-D44B-E013C9688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10515600" cy="1325880"/>
          </a:xfrm>
        </p:spPr>
        <p:txBody>
          <a:bodyPr anchor="ctr">
            <a:norm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Causal Research Questions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E54FCF-F1F4-CA74-14F9-B8477099493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626249" y="1691640"/>
            <a:ext cx="5633780" cy="4610100"/>
          </a:xfrm>
          <a:prstGeom prst="rect">
            <a:avLst/>
          </a:prstGeom>
        </p:spPr>
        <p:txBody>
          <a:bodyPr anchor="t">
            <a:normAutofit fontScale="92500" lnSpcReduction="10000"/>
          </a:bodyPr>
          <a:lstStyle/>
          <a:p>
            <a:pPr marL="0"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Purpose</a:t>
            </a:r>
            <a:r>
              <a:rPr lang="en-US" sz="2400" kern="1200" dirty="0">
                <a:solidFill>
                  <a:schemeClr val="tx1"/>
                </a:solidFill>
              </a:rPr>
              <a:t>: Aim to identify cause-and-effect relationships between variables. Often framed as “what is the effect of X on Y” or “how does X influence Y.”</a:t>
            </a:r>
          </a:p>
          <a:p>
            <a:pPr marL="0"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Questions:</a:t>
            </a:r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</a:t>
            </a:r>
            <a:r>
              <a:rPr lang="en-US" sz="2400" kern="1200" dirty="0">
                <a:solidFill>
                  <a:schemeClr val="tx1"/>
                </a:solidFill>
              </a:rPr>
              <a:t>: “What is the effect of memory optimization techniques on the speed of neural network processing in real-time applications?”</a:t>
            </a:r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</a:t>
            </a:r>
            <a:r>
              <a:rPr lang="en-US" sz="2400" kern="1200" dirty="0">
                <a:solidFill>
                  <a:schemeClr val="tx1"/>
                </a:solidFill>
              </a:rPr>
              <a:t>: “How does data imbalance affect the accuracy of classification models in fraud detection?”</a:t>
            </a:r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</a:t>
            </a:r>
            <a:r>
              <a:rPr lang="en-US" sz="2400" kern="1200" dirty="0">
                <a:solidFill>
                  <a:schemeClr val="tx1"/>
                </a:solidFill>
              </a:rPr>
              <a:t>: “What is the impact of multi-factor authentication on reducing data breaches in small businesses?”</a:t>
            </a:r>
          </a:p>
          <a:p>
            <a:pPr marL="0"/>
            <a:endParaRPr lang="en-US" sz="2400" kern="1200" dirty="0">
              <a:solidFill>
                <a:schemeClr val="tx1"/>
              </a:solidFill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7B429D43-3C4C-43DA-16F0-D5BBE384E288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053" r="-2" b="7051"/>
          <a:stretch/>
        </p:blipFill>
        <p:spPr>
          <a:xfrm>
            <a:off x="655768" y="1691640"/>
            <a:ext cx="5067300" cy="43525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78809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4E0EB-2534-7808-E441-940BBD3C8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</p:spPr>
        <p:txBody>
          <a:bodyPr anchor="ctr">
            <a:normAutofit/>
          </a:bodyPr>
          <a:lstStyle/>
          <a:p>
            <a:r>
              <a:rPr lang="en-GB" sz="4400"/>
              <a:t>Summary of Question Types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5EB77B7F-AC3F-C9CA-681A-D777B4FABD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7842433"/>
              </p:ext>
            </p:extLst>
          </p:nvPr>
        </p:nvGraphicFramePr>
        <p:xfrm>
          <a:off x="838200" y="1813481"/>
          <a:ext cx="105156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2989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A5BAB0-AEA8-7298-F714-5330A39AF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Well-Constructed Research Questions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48086F-623F-22BD-9918-C7731ABF0CD9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612290" y="1876316"/>
            <a:ext cx="1189299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Computer Science (CS)</a:t>
            </a:r>
            <a:r>
              <a:rPr lang="en-US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: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Descriptive: "What are the current trends in neural network optimization for natural language processing?"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Comparative: "Which algorithm, A or B, performs better in detecting fraudulent transactions in real time?"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Causal: "How does the integration of quantum computing influence the efficiency of cryptographic algorithms?"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Data Analytics (DA):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Descriptive: "What are the key data points influencing customer lifetime value in e-commerce platforms?"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Comparative: "How do decision trees compare to random forests in predictive accuracy for healthcare data?"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Causal: "What factors contribute to the failure of predictive models in real-time stock market analysis?"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Cybersecurity (CY):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Descriptive: "What are the primary cybersecurity threats faced by small and medium-sized enterprises?"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Comparative: "How do different phishing detection methods compare in terms of false positives?"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Causal: "What is the impact of multi-factor authentication on the reduction of cyberattacks in healthcare systems?"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862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03B71A-F6C3-49BA-113E-8F09DB285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35000"/>
            <a:ext cx="10844605" cy="1086224"/>
          </a:xfrm>
        </p:spPr>
        <p:txBody>
          <a:bodyPr anchor="ctr">
            <a:normAutofit fontScale="90000"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Constructing Effective Research Questions – A Checklist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GB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4CD971C2-08EE-52CF-0216-5D18FC61CEBB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58608895"/>
              </p:ext>
            </p:extLst>
          </p:nvPr>
        </p:nvGraphicFramePr>
        <p:xfrm>
          <a:off x="838199" y="1721224"/>
          <a:ext cx="105156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9758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8">
            <a:extLst>
              <a:ext uri="{FF2B5EF4-FFF2-40B4-BE49-F238E27FC236}">
                <a16:creationId xmlns:a16="http://schemas.microsoft.com/office/drawing/2014/main" id="{2EC47CED-7A85-4080-9C7C-3921E48924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746" b="7746"/>
          <a:stretch/>
        </p:blipFill>
        <p:spPr>
          <a:xfrm>
            <a:off x="20" y="10"/>
            <a:ext cx="12191980" cy="6857990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  <a:noFill/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BCC5C9-D87D-55FC-86B8-0613C32EE2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4609" y="6201251"/>
            <a:ext cx="3924934" cy="490538"/>
          </a:xfrm>
        </p:spPr>
        <p:txBody>
          <a:bodyPr>
            <a:normAutofit/>
          </a:bodyPr>
          <a:lstStyle/>
          <a:p>
            <a:r>
              <a:rPr lang="en-GB" dirty="0"/>
              <a:t>Or answers ?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0EB3CC0A-22A0-5855-9B31-36F6CFB0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48" y="287293"/>
            <a:ext cx="3924934" cy="1695637"/>
          </a:xfrm>
        </p:spPr>
        <p:txBody>
          <a:bodyPr/>
          <a:lstStyle/>
          <a:p>
            <a:r>
              <a:rPr lang="en-US" dirty="0"/>
              <a:t>Questions??</a:t>
            </a:r>
          </a:p>
        </p:txBody>
      </p:sp>
    </p:spTree>
    <p:extLst>
      <p:ext uri="{BB962C8B-B14F-4D97-AF65-F5344CB8AC3E}">
        <p14:creationId xmlns:p14="http://schemas.microsoft.com/office/powerpoint/2010/main" val="2793046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2.xml><?xml version="1.0" encoding="utf-8"?>
<a:theme xmlns:a="http://schemas.openxmlformats.org/drawingml/2006/main" name="COM7302 - Lecture Notes Template 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89f7b614-c64b-4738-997e-aac1eab42931" xsi:nil="true"/>
    <_activity xmlns="89f7b614-c64b-4738-997e-aac1eab4293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7C986513D50A4C9143007A1A38EF2E" ma:contentTypeVersion="18" ma:contentTypeDescription="Create a new document." ma:contentTypeScope="" ma:versionID="21e1fbfe0a6ca7a30510918adfd9cbd6">
  <xsd:schema xmlns:xsd="http://www.w3.org/2001/XMLSchema" xmlns:xs="http://www.w3.org/2001/XMLSchema" xmlns:p="http://schemas.microsoft.com/office/2006/metadata/properties" xmlns:ns3="d1f5d9b0-cdb0-4c3a-b058-450b9d105468" xmlns:ns4="89f7b614-c64b-4738-997e-aac1eab42931" targetNamespace="http://schemas.microsoft.com/office/2006/metadata/properties" ma:root="true" ma:fieldsID="573784e5b50c325d55c9015ced130b1b" ns3:_="" ns4:_="">
    <xsd:import namespace="d1f5d9b0-cdb0-4c3a-b058-450b9d105468"/>
    <xsd:import namespace="89f7b614-c64b-4738-997e-aac1eab4293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5d9b0-cdb0-4c3a-b058-450b9d1054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7b614-c64b-4738-997e-aac1eab42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d1f5d9b0-cdb0-4c3a-b058-450b9d105468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89f7b614-c64b-4738-997e-aac1eab4293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E790DD2-A406-4046-8BA6-E72EEDCE07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f5d9b0-cdb0-4c3a-b058-450b9d105468"/>
    <ds:schemaRef ds:uri="89f7b614-c64b-4738-997e-aac1eab429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COM7302 - Lecture Notes Template </Template>
  <TotalTime>2138</TotalTime>
  <Words>1478</Words>
  <Application>Microsoft Office PowerPoint</Application>
  <PresentationFormat>Widescreen</PresentationFormat>
  <Paragraphs>125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Helvetica Neue</vt:lpstr>
      <vt:lpstr>Wingdings</vt:lpstr>
      <vt:lpstr>Office Theme</vt:lpstr>
      <vt:lpstr>COM7302 - Lecture Notes Template </vt:lpstr>
      <vt:lpstr>Research Methods  Research Questions - Pre-Reading</vt:lpstr>
      <vt:lpstr>By the end of the session, you should be able to…</vt:lpstr>
      <vt:lpstr>There’s more than one type of question?</vt:lpstr>
      <vt:lpstr>Yup, There sure is!</vt:lpstr>
      <vt:lpstr>Types of Research Questions </vt:lpstr>
      <vt:lpstr>Exploratory and Predictive Questions</vt:lpstr>
      <vt:lpstr>Interpretive and Relationship-Based Questions</vt:lpstr>
      <vt:lpstr>Descriptive Research Questions</vt:lpstr>
      <vt:lpstr>Comparative Research Questions</vt:lpstr>
      <vt:lpstr>Causal Research Questions</vt:lpstr>
      <vt:lpstr>Summary of Question Types</vt:lpstr>
      <vt:lpstr>Examples of Well-Constructed Research Questions</vt:lpstr>
      <vt:lpstr>Constructing Effective Research Questions – A Checklist </vt:lpstr>
      <vt:lpstr>Questions??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COM7302 – Research Methods  Research Philosophy and Paradigms</dc:title>
  <dc:creator>Tighe, Bren</dc:creator>
  <cp:lastModifiedBy>Tighe, Bren</cp:lastModifiedBy>
  <cp:revision>8</cp:revision>
  <dcterms:created xsi:type="dcterms:W3CDTF">2024-09-04T09:10:35Z</dcterms:created>
  <dcterms:modified xsi:type="dcterms:W3CDTF">2026-09-24T11:33:38Z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0x010100D17C986513D50A4C9143007A1A38EF2E</vt:lpwstr>
  </property>
</Properties>
</file>