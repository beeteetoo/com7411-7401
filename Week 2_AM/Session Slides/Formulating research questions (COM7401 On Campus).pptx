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05" r:id="rId5"/>
  </p:sldMasterIdLst>
  <p:notesMasterIdLst>
    <p:notesMasterId r:id="rId34"/>
  </p:notesMasterIdLst>
  <p:handoutMasterIdLst>
    <p:handoutMasterId r:id="rId35"/>
  </p:handoutMasterIdLst>
  <p:sldIdLst>
    <p:sldId id="324" r:id="rId6"/>
    <p:sldId id="354" r:id="rId7"/>
    <p:sldId id="315" r:id="rId8"/>
    <p:sldId id="412" r:id="rId40"/>
    <p:sldId id="364" r:id="rId11"/>
    <p:sldId id="387" r:id="rId13"/>
    <p:sldId id="390" r:id="rId14"/>
    <p:sldId id="413" r:id="rId41"/>
    <p:sldId id="414" r:id="rId42"/>
    <p:sldId id="409" r:id="rId24"/>
    <p:sldId id="410" r:id="rId25"/>
    <p:sldId id="389" r:id="rId27"/>
    <p:sldId id="392" r:id="rId28"/>
    <p:sldId id="415" r:id="rId43"/>
    <p:sldId id="411" r:id="rId30"/>
    <p:sldId id="416" r:id="rId44"/>
    <p:sldId id="339" r:id="rId31"/>
    <p:sldId id="382" r:id="rId32"/>
    <p:sldId id="383" r:id="rId33"/>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F2B7"/>
    <a:srgbClr val="AAAAAA"/>
    <a:srgbClr val="44546A"/>
    <a:srgbClr val="0F4761"/>
    <a:srgbClr val="FEA82D"/>
    <a:srgbClr val="D9F7DC"/>
    <a:srgbClr val="C25EBB"/>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3" autoAdjust="0"/>
    <p:restoredTop sz="81919" autoAdjust="0"/>
  </p:normalViewPr>
  <p:slideViewPr>
    <p:cSldViewPr snapToGrid="0">
      <p:cViewPr varScale="1">
        <p:scale>
          <a:sx n="155" d="100"/>
          <a:sy n="155" d="100"/>
        </p:scale>
        <p:origin x="2592" y="150"/>
      </p:cViewPr>
      <p:guideLst>
        <p:guide orient="horz" pos="1968"/>
        <p:guide pos="408"/>
        <p:guide orient="horz" pos="3912"/>
        <p:guide pos="7272"/>
        <p:guide orient="horz" pos="16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3" Type="http://schemas.openxmlformats.org/officeDocument/2006/relationships/slide" Target="slides/slide8.xml"/><Relationship Id="rId14" Type="http://schemas.openxmlformats.org/officeDocument/2006/relationships/slide" Target="slides/slide9.xml"/><Relationship Id="rId24" Type="http://schemas.openxmlformats.org/officeDocument/2006/relationships/slide" Target="slides/slide19.xml"/><Relationship Id="rId25" Type="http://schemas.openxmlformats.org/officeDocument/2006/relationships/slide" Target="slides/slide20.xml"/><Relationship Id="rId27" Type="http://schemas.openxmlformats.org/officeDocument/2006/relationships/slide" Target="slides/slide22.xml"/><Relationship Id="rId28" Type="http://schemas.openxmlformats.org/officeDocument/2006/relationships/slide" Target="slides/slide23.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notesMaster" Target="notesMasters/notesMaster1.xml"/><Relationship Id="rId35" Type="http://schemas.openxmlformats.org/officeDocument/2006/relationships/handoutMaster" Target="handoutMasters/handout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s>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4.xml><?xml version="1.0" encoding="utf-8"?>
<dgm:dataModel xmlns:dgm="http://schemas.openxmlformats.org/drawingml/2006/diagram" xmlns:a="http://schemas.openxmlformats.org/drawingml/2006/main">
  <dgm:ptLst>
    <dgm:pt modelId="{0A71C92B-BE68-407A-B687-489E20F4C856}" type="doc">
      <dgm:prSet loTypeId="urn:microsoft.com/office/officeart/2005/8/layout/vList5" loCatId="list" qsTypeId="urn:microsoft.com/office/officeart/2005/8/quickstyle/simple1" qsCatId="simple" csTypeId="urn:microsoft.com/office/officeart/2005/8/colors/colorful3" csCatId="colorful"/>
      <dgm:spPr/>
      <dgm:t>
        <a:bodyPr/>
        <a:lstStyle/>
        <a:p>
          <a:endParaRPr lang="en-US"/>
        </a:p>
      </dgm:t>
    </dgm:pt>
    <dgm:pt modelId="{69ED6D89-DE11-4C21-AA84-50EB542D1F82}">
      <dgm:prSet/>
      <dgm:spPr/>
      <dgm:t>
        <a:bodyPr/>
        <a:lstStyle/>
        <a:p>
          <a:r>
            <a:rPr lang="en-US" b="1"/>
            <a:t>Alignment with Philosophical Foundations</a:t>
          </a:r>
          <a:r>
            <a:rPr lang="en-US"/>
            <a:t>:</a:t>
          </a:r>
        </a:p>
      </dgm:t>
    </dgm:pt>
    <dgm:pt modelId="{1A23CF77-D766-4FC1-A36F-89A722DB0283}" type="parTrans" cxnId="{9DD1C474-EDEF-4825-A901-C618161EA8E8}">
      <dgm:prSet/>
      <dgm:spPr/>
      <dgm:t>
        <a:bodyPr/>
        <a:lstStyle/>
        <a:p>
          <a:endParaRPr lang="en-US"/>
        </a:p>
      </dgm:t>
    </dgm:pt>
    <dgm:pt modelId="{130AB5DD-E8BC-44EC-B7DA-09E2A58DF51E}" type="sibTrans" cxnId="{9DD1C474-EDEF-4825-A901-C618161EA8E8}">
      <dgm:prSet/>
      <dgm:spPr/>
      <dgm:t>
        <a:bodyPr/>
        <a:lstStyle/>
        <a:p>
          <a:endParaRPr lang="en-US"/>
        </a:p>
      </dgm:t>
    </dgm:pt>
    <dgm:pt modelId="{653C6225-98FD-45C8-B35A-0B49086FC189}">
      <dgm:prSet/>
      <dgm:spPr/>
      <dgm:t>
        <a:bodyPr/>
        <a:lstStyle/>
        <a:p>
          <a:r>
            <a:rPr lang="en-US"/>
            <a:t>Is the research question consistent with your </a:t>
          </a:r>
          <a:r>
            <a:rPr lang="en-US" b="1"/>
            <a:t>ontological</a:t>
          </a:r>
          <a:r>
            <a:rPr lang="en-US"/>
            <a:t> and </a:t>
          </a:r>
          <a:r>
            <a:rPr lang="en-US" b="1"/>
            <a:t>epistemological</a:t>
          </a:r>
          <a:r>
            <a:rPr lang="en-US"/>
            <a:t> stance?</a:t>
          </a:r>
        </a:p>
      </dgm:t>
    </dgm:pt>
    <dgm:pt modelId="{80568B7E-FCDB-4C05-BCB8-EBBBD593A340}" type="parTrans" cxnId="{614A426F-D0D4-4087-A7A0-1731630A1307}">
      <dgm:prSet/>
      <dgm:spPr/>
      <dgm:t>
        <a:bodyPr/>
        <a:lstStyle/>
        <a:p>
          <a:endParaRPr lang="en-US"/>
        </a:p>
      </dgm:t>
    </dgm:pt>
    <dgm:pt modelId="{2B7799D8-010D-45D4-8E9E-90DC9C98B6F2}" type="sibTrans" cxnId="{614A426F-D0D4-4087-A7A0-1731630A1307}">
      <dgm:prSet/>
      <dgm:spPr/>
      <dgm:t>
        <a:bodyPr/>
        <a:lstStyle/>
        <a:p>
          <a:endParaRPr lang="en-US"/>
        </a:p>
      </dgm:t>
    </dgm:pt>
    <dgm:pt modelId="{AF42CD48-4357-4329-8350-570A0276493B}">
      <dgm:prSet/>
      <dgm:spPr/>
      <dgm:t>
        <a:bodyPr/>
        <a:lstStyle/>
        <a:p>
          <a:r>
            <a:rPr lang="en-US" b="1"/>
            <a:t>Clarity and Focus</a:t>
          </a:r>
          <a:r>
            <a:rPr lang="en-US"/>
            <a:t>:</a:t>
          </a:r>
        </a:p>
      </dgm:t>
    </dgm:pt>
    <dgm:pt modelId="{AD58FC13-2812-4DB1-B320-4CF7900B8C58}" type="parTrans" cxnId="{45592009-44AA-4C49-B81D-6E85EE32A215}">
      <dgm:prSet/>
      <dgm:spPr/>
      <dgm:t>
        <a:bodyPr/>
        <a:lstStyle/>
        <a:p>
          <a:endParaRPr lang="en-US"/>
        </a:p>
      </dgm:t>
    </dgm:pt>
    <dgm:pt modelId="{189F7A40-17CE-42B9-AE7E-BBB2E87F75D8}" type="sibTrans" cxnId="{45592009-44AA-4C49-B81D-6E85EE32A215}">
      <dgm:prSet/>
      <dgm:spPr/>
      <dgm:t>
        <a:bodyPr/>
        <a:lstStyle/>
        <a:p>
          <a:endParaRPr lang="en-US"/>
        </a:p>
      </dgm:t>
    </dgm:pt>
    <dgm:pt modelId="{0CAF801C-B030-4E41-9450-0A322D81C473}">
      <dgm:prSet/>
      <dgm:spPr/>
      <dgm:t>
        <a:bodyPr/>
        <a:lstStyle/>
        <a:p>
          <a:r>
            <a:rPr lang="en-US"/>
            <a:t>Is the research question </a:t>
          </a:r>
          <a:r>
            <a:rPr lang="en-US" b="1"/>
            <a:t>clear</a:t>
          </a:r>
          <a:r>
            <a:rPr lang="en-US"/>
            <a:t> and </a:t>
          </a:r>
          <a:r>
            <a:rPr lang="en-US" b="1"/>
            <a:t>precise</a:t>
          </a:r>
          <a:r>
            <a:rPr lang="en-US"/>
            <a:t>? Does it avoid ambiguity?</a:t>
          </a:r>
        </a:p>
      </dgm:t>
    </dgm:pt>
    <dgm:pt modelId="{5D14783B-AB4D-4B17-BFB4-B6617583EF2D}" type="parTrans" cxnId="{B487FE77-A8BA-4515-9958-6DA677AA236A}">
      <dgm:prSet/>
      <dgm:spPr/>
      <dgm:t>
        <a:bodyPr/>
        <a:lstStyle/>
        <a:p>
          <a:endParaRPr lang="en-US"/>
        </a:p>
      </dgm:t>
    </dgm:pt>
    <dgm:pt modelId="{2BED0FE7-2238-4D04-B3FE-FA6E136B2D8D}" type="sibTrans" cxnId="{B487FE77-A8BA-4515-9958-6DA677AA236A}">
      <dgm:prSet/>
      <dgm:spPr/>
      <dgm:t>
        <a:bodyPr/>
        <a:lstStyle/>
        <a:p>
          <a:endParaRPr lang="en-US"/>
        </a:p>
      </dgm:t>
    </dgm:pt>
    <dgm:pt modelId="{8677DE68-7260-4DED-92E9-A13E25C70A5E}">
      <dgm:prSet/>
      <dgm:spPr/>
      <dgm:t>
        <a:bodyPr/>
        <a:lstStyle/>
        <a:p>
          <a:r>
            <a:rPr lang="en-US" b="1"/>
            <a:t>Feasibility</a:t>
          </a:r>
          <a:r>
            <a:rPr lang="en-US"/>
            <a:t>:</a:t>
          </a:r>
        </a:p>
      </dgm:t>
    </dgm:pt>
    <dgm:pt modelId="{0113E892-D3EE-4207-84D0-27D68E4DABC2}" type="parTrans" cxnId="{E506C5EF-9528-435B-BBE7-B717B4FD2CDF}">
      <dgm:prSet/>
      <dgm:spPr/>
      <dgm:t>
        <a:bodyPr/>
        <a:lstStyle/>
        <a:p>
          <a:endParaRPr lang="en-US"/>
        </a:p>
      </dgm:t>
    </dgm:pt>
    <dgm:pt modelId="{EC9129F3-6537-4E83-A575-182E56A48EEE}" type="sibTrans" cxnId="{E506C5EF-9528-435B-BBE7-B717B4FD2CDF}">
      <dgm:prSet/>
      <dgm:spPr/>
      <dgm:t>
        <a:bodyPr/>
        <a:lstStyle/>
        <a:p>
          <a:endParaRPr lang="en-US"/>
        </a:p>
      </dgm:t>
    </dgm:pt>
    <dgm:pt modelId="{5FA4C180-142D-4EDA-B017-149A695490C0}">
      <dgm:prSet/>
      <dgm:spPr/>
      <dgm:t>
        <a:bodyPr/>
        <a:lstStyle/>
        <a:p>
          <a:r>
            <a:rPr lang="en-US"/>
            <a:t>Can the question be answered within the available </a:t>
          </a:r>
          <a:r>
            <a:rPr lang="en-US" b="1"/>
            <a:t>time</a:t>
          </a:r>
          <a:r>
            <a:rPr lang="en-US"/>
            <a:t>, </a:t>
          </a:r>
          <a:r>
            <a:rPr lang="en-US" b="1"/>
            <a:t>resources</a:t>
          </a:r>
          <a:r>
            <a:rPr lang="en-US"/>
            <a:t>, and </a:t>
          </a:r>
          <a:r>
            <a:rPr lang="en-US" b="1"/>
            <a:t>access</a:t>
          </a:r>
          <a:r>
            <a:rPr lang="en-US"/>
            <a:t> to data?</a:t>
          </a:r>
        </a:p>
      </dgm:t>
    </dgm:pt>
    <dgm:pt modelId="{FE2B7C76-63FE-4B42-AF51-27DFD3AA5E8F}" type="parTrans" cxnId="{8174B169-58AB-4522-8294-46AFB40FE557}">
      <dgm:prSet/>
      <dgm:spPr/>
      <dgm:t>
        <a:bodyPr/>
        <a:lstStyle/>
        <a:p>
          <a:endParaRPr lang="en-US"/>
        </a:p>
      </dgm:t>
    </dgm:pt>
    <dgm:pt modelId="{817028B6-1537-4551-B68C-270E2A1E1C37}" type="sibTrans" cxnId="{8174B169-58AB-4522-8294-46AFB40FE557}">
      <dgm:prSet/>
      <dgm:spPr/>
      <dgm:t>
        <a:bodyPr/>
        <a:lstStyle/>
        <a:p>
          <a:endParaRPr lang="en-US"/>
        </a:p>
      </dgm:t>
    </dgm:pt>
    <dgm:pt modelId="{853589AD-05F1-4A8D-AEF1-BCA45CCCFDD6}">
      <dgm:prSet/>
      <dgm:spPr/>
      <dgm:t>
        <a:bodyPr/>
        <a:lstStyle/>
        <a:p>
          <a:r>
            <a:rPr lang="en-US" b="1"/>
            <a:t>Ethical Considerations</a:t>
          </a:r>
          <a:r>
            <a:rPr lang="en-US"/>
            <a:t>:</a:t>
          </a:r>
        </a:p>
      </dgm:t>
    </dgm:pt>
    <dgm:pt modelId="{F012AB5E-F76A-4D6D-98B9-D3B0E73948D2}" type="parTrans" cxnId="{D45379C8-E5B7-49F3-983A-BB4412BFBDC7}">
      <dgm:prSet/>
      <dgm:spPr/>
      <dgm:t>
        <a:bodyPr/>
        <a:lstStyle/>
        <a:p>
          <a:endParaRPr lang="en-US"/>
        </a:p>
      </dgm:t>
    </dgm:pt>
    <dgm:pt modelId="{0E66EC6E-A2F7-46BC-8F3C-36A8F4438F21}" type="sibTrans" cxnId="{D45379C8-E5B7-49F3-983A-BB4412BFBDC7}">
      <dgm:prSet/>
      <dgm:spPr/>
      <dgm:t>
        <a:bodyPr/>
        <a:lstStyle/>
        <a:p>
          <a:endParaRPr lang="en-US"/>
        </a:p>
      </dgm:t>
    </dgm:pt>
    <dgm:pt modelId="{0EF262A5-79DC-40F8-B23C-1B3FC2E9F381}">
      <dgm:prSet/>
      <dgm:spPr/>
      <dgm:t>
        <a:bodyPr/>
        <a:lstStyle/>
        <a:p>
          <a:r>
            <a:rPr lang="en-US"/>
            <a:t>Does the question respect </a:t>
          </a:r>
          <a:r>
            <a:rPr lang="en-US" b="1"/>
            <a:t>ethical guidelines</a:t>
          </a:r>
          <a:r>
            <a:rPr lang="en-US"/>
            <a:t> and take into account the values associated with the topic?</a:t>
          </a:r>
        </a:p>
      </dgm:t>
    </dgm:pt>
    <dgm:pt modelId="{E7B62A2E-EECB-4199-9CAF-C2CFF08BC274}" type="parTrans" cxnId="{0F0D0F6C-A541-45AD-B854-9B8A40BE20CA}">
      <dgm:prSet/>
      <dgm:spPr/>
      <dgm:t>
        <a:bodyPr/>
        <a:lstStyle/>
        <a:p>
          <a:endParaRPr lang="en-US"/>
        </a:p>
      </dgm:t>
    </dgm:pt>
    <dgm:pt modelId="{F411668A-209B-42E1-A188-E11AB8D64260}" type="sibTrans" cxnId="{0F0D0F6C-A541-45AD-B854-9B8A40BE20CA}">
      <dgm:prSet/>
      <dgm:spPr/>
      <dgm:t>
        <a:bodyPr/>
        <a:lstStyle/>
        <a:p>
          <a:endParaRPr lang="en-US"/>
        </a:p>
      </dgm:t>
    </dgm:pt>
    <dgm:pt modelId="{85ECE2CC-019E-4807-9ECF-DE148F858175}" type="pres">
      <dgm:prSet presAssocID="{0A71C92B-BE68-407A-B687-489E20F4C856}" presName="Name0" presStyleCnt="0">
        <dgm:presLayoutVars>
          <dgm:dir/>
          <dgm:animLvl val="lvl"/>
          <dgm:resizeHandles val="exact"/>
        </dgm:presLayoutVars>
      </dgm:prSet>
      <dgm:spPr/>
    </dgm:pt>
    <dgm:pt modelId="{7ADF1282-18DE-4D5F-AAA6-17AAE93AF815}" type="pres">
      <dgm:prSet presAssocID="{69ED6D89-DE11-4C21-AA84-50EB542D1F82}" presName="linNode" presStyleCnt="0"/>
      <dgm:spPr/>
    </dgm:pt>
    <dgm:pt modelId="{621AD3AE-1D01-48A2-80FF-B32D8FD27071}" type="pres">
      <dgm:prSet presAssocID="{69ED6D89-DE11-4C21-AA84-50EB542D1F82}" presName="parentText" presStyleLbl="node1" presStyleIdx="0" presStyleCnt="4">
        <dgm:presLayoutVars>
          <dgm:chMax val="1"/>
          <dgm:bulletEnabled val="1"/>
        </dgm:presLayoutVars>
      </dgm:prSet>
      <dgm:spPr/>
    </dgm:pt>
    <dgm:pt modelId="{5E381C18-A8E7-4050-B544-0F60EBEB04B9}" type="pres">
      <dgm:prSet presAssocID="{69ED6D89-DE11-4C21-AA84-50EB542D1F82}" presName="descendantText" presStyleLbl="alignAccFollowNode1" presStyleIdx="0" presStyleCnt="4">
        <dgm:presLayoutVars>
          <dgm:bulletEnabled val="1"/>
        </dgm:presLayoutVars>
      </dgm:prSet>
      <dgm:spPr/>
    </dgm:pt>
    <dgm:pt modelId="{01834C8D-D8CA-42DE-A8B3-557302BDF6E1}" type="pres">
      <dgm:prSet presAssocID="{130AB5DD-E8BC-44EC-B7DA-09E2A58DF51E}" presName="sp" presStyleCnt="0"/>
      <dgm:spPr/>
    </dgm:pt>
    <dgm:pt modelId="{AD629BEA-DA7C-458E-A374-92DE376BBFC8}" type="pres">
      <dgm:prSet presAssocID="{AF42CD48-4357-4329-8350-570A0276493B}" presName="linNode" presStyleCnt="0"/>
      <dgm:spPr/>
    </dgm:pt>
    <dgm:pt modelId="{7A6180F1-9944-429E-B710-D9D0B3A2EEA5}" type="pres">
      <dgm:prSet presAssocID="{AF42CD48-4357-4329-8350-570A0276493B}" presName="parentText" presStyleLbl="node1" presStyleIdx="1" presStyleCnt="4">
        <dgm:presLayoutVars>
          <dgm:chMax val="1"/>
          <dgm:bulletEnabled val="1"/>
        </dgm:presLayoutVars>
      </dgm:prSet>
      <dgm:spPr/>
    </dgm:pt>
    <dgm:pt modelId="{35856C17-AFEE-4185-AA3E-06C0D9BDA1AD}" type="pres">
      <dgm:prSet presAssocID="{AF42CD48-4357-4329-8350-570A0276493B}" presName="descendantText" presStyleLbl="alignAccFollowNode1" presStyleIdx="1" presStyleCnt="4">
        <dgm:presLayoutVars>
          <dgm:bulletEnabled val="1"/>
        </dgm:presLayoutVars>
      </dgm:prSet>
      <dgm:spPr/>
    </dgm:pt>
    <dgm:pt modelId="{0B942E49-B2A7-44ED-9297-08DD38A636B7}" type="pres">
      <dgm:prSet presAssocID="{189F7A40-17CE-42B9-AE7E-BBB2E87F75D8}" presName="sp" presStyleCnt="0"/>
      <dgm:spPr/>
    </dgm:pt>
    <dgm:pt modelId="{BC28A547-CE27-4226-B822-A28C7C64C1C0}" type="pres">
      <dgm:prSet presAssocID="{8677DE68-7260-4DED-92E9-A13E25C70A5E}" presName="linNode" presStyleCnt="0"/>
      <dgm:spPr/>
    </dgm:pt>
    <dgm:pt modelId="{BFD48C95-BB9B-4A32-B6B0-C9AB823B0660}" type="pres">
      <dgm:prSet presAssocID="{8677DE68-7260-4DED-92E9-A13E25C70A5E}" presName="parentText" presStyleLbl="node1" presStyleIdx="2" presStyleCnt="4">
        <dgm:presLayoutVars>
          <dgm:chMax val="1"/>
          <dgm:bulletEnabled val="1"/>
        </dgm:presLayoutVars>
      </dgm:prSet>
      <dgm:spPr/>
    </dgm:pt>
    <dgm:pt modelId="{82B36652-2B44-40FB-B2B6-7536C0FBC71A}" type="pres">
      <dgm:prSet presAssocID="{8677DE68-7260-4DED-92E9-A13E25C70A5E}" presName="descendantText" presStyleLbl="alignAccFollowNode1" presStyleIdx="2" presStyleCnt="4">
        <dgm:presLayoutVars>
          <dgm:bulletEnabled val="1"/>
        </dgm:presLayoutVars>
      </dgm:prSet>
      <dgm:spPr/>
    </dgm:pt>
    <dgm:pt modelId="{1862E124-2658-4E9F-9ABB-6B64F44A6176}" type="pres">
      <dgm:prSet presAssocID="{EC9129F3-6537-4E83-A575-182E56A48EEE}" presName="sp" presStyleCnt="0"/>
      <dgm:spPr/>
    </dgm:pt>
    <dgm:pt modelId="{C710E336-B50E-4189-9379-B528E5939DFB}" type="pres">
      <dgm:prSet presAssocID="{853589AD-05F1-4A8D-AEF1-BCA45CCCFDD6}" presName="linNode" presStyleCnt="0"/>
      <dgm:spPr/>
    </dgm:pt>
    <dgm:pt modelId="{12C3D1BC-9768-4DFB-A936-7B1B7CA57EFA}" type="pres">
      <dgm:prSet presAssocID="{853589AD-05F1-4A8D-AEF1-BCA45CCCFDD6}" presName="parentText" presStyleLbl="node1" presStyleIdx="3" presStyleCnt="4">
        <dgm:presLayoutVars>
          <dgm:chMax val="1"/>
          <dgm:bulletEnabled val="1"/>
        </dgm:presLayoutVars>
      </dgm:prSet>
      <dgm:spPr/>
    </dgm:pt>
    <dgm:pt modelId="{EFE4A9DF-AA0F-4A35-9EB7-B6AF2486CC3F}" type="pres">
      <dgm:prSet presAssocID="{853589AD-05F1-4A8D-AEF1-BCA45CCCFDD6}" presName="descendantText" presStyleLbl="alignAccFollowNode1" presStyleIdx="3" presStyleCnt="4">
        <dgm:presLayoutVars>
          <dgm:bulletEnabled val="1"/>
        </dgm:presLayoutVars>
      </dgm:prSet>
      <dgm:spPr/>
    </dgm:pt>
  </dgm:ptLst>
  <dgm:cxnLst>
    <dgm:cxn modelId="{45592009-44AA-4C49-B81D-6E85EE32A215}" srcId="{0A71C92B-BE68-407A-B687-489E20F4C856}" destId="{AF42CD48-4357-4329-8350-570A0276493B}" srcOrd="1" destOrd="0" parTransId="{AD58FC13-2812-4DB1-B320-4CF7900B8C58}" sibTransId="{189F7A40-17CE-42B9-AE7E-BBB2E87F75D8}"/>
    <dgm:cxn modelId="{560DF315-ED78-4B4A-91D9-1A8018790C8E}" type="presOf" srcId="{853589AD-05F1-4A8D-AEF1-BCA45CCCFDD6}" destId="{12C3D1BC-9768-4DFB-A936-7B1B7CA57EFA}" srcOrd="0" destOrd="0" presId="urn:microsoft.com/office/officeart/2005/8/layout/vList5"/>
    <dgm:cxn modelId="{70DBD619-39F9-40A1-BB73-2E83FEFB96E5}" type="presOf" srcId="{69ED6D89-DE11-4C21-AA84-50EB542D1F82}" destId="{621AD3AE-1D01-48A2-80FF-B32D8FD27071}" srcOrd="0" destOrd="0" presId="urn:microsoft.com/office/officeart/2005/8/layout/vList5"/>
    <dgm:cxn modelId="{7831635E-CC45-43FD-BA3D-159FA31610A3}" type="presOf" srcId="{8677DE68-7260-4DED-92E9-A13E25C70A5E}" destId="{BFD48C95-BB9B-4A32-B6B0-C9AB823B0660}" srcOrd="0" destOrd="0" presId="urn:microsoft.com/office/officeart/2005/8/layout/vList5"/>
    <dgm:cxn modelId="{18BC4143-737A-4DA7-8223-E260DAD5A99D}" type="presOf" srcId="{653C6225-98FD-45C8-B35A-0B49086FC189}" destId="{5E381C18-A8E7-4050-B544-0F60EBEB04B9}" srcOrd="0" destOrd="0" presId="urn:microsoft.com/office/officeart/2005/8/layout/vList5"/>
    <dgm:cxn modelId="{8174B169-58AB-4522-8294-46AFB40FE557}" srcId="{8677DE68-7260-4DED-92E9-A13E25C70A5E}" destId="{5FA4C180-142D-4EDA-B017-149A695490C0}" srcOrd="0" destOrd="0" parTransId="{FE2B7C76-63FE-4B42-AF51-27DFD3AA5E8F}" sibTransId="{817028B6-1537-4551-B68C-270E2A1E1C37}"/>
    <dgm:cxn modelId="{0F0D0F6C-A541-45AD-B854-9B8A40BE20CA}" srcId="{853589AD-05F1-4A8D-AEF1-BCA45CCCFDD6}" destId="{0EF262A5-79DC-40F8-B23C-1B3FC2E9F381}" srcOrd="0" destOrd="0" parTransId="{E7B62A2E-EECB-4199-9CAF-C2CFF08BC274}" sibTransId="{F411668A-209B-42E1-A188-E11AB8D64260}"/>
    <dgm:cxn modelId="{27AC9B4D-FB96-45C4-9F0D-7798FFE77B1A}" type="presOf" srcId="{AF42CD48-4357-4329-8350-570A0276493B}" destId="{7A6180F1-9944-429E-B710-D9D0B3A2EEA5}" srcOrd="0" destOrd="0" presId="urn:microsoft.com/office/officeart/2005/8/layout/vList5"/>
    <dgm:cxn modelId="{614A426F-D0D4-4087-A7A0-1731630A1307}" srcId="{69ED6D89-DE11-4C21-AA84-50EB542D1F82}" destId="{653C6225-98FD-45C8-B35A-0B49086FC189}" srcOrd="0" destOrd="0" parTransId="{80568B7E-FCDB-4C05-BCB8-EBBBD593A340}" sibTransId="{2B7799D8-010D-45D4-8E9E-90DC9C98B6F2}"/>
    <dgm:cxn modelId="{9DD1C474-EDEF-4825-A901-C618161EA8E8}" srcId="{0A71C92B-BE68-407A-B687-489E20F4C856}" destId="{69ED6D89-DE11-4C21-AA84-50EB542D1F82}" srcOrd="0" destOrd="0" parTransId="{1A23CF77-D766-4FC1-A36F-89A722DB0283}" sibTransId="{130AB5DD-E8BC-44EC-B7DA-09E2A58DF51E}"/>
    <dgm:cxn modelId="{B487FE77-A8BA-4515-9958-6DA677AA236A}" srcId="{AF42CD48-4357-4329-8350-570A0276493B}" destId="{0CAF801C-B030-4E41-9450-0A322D81C473}" srcOrd="0" destOrd="0" parTransId="{5D14783B-AB4D-4B17-BFB4-B6617583EF2D}" sibTransId="{2BED0FE7-2238-4D04-B3FE-FA6E136B2D8D}"/>
    <dgm:cxn modelId="{31DEBA5A-D536-4F0E-B0EE-6D12F1F0697A}" type="presOf" srcId="{0EF262A5-79DC-40F8-B23C-1B3FC2E9F381}" destId="{EFE4A9DF-AA0F-4A35-9EB7-B6AF2486CC3F}" srcOrd="0" destOrd="0" presId="urn:microsoft.com/office/officeart/2005/8/layout/vList5"/>
    <dgm:cxn modelId="{89DAB0A4-E9AD-400B-B363-3D4FEEF76D24}" type="presOf" srcId="{0CAF801C-B030-4E41-9450-0A322D81C473}" destId="{35856C17-AFEE-4185-AA3E-06C0D9BDA1AD}" srcOrd="0" destOrd="0" presId="urn:microsoft.com/office/officeart/2005/8/layout/vList5"/>
    <dgm:cxn modelId="{EC87B8A5-B291-4B14-B128-C360FB81FE6E}" type="presOf" srcId="{0A71C92B-BE68-407A-B687-489E20F4C856}" destId="{85ECE2CC-019E-4807-9ECF-DE148F858175}" srcOrd="0" destOrd="0" presId="urn:microsoft.com/office/officeart/2005/8/layout/vList5"/>
    <dgm:cxn modelId="{D45379C8-E5B7-49F3-983A-BB4412BFBDC7}" srcId="{0A71C92B-BE68-407A-B687-489E20F4C856}" destId="{853589AD-05F1-4A8D-AEF1-BCA45CCCFDD6}" srcOrd="3" destOrd="0" parTransId="{F012AB5E-F76A-4D6D-98B9-D3B0E73948D2}" sibTransId="{0E66EC6E-A2F7-46BC-8F3C-36A8F4438F21}"/>
    <dgm:cxn modelId="{256FAFD8-0DCE-4AB1-AE3E-5AD953667CC0}" type="presOf" srcId="{5FA4C180-142D-4EDA-B017-149A695490C0}" destId="{82B36652-2B44-40FB-B2B6-7536C0FBC71A}" srcOrd="0" destOrd="0" presId="urn:microsoft.com/office/officeart/2005/8/layout/vList5"/>
    <dgm:cxn modelId="{E506C5EF-9528-435B-BBE7-B717B4FD2CDF}" srcId="{0A71C92B-BE68-407A-B687-489E20F4C856}" destId="{8677DE68-7260-4DED-92E9-A13E25C70A5E}" srcOrd="2" destOrd="0" parTransId="{0113E892-D3EE-4207-84D0-27D68E4DABC2}" sibTransId="{EC9129F3-6537-4E83-A575-182E56A48EEE}"/>
    <dgm:cxn modelId="{A811D861-5CED-4C6B-BB40-3D578055B4E9}" type="presParOf" srcId="{85ECE2CC-019E-4807-9ECF-DE148F858175}" destId="{7ADF1282-18DE-4D5F-AAA6-17AAE93AF815}" srcOrd="0" destOrd="0" presId="urn:microsoft.com/office/officeart/2005/8/layout/vList5"/>
    <dgm:cxn modelId="{BDC038B2-62DB-4F3D-A40F-B71AA4E0C54C}" type="presParOf" srcId="{7ADF1282-18DE-4D5F-AAA6-17AAE93AF815}" destId="{621AD3AE-1D01-48A2-80FF-B32D8FD27071}" srcOrd="0" destOrd="0" presId="urn:microsoft.com/office/officeart/2005/8/layout/vList5"/>
    <dgm:cxn modelId="{0DC482B2-48F6-4217-A2FC-E8DA29A3D24D}" type="presParOf" srcId="{7ADF1282-18DE-4D5F-AAA6-17AAE93AF815}" destId="{5E381C18-A8E7-4050-B544-0F60EBEB04B9}" srcOrd="1" destOrd="0" presId="urn:microsoft.com/office/officeart/2005/8/layout/vList5"/>
    <dgm:cxn modelId="{99DCFFD0-D6D7-4358-A0F3-A7B167E823BE}" type="presParOf" srcId="{85ECE2CC-019E-4807-9ECF-DE148F858175}" destId="{01834C8D-D8CA-42DE-A8B3-557302BDF6E1}" srcOrd="1" destOrd="0" presId="urn:microsoft.com/office/officeart/2005/8/layout/vList5"/>
    <dgm:cxn modelId="{C843DD55-BC0F-4E6C-B6A5-26C563ED198E}" type="presParOf" srcId="{85ECE2CC-019E-4807-9ECF-DE148F858175}" destId="{AD629BEA-DA7C-458E-A374-92DE376BBFC8}" srcOrd="2" destOrd="0" presId="urn:microsoft.com/office/officeart/2005/8/layout/vList5"/>
    <dgm:cxn modelId="{8BAAB9F7-23FB-4EC8-8EB9-B050F16789BC}" type="presParOf" srcId="{AD629BEA-DA7C-458E-A374-92DE376BBFC8}" destId="{7A6180F1-9944-429E-B710-D9D0B3A2EEA5}" srcOrd="0" destOrd="0" presId="urn:microsoft.com/office/officeart/2005/8/layout/vList5"/>
    <dgm:cxn modelId="{5B7A2D48-A891-457A-AA39-C3C4437D0172}" type="presParOf" srcId="{AD629BEA-DA7C-458E-A374-92DE376BBFC8}" destId="{35856C17-AFEE-4185-AA3E-06C0D9BDA1AD}" srcOrd="1" destOrd="0" presId="urn:microsoft.com/office/officeart/2005/8/layout/vList5"/>
    <dgm:cxn modelId="{26D556B6-AFD0-4109-8550-328188DFB85C}" type="presParOf" srcId="{85ECE2CC-019E-4807-9ECF-DE148F858175}" destId="{0B942E49-B2A7-44ED-9297-08DD38A636B7}" srcOrd="3" destOrd="0" presId="urn:microsoft.com/office/officeart/2005/8/layout/vList5"/>
    <dgm:cxn modelId="{635FA110-CF63-40B5-9EA1-9D5BAB2D6A55}" type="presParOf" srcId="{85ECE2CC-019E-4807-9ECF-DE148F858175}" destId="{BC28A547-CE27-4226-B822-A28C7C64C1C0}" srcOrd="4" destOrd="0" presId="urn:microsoft.com/office/officeart/2005/8/layout/vList5"/>
    <dgm:cxn modelId="{BF2EA7F1-E6C4-4ADD-B564-EFD333F267D9}" type="presParOf" srcId="{BC28A547-CE27-4226-B822-A28C7C64C1C0}" destId="{BFD48C95-BB9B-4A32-B6B0-C9AB823B0660}" srcOrd="0" destOrd="0" presId="urn:microsoft.com/office/officeart/2005/8/layout/vList5"/>
    <dgm:cxn modelId="{209B93FD-F92A-4ABA-806A-48E6F444171E}" type="presParOf" srcId="{BC28A547-CE27-4226-B822-A28C7C64C1C0}" destId="{82B36652-2B44-40FB-B2B6-7536C0FBC71A}" srcOrd="1" destOrd="0" presId="urn:microsoft.com/office/officeart/2005/8/layout/vList5"/>
    <dgm:cxn modelId="{364ACA30-69CF-4AD5-84FE-38E69447E698}" type="presParOf" srcId="{85ECE2CC-019E-4807-9ECF-DE148F858175}" destId="{1862E124-2658-4E9F-9ABB-6B64F44A6176}" srcOrd="5" destOrd="0" presId="urn:microsoft.com/office/officeart/2005/8/layout/vList5"/>
    <dgm:cxn modelId="{B71EBD56-026E-4336-83C1-2F8096973D80}" type="presParOf" srcId="{85ECE2CC-019E-4807-9ECF-DE148F858175}" destId="{C710E336-B50E-4189-9379-B528E5939DFB}" srcOrd="6" destOrd="0" presId="urn:microsoft.com/office/officeart/2005/8/layout/vList5"/>
    <dgm:cxn modelId="{2FB9635D-5AFE-4861-B0A2-B09444D99232}" type="presParOf" srcId="{C710E336-B50E-4189-9379-B528E5939DFB}" destId="{12C3D1BC-9768-4DFB-A936-7B1B7CA57EFA}" srcOrd="0" destOrd="0" presId="urn:microsoft.com/office/officeart/2005/8/layout/vList5"/>
    <dgm:cxn modelId="{65A06371-B0E0-4F03-A80A-E7A0B4159B10}" type="presParOf" srcId="{C710E336-B50E-4189-9379-B528E5939DFB}" destId="{EFE4A9DF-AA0F-4A35-9EB7-B6AF2486CC3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5F40471-8A81-46C6-8F84-3259A1829C3F}"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GB"/>
        </a:p>
      </dgm:t>
    </dgm:pt>
    <dgm:pt modelId="{25FB0B40-773C-491F-86EE-EED1B7CBEB8E}">
      <dgm:prSet phldrT="[Text]" custT="1"/>
      <dgm:spPr/>
      <dgm:t>
        <a:bodyPr/>
        <a:lstStyle/>
        <a:p>
          <a:r>
            <a:rPr lang="en-GB" sz="2000" b="1" dirty="0">
              <a:effectLst>
                <a:outerShdw blurRad="38100" dist="38100" dir="2700000" algn="tl">
                  <a:srgbClr val="000000">
                    <a:alpha val="43137"/>
                  </a:srgbClr>
                </a:outerShdw>
              </a:effectLst>
            </a:rPr>
            <a:t>Starting Point:</a:t>
          </a:r>
          <a:r>
            <a:rPr lang="en-GB" sz="2000" dirty="0"/>
            <a:t> </a:t>
          </a:r>
          <a:br>
            <a:rPr lang="en-GB" sz="2000" dirty="0"/>
          </a:br>
          <a:r>
            <a:rPr lang="en-GB" sz="2000" dirty="0"/>
            <a:t>CY vulnerabilities</a:t>
          </a:r>
        </a:p>
      </dgm:t>
    </dgm:pt>
    <dgm:pt modelId="{B67CA277-31B2-48FC-85AE-5C4526D2B560}" type="parTrans" cxnId="{4D82A409-93B8-4C43-8303-C2F3A7177D31}">
      <dgm:prSet/>
      <dgm:spPr/>
      <dgm:t>
        <a:bodyPr/>
        <a:lstStyle/>
        <a:p>
          <a:endParaRPr lang="en-GB"/>
        </a:p>
      </dgm:t>
    </dgm:pt>
    <dgm:pt modelId="{2D70E476-0320-4727-A393-4545CE90290F}" type="sibTrans" cxnId="{4D82A409-93B8-4C43-8303-C2F3A7177D31}">
      <dgm:prSet/>
      <dgm:spPr/>
      <dgm:t>
        <a:bodyPr/>
        <a:lstStyle/>
        <a:p>
          <a:endParaRPr lang="en-GB"/>
        </a:p>
      </dgm:t>
    </dgm:pt>
    <dgm:pt modelId="{FBC5FBCC-7E2B-42E5-A376-DB113B876A6C}">
      <dgm:prSet phldrT="[Text]"/>
      <dgm:spPr/>
      <dgm:t>
        <a:bodyPr/>
        <a:lstStyle/>
        <a:p>
          <a:r>
            <a:rPr lang="en-US" b="1" dirty="0">
              <a:effectLst>
                <a:outerShdw blurRad="38100" dist="38100" dir="2700000" algn="tl">
                  <a:srgbClr val="000000">
                    <a:alpha val="43137"/>
                  </a:srgbClr>
                </a:outerShdw>
              </a:effectLst>
            </a:rPr>
            <a:t>Funneling down</a:t>
          </a:r>
          <a:r>
            <a:rPr lang="en-US" b="1" dirty="0"/>
            <a:t>: </a:t>
          </a:r>
          <a:r>
            <a:rPr lang="en-US" dirty="0"/>
            <a:t>Insider threats within financial organizations</a:t>
          </a:r>
          <a:endParaRPr lang="en-GB" dirty="0"/>
        </a:p>
      </dgm:t>
    </dgm:pt>
    <dgm:pt modelId="{76A1251C-B365-415F-8589-6DF623ADF63C}" type="parTrans" cxnId="{916B8FC0-090C-4FF9-8978-A436487AAA1D}">
      <dgm:prSet/>
      <dgm:spPr/>
      <dgm:t>
        <a:bodyPr/>
        <a:lstStyle/>
        <a:p>
          <a:endParaRPr lang="en-GB"/>
        </a:p>
      </dgm:t>
    </dgm:pt>
    <dgm:pt modelId="{986824DB-060C-4A8E-B329-BECB8EF8047D}" type="sibTrans" cxnId="{916B8FC0-090C-4FF9-8978-A436487AAA1D}">
      <dgm:prSet/>
      <dgm:spPr/>
      <dgm:t>
        <a:bodyPr/>
        <a:lstStyle/>
        <a:p>
          <a:endParaRPr lang="en-GB"/>
        </a:p>
      </dgm:t>
    </dgm:pt>
    <dgm:pt modelId="{4BF9B5EA-5EC6-416E-9DAD-70D00DEF30D8}">
      <dgm:prSet phldrT="[Text]"/>
      <dgm:spPr>
        <a:solidFill>
          <a:srgbClr val="AAAAAA"/>
        </a:solidFill>
      </dgm:spPr>
      <dgm:t>
        <a:bodyPr/>
        <a:lstStyle/>
        <a:p>
          <a:r>
            <a:rPr lang="en-US" b="0" dirty="0">
              <a:effectLst>
                <a:outerShdw blurRad="38100" dist="38100" dir="2700000" algn="tl">
                  <a:srgbClr val="000000">
                    <a:alpha val="43137"/>
                  </a:srgbClr>
                </a:outerShdw>
              </a:effectLst>
            </a:rPr>
            <a:t>How effective are current monitoring systems in detecting insider threats in financial institutions?</a:t>
          </a:r>
          <a:endParaRPr lang="en-GB" b="0" dirty="0">
            <a:effectLst>
              <a:outerShdw blurRad="38100" dist="38100" dir="2700000" algn="tl">
                <a:srgbClr val="000000">
                  <a:alpha val="43137"/>
                </a:srgbClr>
              </a:outerShdw>
            </a:effectLst>
          </a:endParaRPr>
        </a:p>
      </dgm:t>
    </dgm:pt>
    <dgm:pt modelId="{C137983B-EE69-42E5-9FD2-C8904FCFF326}" type="parTrans" cxnId="{FD3A876B-9F95-4287-816B-CBA2E4755FBC}">
      <dgm:prSet/>
      <dgm:spPr/>
      <dgm:t>
        <a:bodyPr/>
        <a:lstStyle/>
        <a:p>
          <a:endParaRPr lang="en-GB"/>
        </a:p>
      </dgm:t>
    </dgm:pt>
    <dgm:pt modelId="{4CEA7A3C-39A0-4B6A-B8EA-D5D409E83AA2}" type="sibTrans" cxnId="{FD3A876B-9F95-4287-816B-CBA2E4755FBC}">
      <dgm:prSet/>
      <dgm:spPr/>
      <dgm:t>
        <a:bodyPr/>
        <a:lstStyle/>
        <a:p>
          <a:endParaRPr lang="en-GB"/>
        </a:p>
      </dgm:t>
    </dgm:pt>
    <dgm:pt modelId="{C69D9B3C-EE85-4A56-89EF-CE08D621D045}" type="pres">
      <dgm:prSet presAssocID="{95F40471-8A81-46C6-8F84-3259A1829C3F}" presName="Name0" presStyleCnt="0">
        <dgm:presLayoutVars>
          <dgm:chMax val="4"/>
          <dgm:resizeHandles val="exact"/>
        </dgm:presLayoutVars>
      </dgm:prSet>
      <dgm:spPr/>
    </dgm:pt>
    <dgm:pt modelId="{BC48ED2C-3E6A-497F-922B-A8A94C346F7C}" type="pres">
      <dgm:prSet presAssocID="{95F40471-8A81-46C6-8F84-3259A1829C3F}" presName="ellipse" presStyleLbl="trBgShp" presStyleIdx="0" presStyleCnt="1"/>
      <dgm:spPr/>
    </dgm:pt>
    <dgm:pt modelId="{63B5F62C-EDDD-478C-8B68-AFDED7EB28F0}" type="pres">
      <dgm:prSet presAssocID="{95F40471-8A81-46C6-8F84-3259A1829C3F}" presName="arrow1" presStyleLbl="fgShp" presStyleIdx="0" presStyleCnt="1" custLinFactNeighborX="0" custLinFactNeighborY="-15883"/>
      <dgm:spPr/>
    </dgm:pt>
    <dgm:pt modelId="{4B0867FB-DF8A-4248-A7DF-57A7362079B6}" type="pres">
      <dgm:prSet presAssocID="{95F40471-8A81-46C6-8F84-3259A1829C3F}" presName="rectangle" presStyleLbl="revTx" presStyleIdx="0" presStyleCnt="1">
        <dgm:presLayoutVars>
          <dgm:bulletEnabled val="1"/>
        </dgm:presLayoutVars>
      </dgm:prSet>
      <dgm:spPr/>
    </dgm:pt>
    <dgm:pt modelId="{0BBB0CE9-C3C7-43E7-9E3C-E63EDE22AB9E}" type="pres">
      <dgm:prSet presAssocID="{FBC5FBCC-7E2B-42E5-A376-DB113B876A6C}" presName="item1" presStyleLbl="node1" presStyleIdx="0" presStyleCnt="2" custScaleX="101935" custScaleY="105708" custLinFactNeighborX="-4235" custLinFactNeighborY="19058">
        <dgm:presLayoutVars>
          <dgm:bulletEnabled val="1"/>
        </dgm:presLayoutVars>
      </dgm:prSet>
      <dgm:spPr/>
    </dgm:pt>
    <dgm:pt modelId="{E36B1BF1-59E5-4E6C-AA08-9F225FCED03B}" type="pres">
      <dgm:prSet presAssocID="{4BF9B5EA-5EC6-416E-9DAD-70D00DEF30D8}" presName="item2" presStyleLbl="node1" presStyleIdx="1" presStyleCnt="2" custScaleX="154351" custScaleY="150823" custLinFactNeighborX="52875" custLinFactNeighborY="-33889">
        <dgm:presLayoutVars>
          <dgm:bulletEnabled val="1"/>
        </dgm:presLayoutVars>
      </dgm:prSet>
      <dgm:spPr/>
    </dgm:pt>
    <dgm:pt modelId="{B6C38870-A5BD-4A1F-8DF4-22BC9E5C1907}" type="pres">
      <dgm:prSet presAssocID="{95F40471-8A81-46C6-8F84-3259A1829C3F}" presName="funnel" presStyleLbl="trAlignAcc1" presStyleIdx="0" presStyleCnt="1" custLinFactNeighborX="0" custLinFactNeighborY="-42"/>
      <dgm:spPr>
        <a:solidFill>
          <a:schemeClr val="tx1">
            <a:lumMod val="95000"/>
            <a:lumOff val="5000"/>
            <a:alpha val="40000"/>
          </a:schemeClr>
        </a:solidFill>
      </dgm:spPr>
    </dgm:pt>
  </dgm:ptLst>
  <dgm:cxnLst>
    <dgm:cxn modelId="{4D82A409-93B8-4C43-8303-C2F3A7177D31}" srcId="{95F40471-8A81-46C6-8F84-3259A1829C3F}" destId="{25FB0B40-773C-491F-86EE-EED1B7CBEB8E}" srcOrd="0" destOrd="0" parTransId="{B67CA277-31B2-48FC-85AE-5C4526D2B560}" sibTransId="{2D70E476-0320-4727-A393-4545CE90290F}"/>
    <dgm:cxn modelId="{CCB06D12-FAC3-4AB4-8863-9711057A5AD1}" type="presOf" srcId="{25FB0B40-773C-491F-86EE-EED1B7CBEB8E}" destId="{E36B1BF1-59E5-4E6C-AA08-9F225FCED03B}" srcOrd="0" destOrd="0" presId="urn:microsoft.com/office/officeart/2005/8/layout/funnel1"/>
    <dgm:cxn modelId="{FD3A876B-9F95-4287-816B-CBA2E4755FBC}" srcId="{95F40471-8A81-46C6-8F84-3259A1829C3F}" destId="{4BF9B5EA-5EC6-416E-9DAD-70D00DEF30D8}" srcOrd="2" destOrd="0" parTransId="{C137983B-EE69-42E5-9FD2-C8904FCFF326}" sibTransId="{4CEA7A3C-39A0-4B6A-B8EA-D5D409E83AA2}"/>
    <dgm:cxn modelId="{66DF1152-4721-4F40-8C69-4DA6860997C8}" type="presOf" srcId="{4BF9B5EA-5EC6-416E-9DAD-70D00DEF30D8}" destId="{4B0867FB-DF8A-4248-A7DF-57A7362079B6}" srcOrd="0" destOrd="0" presId="urn:microsoft.com/office/officeart/2005/8/layout/funnel1"/>
    <dgm:cxn modelId="{9A97E676-386A-40CD-8FB8-03AC6D451296}" type="presOf" srcId="{FBC5FBCC-7E2B-42E5-A376-DB113B876A6C}" destId="{0BBB0CE9-C3C7-43E7-9E3C-E63EDE22AB9E}" srcOrd="0" destOrd="0" presId="urn:microsoft.com/office/officeart/2005/8/layout/funnel1"/>
    <dgm:cxn modelId="{916B8FC0-090C-4FF9-8978-A436487AAA1D}" srcId="{95F40471-8A81-46C6-8F84-3259A1829C3F}" destId="{FBC5FBCC-7E2B-42E5-A376-DB113B876A6C}" srcOrd="1" destOrd="0" parTransId="{76A1251C-B365-415F-8589-6DF623ADF63C}" sibTransId="{986824DB-060C-4A8E-B329-BECB8EF8047D}"/>
    <dgm:cxn modelId="{27244BF3-3D86-40B2-9FE8-82A016D84B96}" type="presOf" srcId="{95F40471-8A81-46C6-8F84-3259A1829C3F}" destId="{C69D9B3C-EE85-4A56-89EF-CE08D621D045}" srcOrd="0" destOrd="0" presId="urn:microsoft.com/office/officeart/2005/8/layout/funnel1"/>
    <dgm:cxn modelId="{B9F905F4-8F5C-4933-9EE8-5BCC899CC6D0}" type="presParOf" srcId="{C69D9B3C-EE85-4A56-89EF-CE08D621D045}" destId="{BC48ED2C-3E6A-497F-922B-A8A94C346F7C}" srcOrd="0" destOrd="0" presId="urn:microsoft.com/office/officeart/2005/8/layout/funnel1"/>
    <dgm:cxn modelId="{25A69D09-48E2-4E5E-ABE6-EBAF3BC36F24}" type="presParOf" srcId="{C69D9B3C-EE85-4A56-89EF-CE08D621D045}" destId="{63B5F62C-EDDD-478C-8B68-AFDED7EB28F0}" srcOrd="1" destOrd="0" presId="urn:microsoft.com/office/officeart/2005/8/layout/funnel1"/>
    <dgm:cxn modelId="{24448CE0-ECE9-4902-AA36-5FABE7FA9A75}" type="presParOf" srcId="{C69D9B3C-EE85-4A56-89EF-CE08D621D045}" destId="{4B0867FB-DF8A-4248-A7DF-57A7362079B6}" srcOrd="2" destOrd="0" presId="urn:microsoft.com/office/officeart/2005/8/layout/funnel1"/>
    <dgm:cxn modelId="{08770DFF-6198-4B23-8344-0ECF777CF494}" type="presParOf" srcId="{C69D9B3C-EE85-4A56-89EF-CE08D621D045}" destId="{0BBB0CE9-C3C7-43E7-9E3C-E63EDE22AB9E}" srcOrd="3" destOrd="0" presId="urn:microsoft.com/office/officeart/2005/8/layout/funnel1"/>
    <dgm:cxn modelId="{C9B6524E-471B-46E5-B791-42AD1AAAFFA6}" type="presParOf" srcId="{C69D9B3C-EE85-4A56-89EF-CE08D621D045}" destId="{E36B1BF1-59E5-4E6C-AA08-9F225FCED03B}" srcOrd="4" destOrd="0" presId="urn:microsoft.com/office/officeart/2005/8/layout/funnel1"/>
    <dgm:cxn modelId="{A6F1B67B-2C9F-4ED5-AFD6-043C272F6C08}" type="presParOf" srcId="{C69D9B3C-EE85-4A56-89EF-CE08D621D045}" destId="{B6C38870-A5BD-4A1F-8DF4-22BC9E5C1907}" srcOrd="5"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5F40471-8A81-46C6-8F84-3259A1829C3F}" type="doc">
      <dgm:prSet loTypeId="urn:microsoft.com/office/officeart/2005/8/layout/funnel1" loCatId="process" qsTypeId="urn:microsoft.com/office/officeart/2005/8/quickstyle/simple1" qsCatId="simple" csTypeId="urn:microsoft.com/office/officeart/2005/8/colors/accent0_1" csCatId="mainScheme" phldr="1"/>
      <dgm:spPr/>
      <dgm:t>
        <a:bodyPr/>
        <a:lstStyle/>
        <a:p>
          <a:endParaRPr lang="en-GB"/>
        </a:p>
      </dgm:t>
    </dgm:pt>
    <dgm:pt modelId="{25FB0B40-773C-491F-86EE-EED1B7CBEB8E}">
      <dgm:prSet phldrT="[Text]" custT="1"/>
      <dgm:spPr/>
      <dgm:t>
        <a:bodyPr/>
        <a:lstStyle/>
        <a:p>
          <a:r>
            <a:rPr lang="en-GB" sz="2000" b="1" dirty="0">
              <a:effectLst>
                <a:outerShdw blurRad="38100" dist="38100" dir="2700000" algn="tl">
                  <a:srgbClr val="000000">
                    <a:alpha val="43137"/>
                  </a:srgbClr>
                </a:outerShdw>
              </a:effectLst>
            </a:rPr>
            <a:t>Starting Point:</a:t>
          </a:r>
          <a:r>
            <a:rPr lang="en-GB" sz="2000" dirty="0"/>
            <a:t> </a:t>
          </a:r>
          <a:br>
            <a:rPr lang="en-GB" sz="2000" dirty="0"/>
          </a:br>
          <a:r>
            <a:rPr lang="en-GB" sz="2000" dirty="0"/>
            <a:t>CY vulnerabilities</a:t>
          </a:r>
        </a:p>
      </dgm:t>
    </dgm:pt>
    <dgm:pt modelId="{B67CA277-31B2-48FC-85AE-5C4526D2B560}" type="parTrans" cxnId="{4D82A409-93B8-4C43-8303-C2F3A7177D31}">
      <dgm:prSet/>
      <dgm:spPr/>
      <dgm:t>
        <a:bodyPr/>
        <a:lstStyle/>
        <a:p>
          <a:endParaRPr lang="en-GB"/>
        </a:p>
      </dgm:t>
    </dgm:pt>
    <dgm:pt modelId="{2D70E476-0320-4727-A393-4545CE90290F}" type="sibTrans" cxnId="{4D82A409-93B8-4C43-8303-C2F3A7177D31}">
      <dgm:prSet/>
      <dgm:spPr/>
      <dgm:t>
        <a:bodyPr/>
        <a:lstStyle/>
        <a:p>
          <a:endParaRPr lang="en-GB"/>
        </a:p>
      </dgm:t>
    </dgm:pt>
    <dgm:pt modelId="{FBC5FBCC-7E2B-42E5-A376-DB113B876A6C}">
      <dgm:prSet phldrT="[Text]"/>
      <dgm:spPr/>
      <dgm:t>
        <a:bodyPr/>
        <a:lstStyle/>
        <a:p>
          <a:r>
            <a:rPr lang="en-US" b="1" dirty="0">
              <a:effectLst>
                <a:outerShdw blurRad="38100" dist="38100" dir="2700000" algn="tl">
                  <a:srgbClr val="000000">
                    <a:alpha val="43137"/>
                  </a:srgbClr>
                </a:outerShdw>
              </a:effectLst>
            </a:rPr>
            <a:t>Funneling down</a:t>
          </a:r>
          <a:r>
            <a:rPr lang="en-US" b="1" dirty="0"/>
            <a:t>: </a:t>
          </a:r>
          <a:r>
            <a:rPr lang="en-US" dirty="0"/>
            <a:t>Insider threats within financial organizations</a:t>
          </a:r>
          <a:endParaRPr lang="en-GB" dirty="0"/>
        </a:p>
      </dgm:t>
    </dgm:pt>
    <dgm:pt modelId="{76A1251C-B365-415F-8589-6DF623ADF63C}" type="parTrans" cxnId="{916B8FC0-090C-4FF9-8978-A436487AAA1D}">
      <dgm:prSet/>
      <dgm:spPr/>
      <dgm:t>
        <a:bodyPr/>
        <a:lstStyle/>
        <a:p>
          <a:endParaRPr lang="en-GB"/>
        </a:p>
      </dgm:t>
    </dgm:pt>
    <dgm:pt modelId="{986824DB-060C-4A8E-B329-BECB8EF8047D}" type="sibTrans" cxnId="{916B8FC0-090C-4FF9-8978-A436487AAA1D}">
      <dgm:prSet/>
      <dgm:spPr/>
      <dgm:t>
        <a:bodyPr/>
        <a:lstStyle/>
        <a:p>
          <a:endParaRPr lang="en-GB"/>
        </a:p>
      </dgm:t>
    </dgm:pt>
    <dgm:pt modelId="{4BF9B5EA-5EC6-416E-9DAD-70D00DEF30D8}">
      <dgm:prSet phldrT="[Text]"/>
      <dgm:spPr>
        <a:solidFill>
          <a:srgbClr val="AAAAAA"/>
        </a:solidFill>
      </dgm:spPr>
      <dgm:t>
        <a:bodyPr/>
        <a:lstStyle/>
        <a:p>
          <a:r>
            <a:rPr lang="en-US" b="0" dirty="0">
              <a:effectLst>
                <a:outerShdw blurRad="38100" dist="38100" dir="2700000" algn="tl">
                  <a:srgbClr val="000000">
                    <a:alpha val="43137"/>
                  </a:srgbClr>
                </a:outerShdw>
              </a:effectLst>
            </a:rPr>
            <a:t>How effective are current monitoring systems in detecting insider threats in financial institutions?</a:t>
          </a:r>
          <a:endParaRPr lang="en-GB" b="0" dirty="0">
            <a:effectLst>
              <a:outerShdw blurRad="38100" dist="38100" dir="2700000" algn="tl">
                <a:srgbClr val="000000">
                  <a:alpha val="43137"/>
                </a:srgbClr>
              </a:outerShdw>
            </a:effectLst>
          </a:endParaRPr>
        </a:p>
      </dgm:t>
    </dgm:pt>
    <dgm:pt modelId="{C137983B-EE69-42E5-9FD2-C8904FCFF326}" type="parTrans" cxnId="{FD3A876B-9F95-4287-816B-CBA2E4755FBC}">
      <dgm:prSet/>
      <dgm:spPr/>
      <dgm:t>
        <a:bodyPr/>
        <a:lstStyle/>
        <a:p>
          <a:endParaRPr lang="en-GB"/>
        </a:p>
      </dgm:t>
    </dgm:pt>
    <dgm:pt modelId="{4CEA7A3C-39A0-4B6A-B8EA-D5D409E83AA2}" type="sibTrans" cxnId="{FD3A876B-9F95-4287-816B-CBA2E4755FBC}">
      <dgm:prSet/>
      <dgm:spPr/>
      <dgm:t>
        <a:bodyPr/>
        <a:lstStyle/>
        <a:p>
          <a:endParaRPr lang="en-GB"/>
        </a:p>
      </dgm:t>
    </dgm:pt>
    <dgm:pt modelId="{C69D9B3C-EE85-4A56-89EF-CE08D621D045}" type="pres">
      <dgm:prSet presAssocID="{95F40471-8A81-46C6-8F84-3259A1829C3F}" presName="Name0" presStyleCnt="0">
        <dgm:presLayoutVars>
          <dgm:chMax val="4"/>
          <dgm:resizeHandles val="exact"/>
        </dgm:presLayoutVars>
      </dgm:prSet>
      <dgm:spPr/>
    </dgm:pt>
    <dgm:pt modelId="{BC48ED2C-3E6A-497F-922B-A8A94C346F7C}" type="pres">
      <dgm:prSet presAssocID="{95F40471-8A81-46C6-8F84-3259A1829C3F}" presName="ellipse" presStyleLbl="trBgShp" presStyleIdx="0" presStyleCnt="1"/>
      <dgm:spPr/>
    </dgm:pt>
    <dgm:pt modelId="{63B5F62C-EDDD-478C-8B68-AFDED7EB28F0}" type="pres">
      <dgm:prSet presAssocID="{95F40471-8A81-46C6-8F84-3259A1829C3F}" presName="arrow1" presStyleLbl="fgShp" presStyleIdx="0" presStyleCnt="1" custLinFactNeighborX="0" custLinFactNeighborY="-15883"/>
      <dgm:spPr/>
    </dgm:pt>
    <dgm:pt modelId="{4B0867FB-DF8A-4248-A7DF-57A7362079B6}" type="pres">
      <dgm:prSet presAssocID="{95F40471-8A81-46C6-8F84-3259A1829C3F}" presName="rectangle" presStyleLbl="revTx" presStyleIdx="0" presStyleCnt="1">
        <dgm:presLayoutVars>
          <dgm:bulletEnabled val="1"/>
        </dgm:presLayoutVars>
      </dgm:prSet>
      <dgm:spPr/>
    </dgm:pt>
    <dgm:pt modelId="{0BBB0CE9-C3C7-43E7-9E3C-E63EDE22AB9E}" type="pres">
      <dgm:prSet presAssocID="{FBC5FBCC-7E2B-42E5-A376-DB113B876A6C}" presName="item1" presStyleLbl="node1" presStyleIdx="0" presStyleCnt="2" custScaleX="101935" custScaleY="105708" custLinFactNeighborX="-4235" custLinFactNeighborY="19058">
        <dgm:presLayoutVars>
          <dgm:bulletEnabled val="1"/>
        </dgm:presLayoutVars>
      </dgm:prSet>
      <dgm:spPr/>
    </dgm:pt>
    <dgm:pt modelId="{E36B1BF1-59E5-4E6C-AA08-9F225FCED03B}" type="pres">
      <dgm:prSet presAssocID="{4BF9B5EA-5EC6-416E-9DAD-70D00DEF30D8}" presName="item2" presStyleLbl="node1" presStyleIdx="1" presStyleCnt="2" custScaleX="154351" custScaleY="150823" custLinFactNeighborX="52875" custLinFactNeighborY="-33889">
        <dgm:presLayoutVars>
          <dgm:bulletEnabled val="1"/>
        </dgm:presLayoutVars>
      </dgm:prSet>
      <dgm:spPr/>
    </dgm:pt>
    <dgm:pt modelId="{B6C38870-A5BD-4A1F-8DF4-22BC9E5C1907}" type="pres">
      <dgm:prSet presAssocID="{95F40471-8A81-46C6-8F84-3259A1829C3F}" presName="funnel" presStyleLbl="trAlignAcc1" presStyleIdx="0" presStyleCnt="1" custLinFactNeighborX="0" custLinFactNeighborY="-42"/>
      <dgm:spPr>
        <a:solidFill>
          <a:schemeClr val="tx1">
            <a:lumMod val="95000"/>
            <a:lumOff val="5000"/>
            <a:alpha val="40000"/>
          </a:schemeClr>
        </a:solidFill>
      </dgm:spPr>
    </dgm:pt>
  </dgm:ptLst>
  <dgm:cxnLst>
    <dgm:cxn modelId="{4D82A409-93B8-4C43-8303-C2F3A7177D31}" srcId="{95F40471-8A81-46C6-8F84-3259A1829C3F}" destId="{25FB0B40-773C-491F-86EE-EED1B7CBEB8E}" srcOrd="0" destOrd="0" parTransId="{B67CA277-31B2-48FC-85AE-5C4526D2B560}" sibTransId="{2D70E476-0320-4727-A393-4545CE90290F}"/>
    <dgm:cxn modelId="{CCB06D12-FAC3-4AB4-8863-9711057A5AD1}" type="presOf" srcId="{25FB0B40-773C-491F-86EE-EED1B7CBEB8E}" destId="{E36B1BF1-59E5-4E6C-AA08-9F225FCED03B}" srcOrd="0" destOrd="0" presId="urn:microsoft.com/office/officeart/2005/8/layout/funnel1"/>
    <dgm:cxn modelId="{FD3A876B-9F95-4287-816B-CBA2E4755FBC}" srcId="{95F40471-8A81-46C6-8F84-3259A1829C3F}" destId="{4BF9B5EA-5EC6-416E-9DAD-70D00DEF30D8}" srcOrd="2" destOrd="0" parTransId="{C137983B-EE69-42E5-9FD2-C8904FCFF326}" sibTransId="{4CEA7A3C-39A0-4B6A-B8EA-D5D409E83AA2}"/>
    <dgm:cxn modelId="{66DF1152-4721-4F40-8C69-4DA6860997C8}" type="presOf" srcId="{4BF9B5EA-5EC6-416E-9DAD-70D00DEF30D8}" destId="{4B0867FB-DF8A-4248-A7DF-57A7362079B6}" srcOrd="0" destOrd="0" presId="urn:microsoft.com/office/officeart/2005/8/layout/funnel1"/>
    <dgm:cxn modelId="{9A97E676-386A-40CD-8FB8-03AC6D451296}" type="presOf" srcId="{FBC5FBCC-7E2B-42E5-A376-DB113B876A6C}" destId="{0BBB0CE9-C3C7-43E7-9E3C-E63EDE22AB9E}" srcOrd="0" destOrd="0" presId="urn:microsoft.com/office/officeart/2005/8/layout/funnel1"/>
    <dgm:cxn modelId="{916B8FC0-090C-4FF9-8978-A436487AAA1D}" srcId="{95F40471-8A81-46C6-8F84-3259A1829C3F}" destId="{FBC5FBCC-7E2B-42E5-A376-DB113B876A6C}" srcOrd="1" destOrd="0" parTransId="{76A1251C-B365-415F-8589-6DF623ADF63C}" sibTransId="{986824DB-060C-4A8E-B329-BECB8EF8047D}"/>
    <dgm:cxn modelId="{27244BF3-3D86-40B2-9FE8-82A016D84B96}" type="presOf" srcId="{95F40471-8A81-46C6-8F84-3259A1829C3F}" destId="{C69D9B3C-EE85-4A56-89EF-CE08D621D045}" srcOrd="0" destOrd="0" presId="urn:microsoft.com/office/officeart/2005/8/layout/funnel1"/>
    <dgm:cxn modelId="{B9F905F4-8F5C-4933-9EE8-5BCC899CC6D0}" type="presParOf" srcId="{C69D9B3C-EE85-4A56-89EF-CE08D621D045}" destId="{BC48ED2C-3E6A-497F-922B-A8A94C346F7C}" srcOrd="0" destOrd="0" presId="urn:microsoft.com/office/officeart/2005/8/layout/funnel1"/>
    <dgm:cxn modelId="{25A69D09-48E2-4E5E-ABE6-EBAF3BC36F24}" type="presParOf" srcId="{C69D9B3C-EE85-4A56-89EF-CE08D621D045}" destId="{63B5F62C-EDDD-478C-8B68-AFDED7EB28F0}" srcOrd="1" destOrd="0" presId="urn:microsoft.com/office/officeart/2005/8/layout/funnel1"/>
    <dgm:cxn modelId="{24448CE0-ECE9-4902-AA36-5FABE7FA9A75}" type="presParOf" srcId="{C69D9B3C-EE85-4A56-89EF-CE08D621D045}" destId="{4B0867FB-DF8A-4248-A7DF-57A7362079B6}" srcOrd="2" destOrd="0" presId="urn:microsoft.com/office/officeart/2005/8/layout/funnel1"/>
    <dgm:cxn modelId="{08770DFF-6198-4B23-8344-0ECF777CF494}" type="presParOf" srcId="{C69D9B3C-EE85-4A56-89EF-CE08D621D045}" destId="{0BBB0CE9-C3C7-43E7-9E3C-E63EDE22AB9E}" srcOrd="3" destOrd="0" presId="urn:microsoft.com/office/officeart/2005/8/layout/funnel1"/>
    <dgm:cxn modelId="{C9B6524E-471B-46E5-B791-42AD1AAAFFA6}" type="presParOf" srcId="{C69D9B3C-EE85-4A56-89EF-CE08D621D045}" destId="{E36B1BF1-59E5-4E6C-AA08-9F225FCED03B}" srcOrd="4" destOrd="0" presId="urn:microsoft.com/office/officeart/2005/8/layout/funnel1"/>
    <dgm:cxn modelId="{A6F1B67B-2C9F-4ED5-AFD6-043C272F6C08}" type="presParOf" srcId="{C69D9B3C-EE85-4A56-89EF-CE08D621D045}" destId="{B6C38870-A5BD-4A1F-8DF4-22BC9E5C1907}" srcOrd="5"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381C18-A8E7-4050-B544-0F60EBEB04B9}">
      <dsp:nvSpPr>
        <dsp:cNvPr id="0" name=""/>
        <dsp:cNvSpPr/>
      </dsp:nvSpPr>
      <dsp:spPr>
        <a:xfrm rot="5400000">
          <a:off x="6754397" y="-2867669"/>
          <a:ext cx="792420" cy="6729984"/>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a:t>Is the research question consistent with your </a:t>
          </a:r>
          <a:r>
            <a:rPr lang="en-US" sz="2200" b="1" kern="1200"/>
            <a:t>ontological</a:t>
          </a:r>
          <a:r>
            <a:rPr lang="en-US" sz="2200" kern="1200"/>
            <a:t> and </a:t>
          </a:r>
          <a:r>
            <a:rPr lang="en-US" sz="2200" b="1" kern="1200"/>
            <a:t>epistemological</a:t>
          </a:r>
          <a:r>
            <a:rPr lang="en-US" sz="2200" kern="1200"/>
            <a:t> stance?</a:t>
          </a:r>
        </a:p>
      </dsp:txBody>
      <dsp:txXfrm rot="-5400000">
        <a:off x="3785616" y="139795"/>
        <a:ext cx="6691301" cy="715054"/>
      </dsp:txXfrm>
    </dsp:sp>
    <dsp:sp modelId="{621AD3AE-1D01-48A2-80FF-B32D8FD27071}">
      <dsp:nvSpPr>
        <dsp:cNvPr id="0" name=""/>
        <dsp:cNvSpPr/>
      </dsp:nvSpPr>
      <dsp:spPr>
        <a:xfrm>
          <a:off x="0" y="2059"/>
          <a:ext cx="3785616" cy="99052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Alignment with Philosophical Foundations</a:t>
          </a:r>
          <a:r>
            <a:rPr lang="en-US" sz="2600" kern="1200"/>
            <a:t>:</a:t>
          </a:r>
        </a:p>
      </dsp:txBody>
      <dsp:txXfrm>
        <a:off x="48353" y="50412"/>
        <a:ext cx="3688910" cy="893819"/>
      </dsp:txXfrm>
    </dsp:sp>
    <dsp:sp modelId="{35856C17-AFEE-4185-AA3E-06C0D9BDA1AD}">
      <dsp:nvSpPr>
        <dsp:cNvPr id="0" name=""/>
        <dsp:cNvSpPr/>
      </dsp:nvSpPr>
      <dsp:spPr>
        <a:xfrm rot="5400000">
          <a:off x="6754397" y="-1827617"/>
          <a:ext cx="792420" cy="6729984"/>
        </a:xfrm>
        <a:prstGeom prst="round2SameRect">
          <a:avLst/>
        </a:prstGeom>
        <a:solidFill>
          <a:schemeClr val="accent3">
            <a:tint val="40000"/>
            <a:alpha val="90000"/>
            <a:hueOff val="-4316637"/>
            <a:satOff val="27656"/>
            <a:lumOff val="2621"/>
            <a:alphaOff val="0"/>
          </a:schemeClr>
        </a:solidFill>
        <a:ln w="12700" cap="flat" cmpd="sng" algn="ctr">
          <a:solidFill>
            <a:schemeClr val="accent3">
              <a:tint val="40000"/>
              <a:alpha val="90000"/>
              <a:hueOff val="-4316637"/>
              <a:satOff val="27656"/>
              <a:lumOff val="262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a:t>Is the research question </a:t>
          </a:r>
          <a:r>
            <a:rPr lang="en-US" sz="2200" b="1" kern="1200"/>
            <a:t>clear</a:t>
          </a:r>
          <a:r>
            <a:rPr lang="en-US" sz="2200" kern="1200"/>
            <a:t> and </a:t>
          </a:r>
          <a:r>
            <a:rPr lang="en-US" sz="2200" b="1" kern="1200"/>
            <a:t>precise</a:t>
          </a:r>
          <a:r>
            <a:rPr lang="en-US" sz="2200" kern="1200"/>
            <a:t>? Does it avoid ambiguity?</a:t>
          </a:r>
        </a:p>
      </dsp:txBody>
      <dsp:txXfrm rot="-5400000">
        <a:off x="3785616" y="1179847"/>
        <a:ext cx="6691301" cy="715054"/>
      </dsp:txXfrm>
    </dsp:sp>
    <dsp:sp modelId="{7A6180F1-9944-429E-B710-D9D0B3A2EEA5}">
      <dsp:nvSpPr>
        <dsp:cNvPr id="0" name=""/>
        <dsp:cNvSpPr/>
      </dsp:nvSpPr>
      <dsp:spPr>
        <a:xfrm>
          <a:off x="0" y="1042111"/>
          <a:ext cx="3785616" cy="990525"/>
        </a:xfrm>
        <a:prstGeom prst="roundRect">
          <a:avLst/>
        </a:prstGeom>
        <a:solidFill>
          <a:schemeClr val="accent3">
            <a:hueOff val="-3884135"/>
            <a:satOff val="11136"/>
            <a:lumOff val="902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Clarity and Focus</a:t>
          </a:r>
          <a:r>
            <a:rPr lang="en-US" sz="2600" kern="1200"/>
            <a:t>:</a:t>
          </a:r>
        </a:p>
      </dsp:txBody>
      <dsp:txXfrm>
        <a:off x="48353" y="1090464"/>
        <a:ext cx="3688910" cy="893819"/>
      </dsp:txXfrm>
    </dsp:sp>
    <dsp:sp modelId="{82B36652-2B44-40FB-B2B6-7536C0FBC71A}">
      <dsp:nvSpPr>
        <dsp:cNvPr id="0" name=""/>
        <dsp:cNvSpPr/>
      </dsp:nvSpPr>
      <dsp:spPr>
        <a:xfrm rot="5400000">
          <a:off x="6754397" y="-787566"/>
          <a:ext cx="792420" cy="6729984"/>
        </a:xfrm>
        <a:prstGeom prst="round2SameRect">
          <a:avLst/>
        </a:prstGeom>
        <a:solidFill>
          <a:schemeClr val="accent3">
            <a:tint val="40000"/>
            <a:alpha val="90000"/>
            <a:hueOff val="-8633275"/>
            <a:satOff val="55312"/>
            <a:lumOff val="5241"/>
            <a:alphaOff val="0"/>
          </a:schemeClr>
        </a:solidFill>
        <a:ln w="12700" cap="flat" cmpd="sng" algn="ctr">
          <a:solidFill>
            <a:schemeClr val="accent3">
              <a:tint val="40000"/>
              <a:alpha val="90000"/>
              <a:hueOff val="-8633275"/>
              <a:satOff val="55312"/>
              <a:lumOff val="52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a:t>Can the question be answered within the available </a:t>
          </a:r>
          <a:r>
            <a:rPr lang="en-US" sz="2200" b="1" kern="1200"/>
            <a:t>time</a:t>
          </a:r>
          <a:r>
            <a:rPr lang="en-US" sz="2200" kern="1200"/>
            <a:t>, </a:t>
          </a:r>
          <a:r>
            <a:rPr lang="en-US" sz="2200" b="1" kern="1200"/>
            <a:t>resources</a:t>
          </a:r>
          <a:r>
            <a:rPr lang="en-US" sz="2200" kern="1200"/>
            <a:t>, and </a:t>
          </a:r>
          <a:r>
            <a:rPr lang="en-US" sz="2200" b="1" kern="1200"/>
            <a:t>access</a:t>
          </a:r>
          <a:r>
            <a:rPr lang="en-US" sz="2200" kern="1200"/>
            <a:t> to data?</a:t>
          </a:r>
        </a:p>
      </dsp:txBody>
      <dsp:txXfrm rot="-5400000">
        <a:off x="3785616" y="2219898"/>
        <a:ext cx="6691301" cy="715054"/>
      </dsp:txXfrm>
    </dsp:sp>
    <dsp:sp modelId="{BFD48C95-BB9B-4A32-B6B0-C9AB823B0660}">
      <dsp:nvSpPr>
        <dsp:cNvPr id="0" name=""/>
        <dsp:cNvSpPr/>
      </dsp:nvSpPr>
      <dsp:spPr>
        <a:xfrm>
          <a:off x="0" y="2082163"/>
          <a:ext cx="3785616" cy="990525"/>
        </a:xfrm>
        <a:prstGeom prst="roundRect">
          <a:avLst/>
        </a:prstGeom>
        <a:solidFill>
          <a:schemeClr val="accent3">
            <a:hueOff val="-7768270"/>
            <a:satOff val="22271"/>
            <a:lumOff val="180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Feasibility</a:t>
          </a:r>
          <a:r>
            <a:rPr lang="en-US" sz="2600" kern="1200"/>
            <a:t>:</a:t>
          </a:r>
        </a:p>
      </dsp:txBody>
      <dsp:txXfrm>
        <a:off x="48353" y="2130516"/>
        <a:ext cx="3688910" cy="893819"/>
      </dsp:txXfrm>
    </dsp:sp>
    <dsp:sp modelId="{EFE4A9DF-AA0F-4A35-9EB7-B6AF2486CC3F}">
      <dsp:nvSpPr>
        <dsp:cNvPr id="0" name=""/>
        <dsp:cNvSpPr/>
      </dsp:nvSpPr>
      <dsp:spPr>
        <a:xfrm rot="5400000">
          <a:off x="6754397" y="252485"/>
          <a:ext cx="792420" cy="6729984"/>
        </a:xfrm>
        <a:prstGeom prst="round2SameRect">
          <a:avLst/>
        </a:prstGeom>
        <a:solidFill>
          <a:schemeClr val="accent3">
            <a:tint val="40000"/>
            <a:alpha val="90000"/>
            <a:hueOff val="-12949912"/>
            <a:satOff val="82968"/>
            <a:lumOff val="7862"/>
            <a:alphaOff val="0"/>
          </a:schemeClr>
        </a:solidFill>
        <a:ln w="12700" cap="flat" cmpd="sng" algn="ctr">
          <a:solidFill>
            <a:schemeClr val="accent3">
              <a:tint val="40000"/>
              <a:alpha val="90000"/>
              <a:hueOff val="-12949912"/>
              <a:satOff val="82968"/>
              <a:lumOff val="786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a:t>Does the question respect </a:t>
          </a:r>
          <a:r>
            <a:rPr lang="en-US" sz="2200" b="1" kern="1200"/>
            <a:t>ethical guidelines</a:t>
          </a:r>
          <a:r>
            <a:rPr lang="en-US" sz="2200" kern="1200"/>
            <a:t> and take into account the values associated with the topic?</a:t>
          </a:r>
        </a:p>
      </dsp:txBody>
      <dsp:txXfrm rot="-5400000">
        <a:off x="3785616" y="3259950"/>
        <a:ext cx="6691301" cy="715054"/>
      </dsp:txXfrm>
    </dsp:sp>
    <dsp:sp modelId="{12C3D1BC-9768-4DFB-A936-7B1B7CA57EFA}">
      <dsp:nvSpPr>
        <dsp:cNvPr id="0" name=""/>
        <dsp:cNvSpPr/>
      </dsp:nvSpPr>
      <dsp:spPr>
        <a:xfrm>
          <a:off x="0" y="3122215"/>
          <a:ext cx="3785616" cy="990525"/>
        </a:xfrm>
        <a:prstGeom prst="roundRect">
          <a:avLst/>
        </a:prstGeom>
        <a:solidFill>
          <a:schemeClr val="accent3">
            <a:hueOff val="-11652404"/>
            <a:satOff val="33407"/>
            <a:lumOff val="2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Ethical Considerations</a:t>
          </a:r>
          <a:r>
            <a:rPr lang="en-US" sz="2600" kern="1200"/>
            <a:t>:</a:t>
          </a:r>
        </a:p>
      </dsp:txBody>
      <dsp:txXfrm>
        <a:off x="48353" y="3170568"/>
        <a:ext cx="3688910" cy="89381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48ED2C-3E6A-497F-922B-A8A94C346F7C}">
      <dsp:nvSpPr>
        <dsp:cNvPr id="0" name=""/>
        <dsp:cNvSpPr/>
      </dsp:nvSpPr>
      <dsp:spPr>
        <a:xfrm>
          <a:off x="1872826" y="220133"/>
          <a:ext cx="4368800" cy="1517226"/>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B5F62C-EDDD-478C-8B68-AFDED7EB28F0}">
      <dsp:nvSpPr>
        <dsp:cNvPr id="0" name=""/>
        <dsp:cNvSpPr/>
      </dsp:nvSpPr>
      <dsp:spPr>
        <a:xfrm>
          <a:off x="3640666" y="3849242"/>
          <a:ext cx="846666" cy="541866"/>
        </a:xfrm>
        <a:prstGeom prst="downArrow">
          <a:avLst/>
        </a:prstGeom>
        <a:solidFill>
          <a:schemeClr val="dk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B0867FB-DF8A-4248-A7DF-57A7362079B6}">
      <dsp:nvSpPr>
        <dsp:cNvPr id="0" name=""/>
        <dsp:cNvSpPr/>
      </dsp:nvSpPr>
      <dsp:spPr>
        <a:xfrm>
          <a:off x="2031999" y="4368800"/>
          <a:ext cx="4064000" cy="1016000"/>
        </a:xfrm>
        <a:prstGeom prst="rect">
          <a:avLst/>
        </a:prstGeom>
        <a:solidFill>
          <a:srgbClr val="AAAAAA"/>
        </a:solid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0" kern="1200" dirty="0">
              <a:effectLst>
                <a:outerShdw blurRad="38100" dist="38100" dir="2700000" algn="tl">
                  <a:srgbClr val="000000">
                    <a:alpha val="43137"/>
                  </a:srgbClr>
                </a:outerShdw>
              </a:effectLst>
            </a:rPr>
            <a:t>How effective are current monitoring systems in detecting insider threats in financial institutions?</a:t>
          </a:r>
          <a:endParaRPr lang="en-GB" sz="1800" b="0" kern="1200" dirty="0">
            <a:effectLst>
              <a:outerShdw blurRad="38100" dist="38100" dir="2700000" algn="tl">
                <a:srgbClr val="000000">
                  <a:alpha val="43137"/>
                </a:srgbClr>
              </a:outerShdw>
            </a:effectLst>
          </a:endParaRPr>
        </a:p>
      </dsp:txBody>
      <dsp:txXfrm>
        <a:off x="2031999" y="4368800"/>
        <a:ext cx="4064000" cy="1016000"/>
      </dsp:txXfrm>
    </dsp:sp>
    <dsp:sp modelId="{0BBB0CE9-C3C7-43E7-9E3C-E63EDE22AB9E}">
      <dsp:nvSpPr>
        <dsp:cNvPr id="0" name=""/>
        <dsp:cNvSpPr/>
      </dsp:nvSpPr>
      <dsp:spPr>
        <a:xfrm>
          <a:off x="3381887" y="2101487"/>
          <a:ext cx="1553489" cy="1610990"/>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Funneling down</a:t>
          </a:r>
          <a:r>
            <a:rPr lang="en-US" sz="1400" b="1" kern="1200" dirty="0"/>
            <a:t>: </a:t>
          </a:r>
          <a:r>
            <a:rPr lang="en-US" sz="1400" kern="1200" dirty="0"/>
            <a:t>Insider threats within financial organizations</a:t>
          </a:r>
          <a:endParaRPr lang="en-GB" sz="1400" kern="1200" dirty="0"/>
        </a:p>
      </dsp:txBody>
      <dsp:txXfrm>
        <a:off x="3609390" y="2337411"/>
        <a:ext cx="1098483" cy="1139142"/>
      </dsp:txXfrm>
    </dsp:sp>
    <dsp:sp modelId="{E36B1BF1-59E5-4E6C-AA08-9F225FCED03B}">
      <dsp:nvSpPr>
        <dsp:cNvPr id="0" name=""/>
        <dsp:cNvSpPr/>
      </dsp:nvSpPr>
      <dsp:spPr>
        <a:xfrm>
          <a:off x="2762326" y="0"/>
          <a:ext cx="2352309" cy="2298542"/>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b="1" kern="1200" dirty="0">
              <a:effectLst>
                <a:outerShdw blurRad="38100" dist="38100" dir="2700000" algn="tl">
                  <a:srgbClr val="000000">
                    <a:alpha val="43137"/>
                  </a:srgbClr>
                </a:outerShdw>
              </a:effectLst>
            </a:rPr>
            <a:t>Starting Point:</a:t>
          </a:r>
          <a:r>
            <a:rPr lang="en-GB" sz="2000" kern="1200" dirty="0"/>
            <a:t> </a:t>
          </a:r>
          <a:br>
            <a:rPr lang="en-GB" sz="2000" kern="1200" dirty="0"/>
          </a:br>
          <a:r>
            <a:rPr lang="en-GB" sz="2000" kern="1200" dirty="0"/>
            <a:t>CY vulnerabilities</a:t>
          </a:r>
        </a:p>
      </dsp:txBody>
      <dsp:txXfrm>
        <a:off x="3106814" y="336614"/>
        <a:ext cx="1663333" cy="1625314"/>
      </dsp:txXfrm>
    </dsp:sp>
    <dsp:sp modelId="{B6C38870-A5BD-4A1F-8DF4-22BC9E5C1907}">
      <dsp:nvSpPr>
        <dsp:cNvPr id="0" name=""/>
        <dsp:cNvSpPr/>
      </dsp:nvSpPr>
      <dsp:spPr>
        <a:xfrm>
          <a:off x="1693333" y="32273"/>
          <a:ext cx="4741333" cy="3793066"/>
        </a:xfrm>
        <a:prstGeom prst="funnel">
          <a:avLst/>
        </a:prstGeom>
        <a:solidFill>
          <a:schemeClr val="tx1">
            <a:lumMod val="95000"/>
            <a:lumOff val="5000"/>
            <a:alpha val="40000"/>
          </a:schemeClr>
        </a:solidFill>
        <a:ln w="635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48ED2C-3E6A-497F-922B-A8A94C346F7C}">
      <dsp:nvSpPr>
        <dsp:cNvPr id="0" name=""/>
        <dsp:cNvSpPr/>
      </dsp:nvSpPr>
      <dsp:spPr>
        <a:xfrm>
          <a:off x="1872826" y="220133"/>
          <a:ext cx="4368800" cy="1517226"/>
        </a:xfrm>
        <a:prstGeom prst="ellipse">
          <a:avLst/>
        </a:prstGeom>
        <a:solidFill>
          <a:schemeClr val="dk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B5F62C-EDDD-478C-8B68-AFDED7EB28F0}">
      <dsp:nvSpPr>
        <dsp:cNvPr id="0" name=""/>
        <dsp:cNvSpPr/>
      </dsp:nvSpPr>
      <dsp:spPr>
        <a:xfrm>
          <a:off x="3640666" y="3849242"/>
          <a:ext cx="846666" cy="541866"/>
        </a:xfrm>
        <a:prstGeom prst="downArrow">
          <a:avLst/>
        </a:prstGeom>
        <a:solidFill>
          <a:schemeClr val="dk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B0867FB-DF8A-4248-A7DF-57A7362079B6}">
      <dsp:nvSpPr>
        <dsp:cNvPr id="0" name=""/>
        <dsp:cNvSpPr/>
      </dsp:nvSpPr>
      <dsp:spPr>
        <a:xfrm>
          <a:off x="2031999" y="4368800"/>
          <a:ext cx="4064000" cy="1016000"/>
        </a:xfrm>
        <a:prstGeom prst="rect">
          <a:avLst/>
        </a:prstGeom>
        <a:solidFill>
          <a:srgbClr val="AAAAAA"/>
        </a:solid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0" kern="1200" dirty="0">
              <a:effectLst>
                <a:outerShdw blurRad="38100" dist="38100" dir="2700000" algn="tl">
                  <a:srgbClr val="000000">
                    <a:alpha val="43137"/>
                  </a:srgbClr>
                </a:outerShdw>
              </a:effectLst>
            </a:rPr>
            <a:t>How effective are current monitoring systems in detecting insider threats in financial institutions?</a:t>
          </a:r>
          <a:endParaRPr lang="en-GB" sz="1800" b="0" kern="1200" dirty="0">
            <a:effectLst>
              <a:outerShdw blurRad="38100" dist="38100" dir="2700000" algn="tl">
                <a:srgbClr val="000000">
                  <a:alpha val="43137"/>
                </a:srgbClr>
              </a:outerShdw>
            </a:effectLst>
          </a:endParaRPr>
        </a:p>
      </dsp:txBody>
      <dsp:txXfrm>
        <a:off x="2031999" y="4368800"/>
        <a:ext cx="4064000" cy="1016000"/>
      </dsp:txXfrm>
    </dsp:sp>
    <dsp:sp modelId="{0BBB0CE9-C3C7-43E7-9E3C-E63EDE22AB9E}">
      <dsp:nvSpPr>
        <dsp:cNvPr id="0" name=""/>
        <dsp:cNvSpPr/>
      </dsp:nvSpPr>
      <dsp:spPr>
        <a:xfrm>
          <a:off x="3381887" y="2101487"/>
          <a:ext cx="1553489" cy="1610990"/>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effectLst>
                <a:outerShdw blurRad="38100" dist="38100" dir="2700000" algn="tl">
                  <a:srgbClr val="000000">
                    <a:alpha val="43137"/>
                  </a:srgbClr>
                </a:outerShdw>
              </a:effectLst>
            </a:rPr>
            <a:t>Funneling down</a:t>
          </a:r>
          <a:r>
            <a:rPr lang="en-US" sz="1400" b="1" kern="1200" dirty="0"/>
            <a:t>: </a:t>
          </a:r>
          <a:r>
            <a:rPr lang="en-US" sz="1400" kern="1200" dirty="0"/>
            <a:t>Insider threats within financial organizations</a:t>
          </a:r>
          <a:endParaRPr lang="en-GB" sz="1400" kern="1200" dirty="0"/>
        </a:p>
      </dsp:txBody>
      <dsp:txXfrm>
        <a:off x="3609390" y="2337411"/>
        <a:ext cx="1098483" cy="1139142"/>
      </dsp:txXfrm>
    </dsp:sp>
    <dsp:sp modelId="{E36B1BF1-59E5-4E6C-AA08-9F225FCED03B}">
      <dsp:nvSpPr>
        <dsp:cNvPr id="0" name=""/>
        <dsp:cNvSpPr/>
      </dsp:nvSpPr>
      <dsp:spPr>
        <a:xfrm>
          <a:off x="2762326" y="0"/>
          <a:ext cx="2352309" cy="2298542"/>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b="1" kern="1200" dirty="0">
              <a:effectLst>
                <a:outerShdw blurRad="38100" dist="38100" dir="2700000" algn="tl">
                  <a:srgbClr val="000000">
                    <a:alpha val="43137"/>
                  </a:srgbClr>
                </a:outerShdw>
              </a:effectLst>
            </a:rPr>
            <a:t>Starting Point:</a:t>
          </a:r>
          <a:r>
            <a:rPr lang="en-GB" sz="2000" kern="1200" dirty="0"/>
            <a:t> </a:t>
          </a:r>
          <a:br>
            <a:rPr lang="en-GB" sz="2000" kern="1200" dirty="0"/>
          </a:br>
          <a:r>
            <a:rPr lang="en-GB" sz="2000" kern="1200" dirty="0"/>
            <a:t>CY vulnerabilities</a:t>
          </a:r>
        </a:p>
      </dsp:txBody>
      <dsp:txXfrm>
        <a:off x="3106814" y="336614"/>
        <a:ext cx="1663333" cy="1625314"/>
      </dsp:txXfrm>
    </dsp:sp>
    <dsp:sp modelId="{B6C38870-A5BD-4A1F-8DF4-22BC9E5C1907}">
      <dsp:nvSpPr>
        <dsp:cNvPr id="0" name=""/>
        <dsp:cNvSpPr/>
      </dsp:nvSpPr>
      <dsp:spPr>
        <a:xfrm>
          <a:off x="1693333" y="32273"/>
          <a:ext cx="4741333" cy="3793066"/>
        </a:xfrm>
        <a:prstGeom prst="funnel">
          <a:avLst/>
        </a:prstGeom>
        <a:solidFill>
          <a:schemeClr val="tx1">
            <a:lumMod val="95000"/>
            <a:lumOff val="5000"/>
            <a:alpha val="40000"/>
          </a:schemeClr>
        </a:solidFill>
        <a:ln w="6350" cap="flat" cmpd="sng" algn="ctr">
          <a:solidFill>
            <a:schemeClr val="dk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6.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491AB1A-C669-4C56-AA7A-D7DE065A4843}" type="datetime1">
              <a:rPr lang="en-GB" smtClean="0"/>
              <a:t>24/09/2026</a:t>
            </a:fld>
            <a:endParaRPr lang="en-GB"/>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en-GB" smtClean="0"/>
              <a:t>‹#›</a:t>
            </a:fld>
            <a:endParaRPr lang="en-GB"/>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046ED-6F38-493D-8BA0-9E754A816323}" type="datetime1">
              <a:rPr lang="en-GB" smtClean="0"/>
              <a:pPr/>
              <a:t>24/09/2026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en-GB" noProof="0" smtClean="0"/>
              <a:t>‹#›</a:t>
            </a:fld>
            <a:endParaRPr lang="en-GB"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530193B-564F-4854-8A52-728F3FB19C8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420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530193B-564F-4854-8A52-728F3FB19C8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7912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kumimoji="1" lang="en-GB" altLang="ja-JP" dirty="0"/>
              <a:t>Considering your research problem carefully you can step into writing a series of well-defined research questions that will serve as the foundation to your study. The research questions and the research problem (problem domain) can help you with the research design by focusing your attention on not only the specific issue but also help you maintain focus increase efficiency and lead to meaningful results</a:t>
            </a:r>
          </a:p>
        </p:txBody>
      </p:sp>
      <p:sp>
        <p:nvSpPr>
          <p:cNvPr id="4" name="Slide Number Placeholder 3"/>
          <p:cNvSpPr>
            <a:spLocks noGrp="1"/>
          </p:cNvSpPr>
          <p:nvPr>
            <p:ph type="sldNum" sz="quarter" idx="5"/>
          </p:nvPr>
        </p:nvSpPr>
        <p:spPr/>
        <p:txBody>
          <a:bodyPr/>
          <a:lstStyle/>
          <a:p>
            <a:pPr rtl="0"/>
            <a:fld id="{8530193B-564F-4854-8A52-728F3FB19C85}" type="slidenum">
              <a:rPr lang="en-GB" smtClean="0"/>
              <a:t>3</a:t>
            </a:fld>
            <a:endParaRPr lang="en-GB"/>
          </a:p>
        </p:txBody>
      </p:sp>
    </p:spTree>
    <p:extLst>
      <p:ext uri="{BB962C8B-B14F-4D97-AF65-F5344CB8AC3E}">
        <p14:creationId xmlns:p14="http://schemas.microsoft.com/office/powerpoint/2010/main" val="1024761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Stress to students that identifying a research problem is akin to identifying a precise target. Without this focus, research becomes scattered and loses its contribution to subject field.</a:t>
            </a:r>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6</a:t>
            </a:fld>
            <a:endParaRPr lang="en-GB" noProof="0"/>
          </a:p>
        </p:txBody>
      </p:sp>
    </p:spTree>
    <p:extLst>
      <p:ext uri="{BB962C8B-B14F-4D97-AF65-F5344CB8AC3E}">
        <p14:creationId xmlns:p14="http://schemas.microsoft.com/office/powerpoint/2010/main" val="2063600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Example Topics Generated:</a:t>
            </a:r>
            <a:endParaRPr lang="en-US" dirty="0"/>
          </a:p>
          <a:p>
            <a:pPr>
              <a:buFont typeface="Arial" panose="020B0604020202020204" pitchFamily="34" charset="0"/>
              <a:buChar char="•"/>
            </a:pPr>
            <a:r>
              <a:rPr lang="en-US" b="1" dirty="0"/>
              <a:t>AI-Powered Cybersecurity Analytics:</a:t>
            </a:r>
            <a:r>
              <a:rPr lang="en-US" dirty="0"/>
              <a:t> Developing machine learning models to detect and predict cyber threats using big data.</a:t>
            </a:r>
          </a:p>
          <a:p>
            <a:pPr>
              <a:buFont typeface="Arial" panose="020B0604020202020204" pitchFamily="34" charset="0"/>
              <a:buChar char="•"/>
            </a:pPr>
            <a:r>
              <a:rPr lang="en-US" b="1" dirty="0"/>
              <a:t>Secure Data Mining Algorithms:</a:t>
            </a:r>
            <a:r>
              <a:rPr lang="en-US" dirty="0"/>
              <a:t> Creating algorithms that ensure data privacy and security during the data analysis process.</a:t>
            </a:r>
          </a:p>
          <a:p>
            <a:pPr>
              <a:buFont typeface="Arial" panose="020B0604020202020204" pitchFamily="34" charset="0"/>
              <a:buChar char="•"/>
            </a:pPr>
            <a:r>
              <a:rPr lang="en-US" b="1" dirty="0"/>
              <a:t>Blockchain for Data Integrity:</a:t>
            </a:r>
            <a:r>
              <a:rPr lang="en-US" dirty="0"/>
              <a:t> Investigating how blockchain technology can secure data transactions and analytics.</a:t>
            </a:r>
          </a:p>
          <a:p>
            <a:pPr>
              <a:buFont typeface="Arial" panose="020B0604020202020204" pitchFamily="34" charset="0"/>
              <a:buChar char="•"/>
            </a:pPr>
            <a:r>
              <a:rPr lang="en-US" b="1" dirty="0"/>
              <a:t>Real-Time Anomaly Detection Systems:</a:t>
            </a:r>
            <a:r>
              <a:rPr lang="en-US" dirty="0"/>
              <a:t> Designing systems that analyze network data in real-time to identify security breaches.</a:t>
            </a:r>
          </a:p>
          <a:p>
            <a:pPr>
              <a:buFont typeface="Arial" panose="020B0604020202020204" pitchFamily="34" charset="0"/>
              <a:buChar char="•"/>
            </a:pPr>
            <a:r>
              <a:rPr lang="en-US" b="1" dirty="0"/>
              <a:t>Privacy-Preserving Data Analysis:</a:t>
            </a:r>
            <a:r>
              <a:rPr lang="en-US" dirty="0"/>
              <a:t> Exploring methods to perform data analytics without compromising sensitive information.</a:t>
            </a:r>
          </a:p>
          <a:p>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9</a:t>
            </a:fld>
            <a:endParaRPr lang="en-GB" noProof="0"/>
          </a:p>
        </p:txBody>
      </p:sp>
    </p:spTree>
    <p:extLst>
      <p:ext uri="{BB962C8B-B14F-4D97-AF65-F5344CB8AC3E}">
        <p14:creationId xmlns:p14="http://schemas.microsoft.com/office/powerpoint/2010/main" val="3441114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28</a:t>
            </a:fld>
            <a:endParaRPr lang="en-GB"/>
          </a:p>
        </p:txBody>
      </p:sp>
    </p:spTree>
    <p:extLst>
      <p:ext uri="{BB962C8B-B14F-4D97-AF65-F5344CB8AC3E}">
        <p14:creationId xmlns:p14="http://schemas.microsoft.com/office/powerpoint/2010/main" val="4267604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4422"/>
            <a:ext cx="12192000" cy="6858000"/>
          </a:xfrm>
          <a:prstGeom prst="rect">
            <a:avLst/>
          </a:prstGeom>
        </p:spPr>
        <p:txBody>
          <a:bodyPr rtlCol="0"/>
          <a:lstStyle/>
          <a:p>
            <a:pPr rtl="0"/>
            <a:r>
              <a:rPr lang="en-US" noProof="0"/>
              <a:t>Click icon to add picture</a:t>
            </a:r>
            <a:endParaRPr lang="en-GB" noProof="0" dirty="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userDrawn="1"/>
        </p:nvPicPr>
        <p:blipFill rotWithShape="1">
          <a:blip r:embed="rId3">
            <a:alphaModFix amt="35000"/>
          </a:blip>
          <a:srcRect r="39275" b="37247"/>
          <a:stretch/>
        </p:blipFill>
        <p:spPr>
          <a:xfrm>
            <a:off x="8414557" y="4493758"/>
            <a:ext cx="3655522" cy="2361018"/>
          </a:xfrm>
          <a:prstGeom prst="rect">
            <a:avLst/>
          </a:prstGeom>
        </p:spPr>
      </p:pic>
    </p:spTree>
    <p:extLst>
      <p:ext uri="{BB962C8B-B14F-4D97-AF65-F5344CB8AC3E}">
        <p14:creationId xmlns:p14="http://schemas.microsoft.com/office/powerpoint/2010/main" val="78148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14399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5606"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68632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94370068"/>
      </p:ext>
    </p:extLst>
  </p:cSld>
  <p:clrMapOvr>
    <a:masterClrMapping/>
  </p:clrMapOvr>
  <p:extLst>
    <p:ext uri="{DCECCB84-F9BA-43D5-87BE-67443E8EF086}">
      <p15:sldGuideLst xmlns:p15="http://schemas.microsoft.com/office/powerpoint/2012/main">
        <p15:guide id="1" orient="horz" pos="504" userDrawn="1">
          <p15:clr>
            <a:srgbClr val="FBAE40"/>
          </p15:clr>
        </p15:guide>
        <p15:guide id="2" pos="3840" userDrawn="1">
          <p15:clr>
            <a:srgbClr val="FBAE40"/>
          </p15:clr>
        </p15:guide>
        <p15:guide id="3" orient="horz" pos="14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8449708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5198913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603056595"/>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1505855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78270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12800613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565901999"/>
      </p:ext>
    </p:extLst>
  </p:cSld>
  <p:clrMapOvr>
    <a:masterClrMapping/>
  </p:clrMapOvr>
  <p:extLst>
    <p:ext uri="{DCECCB84-F9BA-43D5-87BE-67443E8EF086}">
      <p15:sldGuideLst xmlns:p15="http://schemas.microsoft.com/office/powerpoint/2012/main">
        <p15:guide id="1" orient="horz" pos="1272"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4096559002"/>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3161869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1187016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4422"/>
            <a:ext cx="12192000" cy="6858000"/>
          </a:xfrm>
          <a:prstGeom prst="rect">
            <a:avLst/>
          </a:prstGeom>
        </p:spPr>
        <p:txBody>
          <a:bodyPr rtlCol="0"/>
          <a:lstStyle/>
          <a:p>
            <a:pPr rtl="0"/>
            <a:r>
              <a:rPr lang="en-US" noProof="0"/>
              <a:t>Click icon to add picture</a:t>
            </a:r>
            <a:endParaRPr lang="en-GB" noProof="0" dirty="0"/>
          </a:p>
        </p:txBody>
      </p:sp>
      <p:sp>
        <p:nvSpPr>
          <p:cNvPr id="6" name="Hexagon 5">
            <a:extLst>
              <a:ext uri="{FF2B5EF4-FFF2-40B4-BE49-F238E27FC236}">
                <a16:creationId xmlns:a16="http://schemas.microsoft.com/office/drawing/2014/main" id="{ED61BFD1-C421-442F-ACC0-868D35B02015}"/>
              </a:ext>
            </a:extLst>
          </p:cNvPr>
          <p:cNvSpPr/>
          <p:nvPr/>
        </p:nvSpPr>
        <p:spPr>
          <a:xfrm>
            <a:off x="3166402" y="903484"/>
            <a:ext cx="5859196" cy="5051033"/>
          </a:xfrm>
          <a:prstGeom prst="hexagon">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p:nvPicPr>
        <p:blipFill rotWithShape="1">
          <a:blip r:embed="rId3">
            <a:alphaModFix amt="35000"/>
          </a:blip>
          <a:srcRect r="39275" b="37247"/>
          <a:stretch/>
        </p:blipFill>
        <p:spPr>
          <a:xfrm>
            <a:off x="8414557" y="4493758"/>
            <a:ext cx="3655522" cy="2361018"/>
          </a:xfrm>
          <a:prstGeom prst="rect">
            <a:avLst/>
          </a:prstGeom>
        </p:spPr>
      </p:pic>
      <p:sp>
        <p:nvSpPr>
          <p:cNvPr id="4" name="Hexagon 3">
            <a:extLst>
              <a:ext uri="{FF2B5EF4-FFF2-40B4-BE49-F238E27FC236}">
                <a16:creationId xmlns:a16="http://schemas.microsoft.com/office/drawing/2014/main" id="{02EFDB6D-A908-36D7-35D8-AB8FD9008337}"/>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Hexagon 4">
            <a:extLst>
              <a:ext uri="{FF2B5EF4-FFF2-40B4-BE49-F238E27FC236}">
                <a16:creationId xmlns:a16="http://schemas.microsoft.com/office/drawing/2014/main" id="{49AE87C3-49B8-1C89-4D2B-8F65D68539B9}"/>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Hexagon 6">
            <a:extLst>
              <a:ext uri="{FF2B5EF4-FFF2-40B4-BE49-F238E27FC236}">
                <a16:creationId xmlns:a16="http://schemas.microsoft.com/office/drawing/2014/main" id="{D94E2D36-2BEB-9F15-F2E3-84FEAB512991}"/>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Hexagon 7">
            <a:extLst>
              <a:ext uri="{FF2B5EF4-FFF2-40B4-BE49-F238E27FC236}">
                <a16:creationId xmlns:a16="http://schemas.microsoft.com/office/drawing/2014/main" id="{AA0B740B-2FE0-19FB-9199-41E8FB6371E1}"/>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Hexagon 8">
            <a:extLst>
              <a:ext uri="{FF2B5EF4-FFF2-40B4-BE49-F238E27FC236}">
                <a16:creationId xmlns:a16="http://schemas.microsoft.com/office/drawing/2014/main" id="{2782235E-6025-12F9-8881-306369DB7C6B}"/>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Footer Placeholder 4">
            <a:extLst>
              <a:ext uri="{FF2B5EF4-FFF2-40B4-BE49-F238E27FC236}">
                <a16:creationId xmlns:a16="http://schemas.microsoft.com/office/drawing/2014/main" id="{8D1A6C30-9E69-C642-8AE1-30A8CEC2A28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11" name="Picture 10">
            <a:hlinkClick r:id="rId2"/>
            <a:extLst>
              <a:ext uri="{FF2B5EF4-FFF2-40B4-BE49-F238E27FC236}">
                <a16:creationId xmlns:a16="http://schemas.microsoft.com/office/drawing/2014/main" id="{F62EE852-B994-CAD3-56BB-7699FA84C3BB}"/>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40606202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p:nvSpPr>
        <p:spPr>
          <a:xfrm>
            <a:off x="3718560" y="1181123"/>
            <a:ext cx="4754880" cy="4495754"/>
          </a:xfrm>
          <a:prstGeom prst="rect">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p:nvPicPr>
        <p:blipFill rotWithShape="1">
          <a:blip r:embed="rId3">
            <a:alphaModFix amt="35000"/>
          </a:blip>
          <a:srcRect r="39275" b="37247"/>
          <a:stretch/>
        </p:blipFill>
        <p:spPr>
          <a:xfrm>
            <a:off x="8536478" y="4496982"/>
            <a:ext cx="3655522" cy="2361018"/>
          </a:xfrm>
          <a:prstGeom prst="rect">
            <a:avLst/>
          </a:prstGeom>
        </p:spPr>
      </p:pic>
      <p:sp>
        <p:nvSpPr>
          <p:cNvPr id="5" name="Rectangle 4" descr="Tall office building looking up">
            <a:extLst>
              <a:ext uri="{FF2B5EF4-FFF2-40B4-BE49-F238E27FC236}">
                <a16:creationId xmlns:a16="http://schemas.microsoft.com/office/drawing/2014/main" id="{083ED6C1-B896-0EE1-0EB4-70D463229E1B}"/>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Footer Placeholder 4">
            <a:extLst>
              <a:ext uri="{FF2B5EF4-FFF2-40B4-BE49-F238E27FC236}">
                <a16:creationId xmlns:a16="http://schemas.microsoft.com/office/drawing/2014/main" id="{F2C5E802-5A33-10B1-00C1-FDD2A058D40D}"/>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8" name="Picture 7">
            <a:hlinkClick r:id="rId2"/>
            <a:extLst>
              <a:ext uri="{FF2B5EF4-FFF2-40B4-BE49-F238E27FC236}">
                <a16:creationId xmlns:a16="http://schemas.microsoft.com/office/drawing/2014/main" id="{28B9E23B-EC53-A54A-D68B-4DE461EA5171}"/>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453536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5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5606"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p:nvSpPr>
        <p:spPr>
          <a:xfrm>
            <a:off x="3352800" y="685800"/>
            <a:ext cx="5486400" cy="5486400"/>
          </a:xfrm>
          <a:prstGeom prst="ellipse">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p:nvPicPr>
        <p:blipFill rotWithShape="1">
          <a:blip r:embed="rId3">
            <a:alphaModFix amt="35000"/>
          </a:blip>
          <a:srcRect r="39275" b="37247"/>
          <a:stretch/>
        </p:blipFill>
        <p:spPr>
          <a:xfrm>
            <a:off x="8536478" y="4496982"/>
            <a:ext cx="3655522" cy="2361018"/>
          </a:xfrm>
          <a:prstGeom prst="rect">
            <a:avLst/>
          </a:prstGeom>
        </p:spPr>
      </p:pic>
      <p:sp>
        <p:nvSpPr>
          <p:cNvPr id="6" name="Oval 5" descr="Tall office building looking up">
            <a:extLst>
              <a:ext uri="{FF2B5EF4-FFF2-40B4-BE49-F238E27FC236}">
                <a16:creationId xmlns:a16="http://schemas.microsoft.com/office/drawing/2014/main" id="{DD4EA124-ED41-ED8F-A0D9-A44B1A06F87D}"/>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Oval 6">
            <a:extLst>
              <a:ext uri="{FF2B5EF4-FFF2-40B4-BE49-F238E27FC236}">
                <a16:creationId xmlns:a16="http://schemas.microsoft.com/office/drawing/2014/main" id="{61AD970E-C52F-C6BC-9937-32C889405FB4}"/>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Oval 7">
            <a:extLst>
              <a:ext uri="{FF2B5EF4-FFF2-40B4-BE49-F238E27FC236}">
                <a16:creationId xmlns:a16="http://schemas.microsoft.com/office/drawing/2014/main" id="{7C0B8C96-B41F-8535-3716-1E878FEDCC6F}"/>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Oval 9">
            <a:extLst>
              <a:ext uri="{FF2B5EF4-FFF2-40B4-BE49-F238E27FC236}">
                <a16:creationId xmlns:a16="http://schemas.microsoft.com/office/drawing/2014/main" id="{82257809-DB42-5B9A-ECAE-338D697DCCDD}"/>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Footer Placeholder 4">
            <a:extLst>
              <a:ext uri="{FF2B5EF4-FFF2-40B4-BE49-F238E27FC236}">
                <a16:creationId xmlns:a16="http://schemas.microsoft.com/office/drawing/2014/main" id="{22764E1D-14C7-954C-925F-75B8EDD91075}"/>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16" name="Picture 15">
            <a:hlinkClick r:id="rId2"/>
            <a:extLst>
              <a:ext uri="{FF2B5EF4-FFF2-40B4-BE49-F238E27FC236}">
                <a16:creationId xmlns:a16="http://schemas.microsoft.com/office/drawing/2014/main" id="{82AD0F96-3697-FF35-4CA4-B06D47CB234A}"/>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150159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3" name="Rectangle 2">
            <a:extLst>
              <a:ext uri="{FF2B5EF4-FFF2-40B4-BE49-F238E27FC236}">
                <a16:creationId xmlns:a16="http://schemas.microsoft.com/office/drawing/2014/main" id="{69800AAB-297F-072F-EB54-1320773DC342}"/>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Rectangle 3">
            <a:extLst>
              <a:ext uri="{FF2B5EF4-FFF2-40B4-BE49-F238E27FC236}">
                <a16:creationId xmlns:a16="http://schemas.microsoft.com/office/drawing/2014/main" id="{F4CC3AD9-AEB3-02EC-1CC1-2AC54487BB35}"/>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Rectangle 4">
            <a:extLst>
              <a:ext uri="{FF2B5EF4-FFF2-40B4-BE49-F238E27FC236}">
                <a16:creationId xmlns:a16="http://schemas.microsoft.com/office/drawing/2014/main" id="{13B94151-B597-BF9E-A282-F052320680B6}"/>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2817149876"/>
      </p:ext>
    </p:extLst>
  </p:cSld>
  <p:clrMapOvr>
    <a:masterClrMapping/>
  </p:clrMapOvr>
  <p:extLst>
    <p:ext uri="{DCECCB84-F9BA-43D5-87BE-67443E8EF086}">
      <p15:sldGuideLst xmlns:p15="http://schemas.microsoft.com/office/powerpoint/2012/main">
        <p15:guide id="4" orient="horz" pos="504">
          <p15:clr>
            <a:srgbClr val="FBAE40"/>
          </p15:clr>
        </p15:guide>
        <p15:guide id="5" pos="3840">
          <p15:clr>
            <a:srgbClr val="FBAE40"/>
          </p15:clr>
        </p15:guide>
        <p15:guide id="6" orient="horz" pos="14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4573ECC6-14C6-5675-355F-F3E33088BECC}"/>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3" name="Oval 2">
            <a:extLst>
              <a:ext uri="{FF2B5EF4-FFF2-40B4-BE49-F238E27FC236}">
                <a16:creationId xmlns:a16="http://schemas.microsoft.com/office/drawing/2014/main" id="{6658D6F0-8200-47F7-8A3C-8D72A49F60CF}"/>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4" name="Oval 3">
            <a:extLst>
              <a:ext uri="{FF2B5EF4-FFF2-40B4-BE49-F238E27FC236}">
                <a16:creationId xmlns:a16="http://schemas.microsoft.com/office/drawing/2014/main" id="{5FD7A81C-1120-7827-F9B5-40E3A2932699}"/>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Tree>
    <p:extLst>
      <p:ext uri="{BB962C8B-B14F-4D97-AF65-F5344CB8AC3E}">
        <p14:creationId xmlns:p14="http://schemas.microsoft.com/office/powerpoint/2010/main" val="16103920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290847545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p:nvSpPr>
        <p:spPr>
          <a:xfrm>
            <a:off x="740309" y="1382809"/>
            <a:ext cx="1229566" cy="1059971"/>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p:nvSpPr>
        <p:spPr>
          <a:xfrm>
            <a:off x="3755031" y="1194620"/>
            <a:ext cx="1666162" cy="1436347"/>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
        <p:nvSpPr>
          <p:cNvPr id="3" name="Hexagon 2">
            <a:extLst>
              <a:ext uri="{FF2B5EF4-FFF2-40B4-BE49-F238E27FC236}">
                <a16:creationId xmlns:a16="http://schemas.microsoft.com/office/drawing/2014/main" id="{7ECF9BC1-9710-8066-D8F0-9A364F14DD6E}"/>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B101F1A2-2A5D-DAAD-08BC-B70C60C99436}"/>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Hexagon 4">
            <a:extLst>
              <a:ext uri="{FF2B5EF4-FFF2-40B4-BE49-F238E27FC236}">
                <a16:creationId xmlns:a16="http://schemas.microsoft.com/office/drawing/2014/main" id="{4147B027-BA88-EC0D-B295-6CEC0B55EDC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6" name="Hexagon 5">
            <a:extLst>
              <a:ext uri="{FF2B5EF4-FFF2-40B4-BE49-F238E27FC236}">
                <a16:creationId xmlns:a16="http://schemas.microsoft.com/office/drawing/2014/main" id="{EC4C61D9-C668-CF96-8B2A-9C0A54BC0957}"/>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4093781517"/>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p:nvSpPr>
        <p:spPr>
          <a:xfrm>
            <a:off x="546669" y="3467555"/>
            <a:ext cx="458268" cy="395059"/>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p:nvSpPr>
        <p:spPr>
          <a:xfrm>
            <a:off x="11113337" y="2394722"/>
            <a:ext cx="358391" cy="308958"/>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Hexagon 1">
            <a:extLst>
              <a:ext uri="{FF2B5EF4-FFF2-40B4-BE49-F238E27FC236}">
                <a16:creationId xmlns:a16="http://schemas.microsoft.com/office/drawing/2014/main" id="{5281028A-12C2-5C9C-4B0F-A005E8B5CA0A}"/>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Hexagon 2">
            <a:extLst>
              <a:ext uri="{FF2B5EF4-FFF2-40B4-BE49-F238E27FC236}">
                <a16:creationId xmlns:a16="http://schemas.microsoft.com/office/drawing/2014/main" id="{B0A491FE-8686-1E36-8F8D-0053ADE3F85F}"/>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482B3B29-735C-82BF-92B5-1FD3E5F764DB}"/>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187845731"/>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9893646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2383927765"/>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23F41645-0093-1ABA-9570-1D8070EC9D55}"/>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3" name="Oval 2">
            <a:extLst>
              <a:ext uri="{FF2B5EF4-FFF2-40B4-BE49-F238E27FC236}">
                <a16:creationId xmlns:a16="http://schemas.microsoft.com/office/drawing/2014/main" id="{E98CF0B3-BFB7-DA61-98B1-3EA565BD04C2}"/>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4" name="Oval 3">
            <a:extLst>
              <a:ext uri="{FF2B5EF4-FFF2-40B4-BE49-F238E27FC236}">
                <a16:creationId xmlns:a16="http://schemas.microsoft.com/office/drawing/2014/main" id="{B1D4E483-67D5-E854-4960-9CDF1369CAB5}"/>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Tree>
    <p:extLst>
      <p:ext uri="{BB962C8B-B14F-4D97-AF65-F5344CB8AC3E}">
        <p14:creationId xmlns:p14="http://schemas.microsoft.com/office/powerpoint/2010/main" val="567546466"/>
      </p:ext>
    </p:extLst>
  </p:cSld>
  <p:clrMapOvr>
    <a:masterClrMapping/>
  </p:clrMapOvr>
  <p:extLst>
    <p:ext uri="{DCECCB84-F9BA-43D5-87BE-67443E8EF086}">
      <p15:sldGuideLst xmlns:p15="http://schemas.microsoft.com/office/powerpoint/2012/main">
        <p15:guide id="3" orient="horz" pos="1272">
          <p15:clr>
            <a:srgbClr val="FBAE40"/>
          </p15:clr>
        </p15:guide>
        <p15:guide id="4"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p:nvSpPr>
        <p:spPr>
          <a:xfrm>
            <a:off x="10700126" y="788523"/>
            <a:ext cx="1155906" cy="996471"/>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Hexagon 1">
            <a:extLst>
              <a:ext uri="{FF2B5EF4-FFF2-40B4-BE49-F238E27FC236}">
                <a16:creationId xmlns:a16="http://schemas.microsoft.com/office/drawing/2014/main" id="{424ACC82-4D1F-BBEC-8CED-3B78CD4AAFDE}"/>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6" name="Hexagon 5">
            <a:extLst>
              <a:ext uri="{FF2B5EF4-FFF2-40B4-BE49-F238E27FC236}">
                <a16:creationId xmlns:a16="http://schemas.microsoft.com/office/drawing/2014/main" id="{1A6161CF-7ADC-7809-147B-486701FC832E}"/>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7" name="Hexagon 6">
            <a:extLst>
              <a:ext uri="{FF2B5EF4-FFF2-40B4-BE49-F238E27FC236}">
                <a16:creationId xmlns:a16="http://schemas.microsoft.com/office/drawing/2014/main" id="{F9241FBE-9EE0-D6B5-67DF-24381A2423BB}"/>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Tree>
    <p:extLst>
      <p:ext uri="{BB962C8B-B14F-4D97-AF65-F5344CB8AC3E}">
        <p14:creationId xmlns:p14="http://schemas.microsoft.com/office/powerpoint/2010/main" val="2961802132"/>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p:nvSpPr>
        <p:spPr>
          <a:xfrm>
            <a:off x="5897272" y="1457542"/>
            <a:ext cx="617218" cy="617218"/>
          </a:xfrm>
          <a:prstGeom prst="ellipse">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5FF3E98C-9CC3-2BF7-BAD0-9DDDF7ACAA54}"/>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Oval 2">
            <a:extLst>
              <a:ext uri="{FF2B5EF4-FFF2-40B4-BE49-F238E27FC236}">
                <a16:creationId xmlns:a16="http://schemas.microsoft.com/office/drawing/2014/main" id="{4402D312-514B-7332-35D6-F379B3D8075D}"/>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Oval 3">
            <a:extLst>
              <a:ext uri="{FF2B5EF4-FFF2-40B4-BE49-F238E27FC236}">
                <a16:creationId xmlns:a16="http://schemas.microsoft.com/office/drawing/2014/main" id="{B54B703C-4A3A-D244-6A9D-A072DBF1B83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1946644251"/>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22205579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8306419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2758813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6_Custom Layout">
    <p:bg>
      <p:bgPr>
        <a:solidFill>
          <a:schemeClr val="tx1"/>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7075566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95252978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92374320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97564707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579385982"/>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7807851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4190920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41482116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955842836"/>
      </p:ext>
    </p:extLst>
  </p:cSld>
  <p:clrMapOvr>
    <a:masterClrMapping/>
  </p:clrMapOvr>
  <p:extLst>
    <p:ext uri="{DCECCB84-F9BA-43D5-87BE-67443E8EF086}">
      <p15:sldGuideLst xmlns:p15="http://schemas.microsoft.com/office/powerpoint/2012/main">
        <p15:guide id="1" orient="horz" pos="1272">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3037034028"/>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025428969"/>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9672522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hyperlink" Target="https://moodle.bolton.ac.uk/course/view.php?id=23108" TargetMode="Externa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slideLayout" Target="../slideLayouts/slideLayout30.xml"/><Relationship Id="rId17" Type="http://schemas.openxmlformats.org/officeDocument/2006/relationships/slideLayout" Target="../slideLayouts/slideLayout31.xml"/><Relationship Id="rId18" Type="http://schemas.openxmlformats.org/officeDocument/2006/relationships/slideLayout" Target="../slideLayouts/slideLayout32.xml"/><Relationship Id="rId19" Type="http://schemas.openxmlformats.org/officeDocument/2006/relationships/slideLayout" Target="../slideLayouts/slideLayout33.xml"/><Relationship Id="rId20" Type="http://schemas.openxmlformats.org/officeDocument/2006/relationships/slideLayout" Target="../slideLayouts/slideLayout34.xml"/><Relationship Id="rId21" Type="http://schemas.openxmlformats.org/officeDocument/2006/relationships/slideLayout" Target="../slideLayouts/slideLayout35.xml"/><Relationship Id="rId22" Type="http://schemas.openxmlformats.org/officeDocument/2006/relationships/slideLayout" Target="../slideLayouts/slideLayout36.xml"/><Relationship Id="rId23" Type="http://schemas.openxmlformats.org/officeDocument/2006/relationships/slideLayout" Target="../slideLayouts/slideLayout37.xml"/><Relationship Id="rId24" Type="http://schemas.openxmlformats.org/officeDocument/2006/relationships/slideLayout" Target="../slideLayouts/slideLayout38.xml"/><Relationship Id="rId25" Type="http://schemas.openxmlformats.org/officeDocument/2006/relationships/slideLayout" Target="../slideLayouts/slideLayout39.xml"/><Relationship Id="rId26" Type="http://schemas.openxmlformats.org/officeDocument/2006/relationships/slideLayout" Target="../slideLayouts/slideLayout40.xml"/><Relationship Id="rId27" Type="http://schemas.openxmlformats.org/officeDocument/2006/relationships/slideLayout" Target="../slideLayouts/slideLayout41.xml"/><Relationship Id="rId28" Type="http://schemas.openxmlformats.org/officeDocument/2006/relationships/slideLayout" Target="../slideLayouts/slideLayout42.xml"/><Relationship Id="rId29" Type="http://schemas.openxmlformats.org/officeDocument/2006/relationships/theme" Target="../theme/theme2.xml"/><Relationship Id="rId30" Type="http://schemas.openxmlformats.org/officeDocument/2006/relationships/hyperlink" Target="https://moodle.bolton.ac.uk/course/view.php?id=23108" TargetMode="External"/><Relationship Id="rId3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93E0959-6855-4447-BAEC-D32B47712F07}"/>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dirty="0">
                <a:solidFill>
                  <a:schemeClr val="accent2"/>
                </a:solidFill>
              </a:rPr>
              <a:t>COM7401</a:t>
            </a:r>
            <a:r>
              <a:rPr lang="en-GB" sz="1100" b="1" noProof="0" dirty="0">
                <a:solidFill>
                  <a:srgbClr val="9454C3"/>
                </a:solidFill>
              </a:rPr>
              <a:t> </a:t>
            </a:r>
            <a:r>
              <a:rPr lang="en-GB" sz="1100" b="1" i="0" dirty="0">
                <a:solidFill>
                  <a:schemeClr val="tx1">
                    <a:lumMod val="65000"/>
                    <a:lumOff val="35000"/>
                  </a:schemeClr>
                </a:solidFill>
                <a:effectLst/>
                <a:latin typeface="Helvetica Neue"/>
                <a:hlinkClick r:id="rId16">
                  <a:extLst>
                    <a:ext uri="{A12FA001-AC4F-418D-AE19-62706E023703}">
                      <ahyp:hlinkClr xmlns:ahyp="http://schemas.microsoft.com/office/drawing/2018/hyperlinkcolor" val="tx"/>
                    </a:ext>
                  </a:extLst>
                </a:hlinkClick>
              </a:rPr>
              <a:t>Research Methods</a:t>
            </a:r>
            <a:endParaRPr lang="en-GB" sz="1100" b="1" i="0" dirty="0">
              <a:solidFill>
                <a:schemeClr val="tx1">
                  <a:lumMod val="65000"/>
                  <a:lumOff val="35000"/>
                </a:schemeClr>
              </a:solidFill>
              <a:effectLst/>
              <a:latin typeface="Helvetica Neue"/>
            </a:endParaRPr>
          </a:p>
        </p:txBody>
      </p:sp>
      <p:sp>
        <p:nvSpPr>
          <p:cNvPr id="4" name="TextBox 3">
            <a:extLst>
              <a:ext uri="{FF2B5EF4-FFF2-40B4-BE49-F238E27FC236}">
                <a16:creationId xmlns:a16="http://schemas.microsoft.com/office/drawing/2014/main" id="{5F9A56F2-8AAA-49B3-034C-0A11337F00E3}"/>
              </a:ext>
            </a:extLst>
          </p:cNvPr>
          <p:cNvSpPr txBox="1"/>
          <p:nvPr userDrawn="1"/>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16">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6" name="Picture 5">
            <a:hlinkClick r:id="rId16"/>
            <a:extLst>
              <a:ext uri="{FF2B5EF4-FFF2-40B4-BE49-F238E27FC236}">
                <a16:creationId xmlns:a16="http://schemas.microsoft.com/office/drawing/2014/main" id="{8E68A7DE-B583-DD36-413D-10F7AA7F3877}"/>
              </a:ext>
            </a:extLst>
          </p:cNvPr>
          <p:cNvPicPr>
            <a:picLocks noChangeAspect="1"/>
          </p:cNvPicPr>
          <p:nvPr userDrawn="1"/>
        </p:nvPicPr>
        <p:blipFill rotWithShape="1">
          <a:blip r:embed="rId17">
            <a:alphaModFix amt="35000"/>
          </a:blip>
          <a:srcRect r="39275" b="37247"/>
          <a:stretch/>
        </p:blipFill>
        <p:spPr>
          <a:xfrm>
            <a:off x="8077200" y="4200345"/>
            <a:ext cx="4114800" cy="2657655"/>
          </a:xfrm>
          <a:prstGeom prst="rect">
            <a:avLst/>
          </a:prstGeom>
        </p:spPr>
      </p:pic>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88" r:id="rId3"/>
    <p:sldLayoutId id="2147483681" r:id="rId4"/>
    <p:sldLayoutId id="2147483680" r:id="rId5"/>
    <p:sldLayoutId id="2147483682" r:id="rId6"/>
    <p:sldLayoutId id="2147483677" r:id="rId7"/>
    <p:sldLayoutId id="2147483654" r:id="rId8"/>
    <p:sldLayoutId id="2147483685" r:id="rId9"/>
    <p:sldLayoutId id="2147483684" r:id="rId10"/>
    <p:sldLayoutId id="2147483686" r:id="rId11"/>
    <p:sldLayoutId id="2147483687" r:id="rId12"/>
    <p:sldLayoutId id="2147483675" r:id="rId13"/>
    <p:sldLayoutId id="2147483704" r:id="rId14"/>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93E0959-6855-4447-BAEC-D32B47712F07}"/>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dirty="0">
                <a:solidFill>
                  <a:schemeClr val="accent2"/>
                </a:solidFill>
              </a:rPr>
              <a:t>COM7401</a:t>
            </a:r>
            <a:r>
              <a:rPr lang="en-GB" sz="1100" b="1" noProof="0" dirty="0">
                <a:solidFill>
                  <a:srgbClr val="9454C3"/>
                </a:solidFill>
              </a:rPr>
              <a:t> </a:t>
            </a:r>
            <a:r>
              <a:rPr lang="en-GB" sz="1100" b="1" i="0" dirty="0">
                <a:solidFill>
                  <a:schemeClr val="tx1">
                    <a:lumMod val="65000"/>
                    <a:lumOff val="35000"/>
                  </a:schemeClr>
                </a:solidFill>
                <a:effectLst/>
                <a:latin typeface="Helvetica Neue"/>
                <a:hlinkClick r:id="rId30">
                  <a:extLst>
                    <a:ext uri="{A12FA001-AC4F-418D-AE19-62706E023703}">
                      <ahyp:hlinkClr xmlns:ahyp="http://schemas.microsoft.com/office/drawing/2018/hyperlinkcolor" val="tx"/>
                    </a:ext>
                  </a:extLst>
                </a:hlinkClick>
              </a:rPr>
              <a:t>Research Methods</a:t>
            </a:r>
            <a:endParaRPr lang="en-GB" sz="1100" b="1" i="0" dirty="0">
              <a:solidFill>
                <a:schemeClr val="tx1">
                  <a:lumMod val="65000"/>
                  <a:lumOff val="35000"/>
                </a:schemeClr>
              </a:solidFill>
              <a:effectLst/>
              <a:latin typeface="Helvetica Neue"/>
            </a:endParaRPr>
          </a:p>
        </p:txBody>
      </p:sp>
      <p:sp>
        <p:nvSpPr>
          <p:cNvPr id="4" name="TextBox 3">
            <a:extLst>
              <a:ext uri="{FF2B5EF4-FFF2-40B4-BE49-F238E27FC236}">
                <a16:creationId xmlns:a16="http://schemas.microsoft.com/office/drawing/2014/main" id="{5F9A56F2-8AAA-49B3-034C-0A11337F00E3}"/>
              </a:ext>
            </a:extLst>
          </p:cNvPr>
          <p:cNvSpPr txBox="1"/>
          <p:nvPr/>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30">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6" name="Picture 5">
            <a:hlinkClick r:id="rId30"/>
            <a:extLst>
              <a:ext uri="{FF2B5EF4-FFF2-40B4-BE49-F238E27FC236}">
                <a16:creationId xmlns:a16="http://schemas.microsoft.com/office/drawing/2014/main" id="{8E68A7DE-B583-DD36-413D-10F7AA7F3877}"/>
              </a:ext>
            </a:extLst>
          </p:cNvPr>
          <p:cNvPicPr>
            <a:picLocks noChangeAspect="1"/>
          </p:cNvPicPr>
          <p:nvPr/>
        </p:nvPicPr>
        <p:blipFill rotWithShape="1">
          <a:blip r:embed="rId31">
            <a:alphaModFix amt="35000"/>
          </a:blip>
          <a:srcRect r="39275" b="37247"/>
          <a:stretch/>
        </p:blipFill>
        <p:spPr>
          <a:xfrm>
            <a:off x="8077200" y="4200345"/>
            <a:ext cx="4114800" cy="2657655"/>
          </a:xfrm>
          <a:prstGeom prst="rect">
            <a:avLst/>
          </a:prstGeom>
        </p:spPr>
      </p:pic>
      <p:sp>
        <p:nvSpPr>
          <p:cNvPr id="2" name="Footer Placeholder 4">
            <a:extLst>
              <a:ext uri="{FF2B5EF4-FFF2-40B4-BE49-F238E27FC236}">
                <a16:creationId xmlns:a16="http://schemas.microsoft.com/office/drawing/2014/main" id="{94CA3EC1-26DA-C60F-3E7B-54795CFBAC85}"/>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dirty="0">
                <a:solidFill>
                  <a:schemeClr val="accent2"/>
                </a:solidFill>
              </a:rPr>
              <a:t>COM7401</a:t>
            </a:r>
            <a:r>
              <a:rPr lang="en-GB" sz="1100" b="1" noProof="0" dirty="0">
                <a:solidFill>
                  <a:srgbClr val="9454C3"/>
                </a:solidFill>
              </a:rPr>
              <a:t> </a:t>
            </a:r>
            <a:r>
              <a:rPr lang="en-GB" sz="1100" b="1" i="0" dirty="0">
                <a:solidFill>
                  <a:schemeClr val="tx1">
                    <a:lumMod val="65000"/>
                    <a:lumOff val="35000"/>
                  </a:schemeClr>
                </a:solidFill>
                <a:effectLst/>
                <a:latin typeface="Helvetica Neue"/>
                <a:hlinkClick r:id="rId30">
                  <a:extLst>
                    <a:ext uri="{A12FA001-AC4F-418D-AE19-62706E023703}">
                      <ahyp:hlinkClr xmlns:ahyp="http://schemas.microsoft.com/office/drawing/2018/hyperlinkcolor" val="tx"/>
                    </a:ext>
                  </a:extLst>
                </a:hlinkClick>
              </a:rPr>
              <a:t>Research Methods</a:t>
            </a:r>
            <a:endParaRPr lang="en-GB" sz="1100" b="1" i="0" dirty="0">
              <a:solidFill>
                <a:schemeClr val="tx1">
                  <a:lumMod val="65000"/>
                  <a:lumOff val="35000"/>
                </a:schemeClr>
              </a:solidFill>
              <a:effectLst/>
              <a:latin typeface="Helvetica Neue"/>
            </a:endParaRPr>
          </a:p>
        </p:txBody>
      </p:sp>
      <p:sp>
        <p:nvSpPr>
          <p:cNvPr id="3" name="TextBox 2">
            <a:extLst>
              <a:ext uri="{FF2B5EF4-FFF2-40B4-BE49-F238E27FC236}">
                <a16:creationId xmlns:a16="http://schemas.microsoft.com/office/drawing/2014/main" id="{3DD4755C-F02F-1E14-47EF-91EA16DAF6B6}"/>
              </a:ext>
            </a:extLst>
          </p:cNvPr>
          <p:cNvSpPr txBox="1"/>
          <p:nvPr userDrawn="1"/>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30">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7" name="Picture 6">
            <a:hlinkClick r:id="rId30"/>
            <a:extLst>
              <a:ext uri="{FF2B5EF4-FFF2-40B4-BE49-F238E27FC236}">
                <a16:creationId xmlns:a16="http://schemas.microsoft.com/office/drawing/2014/main" id="{314EDD93-667C-6B79-9896-AB233E43041B}"/>
              </a:ext>
            </a:extLst>
          </p:cNvPr>
          <p:cNvPicPr>
            <a:picLocks noChangeAspect="1"/>
          </p:cNvPicPr>
          <p:nvPr userDrawn="1"/>
        </p:nvPicPr>
        <p:blipFill rotWithShape="1">
          <a:blip r:embed="rId31">
            <a:alphaModFix amt="35000"/>
          </a:blip>
          <a:srcRect r="39275" b="37247"/>
          <a:stretch/>
        </p:blipFill>
        <p:spPr>
          <a:xfrm>
            <a:off x="8077200" y="4200345"/>
            <a:ext cx="4114800" cy="2657655"/>
          </a:xfrm>
          <a:prstGeom prst="rect">
            <a:avLst/>
          </a:prstGeom>
        </p:spPr>
      </p:pic>
    </p:spTree>
    <p:extLst>
      <p:ext uri="{BB962C8B-B14F-4D97-AF65-F5344CB8AC3E}">
        <p14:creationId xmlns:p14="http://schemas.microsoft.com/office/powerpoint/2010/main" val="2597340551"/>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4" r:id="rId28"/>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hyperlink" Target="https://www.vecteezy.com/vector-art/11431565-aim-achievement-business-motivation-finance-target-solution-searching-goals-and-objectives-business-grow-business-plan-goal-setting-concep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hyperlink" Target="https://www.vecteezy.com/photo/21990193-question-mark-symbol-for-faq-information-problem-illustration-ai-generativ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diagramData" Target="../diagrams/data4.xml"/><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microsoft.com/office/2007/relationships/diagramDrawing" Target="../diagrams/drawing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diagramData" Target="../diagrams/data5.xml"/><Relationship Id="rId3" Type="http://schemas.openxmlformats.org/officeDocument/2006/relationships/diagramLayout" Target="../diagrams/layout5.xml"/><Relationship Id="rId4" Type="http://schemas.openxmlformats.org/officeDocument/2006/relationships/diagramQuickStyle" Target="../diagrams/quickStyle5.xml"/><Relationship Id="rId5" Type="http://schemas.openxmlformats.org/officeDocument/2006/relationships/diagramColors" Target="../diagrams/colors5.xml"/><Relationship Id="rId6" Type="http://schemas.microsoft.com/office/2007/relationships/diagramDrawing" Target="../diagrams/drawing5.xml"/><Relationship Id="rId7" Type="http://schemas.openxmlformats.org/officeDocument/2006/relationships/image" Target="../media/image15.jpeg"/><Relationship Id="rId8" Type="http://schemas.openxmlformats.org/officeDocument/2006/relationships/image" Target="../media/image12.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jpeg"/><Relationship Id="rId3" Type="http://schemas.openxmlformats.org/officeDocument/2006/relationships/diagramData" Target="../diagrams/data6.xml"/><Relationship Id="rId4" Type="http://schemas.openxmlformats.org/officeDocument/2006/relationships/diagramLayout" Target="../diagrams/layout6.xml"/><Relationship Id="rId5" Type="http://schemas.openxmlformats.org/officeDocument/2006/relationships/diagramQuickStyle" Target="../diagrams/quickStyle6.xml"/><Relationship Id="rId6" Type="http://schemas.openxmlformats.org/officeDocument/2006/relationships/diagramColors" Target="../diagrams/colors6.xml"/><Relationship Id="rId7" Type="http://schemas.microsoft.com/office/2007/relationships/diagramDrawing" Target="../diagrams/drawing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jpg"/><Relationship Id="rId3" Type="http://schemas.openxmlformats.org/officeDocument/2006/relationships/hyperlink" Target="https://wallpaperaccess.com/funny-science" TargetMode="Externa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jpg"/><Relationship Id="rId4" Type="http://schemas.openxmlformats.org/officeDocument/2006/relationships/hyperlink" Target="http://culturefit.com/developing-2016-trends-computer-sciences-bradley-university/"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Hexagon 5">
            <a:extLst>
              <a:ext uri="{FF2B5EF4-FFF2-40B4-BE49-F238E27FC236}">
                <a16:creationId xmlns:a16="http://schemas.microsoft.com/office/drawing/2014/main" id="{38AF5374-EA50-4722-BB45-6C182E5A16AE}"/>
              </a:ext>
              <a:ext uri="{C183D7F6-B498-43B3-948B-1728B52AA6E4}">
                <adec:decorative xmlns:adec="http://schemas.microsoft.com/office/drawing/2017/decorative" val="1"/>
              </a:ext>
            </a:extLst>
          </p:cNvPr>
          <p:cNvSpPr/>
          <p:nvPr/>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Light"/>
              <a:ea typeface="+mn-ea"/>
              <a:cs typeface="+mn-cs"/>
            </a:endParaRPr>
          </a:p>
        </p:txBody>
      </p:sp>
      <p:pic>
        <p:nvPicPr>
          <p:cNvPr id="13" name="Picture Placeholder 12" descr="Blue glass building">
            <a:extLst>
              <a:ext uri="{FF2B5EF4-FFF2-40B4-BE49-F238E27FC236}">
                <a16:creationId xmlns:a16="http://schemas.microsoft.com/office/drawing/2014/main" id="{E6A5B61D-69C0-4661-AD66-3D72D9A6E86F}"/>
              </a:ext>
            </a:extLst>
          </p:cNvPr>
          <p:cNvPicPr>
            <a:picLocks noGrp="1" noChangeAspect="1"/>
          </p:cNvPicPr>
          <p:nvPr>
            <p:ph type="pic" sz="quarter" idx="10"/>
          </p:nvPr>
        </p:nvPicPr>
        <p:blipFill>
          <a:blip r:embed="rId3">
            <a:alphaModFix amt="80000"/>
          </a:blip>
          <a:srcRect t="7802" b="7802"/>
          <a:stretch/>
        </p:blipFill>
        <p:spPr>
          <a:blipFill dpi="0" rotWithShape="1">
            <a:blip r:embed="rId3">
              <a:alphaModFix amt="80000"/>
              <a:extLst>
                <a:ext uri="{28A0092B-C50C-407E-A947-70E740481C1C}">
                  <a14:useLocalDpi xmlns:a14="http://schemas.microsoft.com/office/drawing/2010/main" val="0"/>
                </a:ext>
              </a:extLst>
            </a:blip>
            <a:srcRect/>
            <a:stretch>
              <a:fillRect/>
            </a:stretch>
          </a:blipFill>
        </p:spPr>
      </p:pic>
      <p:sp>
        <p:nvSpPr>
          <p:cNvPr id="11" name="Text Placeholder 10">
            <a:extLst>
              <a:ext uri="{FF2B5EF4-FFF2-40B4-BE49-F238E27FC236}">
                <a16:creationId xmlns:a16="http://schemas.microsoft.com/office/drawing/2014/main" id="{E6DF5064-7AAC-4887-9BD5-FB6BC40A6768}"/>
              </a:ext>
            </a:extLst>
          </p:cNvPr>
          <p:cNvSpPr>
            <a:spLocks noGrp="1"/>
          </p:cNvSpPr>
          <p:nvPr>
            <p:ph type="body" sz="quarter" idx="13"/>
          </p:nvPr>
        </p:nvSpPr>
        <p:spPr>
          <a:xfrm>
            <a:off x="8969164" y="5646852"/>
            <a:ext cx="3222836" cy="1168530"/>
          </a:xfrm>
        </p:spPr>
        <p:txBody>
          <a:bodyPr rtlCol="0"/>
          <a:lstStyle/>
          <a:p>
            <a:pPr rtl="0"/>
            <a:r>
              <a:rPr lang="en-GB" dirty="0"/>
              <a:t>Week 2 – Session 1</a:t>
            </a:r>
          </a:p>
        </p:txBody>
      </p:sp>
      <p:sp>
        <p:nvSpPr>
          <p:cNvPr id="21" name="Hexagon 20">
            <a:extLst>
              <a:ext uri="{FF2B5EF4-FFF2-40B4-BE49-F238E27FC236}">
                <a16:creationId xmlns:a16="http://schemas.microsoft.com/office/drawing/2014/main" id="{35FAA64B-9D7A-4109-97E0-B0BAA29C475F}"/>
              </a:ext>
              <a:ext uri="{C183D7F6-B498-43B3-948B-1728B52AA6E4}">
                <adec:decorative xmlns:adec="http://schemas.microsoft.com/office/drawing/2017/decorative" val="1"/>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6" name="Hexagon 15">
            <a:extLst>
              <a:ext uri="{FF2B5EF4-FFF2-40B4-BE49-F238E27FC236}">
                <a16:creationId xmlns:a16="http://schemas.microsoft.com/office/drawing/2014/main" id="{00A0E61B-8139-47E5-862B-C6D87AFF35A2}"/>
              </a:ext>
              <a:ext uri="{C183D7F6-B498-43B3-948B-1728B52AA6E4}">
                <adec:decorative xmlns:adec="http://schemas.microsoft.com/office/drawing/2017/decorative" val="1"/>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8" name="Hexagon 17">
            <a:extLst>
              <a:ext uri="{FF2B5EF4-FFF2-40B4-BE49-F238E27FC236}">
                <a16:creationId xmlns:a16="http://schemas.microsoft.com/office/drawing/2014/main" id="{B06F39E4-24A5-44F2-BD9A-7E8C8AF2773B}"/>
              </a:ext>
              <a:ext uri="{C183D7F6-B498-43B3-948B-1728B52AA6E4}">
                <adec:decorative xmlns:adec="http://schemas.microsoft.com/office/drawing/2017/decorative" val="1"/>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2" name="Hexagon 1">
            <a:extLst>
              <a:ext uri="{FF2B5EF4-FFF2-40B4-BE49-F238E27FC236}">
                <a16:creationId xmlns:a16="http://schemas.microsoft.com/office/drawing/2014/main" id="{62F7433A-0BB9-4B38-A96F-AB1B77772B59}"/>
              </a:ext>
              <a:ext uri="{C183D7F6-B498-43B3-948B-1728B52AA6E4}">
                <adec:decorative xmlns:adec="http://schemas.microsoft.com/office/drawing/2017/decorative" val="1"/>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7" name="Title 6">
            <a:extLst>
              <a:ext uri="{FF2B5EF4-FFF2-40B4-BE49-F238E27FC236}">
                <a16:creationId xmlns:a16="http://schemas.microsoft.com/office/drawing/2014/main" id="{BD837CEB-1A69-4F72-95D4-054D82F09696}"/>
              </a:ext>
            </a:extLst>
          </p:cNvPr>
          <p:cNvSpPr>
            <a:spLocks noGrp="1"/>
          </p:cNvSpPr>
          <p:nvPr>
            <p:ph type="title"/>
          </p:nvPr>
        </p:nvSpPr>
        <p:spPr>
          <a:xfrm>
            <a:off x="2133592" y="2480689"/>
            <a:ext cx="8584027" cy="1695637"/>
          </a:xfrm>
        </p:spPr>
        <p:txBody>
          <a:bodyPr rtlCol="0"/>
          <a:lstStyle/>
          <a:p>
            <a:pPr algn="ctr"/>
            <a:r>
              <a:rPr lang="en-GB" dirty="0"/>
              <a:t>COM7401 Research Methods</a:t>
            </a:r>
            <a:br>
              <a:rPr lang="en-GB" dirty="0"/>
            </a:br>
            <a:br>
              <a:rPr lang="en-GB" dirty="0"/>
            </a:br>
            <a:r>
              <a:rPr lang="en-GB" sz="4800" dirty="0"/>
              <a:t>Research Questions and the Funnel Strategy</a:t>
            </a:r>
            <a:endParaRPr lang="en-GB" dirty="0"/>
          </a:p>
        </p:txBody>
      </p:sp>
    </p:spTree>
    <p:extLst>
      <p:ext uri="{BB962C8B-B14F-4D97-AF65-F5344CB8AC3E}">
        <p14:creationId xmlns:p14="http://schemas.microsoft.com/office/powerpoint/2010/main" val="3665993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1CE2008D-DBCE-465F-90DA-B28A4E525131}"/>
              </a:ext>
            </a:extLst>
          </p:cNvPr>
          <p:cNvPicPr>
            <a:picLocks noGrp="1" noChangeAspect="1"/>
          </p:cNvPicPr>
          <p:nvPr>
            <p:ph type="pic" sz="quarter" idx="10"/>
          </p:nvPr>
        </p:nvPicPr>
        <p:blipFill rotWithShape="1">
          <a:blip r:embed="rId3">
            <a:extLst>
              <a:ext uri="{837473B0-CC2E-450A-ABE3-18F120FF3D39}">
                <a1611:picAttrSrcUrl xmlns:a1611="http://schemas.microsoft.com/office/drawing/2016/11/main" r:id="rId4"/>
              </a:ext>
            </a:extLst>
          </a:blip>
          <a:srcRect l="18439" t="3605" r="12155" b="-3605"/>
          <a:stretch/>
        </p:blipFill>
        <p:spPr>
          <a:xfrm>
            <a:off x="5733416" y="624239"/>
            <a:ext cx="5855754" cy="5631571"/>
          </a:xfrm>
          <a:noFill/>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400" y="2044700"/>
            <a:ext cx="4737510" cy="3560763"/>
          </a:xfrm>
        </p:spPr>
        <p:txBody>
          <a:bodyPr rtlCol="0">
            <a:normAutofit/>
          </a:bodyPr>
          <a:lstStyle/>
          <a:p>
            <a:pPr rtl="0">
              <a:lnSpc>
                <a:spcPct val="140000"/>
              </a:lnSpc>
            </a:pPr>
            <a:r>
              <a:rPr lang="en-GB" sz="1800" dirty="0"/>
              <a:t>Define a research problem and explain why it matters in CS, DA and CY</a:t>
            </a:r>
            <a:endParaRPr lang="en-US" sz="1700" dirty="0"/>
          </a:p>
          <a:p>
            <a:pPr rtl="0">
              <a:lnSpc>
                <a:spcPct val="140000"/>
              </a:lnSpc>
            </a:pPr>
            <a:r>
              <a:rPr lang="en-GB" sz="1800" dirty="0"/>
              <a:t>Distinguish the main types of research question</a:t>
            </a:r>
            <a:endParaRPr lang="en-US" sz="1700" dirty="0"/>
          </a:p>
          <a:p>
            <a:pPr rtl="0">
              <a:lnSpc>
                <a:spcPct val="140000"/>
              </a:lnSpc>
            </a:pPr>
            <a:r>
              <a:rPr lang="en-GB" sz="1800" dirty="0"/>
              <a:t>Explain how your stance shapes the questions you can ask</a:t>
            </a:r>
            <a:endParaRPr lang="en-US" sz="1700" dirty="0"/>
          </a:p>
          <a:p>
            <a:pPr rtl="0">
              <a:lnSpc>
                <a:spcPct val="140000"/>
              </a:lnSpc>
            </a:pPr>
            <a:r>
              <a:rPr lang="en-GB" sz="1800" dirty="0"/>
              <a:t>Apply the Funnel Strategy to narrow your topic to a draft research question</a:t>
            </a:r>
            <a:endParaRPr lang="en-US" sz="17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400" y="805213"/>
            <a:ext cx="4275138" cy="830997"/>
          </a:xfrm>
        </p:spPr>
        <p:txBody>
          <a:bodyPr rtlCol="0">
            <a:normAutofit/>
          </a:bodyPr>
          <a:lstStyle/>
          <a:p>
            <a:pPr rtl="0"/>
            <a:r>
              <a:rPr lang="en-GB" sz="2600"/>
              <a:t>By the end of the session, you should be able to…</a:t>
            </a:r>
          </a:p>
        </p:txBody>
      </p:sp>
    </p:spTree>
    <p:extLst>
      <p:ext uri="{BB962C8B-B14F-4D97-AF65-F5344CB8AC3E}">
        <p14:creationId xmlns:p14="http://schemas.microsoft.com/office/powerpoint/2010/main" val="965681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EF53E3-F88C-4203-A489-8C9D57513DF6}"/>
              </a:ext>
            </a:extLst>
          </p:cNvPr>
          <p:cNvSpPr>
            <a:spLocks noGrp="1"/>
          </p:cNvSpPr>
          <p:nvPr>
            <p:ph type="title"/>
          </p:nvPr>
        </p:nvSpPr>
        <p:spPr>
          <a:xfrm>
            <a:off x="660399" y="805213"/>
            <a:ext cx="6804429" cy="830997"/>
          </a:xfrm>
        </p:spPr>
        <p:txBody>
          <a:bodyPr rtlCol="0"/>
          <a:lstStyle/>
          <a:p>
            <a:pPr rtl="0"/>
            <a:r>
              <a:rPr lang="en-GB"/>
              <a:t>What’s it all about</a:t>
            </a:r>
          </a:p>
        </p:txBody>
      </p:sp>
      <p:sp>
        <p:nvSpPr>
          <p:cNvPr id="8" name="Text Placeholder 7">
            <a:extLst>
              <a:ext uri="{FF2B5EF4-FFF2-40B4-BE49-F238E27FC236}">
                <a16:creationId xmlns:a16="http://schemas.microsoft.com/office/drawing/2014/main" id="{6F03AADD-A4FE-4CE8-944C-3F9C9777F0AB}"/>
              </a:ext>
            </a:extLst>
          </p:cNvPr>
          <p:cNvSpPr>
            <a:spLocks noGrp="1"/>
          </p:cNvSpPr>
          <p:nvPr>
            <p:ph type="body" sz="quarter" idx="12"/>
          </p:nvPr>
        </p:nvSpPr>
        <p:spPr>
          <a:xfrm>
            <a:off x="372140" y="2317899"/>
            <a:ext cx="6024722" cy="3081874"/>
          </a:xfrm>
        </p:spPr>
        <p:txBody>
          <a:bodyPr rtlCol="0">
            <a:normAutofit fontScale="77500" lnSpcReduction="20000"/>
          </a:bodyPr>
          <a:lstStyle/>
          <a:p>
            <a:pPr marL="0" indent="0" rtl="0">
              <a:lnSpc>
                <a:spcPct val="120000"/>
              </a:lnSpc>
              <a:buNone/>
            </a:pPr>
            <a:r>
              <a:rPr lang="en-US" sz="2400" dirty="0"/>
              <a:t>Many academic researchers are uncertain how to identify and craft the research problem to be addressed in the inquiry and how to frame the main research question. </a:t>
            </a:r>
          </a:p>
          <a:p>
            <a:pPr marL="0" indent="0" rtl="0">
              <a:lnSpc>
                <a:spcPct val="120000"/>
              </a:lnSpc>
              <a:buNone/>
            </a:pPr>
            <a:r>
              <a:rPr lang="en-US" sz="2400" dirty="0"/>
              <a:t>You must conceptualize a research idea, set the scope of the research problem and consider whether the problem is researchable (Pajares, 2007). Challenging huh?!</a:t>
            </a:r>
          </a:p>
          <a:p>
            <a:pPr marL="0" indent="0" rtl="0">
              <a:lnSpc>
                <a:spcPct val="120000"/>
              </a:lnSpc>
              <a:buNone/>
            </a:pPr>
            <a:r>
              <a:rPr lang="en-GB" sz="2400" dirty="0"/>
              <a:t>Formulating clear and precise research problems is crucial in order to help you define your research questions, hypothesis and research design.</a:t>
            </a:r>
          </a:p>
        </p:txBody>
      </p:sp>
      <p:pic>
        <p:nvPicPr>
          <p:cNvPr id="4" name="Picture Placeholder 3">
            <a:extLst>
              <a:ext uri="{FF2B5EF4-FFF2-40B4-BE49-F238E27FC236}">
                <a16:creationId xmlns:a16="http://schemas.microsoft.com/office/drawing/2014/main" id="{5EAB7860-C105-46A8-8B51-C886DCFAB528}"/>
              </a:ext>
            </a:extLst>
          </p:cNvPr>
          <p:cNvPicPr>
            <a:picLocks noGrp="1" noChangeAspect="1"/>
          </p:cNvPicPr>
          <p:nvPr>
            <p:ph type="pic" sz="quarter" idx="13"/>
          </p:nvPr>
        </p:nvPicPr>
        <p:blipFill rotWithShape="1">
          <a:blip r:embed="rId3"/>
          <a:srcRect l="18715" r="18715"/>
          <a:stretch/>
        </p:blipFill>
        <p:spPr>
          <a:xfrm>
            <a:off x="7090227" y="786181"/>
            <a:ext cx="4441372" cy="5393036"/>
          </a:xfrm>
        </p:spPr>
      </p:pic>
    </p:spTree>
    <p:extLst>
      <p:ext uri="{BB962C8B-B14F-4D97-AF65-F5344CB8AC3E}">
        <p14:creationId xmlns:p14="http://schemas.microsoft.com/office/powerpoint/2010/main" val="3696770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2A9DE31D-EE90-E0CE-9A9B-B55560D263EE}"/>
              </a:ext>
            </a:extLst>
          </p:cNvPr>
          <p:cNvSpPr txBox="1"/>
          <p:nvPr/>
        </p:nvSpPr>
        <p:spPr>
          <a:xfrm>
            <a:off x="529366" y="761716"/>
            <a:ext cx="5193703" cy="3269660"/>
          </a:xfrm>
          <a:prstGeom prst="rect">
            <a:avLst/>
          </a:prstGeom>
        </p:spPr>
        <p:txBody>
          <a:bodyPr rtlCol="0">
            <a:normAutofit/>
          </a:bodyPr>
          <a:lstStyle/>
          <a:p>
            <a:pPr>
              <a:lnSpc>
                <a:spcPct val="90000"/>
              </a:lnSpc>
              <a:spcBef>
                <a:spcPts val="1000"/>
              </a:spcBef>
            </a:pPr>
            <a:r>
              <a:rPr lang="en-US" sz="1600" b="1" dirty="0">
                <a:solidFill>
                  <a:schemeClr val="tx1">
                    <a:lumMod val="75000"/>
                    <a:lumOff val="25000"/>
                  </a:schemeClr>
                </a:solidFill>
                <a:effectLst>
                  <a:outerShdw blurRad="38100" dist="38100" dir="2700000" algn="tl">
                    <a:srgbClr val="000000">
                      <a:alpha val="43137"/>
                    </a:srgbClr>
                  </a:outerShdw>
                </a:effectLst>
              </a:rPr>
              <a:t>Definition (always a good start).</a:t>
            </a:r>
          </a:p>
          <a:p>
            <a:pPr>
              <a:lnSpc>
                <a:spcPct val="90000"/>
              </a:lnSpc>
              <a:spcBef>
                <a:spcPts val="1000"/>
              </a:spcBef>
            </a:pPr>
            <a:r>
              <a:rPr lang="en-US" sz="1600" dirty="0">
                <a:solidFill>
                  <a:schemeClr val="tx1">
                    <a:lumMod val="75000"/>
                    <a:lumOff val="25000"/>
                  </a:schemeClr>
                </a:solidFill>
              </a:rPr>
              <a:t>A research problem is a clearly defined issue that the researcher intends to address or a gap in knowledge that requires exploration.</a:t>
            </a:r>
          </a:p>
          <a:p>
            <a:pPr>
              <a:lnSpc>
                <a:spcPct val="90000"/>
              </a:lnSpc>
              <a:spcBef>
                <a:spcPts val="1000"/>
              </a:spcBef>
            </a:pPr>
            <a:r>
              <a:rPr lang="en-US" sz="1600" dirty="0">
                <a:solidFill>
                  <a:schemeClr val="tx1">
                    <a:lumMod val="75000"/>
                    <a:lumOff val="25000"/>
                  </a:schemeClr>
                </a:solidFill>
              </a:rPr>
              <a:t>It sets the </a:t>
            </a:r>
            <a:r>
              <a:rPr lang="en-US" sz="1600" b="1" dirty="0">
                <a:solidFill>
                  <a:schemeClr val="tx1">
                    <a:lumMod val="75000"/>
                    <a:lumOff val="25000"/>
                  </a:schemeClr>
                </a:solidFill>
              </a:rPr>
              <a:t>focus</a:t>
            </a:r>
            <a:r>
              <a:rPr lang="en-US" sz="1600" dirty="0">
                <a:solidFill>
                  <a:schemeClr val="tx1">
                    <a:lumMod val="75000"/>
                    <a:lumOff val="25000"/>
                  </a:schemeClr>
                </a:solidFill>
              </a:rPr>
              <a:t> and </a:t>
            </a:r>
            <a:r>
              <a:rPr lang="en-US" sz="1600" b="1" dirty="0">
                <a:solidFill>
                  <a:schemeClr val="tx1">
                    <a:lumMod val="75000"/>
                    <a:lumOff val="25000"/>
                  </a:schemeClr>
                </a:solidFill>
              </a:rPr>
              <a:t>purpose</a:t>
            </a:r>
            <a:r>
              <a:rPr lang="en-US" sz="1600" dirty="0">
                <a:solidFill>
                  <a:schemeClr val="tx1">
                    <a:lumMod val="75000"/>
                    <a:lumOff val="25000"/>
                  </a:schemeClr>
                </a:solidFill>
              </a:rPr>
              <a:t> for the study and guides all decisions on methods, analysis, and evaluation.</a:t>
            </a:r>
            <a:endParaRPr lang="en-US" sz="1600" b="1" dirty="0">
              <a:solidFill>
                <a:schemeClr val="tx1">
                  <a:lumMod val="75000"/>
                  <a:lumOff val="25000"/>
                </a:schemeClr>
              </a:solidFill>
            </a:endParaRPr>
          </a:p>
          <a:p>
            <a:pPr>
              <a:lnSpc>
                <a:spcPct val="90000"/>
              </a:lnSpc>
              <a:spcBef>
                <a:spcPts val="1000"/>
              </a:spcBef>
            </a:pPr>
            <a:r>
              <a:rPr lang="en-US" sz="1600" b="1" dirty="0">
                <a:solidFill>
                  <a:schemeClr val="tx1">
                    <a:lumMod val="75000"/>
                    <a:lumOff val="25000"/>
                  </a:schemeClr>
                </a:solidFill>
                <a:effectLst>
                  <a:outerShdw blurRad="38100" dist="38100" dir="2700000" algn="tl">
                    <a:srgbClr val="000000">
                      <a:alpha val="43137"/>
                    </a:srgbClr>
                  </a:outerShdw>
                </a:effectLst>
              </a:rPr>
              <a:t>Why is the research problem important?</a:t>
            </a:r>
          </a:p>
          <a:p>
            <a:pPr marL="285750" lvl="1" indent="-285750">
              <a:lnSpc>
                <a:spcPct val="90000"/>
              </a:lnSpc>
              <a:spcBef>
                <a:spcPts val="1000"/>
              </a:spcBef>
              <a:buFont typeface="Arial" panose="020B0604020202020204" pitchFamily="34" charset="0"/>
              <a:buChar char="•"/>
            </a:pPr>
            <a:r>
              <a:rPr lang="en-US" sz="1600" dirty="0">
                <a:solidFill>
                  <a:schemeClr val="tx1">
                    <a:lumMod val="75000"/>
                    <a:lumOff val="25000"/>
                  </a:schemeClr>
                </a:solidFill>
              </a:rPr>
              <a:t>It allows for the creation of a </a:t>
            </a:r>
            <a:r>
              <a:rPr lang="en-US" sz="1600" b="1" dirty="0">
                <a:solidFill>
                  <a:schemeClr val="tx1">
                    <a:lumMod val="75000"/>
                    <a:lumOff val="25000"/>
                  </a:schemeClr>
                </a:solidFill>
              </a:rPr>
              <a:t>specific research question</a:t>
            </a:r>
            <a:r>
              <a:rPr lang="en-US" sz="1600" dirty="0">
                <a:solidFill>
                  <a:schemeClr val="tx1">
                    <a:lumMod val="75000"/>
                    <a:lumOff val="25000"/>
                  </a:schemeClr>
                </a:solidFill>
              </a:rPr>
              <a:t> that narrows the scope of the study.</a:t>
            </a:r>
          </a:p>
          <a:p>
            <a:pPr marL="285750" lvl="1" indent="-285750">
              <a:lnSpc>
                <a:spcPct val="90000"/>
              </a:lnSpc>
              <a:spcBef>
                <a:spcPts val="1000"/>
              </a:spcBef>
              <a:buFont typeface="Arial" panose="020B0604020202020204" pitchFamily="34" charset="0"/>
              <a:buChar char="•"/>
            </a:pPr>
            <a:r>
              <a:rPr lang="en-US" sz="1600" dirty="0">
                <a:solidFill>
                  <a:schemeClr val="tx1">
                    <a:lumMod val="75000"/>
                    <a:lumOff val="25000"/>
                  </a:schemeClr>
                </a:solidFill>
              </a:rPr>
              <a:t>Helps </a:t>
            </a:r>
            <a:r>
              <a:rPr lang="en-US" sz="1600" b="1" dirty="0">
                <a:solidFill>
                  <a:schemeClr val="tx1">
                    <a:lumMod val="75000"/>
                    <a:lumOff val="25000"/>
                  </a:schemeClr>
                </a:solidFill>
              </a:rPr>
              <a:t>justify the study’s relevance</a:t>
            </a:r>
            <a:r>
              <a:rPr lang="en-US" sz="1600" dirty="0">
                <a:solidFill>
                  <a:schemeClr val="tx1">
                    <a:lumMod val="75000"/>
                    <a:lumOff val="25000"/>
                  </a:schemeClr>
                </a:solidFill>
              </a:rPr>
              <a:t> and </a:t>
            </a:r>
            <a:r>
              <a:rPr lang="en-US" sz="1600" b="1" dirty="0">
                <a:solidFill>
                  <a:schemeClr val="tx1">
                    <a:lumMod val="75000"/>
                    <a:lumOff val="25000"/>
                  </a:schemeClr>
                </a:solidFill>
              </a:rPr>
              <a:t>contribution to knowledge</a:t>
            </a:r>
            <a:r>
              <a:rPr lang="en-US" sz="1200" dirty="0">
                <a:solidFill>
                  <a:schemeClr val="tx1">
                    <a:lumMod val="75000"/>
                    <a:lumOff val="25000"/>
                  </a:schemeClr>
                </a:solidFill>
              </a:rPr>
              <a:t>.</a:t>
            </a:r>
          </a:p>
        </p:txBody>
      </p:sp>
      <p:sp>
        <p:nvSpPr>
          <p:cNvPr id="23" name="TextBox 22">
            <a:extLst>
              <a:ext uri="{FF2B5EF4-FFF2-40B4-BE49-F238E27FC236}">
                <a16:creationId xmlns:a16="http://schemas.microsoft.com/office/drawing/2014/main" id="{5F8C34B9-C9B5-9600-C773-21527E166876}"/>
              </a:ext>
            </a:extLst>
          </p:cNvPr>
          <p:cNvSpPr txBox="1"/>
          <p:nvPr/>
        </p:nvSpPr>
        <p:spPr>
          <a:xfrm>
            <a:off x="1099521" y="4260028"/>
            <a:ext cx="5542598" cy="2152608"/>
          </a:xfrm>
          <a:prstGeom prst="rect">
            <a:avLst/>
          </a:prstGeom>
          <a:ln>
            <a:solidFill>
              <a:schemeClr val="accent6">
                <a:lumMod val="50000"/>
              </a:schemeClr>
            </a:solidFill>
          </a:ln>
        </p:spPr>
        <p:txBody>
          <a:bodyPr rtlCol="0">
            <a:normAutofit/>
          </a:bodyPr>
          <a:lstStyle/>
          <a:p>
            <a:pPr>
              <a:lnSpc>
                <a:spcPct val="90000"/>
              </a:lnSpc>
              <a:spcBef>
                <a:spcPts val="1000"/>
              </a:spcBef>
            </a:pPr>
            <a:r>
              <a:rPr lang="en-US" b="1" dirty="0">
                <a:solidFill>
                  <a:schemeClr val="accent6">
                    <a:lumMod val="50000"/>
                  </a:schemeClr>
                </a:solidFill>
              </a:rPr>
              <a:t>Application in CS, DA, CY:</a:t>
            </a:r>
          </a:p>
          <a:p>
            <a:pPr>
              <a:lnSpc>
                <a:spcPct val="90000"/>
              </a:lnSpc>
              <a:spcBef>
                <a:spcPts val="1000"/>
              </a:spcBef>
            </a:pPr>
            <a:r>
              <a:rPr lang="en-US" b="1" dirty="0">
                <a:solidFill>
                  <a:schemeClr val="accent6">
                    <a:lumMod val="50000"/>
                  </a:schemeClr>
                </a:solidFill>
              </a:rPr>
              <a:t>CS: </a:t>
            </a:r>
            <a:r>
              <a:rPr lang="en-US" b="1" dirty="0">
                <a:solidFill>
                  <a:schemeClr val="accent4"/>
                </a:solidFill>
              </a:rPr>
              <a:t>Tackling inefficiencies in algorithm design.</a:t>
            </a:r>
          </a:p>
          <a:p>
            <a:pPr>
              <a:lnSpc>
                <a:spcPct val="90000"/>
              </a:lnSpc>
              <a:spcBef>
                <a:spcPts val="1000"/>
              </a:spcBef>
            </a:pPr>
            <a:r>
              <a:rPr lang="en-US" b="1" dirty="0">
                <a:solidFill>
                  <a:schemeClr val="accent6">
                    <a:lumMod val="50000"/>
                  </a:schemeClr>
                </a:solidFill>
              </a:rPr>
              <a:t>DA: </a:t>
            </a:r>
            <a:r>
              <a:rPr lang="en-US" b="1" dirty="0">
                <a:solidFill>
                  <a:schemeClr val="accent4"/>
                </a:solidFill>
              </a:rPr>
              <a:t>Addressing the challenge of handling large-scale unstructured data.</a:t>
            </a:r>
          </a:p>
          <a:p>
            <a:pPr>
              <a:lnSpc>
                <a:spcPct val="90000"/>
              </a:lnSpc>
              <a:spcBef>
                <a:spcPts val="1000"/>
              </a:spcBef>
            </a:pPr>
            <a:r>
              <a:rPr lang="en-US" b="1" dirty="0">
                <a:solidFill>
                  <a:schemeClr val="accent6">
                    <a:lumMod val="50000"/>
                  </a:schemeClr>
                </a:solidFill>
              </a:rPr>
              <a:t>CY: </a:t>
            </a:r>
            <a:r>
              <a:rPr lang="en-US" b="1" dirty="0">
                <a:solidFill>
                  <a:schemeClr val="accent4"/>
                </a:solidFill>
              </a:rPr>
              <a:t>Responding to increasing phishing attacks in healthcare organizations.</a:t>
            </a:r>
          </a:p>
        </p:txBody>
      </p:sp>
      <p:pic>
        <p:nvPicPr>
          <p:cNvPr id="6" name="Picture Placeholder 9">
            <a:extLst>
              <a:ext uri="{FF2B5EF4-FFF2-40B4-BE49-F238E27FC236}">
                <a16:creationId xmlns:a16="http://schemas.microsoft.com/office/drawing/2014/main" id="{C4D294E5-7441-71ED-A89B-21F8D28FB06D}"/>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46095" t="486" r="-159" b="152"/>
          <a:stretch/>
        </p:blipFill>
        <p:spPr>
          <a:xfrm>
            <a:off x="6624768" y="445364"/>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a:noFill/>
        </p:spPr>
      </p:pic>
      <p:sp>
        <p:nvSpPr>
          <p:cNvPr id="10" name="Title 9">
            <a:extLst>
              <a:ext uri="{FF2B5EF4-FFF2-40B4-BE49-F238E27FC236}">
                <a16:creationId xmlns:a16="http://schemas.microsoft.com/office/drawing/2014/main" id="{C81CE692-A904-5E0D-4B14-C9D0527BFE54}"/>
              </a:ext>
            </a:extLst>
          </p:cNvPr>
          <p:cNvSpPr>
            <a:spLocks noGrp="1"/>
          </p:cNvSpPr>
          <p:nvPr>
            <p:ph type="title"/>
          </p:nvPr>
        </p:nvSpPr>
        <p:spPr>
          <a:xfrm>
            <a:off x="197821" y="313614"/>
            <a:ext cx="6095402" cy="830997"/>
          </a:xfrm>
        </p:spPr>
        <p:txBody>
          <a:bodyPr rtlCol="0">
            <a:normAutofit/>
          </a:bodyPr>
          <a:lstStyle/>
          <a:p>
            <a:r>
              <a:rPr lang="en-US" sz="2600" dirty="0"/>
              <a:t>What is a Research Problem?</a:t>
            </a:r>
            <a:endParaRPr lang="en-GB" sz="2600" dirty="0"/>
          </a:p>
        </p:txBody>
      </p:sp>
    </p:spTree>
    <p:extLst>
      <p:ext uri="{BB962C8B-B14F-4D97-AF65-F5344CB8AC3E}">
        <p14:creationId xmlns:p14="http://schemas.microsoft.com/office/powerpoint/2010/main" val="355831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644A9B-BD09-BE13-8A02-845795C51D8D}"/>
              </a:ext>
            </a:extLst>
          </p:cNvPr>
          <p:cNvSpPr>
            <a:spLocks noGrp="1"/>
          </p:cNvSpPr>
          <p:nvPr>
            <p:ph type="body" sz="quarter" idx="14"/>
          </p:nvPr>
        </p:nvSpPr>
        <p:spPr>
          <a:xfrm>
            <a:off x="456005" y="1308031"/>
            <a:ext cx="5448300" cy="438150"/>
          </a:xfrm>
        </p:spPr>
        <p:txBody>
          <a:bodyPr/>
          <a:lstStyle/>
          <a:p>
            <a:r>
              <a:rPr lang="en-US" dirty="0"/>
              <a:t>Why is interdisciplinary research important? </a:t>
            </a:r>
          </a:p>
          <a:p>
            <a:endParaRPr lang="en-GB" dirty="0"/>
          </a:p>
        </p:txBody>
      </p:sp>
      <p:sp>
        <p:nvSpPr>
          <p:cNvPr id="3" name="Text Placeholder 2">
            <a:extLst>
              <a:ext uri="{FF2B5EF4-FFF2-40B4-BE49-F238E27FC236}">
                <a16:creationId xmlns:a16="http://schemas.microsoft.com/office/drawing/2014/main" id="{B7E034C0-FC6D-DCA6-03FF-9121B88B957A}"/>
              </a:ext>
            </a:extLst>
          </p:cNvPr>
          <p:cNvSpPr>
            <a:spLocks noGrp="1"/>
          </p:cNvSpPr>
          <p:nvPr>
            <p:ph type="body" sz="quarter" idx="13"/>
          </p:nvPr>
        </p:nvSpPr>
        <p:spPr>
          <a:xfrm>
            <a:off x="456005" y="2176532"/>
            <a:ext cx="5067300" cy="1341219"/>
          </a:xfrm>
        </p:spPr>
        <p:txBody>
          <a:bodyPr/>
          <a:lstStyle/>
          <a:p>
            <a:r>
              <a:rPr lang="en-US" dirty="0"/>
              <a:t>Real-world problems are rarely confined to a single field. Cross-disciplinary research allows for the integration of techniques from different fields to provide robust solutions.</a:t>
            </a:r>
            <a:endParaRPr lang="en-GB" dirty="0"/>
          </a:p>
        </p:txBody>
      </p:sp>
      <p:sp>
        <p:nvSpPr>
          <p:cNvPr id="4" name="Text Placeholder 3">
            <a:extLst>
              <a:ext uri="{FF2B5EF4-FFF2-40B4-BE49-F238E27FC236}">
                <a16:creationId xmlns:a16="http://schemas.microsoft.com/office/drawing/2014/main" id="{8D5E4872-8D44-CE60-5275-2D81DFEF8C9C}"/>
              </a:ext>
            </a:extLst>
          </p:cNvPr>
          <p:cNvSpPr>
            <a:spLocks noGrp="1"/>
          </p:cNvSpPr>
          <p:nvPr>
            <p:ph type="body" sz="quarter" idx="15"/>
          </p:nvPr>
        </p:nvSpPr>
        <p:spPr>
          <a:xfrm>
            <a:off x="6322508" y="1957457"/>
            <a:ext cx="5080000" cy="438150"/>
          </a:xfrm>
        </p:spPr>
        <p:txBody>
          <a:bodyPr/>
          <a:lstStyle/>
          <a:p>
            <a:r>
              <a:rPr lang="en-GB" dirty="0"/>
              <a:t>Example</a:t>
            </a:r>
          </a:p>
        </p:txBody>
      </p:sp>
      <p:sp>
        <p:nvSpPr>
          <p:cNvPr id="5" name="Text Placeholder 4">
            <a:extLst>
              <a:ext uri="{FF2B5EF4-FFF2-40B4-BE49-F238E27FC236}">
                <a16:creationId xmlns:a16="http://schemas.microsoft.com/office/drawing/2014/main" id="{DC14208B-4A06-4D7D-ADD8-48FD67E6B835}"/>
              </a:ext>
            </a:extLst>
          </p:cNvPr>
          <p:cNvSpPr>
            <a:spLocks noGrp="1"/>
          </p:cNvSpPr>
          <p:nvPr>
            <p:ph type="body" sz="quarter" idx="16"/>
          </p:nvPr>
        </p:nvSpPr>
        <p:spPr>
          <a:xfrm>
            <a:off x="6227631" y="2524139"/>
            <a:ext cx="5508363" cy="2935288"/>
          </a:xfrm>
        </p:spPr>
        <p:txBody>
          <a:bodyPr/>
          <a:lstStyle/>
          <a:p>
            <a:r>
              <a:rPr lang="en-GB" b="1" dirty="0"/>
              <a:t>CS &amp; CY: </a:t>
            </a:r>
            <a:r>
              <a:rPr lang="en-GB" dirty="0"/>
              <a:t>Using machine learning algorithms to identify security vulnerabilities (</a:t>
            </a:r>
            <a:r>
              <a:rPr lang="en-GB" i="1" dirty="0"/>
              <a:t>CS expertise applied to a CY problem</a:t>
            </a:r>
            <a:r>
              <a:rPr lang="en-GB" dirty="0"/>
              <a:t>).</a:t>
            </a:r>
          </a:p>
          <a:p>
            <a:r>
              <a:rPr lang="en-GB" b="1" dirty="0"/>
              <a:t>DA &amp; CY: </a:t>
            </a:r>
            <a:r>
              <a:rPr lang="en-GB" dirty="0"/>
              <a:t>Analysing big data to understand trends in cyber-attacks (</a:t>
            </a:r>
            <a:r>
              <a:rPr lang="en-GB" i="1" dirty="0"/>
              <a:t>DA techniques applied to CY datasets</a:t>
            </a:r>
            <a:r>
              <a:rPr lang="en-GB" dirty="0"/>
              <a:t>).</a:t>
            </a:r>
          </a:p>
          <a:p>
            <a:r>
              <a:rPr lang="en-GB" b="1" dirty="0"/>
              <a:t>CS &amp; DA: </a:t>
            </a:r>
            <a:r>
              <a:rPr lang="en-GB" dirty="0"/>
              <a:t>Improving data processing algorithms to enhance real-time data analysis (</a:t>
            </a:r>
            <a:r>
              <a:rPr lang="en-GB" i="1" dirty="0"/>
              <a:t>CS algorithms enhancing DA</a:t>
            </a:r>
            <a:r>
              <a:rPr lang="en-GB" dirty="0"/>
              <a:t>).</a:t>
            </a:r>
          </a:p>
        </p:txBody>
      </p:sp>
      <p:sp>
        <p:nvSpPr>
          <p:cNvPr id="7" name="Title 6">
            <a:extLst>
              <a:ext uri="{FF2B5EF4-FFF2-40B4-BE49-F238E27FC236}">
                <a16:creationId xmlns:a16="http://schemas.microsoft.com/office/drawing/2014/main" id="{DA5CC080-F364-0A75-E3CF-CCCBF30558B3}"/>
              </a:ext>
            </a:extLst>
          </p:cNvPr>
          <p:cNvSpPr>
            <a:spLocks noGrp="1"/>
          </p:cNvSpPr>
          <p:nvPr>
            <p:ph type="title"/>
          </p:nvPr>
        </p:nvSpPr>
        <p:spPr>
          <a:xfrm>
            <a:off x="197820" y="266109"/>
            <a:ext cx="10333915" cy="830997"/>
          </a:xfrm>
        </p:spPr>
        <p:txBody>
          <a:bodyPr/>
          <a:lstStyle/>
          <a:p>
            <a:r>
              <a:rPr lang="en-GB" dirty="0"/>
              <a:t>Interdisciplinary Nature of Research</a:t>
            </a:r>
          </a:p>
        </p:txBody>
      </p:sp>
      <p:sp>
        <p:nvSpPr>
          <p:cNvPr id="12" name="TextBox 11">
            <a:extLst>
              <a:ext uri="{FF2B5EF4-FFF2-40B4-BE49-F238E27FC236}">
                <a16:creationId xmlns:a16="http://schemas.microsoft.com/office/drawing/2014/main" id="{12D8529E-B6B9-548B-0294-944AE2694EF8}"/>
              </a:ext>
            </a:extLst>
          </p:cNvPr>
          <p:cNvSpPr txBox="1"/>
          <p:nvPr/>
        </p:nvSpPr>
        <p:spPr>
          <a:xfrm rot="20681627">
            <a:off x="1052097" y="3422058"/>
            <a:ext cx="4678387" cy="2400657"/>
          </a:xfrm>
          <a:prstGeom prst="rect">
            <a:avLst/>
          </a:prstGeom>
          <a:solidFill>
            <a:schemeClr val="bg1"/>
          </a:solidFill>
          <a:ln>
            <a:solidFill>
              <a:schemeClr val="accent6">
                <a:lumMod val="50000"/>
              </a:schemeClr>
            </a:solidFill>
          </a:ln>
          <a:effectLst>
            <a:outerShdw blurRad="50800" dist="38100" dir="2700000" algn="tl" rotWithShape="0">
              <a:prstClr val="black">
                <a:alpha val="40000"/>
              </a:prstClr>
            </a:outerShdw>
          </a:effectLst>
        </p:spPr>
        <p:txBody>
          <a:bodyPr wrap="square">
            <a:spAutoFit/>
          </a:bodyPr>
          <a:lstStyle/>
          <a:p>
            <a:r>
              <a:rPr lang="en-US" sz="2400" b="1" dirty="0">
                <a:effectLst>
                  <a:outerShdw blurRad="38100" dist="38100" dir="2700000" algn="tl">
                    <a:srgbClr val="000000">
                      <a:alpha val="43137"/>
                    </a:srgbClr>
                  </a:outerShdw>
                </a:effectLst>
              </a:rPr>
              <a:t>Impact:</a:t>
            </a:r>
          </a:p>
          <a:p>
            <a:r>
              <a:rPr lang="en-US" dirty="0"/>
              <a:t>Find solutions that address multiple facets of a problem: technical (CS), analytical (DA), and security-oriented (CY).</a:t>
            </a:r>
          </a:p>
          <a:p>
            <a:endParaRPr lang="en-US" dirty="0"/>
          </a:p>
          <a:p>
            <a:r>
              <a:rPr lang="en-US" b="1" dirty="0"/>
              <a:t>Example: </a:t>
            </a:r>
            <a:r>
              <a:rPr lang="en-US" dirty="0"/>
              <a:t>Building an AI-powered system for anomaly detection in cybersecurity uses all three disciplines.</a:t>
            </a:r>
            <a:endParaRPr lang="en-GB" dirty="0"/>
          </a:p>
        </p:txBody>
      </p:sp>
      <p:pic>
        <p:nvPicPr>
          <p:cNvPr id="11" name="Picture Placeholder 9">
            <a:extLst>
              <a:ext uri="{FF2B5EF4-FFF2-40B4-BE49-F238E27FC236}">
                <a16:creationId xmlns:a16="http://schemas.microsoft.com/office/drawing/2014/main" id="{A90D16A0-C482-7C06-5C28-3B21392D4830}"/>
              </a:ext>
            </a:extLst>
          </p:cNvPr>
          <p:cNvPicPr>
            <a:picLocks noGrp="1" noChangeAspect="1"/>
          </p:cNvPicPr>
          <p:nvPr>
            <p:ph type="pic" sz="quarter" idx="17"/>
          </p:nvPr>
        </p:nvPicPr>
        <p:blipFill rotWithShape="1">
          <a:blip r:embed="rId2"/>
          <a:srcRect l="-310" t="9163" r="-17853" b="28707"/>
          <a:stretch/>
        </p:blipFill>
        <p:spPr>
          <a:xfrm>
            <a:off x="9261647" y="0"/>
            <a:ext cx="2930353" cy="1559882"/>
          </a:xfrm>
        </p:spPr>
      </p:pic>
    </p:spTree>
    <p:extLst>
      <p:ext uri="{BB962C8B-B14F-4D97-AF65-F5344CB8AC3E}">
        <p14:creationId xmlns:p14="http://schemas.microsoft.com/office/powerpoint/2010/main" val="367766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decel="50000" fill="hold">
                                          <p:stCondLst>
                                            <p:cond delay="0"/>
                                          </p:stCondLst>
                                        </p:cTn>
                                        <p:tgtEl>
                                          <p:spTgt spid="1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2"/>
                                        </p:tgtEl>
                                        <p:attrNameLst>
                                          <p:attrName>ppt_w</p:attrName>
                                        </p:attrNameLst>
                                      </p:cBhvr>
                                      <p:tavLst>
                                        <p:tav tm="0">
                                          <p:val>
                                            <p:strVal val="#ppt_w*.05"/>
                                          </p:val>
                                        </p:tav>
                                        <p:tav tm="100000">
                                          <p:val>
                                            <p:strVal val="#ppt_w"/>
                                          </p:val>
                                        </p:tav>
                                      </p:tavLst>
                                    </p:anim>
                                    <p:anim calcmode="lin" valueType="num">
                                      <p:cBhvr>
                                        <p:cTn id="10" dur="1000" fill="hold"/>
                                        <p:tgtEl>
                                          <p:spTgt spid="1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433721B-54FA-C307-7660-628DCDA74E90}"/>
              </a:ext>
            </a:extLst>
          </p:cNvPr>
          <p:cNvPicPr>
            <a:picLocks noChangeAspect="1"/>
          </p:cNvPicPr>
          <p:nvPr/>
        </p:nvPicPr>
        <p:blipFill>
          <a:blip r:embed="rId3">
            <a:alphaModFix amt="47000"/>
          </a:blip>
          <a:stretch>
            <a:fillRect/>
          </a:stretch>
        </p:blipFill>
        <p:spPr>
          <a:xfrm rot="1493961">
            <a:off x="9718942" y="-506043"/>
            <a:ext cx="2030439" cy="3792268"/>
          </a:xfrm>
          <a:prstGeom prst="rect">
            <a:avLst/>
          </a:prstGeom>
        </p:spPr>
      </p:pic>
      <p:pic>
        <p:nvPicPr>
          <p:cNvPr id="11" name="Picture 10">
            <a:extLst>
              <a:ext uri="{FF2B5EF4-FFF2-40B4-BE49-F238E27FC236}">
                <a16:creationId xmlns:a16="http://schemas.microsoft.com/office/drawing/2014/main" id="{2D973922-D74B-4D24-F188-2CBC0F567602}"/>
              </a:ext>
            </a:extLst>
          </p:cNvPr>
          <p:cNvPicPr>
            <a:picLocks noChangeAspect="1"/>
          </p:cNvPicPr>
          <p:nvPr/>
        </p:nvPicPr>
        <p:blipFill>
          <a:blip r:embed="rId3">
            <a:alphaModFix amt="47000"/>
          </a:blip>
          <a:stretch>
            <a:fillRect/>
          </a:stretch>
        </p:blipFill>
        <p:spPr>
          <a:xfrm rot="21145084">
            <a:off x="3660408" y="-295716"/>
            <a:ext cx="2030439" cy="3550278"/>
          </a:xfrm>
          <a:prstGeom prst="rect">
            <a:avLst/>
          </a:prstGeom>
        </p:spPr>
      </p:pic>
      <p:sp>
        <p:nvSpPr>
          <p:cNvPr id="3" name="Title 2">
            <a:extLst>
              <a:ext uri="{FF2B5EF4-FFF2-40B4-BE49-F238E27FC236}">
                <a16:creationId xmlns:a16="http://schemas.microsoft.com/office/drawing/2014/main" id="{32ECEC7B-9358-61EF-8D42-0FC1835CE28D}"/>
              </a:ext>
            </a:extLst>
          </p:cNvPr>
          <p:cNvSpPr>
            <a:spLocks noGrp="1"/>
          </p:cNvSpPr>
          <p:nvPr>
            <p:ph type="title"/>
          </p:nvPr>
        </p:nvSpPr>
        <p:spPr>
          <a:xfrm>
            <a:off x="841248" y="365760"/>
            <a:ext cx="10515600" cy="1325880"/>
          </a:xfrm>
        </p:spPr>
        <p:txBody>
          <a:bodyPr anchor="ctr">
            <a:normAutofit/>
          </a:bodyPr>
          <a:lstStyle/>
          <a:p>
            <a:pPr algn="ctr"/>
            <a:r>
              <a:rPr lang="en-US" sz="4800" dirty="0">
                <a:solidFill>
                  <a:schemeClr val="tx1"/>
                </a:solidFill>
              </a:rPr>
              <a:t> </a:t>
            </a:r>
            <a:endParaRPr lang="en-GB" sz="4800" dirty="0">
              <a:solidFill>
                <a:schemeClr val="tx1"/>
              </a:solidFill>
            </a:endParaRPr>
          </a:p>
        </p:txBody>
      </p:sp>
      <p:pic>
        <p:nvPicPr>
          <p:cNvPr id="4" name="Picture 3">
            <a:extLst>
              <a:ext uri="{FF2B5EF4-FFF2-40B4-BE49-F238E27FC236}">
                <a16:creationId xmlns:a16="http://schemas.microsoft.com/office/drawing/2014/main" id="{48CA1113-4524-2852-6B70-9C62F99B7CB6}"/>
              </a:ext>
            </a:extLst>
          </p:cNvPr>
          <p:cNvPicPr>
            <a:picLocks noChangeAspect="1"/>
          </p:cNvPicPr>
          <p:nvPr/>
        </p:nvPicPr>
        <p:blipFill>
          <a:blip r:embed="rId4"/>
          <a:srcRect t="-480" r="-2" b="-2"/>
          <a:stretch/>
        </p:blipFill>
        <p:spPr>
          <a:xfrm>
            <a:off x="244900" y="200771"/>
            <a:ext cx="2973847" cy="3228230"/>
          </a:xfrm>
          <a:prstGeom prst="rect">
            <a:avLst/>
          </a:prstGeom>
          <a:noFill/>
        </p:spPr>
      </p:pic>
      <p:sp>
        <p:nvSpPr>
          <p:cNvPr id="2" name="Content Placeholder 1">
            <a:extLst>
              <a:ext uri="{FF2B5EF4-FFF2-40B4-BE49-F238E27FC236}">
                <a16:creationId xmlns:a16="http://schemas.microsoft.com/office/drawing/2014/main" id="{15B5FFB2-A5AC-699F-29F2-299D023C83C6}"/>
              </a:ext>
            </a:extLst>
          </p:cNvPr>
          <p:cNvSpPr>
            <a:spLocks noGrp="1"/>
          </p:cNvSpPr>
          <p:nvPr>
            <p:ph sz="quarter" idx="4294967295"/>
          </p:nvPr>
        </p:nvSpPr>
        <p:spPr>
          <a:xfrm>
            <a:off x="3441736" y="200771"/>
            <a:ext cx="7909016" cy="1325881"/>
          </a:xfrm>
          <a:prstGeom prst="rect">
            <a:avLst/>
          </a:prstGeom>
        </p:spPr>
        <p:txBody>
          <a:bodyPr anchor="t">
            <a:normAutofit fontScale="77500" lnSpcReduction="20000"/>
          </a:bodyPr>
          <a:lstStyle/>
          <a:p>
            <a:pPr marL="0" indent="0" algn="ctr">
              <a:buNone/>
            </a:pPr>
            <a:r>
              <a:rPr lang="en-US" sz="3600" b="1" kern="1200" dirty="0">
                <a:solidFill>
                  <a:srgbClr val="003300"/>
                </a:solidFill>
                <a:effectLst>
                  <a:outerShdw blurRad="38100" dist="38100" dir="2700000" algn="tl">
                    <a:srgbClr val="000000">
                      <a:alpha val="43137"/>
                    </a:srgbClr>
                  </a:outerShdw>
                </a:effectLst>
              </a:rPr>
              <a:t>LIGHTNING RESEARCH</a:t>
            </a:r>
          </a:p>
          <a:p>
            <a:pPr marL="0" indent="0" algn="ctr">
              <a:buNone/>
            </a:pPr>
            <a:r>
              <a:rPr lang="en-GB" sz="3600" dirty="0"/>
              <a:t>Generating Interdisciplinary </a:t>
            </a:r>
          </a:p>
          <a:p>
            <a:pPr marL="0" indent="0" algn="ctr">
              <a:buNone/>
            </a:pPr>
            <a:r>
              <a:rPr lang="en-GB" sz="3600" dirty="0"/>
              <a:t>Research Topics – 15 mins</a:t>
            </a:r>
            <a:endParaRPr lang="en-US" sz="3600" b="1" kern="1200" dirty="0">
              <a:solidFill>
                <a:schemeClr val="tx1"/>
              </a:solidFill>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658195F6-D71B-41C9-5DC3-A2A9E71BBD97}"/>
              </a:ext>
            </a:extLst>
          </p:cNvPr>
          <p:cNvSpPr txBox="1"/>
          <p:nvPr/>
        </p:nvSpPr>
        <p:spPr>
          <a:xfrm>
            <a:off x="3435641" y="2021504"/>
            <a:ext cx="7747000" cy="4067267"/>
          </a:xfrm>
          <a:prstGeom prst="rect">
            <a:avLst/>
          </a:prstGeom>
          <a:noFill/>
        </p:spPr>
        <p:txBody>
          <a:bodyPr wrap="square">
            <a:spAutoFit/>
          </a:bodyPr>
          <a:lstStyle/>
          <a:p>
            <a:pPr algn="ctr">
              <a:lnSpc>
                <a:spcPct val="116000"/>
              </a:lnSpc>
              <a:spcBef>
                <a:spcPts val="1405"/>
              </a:spcBef>
              <a:spcAft>
                <a:spcPts val="1405"/>
              </a:spcAft>
            </a:pPr>
            <a:r>
              <a:rPr lang="en-US" sz="1400" b="1" dirty="0">
                <a:solidFill>
                  <a:srgbClr val="0F4761"/>
                </a:solidFill>
                <a:effectLst/>
                <a:latin typeface="Aptos" panose="020B0004020202020204" pitchFamily="34" charset="0"/>
                <a:ea typeface="Aptos" panose="020B0004020202020204" pitchFamily="34" charset="0"/>
                <a:cs typeface="Aptos" panose="020B0004020202020204" pitchFamily="34" charset="0"/>
              </a:rPr>
              <a:t>Objective:</a:t>
            </a:r>
            <a:br>
              <a:rPr lang="en-US" sz="1200" dirty="0"/>
            </a:br>
            <a:r>
              <a:rPr lang="en-US" sz="1200" dirty="0"/>
              <a:t>To identify and formulate research topics that integrate concepts from Computer Science, Data Analytics, and Cybersecurity.</a:t>
            </a:r>
          </a:p>
          <a:p>
            <a:pPr algn="ctr"/>
            <a:r>
              <a:rPr lang="en-US" sz="1400" b="1" kern="0" dirty="0">
                <a:solidFill>
                  <a:srgbClr val="0F4761"/>
                </a:solidFill>
                <a:effectLst/>
                <a:latin typeface="Aptos" panose="020B0004020202020204" pitchFamily="34" charset="0"/>
                <a:ea typeface="Aptos" panose="020B0004020202020204" pitchFamily="34" charset="0"/>
                <a:cs typeface="Aptos" panose="020B0004020202020204" pitchFamily="34" charset="0"/>
              </a:rPr>
              <a:t>Task Description:</a:t>
            </a:r>
          </a:p>
          <a:p>
            <a:pPr algn="ctr"/>
            <a:r>
              <a:rPr lang="en-GB" sz="1400" dirty="0"/>
              <a:t>Create a Venn Diagram with three areas labelled CS, DA, CY</a:t>
            </a:r>
            <a:br>
              <a:rPr lang="en-GB" sz="1400" dirty="0"/>
            </a:br>
            <a:r>
              <a:rPr lang="en-GB" sz="1400" dirty="0"/>
              <a:t>In each Circle note down 5-7 core topics or technologies in that field. (see week1 to help) </a:t>
            </a:r>
            <a:br>
              <a:rPr lang="en-GB" sz="1400" b="1" dirty="0">
                <a:solidFill>
                  <a:srgbClr val="0F4761"/>
                </a:solidFill>
                <a:latin typeface="Aptos" panose="020B0004020202020204" pitchFamily="34" charset="0"/>
                <a:cs typeface="Times New Roman" panose="02020603050405020304" pitchFamily="18" charset="0"/>
              </a:rPr>
            </a:br>
            <a:r>
              <a:rPr lang="en-GB" sz="1400" b="1" dirty="0">
                <a:solidFill>
                  <a:srgbClr val="0F4761"/>
                </a:solidFill>
                <a:latin typeface="Aptos" panose="020B0004020202020204" pitchFamily="34" charset="0"/>
                <a:cs typeface="Times New Roman" panose="02020603050405020304" pitchFamily="18" charset="0"/>
              </a:rPr>
              <a:t>Identify overlapping areas </a:t>
            </a:r>
          </a:p>
          <a:p>
            <a:pPr algn="ctr">
              <a:lnSpc>
                <a:spcPct val="116000"/>
              </a:lnSpc>
              <a:spcBef>
                <a:spcPts val="1200"/>
              </a:spcBef>
              <a:spcAft>
                <a:spcPts val="1200"/>
              </a:spcAft>
            </a:pPr>
            <a:r>
              <a:rPr lang="en-GB" sz="1400" dirty="0">
                <a:cs typeface="Times New Roman" panose="02020603050405020304" pitchFamily="18" charset="0"/>
              </a:rPr>
              <a:t>Look at the intersections between  CS &amp;DA</a:t>
            </a:r>
            <a:r>
              <a:rPr lang="en-GB" sz="1400" dirty="0"/>
              <a:t>, DA and CY, CS and CY. </a:t>
            </a:r>
            <a:r>
              <a:rPr lang="en-US" sz="1400" dirty="0"/>
              <a:t>In each overlapping section, write down topics that combine elements from both fields. </a:t>
            </a:r>
          </a:p>
          <a:p>
            <a:pPr algn="ctr">
              <a:lnSpc>
                <a:spcPct val="116000"/>
              </a:lnSpc>
              <a:spcBef>
                <a:spcPts val="1200"/>
              </a:spcBef>
              <a:spcAft>
                <a:spcPts val="1200"/>
              </a:spcAft>
            </a:pPr>
            <a:r>
              <a:rPr lang="en-US" sz="1400" b="1" dirty="0"/>
              <a:t>Example: </a:t>
            </a:r>
            <a:r>
              <a:rPr lang="en-US" sz="1400" dirty="0"/>
              <a:t>For Computer Science &amp; Data Analytics, consider "Developing new machine learning algorithms.“</a:t>
            </a:r>
          </a:p>
          <a:p>
            <a:pPr algn="ctr"/>
            <a:r>
              <a:rPr lang="en-US" sz="1400" b="1" dirty="0">
                <a:solidFill>
                  <a:srgbClr val="0F4761"/>
                </a:solidFill>
                <a:latin typeface="Aptos" panose="020B0004020202020204" pitchFamily="34" charset="0"/>
                <a:cs typeface="Times New Roman" panose="02020603050405020304" pitchFamily="18" charset="0"/>
              </a:rPr>
              <a:t>Central Intersection:</a:t>
            </a:r>
          </a:p>
          <a:p>
            <a:pPr algn="ctr">
              <a:lnSpc>
                <a:spcPct val="116000"/>
              </a:lnSpc>
              <a:spcBef>
                <a:spcPts val="1200"/>
              </a:spcBef>
              <a:spcAft>
                <a:spcPts val="1200"/>
              </a:spcAft>
            </a:pPr>
            <a:r>
              <a:rPr lang="en-US" sz="1400" dirty="0">
                <a:cs typeface="Times New Roman" panose="02020603050405020304" pitchFamily="18" charset="0"/>
              </a:rPr>
              <a:t>Focus on the central area where all three circles overlap. Brainstorm topics that integrate all three fields.</a:t>
            </a:r>
            <a:br>
              <a:rPr lang="en-US" sz="1400" dirty="0">
                <a:cs typeface="Times New Roman" panose="02020603050405020304" pitchFamily="18" charset="0"/>
              </a:rPr>
            </a:br>
            <a:r>
              <a:rPr lang="en-US" sz="1400" b="1" dirty="0">
                <a:cs typeface="Times New Roman" panose="02020603050405020304" pitchFamily="18" charset="0"/>
              </a:rPr>
              <a:t>Example: </a:t>
            </a:r>
            <a:r>
              <a:rPr lang="en-US" sz="1400" dirty="0">
                <a:cs typeface="Times New Roman" panose="02020603050405020304" pitchFamily="18" charset="0"/>
              </a:rPr>
              <a:t>"Designing AI-driven systems for real-time cybersecurity threat analytics."</a:t>
            </a:r>
            <a:endParaRPr lang="en-GB" sz="1400" dirty="0">
              <a:cs typeface="Times New Roman" panose="02020603050405020304" pitchFamily="18" charset="0"/>
            </a:endParaRPr>
          </a:p>
        </p:txBody>
      </p:sp>
    </p:spTree>
    <p:extLst>
      <p:ext uri="{BB962C8B-B14F-4D97-AF65-F5344CB8AC3E}">
        <p14:creationId xmlns:p14="http://schemas.microsoft.com/office/powerpoint/2010/main" val="1337348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03B71A-F6C3-49BA-113E-8F09DB28529C}"/>
              </a:ext>
            </a:extLst>
          </p:cNvPr>
          <p:cNvSpPr>
            <a:spLocks noGrp="1"/>
          </p:cNvSpPr>
          <p:nvPr>
            <p:ph type="title"/>
          </p:nvPr>
        </p:nvSpPr>
        <p:spPr>
          <a:xfrm>
            <a:off x="838199" y="635000"/>
            <a:ext cx="10844605" cy="1086224"/>
          </a:xfrm>
        </p:spPr>
        <p:txBody>
          <a:bodyPr anchor="ctr">
            <a:normAutofit fontScale="90000"/>
          </a:bodyPr>
          <a:lstStyle/>
          <a:p>
            <a:r>
              <a:rPr lang="en-US" sz="3600" b="1" dirty="0">
                <a:effectLst>
                  <a:outerShdw blurRad="38100" dist="38100" dir="2700000" algn="tl">
                    <a:srgbClr val="000000">
                      <a:alpha val="43137"/>
                    </a:srgbClr>
                  </a:outerShdw>
                </a:effectLst>
              </a:rPr>
              <a:t>Constructing Effective Research Questions – A Checklist</a:t>
            </a:r>
            <a:br>
              <a:rPr lang="en-US" sz="3600" b="1" dirty="0">
                <a:effectLst>
                  <a:outerShdw blurRad="38100" dist="38100" dir="2700000" algn="tl">
                    <a:srgbClr val="000000">
                      <a:alpha val="43137"/>
                    </a:srgbClr>
                  </a:outerShdw>
                </a:effectLst>
              </a:rPr>
            </a:br>
            <a:endParaRPr lang="en-GB" sz="3600" dirty="0">
              <a:effectLst>
                <a:outerShdw blurRad="38100" dist="38100" dir="2700000" algn="tl">
                  <a:srgbClr val="000000">
                    <a:alpha val="43137"/>
                  </a:srgbClr>
                </a:outerShdw>
              </a:effectLst>
            </a:endParaRPr>
          </a:p>
        </p:txBody>
      </p:sp>
      <p:graphicFrame>
        <p:nvGraphicFramePr>
          <p:cNvPr id="5" name="Content Placeholder 1">
            <a:extLst>
              <a:ext uri="{FF2B5EF4-FFF2-40B4-BE49-F238E27FC236}">
                <a16:creationId xmlns:a16="http://schemas.microsoft.com/office/drawing/2014/main" id="{4CD971C2-08EE-52CF-0216-5D18FC61CEBB}"/>
              </a:ext>
            </a:extLst>
          </p:cNvPr>
          <p:cNvGraphicFramePr>
            <a:graphicFrameLocks noGrp="1"/>
          </p:cNvGraphicFramePr>
          <p:nvPr>
            <p:ph sz="quarter" idx="10"/>
            <p:extLst>
              <p:ext uri="{D42A27DB-BD31-4B8C-83A1-F6EECF244321}">
                <p14:modId xmlns:p14="http://schemas.microsoft.com/office/powerpoint/2010/main" val="258608895"/>
              </p:ext>
            </p:extLst>
          </p:nvPr>
        </p:nvGraphicFramePr>
        <p:xfrm>
          <a:off x="838199" y="1721224"/>
          <a:ext cx="10515600"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9758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A5BAB0-AEA8-7298-F714-5330A39AFB94}"/>
              </a:ext>
            </a:extLst>
          </p:cNvPr>
          <p:cNvSpPr>
            <a:spLocks noGrp="1"/>
          </p:cNvSpPr>
          <p:nvPr>
            <p:ph type="title"/>
          </p:nvPr>
        </p:nvSpPr>
        <p:spPr/>
        <p:txBody>
          <a:bodyPr/>
          <a:lstStyle/>
          <a:p>
            <a:r>
              <a:rPr lang="en-US" dirty="0"/>
              <a:t>Examples of Well-Constructed Research Questions</a:t>
            </a:r>
            <a:endParaRPr lang="en-GB" dirty="0"/>
          </a:p>
        </p:txBody>
      </p:sp>
      <p:sp>
        <p:nvSpPr>
          <p:cNvPr id="4" name="Rectangle 1">
            <a:extLst>
              <a:ext uri="{FF2B5EF4-FFF2-40B4-BE49-F238E27FC236}">
                <a16:creationId xmlns:a16="http://schemas.microsoft.com/office/drawing/2014/main" id="{B548086F-623F-22BD-9918-C7731ABF0CD9}"/>
              </a:ext>
            </a:extLst>
          </p:cNvPr>
          <p:cNvSpPr>
            <a:spLocks noGrp="1" noChangeArrowheads="1"/>
          </p:cNvSpPr>
          <p:nvPr>
            <p:ph sz="quarter" idx="10"/>
          </p:nvPr>
        </p:nvSpPr>
        <p:spPr bwMode="auto">
          <a:xfrm>
            <a:off x="612290" y="1876316"/>
            <a:ext cx="1189299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Computer Science (CS)</a:t>
            </a:r>
            <a:r>
              <a:rPr lang="en-US" altLang="en-US" dirty="0">
                <a:solidFill>
                  <a:schemeClr val="tx1"/>
                </a:solidFill>
                <a:effectLst>
                  <a:outerShdw blurRad="38100" dist="38100" dir="2700000" algn="tl">
                    <a:srgbClr val="000000">
                      <a:alpha val="43137"/>
                    </a:srgbClr>
                  </a:outerShdw>
                </a:effectLst>
                <a:latin typeface="Arial" panose="020B0604020202020204" pitchFamily="34" charset="0"/>
              </a:rPr>
              <a:t>:</a:t>
            </a:r>
            <a:endParaRPr kumimoji="0" lang="en-US" altLang="en-US" sz="1800"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Descriptive: "What are the current trends in neural network optimization for natural language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Comparative: "Which algorithm, A or B, performs better in detecting fraudulent transactions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Causal: "How does the integration of quantum computing influence the efficiency of cryptographic algorithms?"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Data Analytics (DA):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Descriptive: "What are the key data points influencing customer lifetime value in e-commerce platforms?"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Comparative: "How do decision trees compare to random forests in predictive accuracy for healthcare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Causal: "What factors contribute to the failure of predictive models in real-time stock market analysis?"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Cybersecurity (CY):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Descriptive: "What are the primary cybersecurity threats faced by small and medium-sized enterprises?"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Comparative: "How do different phishing detection methods compare in terms of false positives?"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Causal: "What is the impact of multi-factor authentication on the reduction of cyberattacks in healthcare systems?"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90862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Diagram 16">
            <a:extLst>
              <a:ext uri="{FF2B5EF4-FFF2-40B4-BE49-F238E27FC236}">
                <a16:creationId xmlns:a16="http://schemas.microsoft.com/office/drawing/2014/main" id="{873A4981-7793-125B-A3E0-C7972A8C6B7B}"/>
              </a:ext>
            </a:extLst>
          </p:cNvPr>
          <p:cNvGraphicFramePr/>
          <p:nvPr>
            <p:extLst>
              <p:ext uri="{D42A27DB-BD31-4B8C-83A1-F6EECF244321}">
                <p14:modId xmlns:p14="http://schemas.microsoft.com/office/powerpoint/2010/main" val="703960362"/>
              </p:ext>
            </p:extLst>
          </p:nvPr>
        </p:nvGraphicFramePr>
        <p:xfrm>
          <a:off x="5209092" y="1023568"/>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AD4EEAD2-1A2A-8BDC-01AD-DC3EC0BF690A}"/>
              </a:ext>
            </a:extLst>
          </p:cNvPr>
          <p:cNvPicPr>
            <a:picLocks noChangeAspect="1"/>
          </p:cNvPicPr>
          <p:nvPr/>
        </p:nvPicPr>
        <p:blipFill rotWithShape="1">
          <a:blip r:embed="rId7"/>
          <a:srcRect l="35614" t="4638" r="10619" b="15731"/>
          <a:stretch/>
        </p:blipFill>
        <p:spPr>
          <a:xfrm>
            <a:off x="5964866" y="406336"/>
            <a:ext cx="6227134" cy="6451664"/>
          </a:xfrm>
          <a:prstGeom prst="rect">
            <a:avLst/>
          </a:prstGeom>
          <a:noFill/>
        </p:spPr>
      </p:pic>
      <p:pic>
        <p:nvPicPr>
          <p:cNvPr id="2" name="Picture 1">
            <a:extLst>
              <a:ext uri="{FF2B5EF4-FFF2-40B4-BE49-F238E27FC236}">
                <a16:creationId xmlns:a16="http://schemas.microsoft.com/office/drawing/2014/main" id="{AE068522-DCD0-76C7-7FA1-30BBCE68C8E4}"/>
              </a:ext>
            </a:extLst>
          </p:cNvPr>
          <p:cNvPicPr>
            <a:picLocks noChangeAspect="1"/>
          </p:cNvPicPr>
          <p:nvPr/>
        </p:nvPicPr>
        <p:blipFill rotWithShape="1">
          <a:blip r:embed="rId7">
            <a:alphaModFix amt="35000"/>
          </a:blip>
          <a:srcRect l="35614" t="4638" r="10619" b="15731"/>
          <a:stretch/>
        </p:blipFill>
        <p:spPr>
          <a:xfrm>
            <a:off x="7280885" y="406336"/>
            <a:ext cx="6227134" cy="5866361"/>
          </a:xfrm>
          <a:prstGeom prst="rect">
            <a:avLst/>
          </a:prstGeom>
          <a:noFill/>
        </p:spPr>
      </p:pic>
      <p:sp>
        <p:nvSpPr>
          <p:cNvPr id="6" name="Text Placeholder 5">
            <a:extLst>
              <a:ext uri="{FF2B5EF4-FFF2-40B4-BE49-F238E27FC236}">
                <a16:creationId xmlns:a16="http://schemas.microsoft.com/office/drawing/2014/main" id="{AB0A8AA8-EE4B-E742-064D-C2436A1BEE94}"/>
              </a:ext>
            </a:extLst>
          </p:cNvPr>
          <p:cNvSpPr>
            <a:spLocks noGrp="1"/>
          </p:cNvSpPr>
          <p:nvPr>
            <p:ph type="body" sz="quarter" idx="13"/>
          </p:nvPr>
        </p:nvSpPr>
        <p:spPr>
          <a:xfrm>
            <a:off x="660400" y="1636210"/>
            <a:ext cx="6589379" cy="4432151"/>
          </a:xfrm>
        </p:spPr>
        <p:txBody>
          <a:bodyPr/>
          <a:lstStyle/>
          <a:p>
            <a:r>
              <a:rPr lang="en-US" sz="2400" dirty="0"/>
              <a:t>A systematic, iterative approach to narrowing a broad research area down into a specific, actionable research question</a:t>
            </a:r>
          </a:p>
          <a:p>
            <a:r>
              <a:rPr lang="en-US" sz="2400" dirty="0"/>
              <a:t>Starts with an </a:t>
            </a:r>
            <a:r>
              <a:rPr lang="en-US" sz="2400" b="1" dirty="0"/>
              <a:t>open-ended exploration </a:t>
            </a:r>
            <a:r>
              <a:rPr lang="en-US" sz="2400" dirty="0"/>
              <a:t>of the general topic and gradually </a:t>
            </a:r>
            <a:r>
              <a:rPr lang="en-US" sz="2400" b="1" dirty="0"/>
              <a:t>focuses</a:t>
            </a:r>
            <a:r>
              <a:rPr lang="en-US" sz="2400" dirty="0"/>
              <a:t> on more specific problems.</a:t>
            </a:r>
          </a:p>
          <a:p>
            <a:pPr marL="0" indent="0">
              <a:buNone/>
            </a:pPr>
            <a:endParaRPr lang="en-US" sz="2400" b="1" dirty="0"/>
          </a:p>
          <a:p>
            <a:pPr marL="0" indent="0">
              <a:buNone/>
            </a:pPr>
            <a:r>
              <a:rPr lang="en-US" sz="2400" b="1" dirty="0"/>
              <a:t>Benefits of the Funnel Strategy: </a:t>
            </a:r>
          </a:p>
          <a:p>
            <a:pPr lvl="1"/>
            <a:r>
              <a:rPr lang="en-US" sz="1800" dirty="0">
                <a:solidFill>
                  <a:schemeClr val="tx1"/>
                </a:solidFill>
              </a:rPr>
              <a:t>Provides a </a:t>
            </a:r>
            <a:r>
              <a:rPr lang="en-US" sz="1800" b="1" dirty="0">
                <a:solidFill>
                  <a:schemeClr val="tx1"/>
                </a:solidFill>
              </a:rPr>
              <a:t>structured approach </a:t>
            </a:r>
            <a:r>
              <a:rPr lang="en-US" sz="1800" dirty="0">
                <a:solidFill>
                  <a:schemeClr val="tx1"/>
                </a:solidFill>
              </a:rPr>
              <a:t>for researchers to move from a broad idea to a testable hypothesis.</a:t>
            </a:r>
          </a:p>
          <a:p>
            <a:pPr lvl="1"/>
            <a:r>
              <a:rPr lang="en-US" sz="1800" dirty="0">
                <a:solidFill>
                  <a:schemeClr val="tx1"/>
                </a:solidFill>
              </a:rPr>
              <a:t>Helps </a:t>
            </a:r>
            <a:r>
              <a:rPr lang="en-US" sz="1800" b="1" dirty="0">
                <a:solidFill>
                  <a:schemeClr val="tx1"/>
                </a:solidFill>
              </a:rPr>
              <a:t>eliminate</a:t>
            </a:r>
            <a:r>
              <a:rPr lang="en-US" sz="1800" dirty="0">
                <a:solidFill>
                  <a:schemeClr val="tx1"/>
                </a:solidFill>
              </a:rPr>
              <a:t> noise and unnecessary information, enabling the researcher to focus on the core issue.</a:t>
            </a:r>
            <a:endParaRPr lang="en-GB" sz="1800" dirty="0">
              <a:solidFill>
                <a:schemeClr val="tx1"/>
              </a:solidFill>
            </a:endParaRPr>
          </a:p>
        </p:txBody>
      </p:sp>
      <p:pic>
        <p:nvPicPr>
          <p:cNvPr id="14" name="Picture Placeholder 13">
            <a:extLst>
              <a:ext uri="{FF2B5EF4-FFF2-40B4-BE49-F238E27FC236}">
                <a16:creationId xmlns:a16="http://schemas.microsoft.com/office/drawing/2014/main" id="{B8C4B75D-58E1-03C9-C4D6-99F9E0C7D4B8}"/>
              </a:ext>
            </a:extLst>
          </p:cNvPr>
          <p:cNvPicPr>
            <a:picLocks noGrp="1" noChangeAspect="1"/>
          </p:cNvPicPr>
          <p:nvPr>
            <p:ph type="pic" sz="quarter" idx="17"/>
          </p:nvPr>
        </p:nvPicPr>
        <p:blipFill rotWithShape="1">
          <a:blip r:embed="rId8"/>
          <a:srcRect l="18733" t="4674" r="10668" b="58721"/>
          <a:stretch/>
        </p:blipFill>
        <p:spPr>
          <a:xfrm>
            <a:off x="9273092" y="0"/>
            <a:ext cx="2918908" cy="1516828"/>
          </a:xfrm>
        </p:spPr>
      </p:pic>
      <p:sp>
        <p:nvSpPr>
          <p:cNvPr id="7" name="Title 6">
            <a:extLst>
              <a:ext uri="{FF2B5EF4-FFF2-40B4-BE49-F238E27FC236}">
                <a16:creationId xmlns:a16="http://schemas.microsoft.com/office/drawing/2014/main" id="{DA5CC080-F364-0A75-E3CF-CCCBF30558B3}"/>
              </a:ext>
            </a:extLst>
          </p:cNvPr>
          <p:cNvSpPr>
            <a:spLocks noGrp="1"/>
          </p:cNvSpPr>
          <p:nvPr>
            <p:ph type="title"/>
          </p:nvPr>
        </p:nvSpPr>
        <p:spPr>
          <a:xfrm>
            <a:off x="660400" y="805213"/>
            <a:ext cx="10075732" cy="830997"/>
          </a:xfrm>
        </p:spPr>
        <p:txBody>
          <a:bodyPr/>
          <a:lstStyle/>
          <a:p>
            <a:r>
              <a:rPr lang="en-GB" dirty="0"/>
              <a:t>The Funnel Stratagem</a:t>
            </a:r>
          </a:p>
        </p:txBody>
      </p:sp>
    </p:spTree>
    <p:extLst>
      <p:ext uri="{BB962C8B-B14F-4D97-AF65-F5344CB8AC3E}">
        <p14:creationId xmlns:p14="http://schemas.microsoft.com/office/powerpoint/2010/main" val="4108785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B0A8AA8-EE4B-E742-064D-C2436A1BEE94}"/>
              </a:ext>
            </a:extLst>
          </p:cNvPr>
          <p:cNvSpPr>
            <a:spLocks noGrp="1"/>
          </p:cNvSpPr>
          <p:nvPr>
            <p:ph type="body" sz="quarter" idx="13"/>
          </p:nvPr>
        </p:nvSpPr>
        <p:spPr>
          <a:xfrm>
            <a:off x="630128" y="1023568"/>
            <a:ext cx="5847977" cy="4432151"/>
          </a:xfrm>
        </p:spPr>
        <p:txBody>
          <a:bodyPr/>
          <a:lstStyle/>
          <a:p>
            <a:r>
              <a:rPr lang="en-GB" sz="2800" b="1" dirty="0">
                <a:effectLst>
                  <a:outerShdw blurRad="38100" dist="38100" dir="2700000" algn="tl">
                    <a:srgbClr val="000000">
                      <a:alpha val="43137"/>
                    </a:srgbClr>
                  </a:outerShdw>
                </a:effectLst>
              </a:rPr>
              <a:t>Step 1: </a:t>
            </a:r>
            <a:r>
              <a:rPr lang="en-GB" sz="2800" dirty="0"/>
              <a:t>Identify the Broad Subject Area:</a:t>
            </a:r>
          </a:p>
          <a:p>
            <a:pPr lvl="1"/>
            <a:r>
              <a:rPr lang="en-GB" sz="2000" dirty="0"/>
              <a:t>Example: Cybersecurity vulnerabilities in critical infrastructures.</a:t>
            </a:r>
          </a:p>
          <a:p>
            <a:r>
              <a:rPr lang="en-GB" sz="2800" b="1" dirty="0">
                <a:effectLst>
                  <a:outerShdw blurRad="38100" dist="38100" dir="2700000" algn="tl">
                    <a:srgbClr val="000000">
                      <a:alpha val="43137"/>
                    </a:srgbClr>
                  </a:outerShdw>
                </a:effectLst>
              </a:rPr>
              <a:t>Step 2: </a:t>
            </a:r>
            <a:r>
              <a:rPr lang="en-GB" sz="2800" dirty="0"/>
              <a:t>Review Literature to Identify Knowledge Gaps:</a:t>
            </a:r>
          </a:p>
          <a:p>
            <a:pPr lvl="1"/>
            <a:r>
              <a:rPr lang="en-GB" sz="2000" dirty="0"/>
              <a:t>Extensive literature review of both academic and industry reports to identify gaps (e.g., lack of research on cybersecurity for small and medium-sized enterprises).</a:t>
            </a:r>
          </a:p>
          <a:p>
            <a:r>
              <a:rPr lang="en-GB" sz="2800" b="1" dirty="0">
                <a:effectLst>
                  <a:outerShdw blurRad="38100" dist="38100" dir="2700000" algn="tl">
                    <a:srgbClr val="000000">
                      <a:alpha val="43137"/>
                    </a:srgbClr>
                  </a:outerShdw>
                </a:effectLst>
              </a:rPr>
              <a:t>Step 3: </a:t>
            </a:r>
            <a:r>
              <a:rPr lang="en-GB" sz="2800" dirty="0"/>
              <a:t>Narrow Down to a Specific Problem:</a:t>
            </a:r>
          </a:p>
          <a:p>
            <a:pPr lvl="1"/>
            <a:r>
              <a:rPr lang="en-GB" sz="2000" dirty="0"/>
              <a:t>Example: Narrow from cybersecurity in general to specific issues such as insider threats, particularly in the healthcare or financial sectors.</a:t>
            </a:r>
            <a:endParaRPr lang="en-GB" sz="2000" dirty="0">
              <a:solidFill>
                <a:schemeClr val="tx1"/>
              </a:solidFill>
            </a:endParaRPr>
          </a:p>
        </p:txBody>
      </p:sp>
      <p:pic>
        <p:nvPicPr>
          <p:cNvPr id="14" name="Picture Placeholder 13">
            <a:extLst>
              <a:ext uri="{FF2B5EF4-FFF2-40B4-BE49-F238E27FC236}">
                <a16:creationId xmlns:a16="http://schemas.microsoft.com/office/drawing/2014/main" id="{B8C4B75D-58E1-03C9-C4D6-99F9E0C7D4B8}"/>
              </a:ext>
            </a:extLst>
          </p:cNvPr>
          <p:cNvPicPr>
            <a:picLocks noGrp="1" noChangeAspect="1"/>
          </p:cNvPicPr>
          <p:nvPr>
            <p:ph type="pic" sz="quarter" idx="17"/>
          </p:nvPr>
        </p:nvPicPr>
        <p:blipFill rotWithShape="1">
          <a:blip r:embed="rId2"/>
          <a:srcRect l="18733" t="4674" r="10668" b="58721"/>
          <a:stretch/>
        </p:blipFill>
        <p:spPr>
          <a:xfrm>
            <a:off x="9273092" y="0"/>
            <a:ext cx="2918908" cy="1516828"/>
          </a:xfrm>
        </p:spPr>
      </p:pic>
      <p:sp>
        <p:nvSpPr>
          <p:cNvPr id="7" name="Title 6">
            <a:extLst>
              <a:ext uri="{FF2B5EF4-FFF2-40B4-BE49-F238E27FC236}">
                <a16:creationId xmlns:a16="http://schemas.microsoft.com/office/drawing/2014/main" id="{DA5CC080-F364-0A75-E3CF-CCCBF30558B3}"/>
              </a:ext>
            </a:extLst>
          </p:cNvPr>
          <p:cNvSpPr>
            <a:spLocks noGrp="1"/>
          </p:cNvSpPr>
          <p:nvPr>
            <p:ph type="title"/>
          </p:nvPr>
        </p:nvSpPr>
        <p:spPr>
          <a:xfrm>
            <a:off x="426484" y="216666"/>
            <a:ext cx="10075732" cy="830997"/>
          </a:xfrm>
        </p:spPr>
        <p:txBody>
          <a:bodyPr/>
          <a:lstStyle/>
          <a:p>
            <a:r>
              <a:rPr lang="en-GB" dirty="0"/>
              <a:t>Applying The Funnel Stratagem</a:t>
            </a:r>
          </a:p>
        </p:txBody>
      </p:sp>
      <p:graphicFrame>
        <p:nvGraphicFramePr>
          <p:cNvPr id="17" name="Diagram 16">
            <a:extLst>
              <a:ext uri="{FF2B5EF4-FFF2-40B4-BE49-F238E27FC236}">
                <a16:creationId xmlns:a16="http://schemas.microsoft.com/office/drawing/2014/main" id="{873A4981-7793-125B-A3E0-C7972A8C6B7B}"/>
              </a:ext>
            </a:extLst>
          </p:cNvPr>
          <p:cNvGraphicFramePr/>
          <p:nvPr/>
        </p:nvGraphicFramePr>
        <p:xfrm>
          <a:off x="5209092" y="1023568"/>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5391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a key and a keyhole">
            <a:extLst>
              <a:ext uri="{FF2B5EF4-FFF2-40B4-BE49-F238E27FC236}">
                <a16:creationId xmlns:a16="http://schemas.microsoft.com/office/drawing/2014/main" id="{62A7726C-7C21-979D-D1C4-91B251BC7396}"/>
              </a:ext>
            </a:extLst>
          </p:cNvPr>
          <p:cNvPicPr>
            <a:picLocks noChangeAspect="1"/>
          </p:cNvPicPr>
          <p:nvPr/>
        </p:nvPicPr>
        <p:blipFill>
          <a:blip r:embed="rId2"/>
          <a:srcRect t="10462" b="4951"/>
          <a:stretch/>
        </p:blipFill>
        <p:spPr>
          <a:xfrm>
            <a:off x="0" y="0"/>
            <a:ext cx="12191980" cy="6857990"/>
          </a:xfrm>
          <a:prstGeom prst="rect">
            <a:avLst/>
          </a:prstGeom>
          <a:noFill/>
        </p:spPr>
      </p:pic>
      <p:sp>
        <p:nvSpPr>
          <p:cNvPr id="11" name="Text Placeholder 2">
            <a:extLst>
              <a:ext uri="{FF2B5EF4-FFF2-40B4-BE49-F238E27FC236}">
                <a16:creationId xmlns:a16="http://schemas.microsoft.com/office/drawing/2014/main" id="{B92B158D-23FF-299F-772D-9AB5BA5EAFB6}"/>
              </a:ext>
            </a:extLst>
          </p:cNvPr>
          <p:cNvSpPr>
            <a:spLocks noGrp="1"/>
          </p:cNvSpPr>
          <p:nvPr>
            <p:ph type="body" sz="quarter" idx="11"/>
          </p:nvPr>
        </p:nvSpPr>
        <p:spPr>
          <a:xfrm>
            <a:off x="528818" y="1562617"/>
            <a:ext cx="6723529" cy="4140622"/>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rPr>
              <a:t>The formulation of research problems defines the success and scope of a study.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rPr>
              <a:t>Research in CS, DA, and CY often overlaps and can benefit from interdisciplinary approaches.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rPr>
              <a:t>The Funnel Strategy helps refine broad topics into specific researchable questions.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4">
                    <a:lumMod val="20000"/>
                    <a:lumOff val="80000"/>
                  </a:schemeClr>
                </a:solidFill>
                <a:effectLst/>
                <a:latin typeface="Arial" panose="020B0604020202020204" pitchFamily="34" charset="0"/>
              </a:rPr>
              <a:t>Different approaches to questions development will guide the type of inquiry and methods used. </a:t>
            </a:r>
          </a:p>
          <a:p>
            <a:endParaRPr lang="en-US" dirty="0">
              <a:solidFill>
                <a:schemeClr val="accent4">
                  <a:lumMod val="20000"/>
                  <a:lumOff val="80000"/>
                </a:schemeClr>
              </a:solidFill>
            </a:endParaRPr>
          </a:p>
        </p:txBody>
      </p:sp>
      <p:sp>
        <p:nvSpPr>
          <p:cNvPr id="4" name="Title 3">
            <a:extLst>
              <a:ext uri="{FF2B5EF4-FFF2-40B4-BE49-F238E27FC236}">
                <a16:creationId xmlns:a16="http://schemas.microsoft.com/office/drawing/2014/main" id="{0BBEA39A-1E27-76B6-F9A8-D6CC2250E47A}"/>
              </a:ext>
            </a:extLst>
          </p:cNvPr>
          <p:cNvSpPr>
            <a:spLocks noGrp="1"/>
          </p:cNvSpPr>
          <p:nvPr>
            <p:ph type="title"/>
          </p:nvPr>
        </p:nvSpPr>
        <p:spPr>
          <a:xfrm>
            <a:off x="432000" y="180916"/>
            <a:ext cx="3924934" cy="1695637"/>
          </a:xfrm>
        </p:spPr>
        <p:txBody>
          <a:bodyPr>
            <a:normAutofit/>
          </a:bodyPr>
          <a:lstStyle/>
          <a:p>
            <a:r>
              <a:rPr lang="en-GB" dirty="0"/>
              <a:t>Summary of Key Concepts</a:t>
            </a:r>
          </a:p>
        </p:txBody>
      </p:sp>
    </p:spTree>
    <p:extLst>
      <p:ext uri="{BB962C8B-B14F-4D97-AF65-F5344CB8AC3E}">
        <p14:creationId xmlns:p14="http://schemas.microsoft.com/office/powerpoint/2010/main" val="3421841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D40FB369-654E-689F-059B-8EDE18627CC7}"/>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a:stretch/>
        </p:blipFill>
        <p:spPr>
          <a:xfrm>
            <a:off x="0" y="0"/>
            <a:ext cx="12192000" cy="6858000"/>
          </a:xfrm>
          <a:prstGeom prst="rect">
            <a:avLst/>
          </a:prstGeom>
          <a:noFill/>
        </p:spPr>
      </p:pic>
      <p:sp>
        <p:nvSpPr>
          <p:cNvPr id="4" name="Title 3">
            <a:extLst>
              <a:ext uri="{FF2B5EF4-FFF2-40B4-BE49-F238E27FC236}">
                <a16:creationId xmlns:a16="http://schemas.microsoft.com/office/drawing/2014/main" id="{30C1D0E0-1A33-E61C-6285-DCE942B4F6DE}"/>
              </a:ext>
            </a:extLst>
          </p:cNvPr>
          <p:cNvSpPr>
            <a:spLocks noGrp="1"/>
          </p:cNvSpPr>
          <p:nvPr>
            <p:ph type="title"/>
          </p:nvPr>
        </p:nvSpPr>
        <p:spPr>
          <a:xfrm>
            <a:off x="1721291" y="1898030"/>
            <a:ext cx="3924935" cy="1695637"/>
          </a:xfrm>
        </p:spPr>
        <p:txBody>
          <a:bodyPr>
            <a:noAutofit/>
          </a:bodyPr>
          <a:lstStyle/>
          <a:p>
            <a:r>
              <a:rPr lang="en-GB" dirty="0"/>
              <a:t>From this point on…you’re a scientific  researcher!</a:t>
            </a:r>
          </a:p>
        </p:txBody>
      </p:sp>
      <p:sp>
        <p:nvSpPr>
          <p:cNvPr id="16" name="Text Placeholder 3">
            <a:extLst>
              <a:ext uri="{FF2B5EF4-FFF2-40B4-BE49-F238E27FC236}">
                <a16:creationId xmlns:a16="http://schemas.microsoft.com/office/drawing/2014/main" id="{C7336734-6E1B-86C1-1C89-0DF6BC77D000}"/>
              </a:ext>
            </a:extLst>
          </p:cNvPr>
          <p:cNvSpPr>
            <a:spLocks noGrp="1"/>
          </p:cNvSpPr>
          <p:nvPr>
            <p:ph type="body" sz="quarter" idx="11"/>
          </p:nvPr>
        </p:nvSpPr>
        <p:spPr>
          <a:xfrm>
            <a:off x="1099124" y="985096"/>
            <a:ext cx="3924934" cy="490538"/>
          </a:xfrm>
        </p:spPr>
        <p:txBody>
          <a:bodyPr/>
          <a:lstStyle/>
          <a:p>
            <a:r>
              <a:rPr lang="en-US" dirty="0"/>
              <a:t>Congratulations</a:t>
            </a:r>
          </a:p>
        </p:txBody>
      </p:sp>
      <p:sp>
        <p:nvSpPr>
          <p:cNvPr id="18" name="Text Placeholder 4">
            <a:extLst>
              <a:ext uri="{FF2B5EF4-FFF2-40B4-BE49-F238E27FC236}">
                <a16:creationId xmlns:a16="http://schemas.microsoft.com/office/drawing/2014/main" id="{CC0C9F82-91C8-08F9-00DA-6E459334C7A9}"/>
              </a:ext>
            </a:extLst>
          </p:cNvPr>
          <p:cNvSpPr>
            <a:spLocks noGrp="1"/>
          </p:cNvSpPr>
          <p:nvPr>
            <p:ph type="body" sz="quarter" idx="13"/>
          </p:nvPr>
        </p:nvSpPr>
        <p:spPr>
          <a:xfrm>
            <a:off x="3061591" y="4816192"/>
            <a:ext cx="3222836" cy="1168530"/>
          </a:xfrm>
        </p:spPr>
        <p:txBody>
          <a:bodyPr/>
          <a:lstStyle/>
          <a:p>
            <a:r>
              <a:rPr lang="en-US" dirty="0"/>
              <a:t>Mad or otherwise </a:t>
            </a:r>
          </a:p>
        </p:txBody>
      </p:sp>
      <p:pic>
        <p:nvPicPr>
          <p:cNvPr id="2" name="Picture 1">
            <a:extLst>
              <a:ext uri="{FF2B5EF4-FFF2-40B4-BE49-F238E27FC236}">
                <a16:creationId xmlns:a16="http://schemas.microsoft.com/office/drawing/2014/main" id="{03C5B108-6B9D-49AD-A45B-8580196750B7}"/>
              </a:ext>
            </a:extLst>
          </p:cNvPr>
          <p:cNvPicPr>
            <a:picLocks noChangeAspect="1"/>
          </p:cNvPicPr>
          <p:nvPr/>
        </p:nvPicPr>
        <p:blipFill>
          <a:blip r:embed="rId4"/>
          <a:stretch>
            <a:fillRect/>
          </a:stretch>
        </p:blipFill>
        <p:spPr>
          <a:xfrm>
            <a:off x="939592" y="58338"/>
            <a:ext cx="5234966" cy="6741323"/>
          </a:xfrm>
          <a:prstGeom prst="rect">
            <a:avLst/>
          </a:prstGeom>
        </p:spPr>
      </p:pic>
    </p:spTree>
    <p:extLst>
      <p:ext uri="{BB962C8B-B14F-4D97-AF65-F5344CB8AC3E}">
        <p14:creationId xmlns:p14="http://schemas.microsoft.com/office/powerpoint/2010/main" val="1349438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14EB77E-0C3E-FCCA-E05D-971D1F911504}"/>
              </a:ext>
            </a:extLst>
          </p:cNvPr>
          <p:cNvPicPr>
            <a:picLocks noChangeAspect="1"/>
          </p:cNvPicPr>
          <p:nvPr/>
        </p:nvPicPr>
        <p:blipFill>
          <a:blip r:embed="rId2"/>
          <a:srcRect t="2429" r="-3" b="1397"/>
          <a:stretch/>
        </p:blipFill>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a:noFill/>
        </p:spPr>
      </p:pic>
      <p:sp>
        <p:nvSpPr>
          <p:cNvPr id="21" name="Text Placeholder 2">
            <a:extLst>
              <a:ext uri="{FF2B5EF4-FFF2-40B4-BE49-F238E27FC236}">
                <a16:creationId xmlns:a16="http://schemas.microsoft.com/office/drawing/2014/main" id="{5008B246-BC91-8BA6-FD45-2FA834E18CAE}"/>
              </a:ext>
            </a:extLst>
          </p:cNvPr>
          <p:cNvSpPr>
            <a:spLocks noGrp="1"/>
          </p:cNvSpPr>
          <p:nvPr>
            <p:ph type="body" sz="quarter" idx="12"/>
          </p:nvPr>
        </p:nvSpPr>
        <p:spPr>
          <a:xfrm>
            <a:off x="660400" y="2044700"/>
            <a:ext cx="4275138" cy="3560763"/>
          </a:xfrm>
        </p:spPr>
        <p:txBody>
          <a:bodyPr/>
          <a:lstStyle/>
          <a:p>
            <a:r>
              <a:rPr lang="en-US" dirty="0"/>
              <a:t>Spend 10 mins just writing, you can either reflect on today’s lesson, capture ideas for a dissertation, reflect on today’s topics and how can they be </a:t>
            </a:r>
            <a:r>
              <a:rPr lang="en-GB" dirty="0"/>
              <a:t>applied to your research </a:t>
            </a:r>
          </a:p>
          <a:p>
            <a:r>
              <a:rPr lang="en-GB" dirty="0"/>
              <a:t>Free write if you like also – just simply write. </a:t>
            </a:r>
          </a:p>
          <a:p>
            <a:endParaRPr lang="en-US" dirty="0"/>
          </a:p>
        </p:txBody>
      </p:sp>
      <p:sp>
        <p:nvSpPr>
          <p:cNvPr id="16" name="Title 2">
            <a:extLst>
              <a:ext uri="{FF2B5EF4-FFF2-40B4-BE49-F238E27FC236}">
                <a16:creationId xmlns:a16="http://schemas.microsoft.com/office/drawing/2014/main" id="{9109154A-ED81-F668-8C52-27D453698BEB}"/>
              </a:ext>
            </a:extLst>
          </p:cNvPr>
          <p:cNvSpPr>
            <a:spLocks noGrp="1"/>
          </p:cNvSpPr>
          <p:nvPr>
            <p:ph type="title"/>
          </p:nvPr>
        </p:nvSpPr>
        <p:spPr>
          <a:xfrm>
            <a:off x="660400" y="805213"/>
            <a:ext cx="4275138" cy="830997"/>
          </a:xfrm>
        </p:spPr>
        <p:txBody>
          <a:bodyPr>
            <a:normAutofit/>
          </a:bodyPr>
          <a:lstStyle/>
          <a:p>
            <a:r>
              <a:rPr lang="en-US" sz="2600" dirty="0"/>
              <a:t>Reflection &amp; Writing – 10 Mins</a:t>
            </a:r>
          </a:p>
        </p:txBody>
      </p:sp>
    </p:spTree>
    <p:extLst>
      <p:ext uri="{BB962C8B-B14F-4D97-AF65-F5344CB8AC3E}">
        <p14:creationId xmlns:p14="http://schemas.microsoft.com/office/powerpoint/2010/main" val="1891019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8">
            <a:extLst>
              <a:ext uri="{FF2B5EF4-FFF2-40B4-BE49-F238E27FC236}">
                <a16:creationId xmlns:a16="http://schemas.microsoft.com/office/drawing/2014/main" id="{2EC47CED-7A85-4080-9C7C-3921E48924A7}"/>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7746" b="7746"/>
          <a:stretch/>
        </p:blipFill>
        <p:spPr>
          <a:xfrm>
            <a:off x="20" y="10"/>
            <a:ext cx="12191980" cy="6857990"/>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a:noFill/>
        </p:spPr>
      </p:pic>
      <p:sp>
        <p:nvSpPr>
          <p:cNvPr id="6" name="Text Placeholder 5">
            <a:extLst>
              <a:ext uri="{FF2B5EF4-FFF2-40B4-BE49-F238E27FC236}">
                <a16:creationId xmlns:a16="http://schemas.microsoft.com/office/drawing/2014/main" id="{83BCC5C9-D87D-55FC-86B8-0613C32EE263}"/>
              </a:ext>
            </a:extLst>
          </p:cNvPr>
          <p:cNvSpPr>
            <a:spLocks noGrp="1"/>
          </p:cNvSpPr>
          <p:nvPr>
            <p:ph type="body" sz="quarter" idx="11"/>
          </p:nvPr>
        </p:nvSpPr>
        <p:spPr>
          <a:xfrm>
            <a:off x="8154609" y="6201251"/>
            <a:ext cx="3924934" cy="490538"/>
          </a:xfrm>
        </p:spPr>
        <p:txBody>
          <a:bodyPr>
            <a:normAutofit/>
          </a:bodyPr>
          <a:lstStyle/>
          <a:p>
            <a:r>
              <a:rPr lang="en-GB" dirty="0"/>
              <a:t>Or answers ?</a:t>
            </a:r>
          </a:p>
        </p:txBody>
      </p:sp>
      <p:sp>
        <p:nvSpPr>
          <p:cNvPr id="25" name="Title 3">
            <a:extLst>
              <a:ext uri="{FF2B5EF4-FFF2-40B4-BE49-F238E27FC236}">
                <a16:creationId xmlns:a16="http://schemas.microsoft.com/office/drawing/2014/main" id="{0EB3CC0A-22A0-5855-9B31-36F6CFB0B297}"/>
              </a:ext>
            </a:extLst>
          </p:cNvPr>
          <p:cNvSpPr>
            <a:spLocks noGrp="1"/>
          </p:cNvSpPr>
          <p:nvPr>
            <p:ph type="title"/>
          </p:nvPr>
        </p:nvSpPr>
        <p:spPr>
          <a:xfrm>
            <a:off x="392148" y="287293"/>
            <a:ext cx="3924934" cy="1695637"/>
          </a:xfrm>
        </p:spPr>
        <p:txBody>
          <a:bodyPr/>
          <a:lstStyle/>
          <a:p>
            <a:r>
              <a:rPr lang="en-US" dirty="0"/>
              <a:t>Questions??</a:t>
            </a:r>
          </a:p>
        </p:txBody>
      </p:sp>
    </p:spTree>
    <p:extLst>
      <p:ext uri="{BB962C8B-B14F-4D97-AF65-F5344CB8AC3E}">
        <p14:creationId xmlns:p14="http://schemas.microsoft.com/office/powerpoint/2010/main" val="2793046589"/>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Have to hand: your topic, your search log and your three sources</a:t>
            </a:r>
          </a:p>
          <a:p>
            <a:r>
              <a:rPr sz="2400" b="0"/>
              <a:t>Which source is your candidate for critical appraisal in Session 2?</a:t>
            </a:r>
          </a:p>
          <a:p>
            <a:r>
              <a:rPr sz="2400" b="0"/>
              <a:t>What gap or unanswered question did you notice while searching?</a:t>
            </a:r>
          </a:p>
          <a:p>
            <a:r>
              <a:rPr sz="2400" b="0"/>
              <a:t>Today you will use these sources in the Funnel</a:t>
            </a:r>
          </a:p>
        </p:txBody>
      </p:sp>
      <p:sp>
        <p:nvSpPr>
          <p:cNvPr id="3" name="Title 2"/>
          <p:cNvSpPr>
            <a:spLocks noGrp="1"/>
          </p:cNvSpPr>
          <p:nvPr>
            <p:ph type="title"/>
          </p:nvPr>
        </p:nvSpPr>
        <p:spPr/>
        <p:txBody>
          <a:bodyPr/>
          <a:lstStyle/>
          <a:p>
            <a:r>
              <a:t>Check-in: your literature search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Describing, comparing, testing</a:t>
            </a:r>
          </a:p>
        </p:txBody>
      </p:sp>
      <p:sp>
        <p:nvSpPr>
          <p:cNvPr id="3" name="Text Placeholder 2"/>
          <p:cNvSpPr>
            <a:spLocks noGrp="1"/>
          </p:cNvSpPr>
          <p:nvPr>
            <p:ph type="body" idx="13" sz="quarter"/>
          </p:nvPr>
        </p:nvSpPr>
        <p:spPr/>
        <p:txBody>
          <a:bodyPr/>
          <a:lstStyle/>
          <a:p>
            <a:r>
              <a:t>Descriptive – what is happening? What are its characteristics?</a:t>
            </a:r>
          </a:p>
          <a:p>
            <a:r>
              <a:t>Comparative – how do A and B differ?</a:t>
            </a:r>
          </a:p>
          <a:p>
            <a:r>
              <a:t>Causal – does X cause Y?</a:t>
            </a:r>
          </a:p>
          <a:p>
            <a:r>
              <a:t>Relationship-based – how are X and Y related?</a:t>
            </a:r>
          </a:p>
        </p:txBody>
      </p:sp>
      <p:sp>
        <p:nvSpPr>
          <p:cNvPr id="4" name="Text Placeholder 3"/>
          <p:cNvSpPr>
            <a:spLocks noGrp="1"/>
          </p:cNvSpPr>
          <p:nvPr>
            <p:ph type="body" idx="15" sz="quarter"/>
          </p:nvPr>
        </p:nvSpPr>
        <p:spPr/>
        <p:txBody>
          <a:bodyPr/>
          <a:lstStyle/>
          <a:p>
            <a:r>
              <a:t>Exploring and predicting</a:t>
            </a:r>
          </a:p>
        </p:txBody>
      </p:sp>
      <p:sp>
        <p:nvSpPr>
          <p:cNvPr id="5" name="Text Placeholder 4"/>
          <p:cNvSpPr>
            <a:spLocks noGrp="1"/>
          </p:cNvSpPr>
          <p:nvPr>
            <p:ph type="body" idx="16" sz="quarter"/>
          </p:nvPr>
        </p:nvSpPr>
        <p:spPr/>
        <p:txBody>
          <a:bodyPr/>
          <a:lstStyle/>
          <a:p>
            <a:r>
              <a:t>Exploratory – investigate an unfamiliar area</a:t>
            </a:r>
          </a:p>
          <a:p>
            <a:r>
              <a:t>Predictive – what future outcome can we forecast?</a:t>
            </a:r>
          </a:p>
          <a:p>
            <a:r>
              <a:t>Interpretive – what do people experience or mean?</a:t>
            </a:r>
          </a:p>
        </p:txBody>
      </p:sp>
      <p:sp>
        <p:nvSpPr>
          <p:cNvPr id="7" name="Title 6"/>
          <p:cNvSpPr>
            <a:spLocks noGrp="1"/>
          </p:cNvSpPr>
          <p:nvPr>
            <p:ph type="title"/>
          </p:nvPr>
        </p:nvSpPr>
        <p:spPr>
          <a:xfrm>
            <a:off x="660400" y="805213"/>
            <a:ext cx="10693400" cy="830997"/>
          </a:xfrm>
        </p:spPr>
        <p:txBody>
          <a:bodyPr/>
          <a:lstStyle/>
          <a:p>
            <a:r>
              <a:t>Types of research question</a:t>
            </a:r>
          </a:p>
        </p:txBody>
      </p:sp>
      <p:sp>
        <p:nvSpPr>
          <p:cNvPr id="8" name="TextBox 7"/>
          <p:cNvSpPr txBox="1"/>
          <p:nvPr/>
        </p:nvSpPr>
        <p:spPr>
          <a:xfrm>
            <a:off x="660400" y="5750000"/>
            <a:ext cx="9300000" cy="500000"/>
          </a:xfrm>
          <a:prstGeom prst="rect">
            <a:avLst/>
          </a:prstGeom>
          <a:noFill/>
        </p:spPr>
        <p:txBody>
          <a:bodyPr wrap="square">
            <a:spAutoFit/>
          </a:bodyPr>
          <a:lstStyle/>
          <a:p>
            <a:r>
              <a:rPr sz="1300"/>
              <a:t>The question-types pre-reading deck has full detail and examples.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Positivist</a:t>
            </a:r>
          </a:p>
        </p:txBody>
      </p:sp>
      <p:sp>
        <p:nvSpPr>
          <p:cNvPr id="3" name="Text Placeholder 2"/>
          <p:cNvSpPr>
            <a:spLocks noGrp="1"/>
          </p:cNvSpPr>
          <p:nvPr>
            <p:ph type="body" idx="13" sz="quarter"/>
          </p:nvPr>
        </p:nvSpPr>
        <p:spPr/>
        <p:txBody>
          <a:bodyPr/>
          <a:lstStyle/>
          <a:p>
            <a:r>
              <a:rPr sz="1400"/>
              <a:t>Often asks: causal, comparative, predictive, relationship-based questions</a:t>
            </a:r>
          </a:p>
          <a:p>
            <a:r>
              <a:rPr sz="1400"/>
              <a:t>Typical wording: “Does…?”, “What is the effect of…?”</a:t>
            </a:r>
          </a:p>
          <a:p>
            <a:r>
              <a:rPr sz="1400"/>
              <a:t>CY example: “What is the effect of two-factor authentication on successful phishing attacks?”</a:t>
            </a:r>
          </a:p>
        </p:txBody>
      </p:sp>
      <p:sp>
        <p:nvSpPr>
          <p:cNvPr id="4" name="Text Placeholder 3"/>
          <p:cNvSpPr>
            <a:spLocks noGrp="1"/>
          </p:cNvSpPr>
          <p:nvPr>
            <p:ph type="body" idx="15" sz="quarter"/>
          </p:nvPr>
        </p:nvSpPr>
        <p:spPr/>
        <p:txBody>
          <a:bodyPr/>
          <a:lstStyle/>
          <a:p>
            <a:r>
              <a:t>Pragmatist</a:t>
            </a:r>
          </a:p>
        </p:txBody>
      </p:sp>
      <p:sp>
        <p:nvSpPr>
          <p:cNvPr id="5" name="Text Placeholder 4"/>
          <p:cNvSpPr>
            <a:spLocks noGrp="1"/>
          </p:cNvSpPr>
          <p:nvPr>
            <p:ph type="body" idx="16" sz="quarter"/>
          </p:nvPr>
        </p:nvSpPr>
        <p:spPr/>
        <p:txBody>
          <a:bodyPr/>
          <a:lstStyle/>
          <a:p>
            <a:r>
              <a:rPr sz="1400"/>
              <a:t>Often asks: problem-led questions, often mixed</a:t>
            </a:r>
          </a:p>
          <a:p>
            <a:r>
              <a:rPr sz="1400"/>
              <a:t>Typical wording: “What works for…?”, “How can we improve… and how well does it work?”</a:t>
            </a:r>
          </a:p>
          <a:p>
            <a:r>
              <a:rPr sz="1400"/>
              <a:t>CY example: “How can a phishing-reporting tool be designed so staff use it, and does it reduce incidents?”</a:t>
            </a:r>
          </a:p>
        </p:txBody>
      </p:sp>
      <p:sp>
        <p:nvSpPr>
          <p:cNvPr id="6" name="Text Placeholder 5"/>
          <p:cNvSpPr>
            <a:spLocks noGrp="1"/>
          </p:cNvSpPr>
          <p:nvPr>
            <p:ph type="body" idx="17" sz="quarter"/>
          </p:nvPr>
        </p:nvSpPr>
        <p:spPr/>
        <p:txBody>
          <a:bodyPr/>
          <a:lstStyle/>
          <a:p>
            <a:r>
              <a:t>Interpretivist</a:t>
            </a:r>
          </a:p>
        </p:txBody>
      </p:sp>
      <p:sp>
        <p:nvSpPr>
          <p:cNvPr id="7" name="Text Placeholder 6"/>
          <p:cNvSpPr>
            <a:spLocks noGrp="1"/>
          </p:cNvSpPr>
          <p:nvPr>
            <p:ph type="body" idx="18" sz="quarter"/>
          </p:nvPr>
        </p:nvSpPr>
        <p:spPr/>
        <p:txBody>
          <a:bodyPr/>
          <a:lstStyle/>
          <a:p>
            <a:r>
              <a:rPr sz="1400"/>
              <a:t>Often asks: exploratory and interpretive questions</a:t>
            </a:r>
          </a:p>
          <a:p>
            <a:r>
              <a:rPr sz="1400"/>
              <a:t>Typical wording: “How do… experience / interpret / understand…?”</a:t>
            </a:r>
          </a:p>
          <a:p>
            <a:r>
              <a:rPr sz="1400"/>
              <a:t>CY example: “How do cybersecurity professionals understand and interpret insider threats?”</a:t>
            </a:r>
          </a:p>
        </p:txBody>
      </p:sp>
      <p:sp>
        <p:nvSpPr>
          <p:cNvPr id="8" name="Title 7"/>
          <p:cNvSpPr>
            <a:spLocks noGrp="1"/>
          </p:cNvSpPr>
          <p:nvPr>
            <p:ph type="title"/>
          </p:nvPr>
        </p:nvSpPr>
        <p:spPr>
          <a:xfrm>
            <a:off x="660400" y="805213"/>
            <a:ext cx="10693400" cy="830997"/>
          </a:xfrm>
        </p:spPr>
        <p:txBody>
          <a:bodyPr/>
          <a:lstStyle/>
          <a:p>
            <a:r>
              <a:t>Stance shapes the question</a:t>
            </a:r>
          </a:p>
        </p:txBody>
      </p:sp>
      <p:sp>
        <p:nvSpPr>
          <p:cNvPr id="9" name="TextBox 8"/>
          <p:cNvSpPr txBox="1"/>
          <p:nvPr/>
        </p:nvSpPr>
        <p:spPr>
          <a:xfrm>
            <a:off x="660400" y="5750000"/>
            <a:ext cx="9300000" cy="500000"/>
          </a:xfrm>
          <a:prstGeom prst="rect">
            <a:avLst/>
          </a:prstGeom>
          <a:noFill/>
        </p:spPr>
        <p:txBody>
          <a:bodyPr wrap="square">
            <a:spAutoFit/>
          </a:bodyPr>
          <a:lstStyle/>
          <a:p>
            <a:r>
              <a:rPr sz="1400" b="1"/>
              <a:t>Check your draft question against your Stance Card: does it assume the stance you chose?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1"/>
              <a:t>About 60 minutes, individually or in pairs</a:t>
            </a:r>
          </a:p>
          <a:p>
            <a:r>
              <a:rPr sz="2400" b="0"/>
              <a:t>1. Name your broad area (from your Stance Card)</a:t>
            </a:r>
          </a:p>
          <a:p>
            <a:r>
              <a:rPr sz="2400" b="0"/>
              <a:t>2. Use your three sources to spot a gap</a:t>
            </a:r>
          </a:p>
          <a:p>
            <a:r>
              <a:rPr sz="2400" b="0"/>
              <a:t>3. Narrow to a specific research problem</a:t>
            </a:r>
          </a:p>
          <a:p>
            <a:r>
              <a:rPr sz="2400" b="0"/>
              <a:t>4. Write at least three research questions of different types that fit your stance</a:t>
            </a:r>
          </a:p>
          <a:p>
            <a:r>
              <a:rPr sz="2400" b="0"/>
              <a:t>5. Peer review: clear, focused, answerable – and does it fit your stance?</a:t>
            </a:r>
          </a:p>
        </p:txBody>
      </p:sp>
      <p:sp>
        <p:nvSpPr>
          <p:cNvPr id="3" name="Title 2"/>
          <p:cNvSpPr>
            <a:spLocks noGrp="1"/>
          </p:cNvSpPr>
          <p:nvPr>
            <p:ph type="title"/>
          </p:nvPr>
        </p:nvSpPr>
        <p:spPr/>
        <p:txBody>
          <a:bodyPr/>
          <a:lstStyle/>
          <a:p>
            <a:r>
              <a:t>Funnel Strategy worksheet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This afternoon: reviewing and critically appraising literature</a:t>
            </a:r>
          </a:p>
          <a:p>
            <a:r>
              <a:rPr sz="2400" b="0"/>
              <a:t>Bring your candidate source from the Literature Search Task</a:t>
            </a:r>
          </a:p>
          <a:p>
            <a:r>
              <a:rPr sz="2400" b="0"/>
              <a:t>Thursday’s Zoom: Ethics Core</a:t>
            </a:r>
          </a:p>
          <a:p>
            <a:r>
              <a:rPr sz="2400" b="0"/>
              <a:t>Then complete your Ethics Self-Assessment before Week 3, Session 1</a:t>
            </a:r>
          </a:p>
        </p:txBody>
      </p:sp>
      <p:sp>
        <p:nvSpPr>
          <p:cNvPr id="3" name="Title 2"/>
          <p:cNvSpPr>
            <a:spLocks noGrp="1"/>
          </p:cNvSpPr>
          <p:nvPr>
            <p:ph type="title"/>
          </p:nvPr>
        </p:nvSpPr>
        <p:spPr/>
        <p:txBody>
          <a:bodyPr/>
          <a:lstStyle/>
          <a:p>
            <a:r>
              <a:t>Next: Literature Review and Critical Appraisal</a:t>
            </a:r>
          </a:p>
        </p:txBody>
      </p:sp>
    </p:spTree>
  </p:cSld>
  <p:clrMapOvr>
    <a:masterClrMapping/>
  </p:clrMapOvr>
</p:sld>
</file>

<file path=ppt/theme/theme1.xml><?xml version="1.0" encoding="utf-8"?>
<a:theme xmlns:a="http://schemas.openxmlformats.org/drawingml/2006/main" name="Office Theme">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OM7302 - Lecture Notes Template .potx" id="{F4A8A639-34D0-4C88-9902-803DFD3E5723}" vid="{36ADB6EE-DFE0-4DC5-A99F-4E2E0D56D737}"/>
    </a:ext>
  </a:extLst>
</a:theme>
</file>

<file path=ppt/theme/theme2.xml><?xml version="1.0" encoding="utf-8"?>
<a:theme xmlns:a="http://schemas.openxmlformats.org/drawingml/2006/main" name="COM7302 - Lecture Notes Template ">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OM7302 - Lecture Notes Template .potx" id="{F4A8A639-34D0-4C88-9902-803DFD3E5723}" vid="{36ADB6EE-DFE0-4DC5-A99F-4E2E0D56D73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89f7b614-c64b-4738-997e-aac1eab42931" xsi:nil="true"/>
    <_activity xmlns="89f7b614-c64b-4738-997e-aac1eab4293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17C986513D50A4C9143007A1A38EF2E" ma:contentTypeVersion="18" ma:contentTypeDescription="Create a new document." ma:contentTypeScope="" ma:versionID="21e1fbfe0a6ca7a30510918adfd9cbd6">
  <xsd:schema xmlns:xsd="http://www.w3.org/2001/XMLSchema" xmlns:xs="http://www.w3.org/2001/XMLSchema" xmlns:p="http://schemas.microsoft.com/office/2006/metadata/properties" xmlns:ns3="d1f5d9b0-cdb0-4c3a-b058-450b9d105468" xmlns:ns4="89f7b614-c64b-4738-997e-aac1eab42931" targetNamespace="http://schemas.microsoft.com/office/2006/metadata/properties" ma:root="true" ma:fieldsID="573784e5b50c325d55c9015ced130b1b" ns3:_="" ns4:_="">
    <xsd:import namespace="d1f5d9b0-cdb0-4c3a-b058-450b9d105468"/>
    <xsd:import namespace="89f7b614-c64b-4738-997e-aac1eab4293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ServiceAutoKeyPoints" minOccurs="0"/>
                <xsd:element ref="ns4:MediaServiceKeyPoints" minOccurs="0"/>
                <xsd:element ref="ns4:MediaLengthInSeconds" minOccurs="0"/>
                <xsd:element ref="ns4:_activity"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f5d9b0-cdb0-4c3a-b058-450b9d10546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9f7b614-c64b-4738-997e-aac1eab4293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d1f5d9b0-cdb0-4c3a-b058-450b9d105468"/>
    <ds:schemaRef ds:uri="http://schemas.microsoft.com/office/2006/documentManagement/types"/>
    <ds:schemaRef ds:uri="http://schemas.openxmlformats.org/package/2006/metadata/core-properties"/>
    <ds:schemaRef ds:uri="http://purl.org/dc/terms/"/>
    <ds:schemaRef ds:uri="http://purl.org/dc/elements/1.1/"/>
    <ds:schemaRef ds:uri="http://www.w3.org/XML/1998/namespace"/>
    <ds:schemaRef ds:uri="http://schemas.microsoft.com/office/2006/metadata/properties"/>
    <ds:schemaRef ds:uri="http://schemas.microsoft.com/office/infopath/2007/PartnerControls"/>
    <ds:schemaRef ds:uri="89f7b614-c64b-4738-997e-aac1eab42931"/>
    <ds:schemaRef ds:uri="http://purl.org/dc/dcmitype/"/>
  </ds:schemaRefs>
</ds:datastoreItem>
</file>

<file path=customXml/itemProps3.xml><?xml version="1.0" encoding="utf-8"?>
<ds:datastoreItem xmlns:ds="http://schemas.openxmlformats.org/officeDocument/2006/customXml" ds:itemID="{3E790DD2-A406-4046-8BA6-E72EEDCE07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f5d9b0-cdb0-4c3a-b058-450b9d105468"/>
    <ds:schemaRef ds:uri="89f7b614-c64b-4738-997e-aac1eab429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COM7302 - Lecture Notes Template </Template>
  <TotalTime>2134</TotalTime>
  <Words>2656</Words>
  <Application>Microsoft Office PowerPoint</Application>
  <PresentationFormat>Widescreen</PresentationFormat>
  <Paragraphs>225</Paragraphs>
  <Slides>28</Slides>
  <Notes>11</Notes>
  <HiddenSlides>0</HiddenSlides>
  <MMClips>1</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28</vt:i4>
      </vt:variant>
    </vt:vector>
  </HeadingPairs>
  <TitlesOfParts>
    <vt:vector size="38" baseType="lpstr">
      <vt:lpstr>Aptos</vt:lpstr>
      <vt:lpstr>Arial</vt:lpstr>
      <vt:lpstr>Biome Light</vt:lpstr>
      <vt:lpstr>Calibri</vt:lpstr>
      <vt:lpstr>Calibri Light</vt:lpstr>
      <vt:lpstr>Helvetica Neue</vt:lpstr>
      <vt:lpstr>Times New Roman</vt:lpstr>
      <vt:lpstr>Wingdings</vt:lpstr>
      <vt:lpstr>Office Theme</vt:lpstr>
      <vt:lpstr>COM7302 - Lecture Notes Template </vt:lpstr>
      <vt:lpstr>Research Methods  Research Philosophy and Paradigms</vt:lpstr>
      <vt:lpstr>By the end of the session, you should be able to…</vt:lpstr>
      <vt:lpstr>What’s it all about</vt:lpstr>
      <vt:lpstr>All the resources will be posted to the Moodle page </vt:lpstr>
      <vt:lpstr>What is a research problem</vt:lpstr>
      <vt:lpstr>What is a Research Problem?</vt:lpstr>
      <vt:lpstr>Research in CS, DA, and CY </vt:lpstr>
      <vt:lpstr>Interdisciplinary Nature of Research</vt:lpstr>
      <vt:lpstr> </vt:lpstr>
      <vt:lpstr>There’s more than one type of question?</vt:lpstr>
      <vt:lpstr>Yup, There sure is!</vt:lpstr>
      <vt:lpstr>Types of Research Questions </vt:lpstr>
      <vt:lpstr>A question of Philosophy</vt:lpstr>
      <vt:lpstr>Recap from last week?  </vt:lpstr>
      <vt:lpstr>Ontology and Research Question Formulation</vt:lpstr>
      <vt:lpstr>Epistemology and Research Questions</vt:lpstr>
      <vt:lpstr>Axiology and the Ethical Dimension of Research Questions</vt:lpstr>
      <vt:lpstr>Doxology and Beliefs Guiding Research</vt:lpstr>
      <vt:lpstr>Constructing Effective Research Questions – A Checklist </vt:lpstr>
      <vt:lpstr>Examples of Well-Constructed Research Questions</vt:lpstr>
      <vt:lpstr>The Funnel Stratagem </vt:lpstr>
      <vt:lpstr>The Funnel Stratagem</vt:lpstr>
      <vt:lpstr>Applying The Funnel Stratagem</vt:lpstr>
      <vt:lpstr>PowerPoint Presentation</vt:lpstr>
      <vt:lpstr>Summary of Key Concepts</vt:lpstr>
      <vt:lpstr>From this point on…you’re a scientific  researcher!</vt:lpstr>
      <vt:lpstr>Reflection &amp; Writing – 10 Mins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COM7302 – Research Methods  Research Philosophy and Paradigms</dc:title>
  <dc:creator>Tighe, Bren</dc:creator>
  <cp:lastModifiedBy>Tighe, Bren</cp:lastModifiedBy>
  <cp:revision>7</cp:revision>
  <dcterms:created xsi:type="dcterms:W3CDTF">2024-09-04T09:10:35Z</dcterms:created>
  <dcterms:modified xsi:type="dcterms:W3CDTF">2026-09-24T11:26:09Z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0x010100D17C986513D50A4C9143007A1A38EF2E</vt:lpwstr>
  </property>
</Properties>
</file>