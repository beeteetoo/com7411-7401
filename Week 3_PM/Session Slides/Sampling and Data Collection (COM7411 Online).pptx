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429" r:id="rId10"/>
    <p:sldId id="430" r:id="rId9"/>
    <p:sldId id="431" r:id="rId45"/>
    <p:sldId id="432" r:id="rId46"/>
    <p:sldId id="433" r:id="rId47"/>
    <p:sldId id="434" r:id="rId48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answers (more than one can be defended): experiment; semi-structured interviews; simulation; observation; derived or existing data from review records. Ask for the reason, not just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3 – Session 2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COM7411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Sampling and Data Collection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Distinguish quantitative and qualitative data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Choose a data collection method that fits your question and your design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Explain how you will select your sample, and why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Justify your choices and note their ethical implications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Capture which method you chose, why it fits your question, and what your sample cannot tell you.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From design to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Your design framework tells you what kind of evidence you need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Now decide how you will collect it, and from whom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Today feeds the data collection and sampling part of your Methodology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Have to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Research Design Framework from the first session this week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The sampling and data collection primer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You leave with a selected and justified method, and a sampling approach.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Quantitative and qualitative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Quantitative: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2402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Measurable observations</a:t>
            </a:r>
          </a:p>
          <a:p>
            <a:pPr algn="l">
              <a:spcAft>
                <a:spcPts val="500"/>
              </a:spcAft>
            </a:pPr>
            <a:r>
              <a:rPr sz="1900" b="0" i="1">
                <a:solidFill>
                  <a:srgbClr val="2C599D"/>
                </a:solidFill>
              </a:rPr>
              <a:t>Example: 62% of staff clicked a phishing link. This tells you how many, but not why, when or how.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Qualitative: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2402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Descriptions, categories, words and meanings</a:t>
            </a:r>
          </a:p>
          <a:p>
            <a:pPr algn="l">
              <a:spcAft>
                <a:spcPts val="500"/>
              </a:spcAft>
            </a:pPr>
            <a:r>
              <a:rPr sz="1900" b="0" i="1">
                <a:solidFill>
                  <a:srgbClr val="2C599D"/>
                </a:solidFill>
              </a:rPr>
              <a:t>Example: staff explain why they clicked: the email looked like it came from their manager. This tells you why, when and how.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377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Many good studies need both. Your question decides.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377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Types of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Change a variable and measure the effect; best for cause and effect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Derived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Transform or combine existing datasets into a new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Record behaviour or activity directly, or through sensors and video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Simulation and digital twins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Build a replica of a process to generate data, for example attack or malware behaviour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02336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402336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Surveys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57200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Questionnaires: cross-sectional (one point in time), longitudinal (repeated) or retrospective (recollection)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Match the method to the question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1745"/>
                <a:gridCol w="382385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Research question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Which method would you choose?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Does a new firewall rule reduce intrusion attempts?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How do help-desk staff experience a new ticketing system?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How would a ransomware outbreak spread across a network?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What do users do when a phishing warning appears?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Has security feedback in code reviews changed over two years?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7150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Pick a method and give one reason it fits the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715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Interviews: four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Structured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Same standardised questions, in the same order, for everyone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16636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Semi-structured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3172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A few planned questions; others follow the conversation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8620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886200"/>
            <a:ext cx="516636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Unstructured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No predetermined questions; the participant 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88620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886200"/>
            <a:ext cx="516636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Focus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43484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Questions put to a group; useful for diverse perspectives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Interviews: merits and limits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541"/>
                <a:gridCol w="4779818"/>
                <a:gridCol w="4206240"/>
              </a:tblGrid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Merits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Limits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Face to face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Detailed questions; rich data; clarifying questions possible; high response rate; good for sensitive issues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Expensive; interviewer bias; needs interviewer training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Telephone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Inexpensive; quick; clarifying questions possible; fewer resources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Hard to reach people at first; only for people with a phone; limited for sensitive issues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Focus group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Cost-effective; large amount of data; group dynamics can spark new insights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Dominant voices can take over; no anonymity or confidentiality in the group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Observation (detached)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The researcher watches without taking part and records what happens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Uses an observation guide: a set of things to look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Participant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The researcher takes part in the setting being studied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Also needs an observation guide, and permission from the organisation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822960" y="4434840"/>
            <a:ext cx="2560320" cy="82296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Decide what to observe</a:t>
            </a:r>
          </a:p>
        </p:txBody>
      </p:sp>
      <p:sp>
        <p:nvSpPr>
          <p:cNvPr id="11" name="Chevron 10"/>
          <p:cNvSpPr/>
          <p:nvPr/>
        </p:nvSpPr>
        <p:spPr>
          <a:xfrm>
            <a:off x="3474720" y="4434840"/>
            <a:ext cx="2560320" cy="82296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Select participants</a:t>
            </a:r>
          </a:p>
        </p:txBody>
      </p:sp>
      <p:sp>
        <p:nvSpPr>
          <p:cNvPr id="12" name="Chevron 11"/>
          <p:cNvSpPr/>
          <p:nvPr/>
        </p:nvSpPr>
        <p:spPr>
          <a:xfrm>
            <a:off x="6126480" y="4434840"/>
            <a:ext cx="2560320" cy="822960"/>
          </a:xfrm>
          <a:prstGeom prst="chevron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Observe and record</a:t>
            </a:r>
          </a:p>
        </p:txBody>
      </p:sp>
      <p:sp>
        <p:nvSpPr>
          <p:cNvPr id="13" name="Chevron 12"/>
          <p:cNvSpPr/>
          <p:nvPr/>
        </p:nvSpPr>
        <p:spPr>
          <a:xfrm>
            <a:off x="8778240" y="4434840"/>
            <a:ext cx="2560320" cy="82296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Analyse and interpret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Choosing a sample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Define the population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Set selection criteria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Choose a sample that meets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Example population: banks in two countries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Example criteria: large and medium banks; extensive and low digital adoption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Most quantitative studies draw conclusions about a population from a sample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Many qualitative studies look closely at a few cases that are relevant to a wider population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Probability and non-probability sampling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810"/>
                <a:gridCol w="4150894"/>
                <a:gridCol w="4150894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Quantitative studies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Qualitative studies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Aim of sampling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Draw conclusions about the population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Study specific cases in depth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Probability methods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Simple random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Systematic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Stratified random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Cluster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Not usually used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Non-probability methods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Purposive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Purposive, convenience, snowball,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quota, judgemental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Instruments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Structured questionnaires, surveys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Interviews, focus groups,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open-ended questionnaires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How big, and how biased?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Sample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Quantitative: large enough to support the statistics you plan to use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Qualitative: enough cases to give rich, repeated insight, justified by your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Common sources of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Convenience: only people who are easy to reach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Self-selection: only people who volunteer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Non-response: the people who do not reply differ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Always say what your sample cannot tell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Designing the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Link it to your research problem and design: why will this instrument give the evidence you need?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State what data you need: quantitative metrics, or qualitative constructs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Choose question types: open, closed or Likert, and keep the format clear and logical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Pilot it with a small group, gather feedback and revise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Avoid collecting data you do not need: it costs time and adds ethical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Measurement scales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029200"/>
                <a:gridCol w="402336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Scale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Nominal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Labels categories with no order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Type of cyber threat: A, B, 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Ordinal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Ordered categories; gaps between ranks are not equal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Satisfaction 1 to 5; Likert agreement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Interval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Equal intervals; no true zero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Age or income ranges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Ratio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Equal intervals and a true zero; absolute comparison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Weight; number of cyberattacks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7150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The scale you choose limits the statistics you can use in Week 4.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715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Qualitative questions work at three levels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Main research question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Sub-questions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Interview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Only the interview questions go into the instrument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They must be answerable directly by the people you ask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Example: "Why are so few cybersecurity professionals employed in your organisation?"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Data Collection Worksheet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Select and justify a data collection method, or a combination, for your own study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Say how it fits your research question and your design from this morning's framework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Describe your population and how you will select your sample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Sketch the instrument: the type of questions and what data they give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Note one ethical implication of the method you chose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Work on one section in depth rather than skimming them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Primary and secondary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Primary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Collected for the first time, and original in character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Secondary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Already collected by someone 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How to tell which a source is for your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Does it come from someone directly involved, or from another researcher?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Are you analysing the source itself, or using it for background?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Ethics: one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Collecting data from or about people usually needs ethics approval before you start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An application typically includes: the application form, a participant information sheet, a consent form, permission from the organisation, and your research proposal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Focus groups cannot promise anonymity; say so to participants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Record the ethics implication of your method in your worksheet.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Peer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Swap your worksheet with a partner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Ask: does the method fit the research question and the design?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Write two comments for your partner: one strength and one thing to tighten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Be specific: name the question and the method you are checking.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Over the weekend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Draft a sampling and data collection paragraph of about 150 words: your first Methodology writing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Watch the tools demo recording: analysis software, referencing and the AI-use policy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Watch the qualitative worked example recording before the next session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Monday evening: quantitative analysis. The report is due on Saturday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Choose your analysis route (quantitative, qualitative or mixed) before Monday.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