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0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11155680" cy="658368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800" b="1">
                <a:solidFill>
                  <a:srgbClr val="FFFFFF"/>
                </a:solidFill>
                <a:latin typeface="Aptos"/>
              </a:defRPr>
            </a:pPr>
            <a:r>
              <a:t>Research philosophy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64808"/>
            <a:ext cx="109728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2F0F4"/>
                </a:solidFill>
                <a:latin typeface="Aptos"/>
              </a:defRPr>
            </a:pPr>
            <a:r>
              <a:t>Research Methods • shared academic master • Mbanaso et al. (2023), Chapter 6, pp. 81–96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417320"/>
            <a:ext cx="10332720" cy="1280160"/>
          </a:xfrm>
          <a:prstGeom prst="roundRect">
            <a:avLst/>
          </a:prstGeom>
          <a:solidFill>
            <a:srgbClr val="009A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3200" b="1">
                <a:solidFill>
                  <a:srgbClr val="FFFFFF"/>
                </a:solidFill>
                <a:latin typeface="Aptos"/>
              </a:defRPr>
            </a:pPr>
            <a:r>
              <a:t>Topic 02 • LO1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063240"/>
            <a:ext cx="10332720" cy="1325880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700" b="0">
                <a:solidFill>
                  <a:srgbClr val="FFFFFF"/>
                </a:solidFill>
                <a:latin typeface="Aptos"/>
              </a:defRPr>
            </a:pPr>
            <a:r>
              <a:t>Portfolio link: Critical Literature Review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800600"/>
            <a:ext cx="10332720" cy="777240"/>
          </a:xfrm>
          <a:prstGeom prst="round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300" b="0">
                <a:solidFill>
                  <a:srgbClr val="E2F0F4"/>
                </a:solidFill>
                <a:latin typeface="Aptos"/>
              </a:defRPr>
            </a:pPr>
            <a:r>
              <a:t>One shared concept set • track-specific live activity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0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11155680" cy="658368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800" b="1">
                <a:solidFill>
                  <a:srgbClr val="FFFFFF"/>
                </a:solidFill>
                <a:latin typeface="Aptos"/>
              </a:defRPr>
            </a:pPr>
            <a:r>
              <a:t>Three ideas to take 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64808"/>
            <a:ext cx="109728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2F0F4"/>
                </a:solidFill>
                <a:latin typeface="Aptos"/>
              </a:defRPr>
            </a:pPr>
            <a:r>
              <a:t>Research Methods • shared academic master • Mbanaso et al. (2023), Chapter 6, pp. 81–96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25880"/>
            <a:ext cx="10515600" cy="1188720"/>
          </a:xfrm>
          <a:prstGeom prst="roundRect">
            <a:avLst/>
          </a:prstGeom>
          <a:solidFill>
            <a:srgbClr val="009A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500" b="0">
                <a:solidFill>
                  <a:srgbClr val="FFFFFF"/>
                </a:solidFill>
                <a:latin typeface="Aptos"/>
              </a:defRPr>
            </a:pPr>
            <a:r>
              <a:t>Philosophical ontology concerns the nature of what is studied.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834639"/>
            <a:ext cx="10515600" cy="1188720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500" b="0">
                <a:solidFill>
                  <a:srgbClr val="FFFFFF"/>
                </a:solidFill>
                <a:latin typeface="Aptos"/>
              </a:defRPr>
            </a:pPr>
            <a:r>
              <a:t>Epistemology concerns what could count as knowledge.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343400"/>
            <a:ext cx="10515600" cy="1188720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500" b="0">
                <a:solidFill>
                  <a:srgbClr val="FFFFFF"/>
                </a:solidFill>
                <a:latin typeface="Aptos"/>
              </a:defRPr>
            </a:pPr>
            <a:r>
              <a:t>A computing domain ontology is a different technical concept.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0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11155680" cy="658368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800" b="1">
                <a:solidFill>
                  <a:srgbClr val="FFFFFF"/>
                </a:solidFill>
                <a:latin typeface="Aptos"/>
              </a:defRPr>
            </a:pPr>
            <a:r>
              <a:t>Worked computing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64808"/>
            <a:ext cx="109728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2F0F4"/>
                </a:solidFill>
                <a:latin typeface="Aptos"/>
              </a:defRPr>
            </a:pPr>
            <a:r>
              <a:t>Research Methods • shared academic master • Mbanaso et al. (2023), Chapter 6, pp. 81–96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25880"/>
            <a:ext cx="10515600" cy="1188720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500" b="0">
                <a:solidFill>
                  <a:srgbClr val="FFFFFF"/>
                </a:solidFill>
                <a:latin typeface="Aptos"/>
              </a:defRPr>
            </a:pPr>
            <a:r>
              <a:t>Dashboard use could be studied through task accuracy and time.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834639"/>
            <a:ext cx="10515600" cy="1188720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500" b="0">
                <a:solidFill>
                  <a:srgbClr val="FFFFFF"/>
                </a:solidFill>
                <a:latin typeface="Aptos"/>
              </a:defRPr>
            </a:pPr>
            <a:r>
              <a:t>It could also be studied through analysts’ interpretations in context.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343400"/>
            <a:ext cx="10515600" cy="1188720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500" b="0">
                <a:solidFill>
                  <a:srgbClr val="FFFFFF"/>
                </a:solidFill>
                <a:latin typeface="Aptos"/>
              </a:defRPr>
            </a:pPr>
            <a:r>
              <a:t>Choose a position for the question and evaluate a credible alternative.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0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11155680" cy="658368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800" b="1">
                <a:solidFill>
                  <a:srgbClr val="FFFFFF"/>
                </a:solidFill>
                <a:latin typeface="Aptos"/>
              </a:defRPr>
            </a:pPr>
            <a:r>
              <a:t>Pause and test the reasoning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64808"/>
            <a:ext cx="109728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2F0F4"/>
                </a:solidFill>
                <a:latin typeface="Aptos"/>
              </a:defRPr>
            </a:pPr>
            <a:r>
              <a:t>Research Methods • shared academic master • Mbanaso et al. (2023), Chapter 6, pp. 81–96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25880"/>
            <a:ext cx="10515600" cy="1188720"/>
          </a:xfrm>
          <a:prstGeom prst="roundRect">
            <a:avLst/>
          </a:prstGeom>
          <a:solidFill>
            <a:srgbClr val="009A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500" b="0">
                <a:solidFill>
                  <a:srgbClr val="FFFFFF"/>
                </a:solidFill>
                <a:latin typeface="Aptos"/>
              </a:defRPr>
            </a:pPr>
            <a:r>
              <a:t>What evidence does your question need?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834639"/>
            <a:ext cx="10515600" cy="1188720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500" b="0">
                <a:solidFill>
                  <a:srgbClr val="FFFFFF"/>
                </a:solidFill>
                <a:latin typeface="Aptos"/>
              </a:defRPr>
            </a:pPr>
            <a:r>
              <a:t>Which assumption makes that evidence meaningful?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343400"/>
            <a:ext cx="10515600" cy="1188720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500" b="0">
                <a:solidFill>
                  <a:srgbClr val="FFFFFF"/>
                </a:solidFill>
                <a:latin typeface="Aptos"/>
              </a:defRPr>
            </a:pPr>
            <a:r>
              <a:t>What would a serious alternative reveal?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0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11155680" cy="658368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800" b="1">
                <a:solidFill>
                  <a:srgbClr val="FFFFFF"/>
                </a:solidFill>
                <a:latin typeface="Aptos"/>
              </a:defRPr>
            </a:pPr>
            <a:r>
              <a:t>Your individual task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64808"/>
            <a:ext cx="109728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2F0F4"/>
                </a:solidFill>
                <a:latin typeface="Aptos"/>
              </a:defRPr>
            </a:pPr>
            <a:r>
              <a:t>Research Methods • shared academic master • Mbanaso et al. (2023), Chapter 6, pp. 81–96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417320"/>
            <a:ext cx="10515600" cy="2011680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900" b="0">
                <a:solidFill>
                  <a:srgbClr val="FFFFFF"/>
                </a:solidFill>
                <a:latin typeface="Aptos"/>
              </a:defRPr>
            </a:pPr>
            <a:r>
              <a:t>State your question, chosen position, evidence and counter-position in four sentences.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749039"/>
            <a:ext cx="10515600" cy="1371600"/>
          </a:xfrm>
          <a:prstGeom prst="roundRect">
            <a:avLst/>
          </a:prstGeom>
          <a:solidFill>
            <a:srgbClr val="009A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500" b="0">
                <a:solidFill>
                  <a:srgbClr val="FFFFFF"/>
                </a:solidFill>
                <a:latin typeface="Aptos"/>
              </a:defRPr>
            </a:pPr>
            <a:r>
              <a:t>Success check: Justify the study-specific choice without assigning a paradigm to a whole discipline.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0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11155680" cy="658368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800" b="1">
                <a:solidFill>
                  <a:srgbClr val="FFFFFF"/>
                </a:solidFill>
                <a:latin typeface="Aptos"/>
              </a:defRPr>
            </a:pPr>
            <a:r>
              <a:t>Take it into the portfolio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64808"/>
            <a:ext cx="109728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2F0F4"/>
                </a:solidFill>
                <a:latin typeface="Aptos"/>
              </a:defRPr>
            </a:pPr>
            <a:r>
              <a:t>Research Methods • shared academic master • Mbanaso et al. (2023), Chapter 6, pp. 81–96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417320"/>
            <a:ext cx="10515600" cy="1417320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700" b="0">
                <a:solidFill>
                  <a:srgbClr val="FFFFFF"/>
                </a:solidFill>
                <a:latin typeface="Aptos"/>
              </a:defRPr>
            </a:pPr>
            <a:r>
              <a:t>Report connection: Critical Literature Review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108960"/>
            <a:ext cx="10515600" cy="1417320"/>
          </a:xfrm>
          <a:prstGeom prst="roundRect">
            <a:avLst/>
          </a:prstGeom>
          <a:solidFill>
            <a:srgbClr val="009A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400" b="0">
                <a:solidFill>
                  <a:srgbClr val="FFFFFF"/>
                </a:solidFill>
                <a:latin typeface="Aptos"/>
              </a:defRPr>
            </a:pPr>
            <a:r>
              <a:t>Key terms: Ontology • epistemology • paradigm • counter-position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754880"/>
            <a:ext cx="10515600" cy="685800"/>
          </a:xfrm>
          <a:prstGeom prst="round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100" b="0">
                <a:solidFill>
                  <a:srgbClr val="E2F0F4"/>
                </a:solidFill>
                <a:latin typeface="Aptos"/>
              </a:defRPr>
            </a:pPr>
            <a:r>
              <a:t>Use the numbered student note for the full explanation and task.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