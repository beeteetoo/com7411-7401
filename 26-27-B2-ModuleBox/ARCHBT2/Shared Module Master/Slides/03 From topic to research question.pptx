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From topic to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4, pp. 39–57; Chapter 3, pp. 29–31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28016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3200" b="1">
                <a:solidFill>
                  <a:srgbClr val="FFFFFF"/>
                </a:solidFill>
                <a:latin typeface="Aptos"/>
              </a:defRPr>
            </a:pPr>
            <a:r>
              <a:t>Topic 03 • LO1–2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063240"/>
            <a:ext cx="10332720" cy="13258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Portfolio link: Background &amp;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0332720" cy="77724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300" b="0">
                <a:solidFill>
                  <a:srgbClr val="E2F0F4"/>
                </a:solidFill>
                <a:latin typeface="Aptos"/>
              </a:defRPr>
            </a:pPr>
            <a:r>
              <a:t>One shared concept set • track-specific live activity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Three ideas to take 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4, pp. 39–57; Chapter 3, pp. 29–31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Funnel: field → evidence → gap → scoped problem → question.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A gap needs a defensible source trail, not an assertion of novelty.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Design-and-creation research still needs an evaluative knowledge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Worked computing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4, pp. 39–57; Chapter 3, pp. 29–31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‘Build an AI app’ states a task.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‘How accurately does it identify support requests versus a baseline?’ asks for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Define the dataset, outcome measure, comparison and limitation.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Pause and test the reasoning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4, pp. 39–57; Chapter 3, pp. 29–31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15600" cy="11887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Which key word needs defining?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39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Can the proposed evidence answer the question?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10515600" cy="11887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Does it ask for knowledge or only build steps?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Your individual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4, pp. 39–57; Chapter 3, pp. 29–31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201168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900" b="0">
                <a:solidFill>
                  <a:srgbClr val="FFFFFF"/>
                </a:solidFill>
                <a:latin typeface="Aptos"/>
              </a:defRPr>
            </a:pPr>
            <a:r>
              <a:t>Create a six-box funnel, write one question and a two-sentence evidence plan.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10515600" cy="137160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500" b="0">
                <a:solidFill>
                  <a:srgbClr val="FFFFFF"/>
                </a:solidFill>
                <a:latin typeface="Aptos"/>
              </a:defRPr>
            </a:pPr>
            <a:r>
              <a:t>Success check: The question is specific, answerable and feasible.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1155680" cy="658368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Take it into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64808"/>
            <a:ext cx="10972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2F0F4"/>
                </a:solidFill>
                <a:latin typeface="Aptos"/>
              </a:defRPr>
            </a:pPr>
            <a:r>
              <a:t>Research Methods • shared academic master • Mbanaso et al. (2023), Chapter 4, pp. 39–57; Chapter 3, pp. 29–31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1417320"/>
          </a:xfrm>
          <a:prstGeom prst="roundRect">
            <a:avLst/>
          </a:prstGeom>
          <a:solidFill>
            <a:srgbClr val="1853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700" b="0">
                <a:solidFill>
                  <a:srgbClr val="FFFFFF"/>
                </a:solidFill>
                <a:latin typeface="Aptos"/>
              </a:defRPr>
            </a:pPr>
            <a:r>
              <a:t>Report connection: Background &amp;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10515600" cy="1417320"/>
          </a:xfrm>
          <a:prstGeom prst="roundRect">
            <a:avLst/>
          </a:prstGeom>
          <a:solidFill>
            <a:srgbClr val="009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Key terms: Scope • gap • baseline • operational definition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54880"/>
            <a:ext cx="10515600" cy="685800"/>
          </a:xfrm>
          <a:prstGeom prst="roundRect">
            <a:avLst/>
          </a:prstGeom>
          <a:solidFill>
            <a:srgbClr val="12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64592" tIns="109728" bIns="73152"/>
          <a:lstStyle/>
          <a:p>
            <a:pPr algn="ctr">
              <a:defRPr sz="2100" b="0">
                <a:solidFill>
                  <a:srgbClr val="E2F0F4"/>
                </a:solidFill>
                <a:latin typeface="Aptos"/>
              </a:defRPr>
            </a:pPr>
            <a:r>
              <a:t>Use the numbered student note for the full explanation and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