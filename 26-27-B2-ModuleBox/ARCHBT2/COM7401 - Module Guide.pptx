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64" r:id="rId2"/>
    <p:sldId id="261" r:id="rId3"/>
    <p:sldId id="268" r:id="rId4"/>
    <p:sldId id="266" r:id="rId5"/>
    <p:sldId id="267" r:id="rId6"/>
    <p:sldId id="269" r:id="rId7"/>
    <p:sldId id="270" r:id="rId8"/>
    <p:sldId id="271" r:id="rId9"/>
    <p:sldId id="272" r:id="rId10"/>
    <p:sldId id="274" r:id="rId11"/>
    <p:sldId id="275" r:id="rId12"/>
    <p:sldId id="265" r:id="rId13"/>
  </p:sldIdLst>
  <p:sldSz cx="12192000" cy="6858000"/>
  <p:notesSz cx="7010400" cy="9296400"/>
  <p:embeddedFontLst>
    <p:embeddedFont>
      <p:font typeface="Georgia" panose="02040502050405020303" pitchFamily="18"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27"/>
    <p:restoredTop sz="94704"/>
  </p:normalViewPr>
  <p:slideViewPr>
    <p:cSldViewPr snapToGrid="0">
      <p:cViewPr varScale="1">
        <p:scale>
          <a:sx n="78" d="100"/>
          <a:sy n="78" d="100"/>
        </p:scale>
        <p:origin x="111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GB"/>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80F1C373-FE64-4E49-89C9-19B2C91EC788}" type="datetimeFigureOut">
              <a:rPr lang="en-GB" smtClean="0"/>
              <a:t>01/07/2026</a:t>
            </a:fld>
            <a:endParaRPr lang="en-GB"/>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GB"/>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GB"/>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69C8B07-D723-45F5-BA2F-873E2B402502}" type="slidenum">
              <a:rPr lang="en-GB" smtClean="0"/>
              <a:t>‹#›</a:t>
            </a:fld>
            <a:endParaRPr lang="en-GB"/>
          </a:p>
        </p:txBody>
      </p:sp>
    </p:spTree>
    <p:extLst>
      <p:ext uri="{BB962C8B-B14F-4D97-AF65-F5344CB8AC3E}">
        <p14:creationId xmlns:p14="http://schemas.microsoft.com/office/powerpoint/2010/main" val="82447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69C8B07-D723-45F5-BA2F-873E2B402502}" type="slidenum">
              <a:rPr lang="en-GB" smtClean="0"/>
              <a:t>11</a:t>
            </a:fld>
            <a:endParaRPr lang="en-GB"/>
          </a:p>
        </p:txBody>
      </p:sp>
    </p:spTree>
    <p:extLst>
      <p:ext uri="{BB962C8B-B14F-4D97-AF65-F5344CB8AC3E}">
        <p14:creationId xmlns:p14="http://schemas.microsoft.com/office/powerpoint/2010/main" val="26369861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sp>
        <p:nvSpPr>
          <p:cNvPr id="7" name="Rectangle 6">
            <a:extLst>
              <a:ext uri="{FF2B5EF4-FFF2-40B4-BE49-F238E27FC236}">
                <a16:creationId xmlns:a16="http://schemas.microsoft.com/office/drawing/2014/main" id="{77EEFCD5-3239-47DF-8F78-06434FA5DD50}"/>
              </a:ext>
            </a:extLst>
          </p:cNvPr>
          <p:cNvSpPr/>
          <p:nvPr userDrawn="1"/>
        </p:nvSpPr>
        <p:spPr>
          <a:xfrm>
            <a:off x="9513518" y="5542767"/>
            <a:ext cx="1741118" cy="70772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A9B056D-7675-BCC9-9997-8BAAC8CA2B20}"/>
              </a:ext>
            </a:extLst>
          </p:cNvPr>
          <p:cNvPicPr>
            <a:picLocks noChangeAspect="1"/>
          </p:cNvPicPr>
          <p:nvPr userDrawn="1"/>
        </p:nvPicPr>
        <p:blipFill>
          <a:blip r:embed="rId2"/>
          <a:stretch>
            <a:fillRect/>
          </a:stretch>
        </p:blipFill>
        <p:spPr>
          <a:xfrm>
            <a:off x="2581801" y="1327866"/>
            <a:ext cx="3295570" cy="4043238"/>
          </a:xfrm>
          <a:prstGeom prst="rect">
            <a:avLst/>
          </a:prstGeom>
        </p:spPr>
      </p:pic>
      <p:pic>
        <p:nvPicPr>
          <p:cNvPr id="16" name="Picture 15">
            <a:extLst>
              <a:ext uri="{FF2B5EF4-FFF2-40B4-BE49-F238E27FC236}">
                <a16:creationId xmlns:a16="http://schemas.microsoft.com/office/drawing/2014/main" id="{26579860-7990-AFEB-7CEB-8684C06FC037}"/>
              </a:ext>
            </a:extLst>
          </p:cNvPr>
          <p:cNvPicPr>
            <a:picLocks noChangeAspect="1"/>
          </p:cNvPicPr>
          <p:nvPr userDrawn="1"/>
        </p:nvPicPr>
        <p:blipFill>
          <a:blip r:embed="rId3"/>
          <a:srcRect l="29348"/>
          <a:stretch>
            <a:fillRect/>
          </a:stretch>
        </p:blipFill>
        <p:spPr>
          <a:xfrm>
            <a:off x="5935650" y="2552568"/>
            <a:ext cx="3413759" cy="1442757"/>
          </a:xfrm>
          <a:prstGeom prst="rect">
            <a:avLst/>
          </a:prstGeom>
        </p:spPr>
      </p:pic>
      <p:sp>
        <p:nvSpPr>
          <p:cNvPr id="17" name="TextBox 16">
            <a:extLst>
              <a:ext uri="{FF2B5EF4-FFF2-40B4-BE49-F238E27FC236}">
                <a16:creationId xmlns:a16="http://schemas.microsoft.com/office/drawing/2014/main" id="{6CEFD0F3-7BB3-2D48-D8DE-05B6040FFACA}"/>
              </a:ext>
            </a:extLst>
          </p:cNvPr>
          <p:cNvSpPr txBox="1"/>
          <p:nvPr userDrawn="1"/>
        </p:nvSpPr>
        <p:spPr>
          <a:xfrm>
            <a:off x="5877371" y="4216644"/>
            <a:ext cx="4802974" cy="369332"/>
          </a:xfrm>
          <a:prstGeom prst="rect">
            <a:avLst/>
          </a:prstGeom>
          <a:noFill/>
        </p:spPr>
        <p:txBody>
          <a:bodyPr wrap="square" rtlCol="0">
            <a:spAutoFit/>
          </a:bodyPr>
          <a:lstStyle/>
          <a:p>
            <a:r>
              <a:rPr lang="en-GB" dirty="0">
                <a:solidFill>
                  <a:schemeClr val="bg1"/>
                </a:solidFill>
                <a:latin typeface="Georgia" panose="02040502050405020303" pitchFamily="18" charset="0"/>
                <a:cs typeface="Arial" panose="020B0604020202020204" pitchFamily="34" charset="0"/>
              </a:rPr>
              <a:t>greatermanchester.ac.uk</a:t>
            </a:r>
            <a:endParaRPr lang="en-US" dirty="0">
              <a:solidFill>
                <a:schemeClr val="bg1"/>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1395660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5390984" y="2059387"/>
            <a:ext cx="5277016" cy="1450575"/>
          </a:xfrm>
        </p:spPr>
        <p:txBody>
          <a:bodyPr anchor="b">
            <a:normAutofit/>
          </a:bodyPr>
          <a:lstStyle>
            <a:lvl1pPr algn="l">
              <a:defRPr sz="4800">
                <a:solidFill>
                  <a:schemeClr val="accent6"/>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5390984" y="3602038"/>
            <a:ext cx="5277016" cy="1655762"/>
          </a:xfrm>
        </p:spPr>
        <p:txBody>
          <a:bodyPr>
            <a:norm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sp>
        <p:nvSpPr>
          <p:cNvPr id="7" name="Rectangle 6">
            <a:extLst>
              <a:ext uri="{FF2B5EF4-FFF2-40B4-BE49-F238E27FC236}">
                <a16:creationId xmlns:a16="http://schemas.microsoft.com/office/drawing/2014/main" id="{77EEFCD5-3239-47DF-8F78-06434FA5DD50}"/>
              </a:ext>
            </a:extLst>
          </p:cNvPr>
          <p:cNvSpPr/>
          <p:nvPr userDrawn="1"/>
        </p:nvSpPr>
        <p:spPr>
          <a:xfrm>
            <a:off x="9513518" y="5542767"/>
            <a:ext cx="1741118" cy="70772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1" name="Picture 440">
            <a:extLst>
              <a:ext uri="{FF2B5EF4-FFF2-40B4-BE49-F238E27FC236}">
                <a16:creationId xmlns:a16="http://schemas.microsoft.com/office/drawing/2014/main" id="{6A60B118-9E1B-5FB7-943D-65627B73AA20}"/>
              </a:ext>
            </a:extLst>
          </p:cNvPr>
          <p:cNvPicPr>
            <a:picLocks noChangeAspect="1"/>
          </p:cNvPicPr>
          <p:nvPr userDrawn="1"/>
        </p:nvPicPr>
        <p:blipFill>
          <a:blip r:embed="rId2">
            <a:alphaModFix amt="16000"/>
            <a:extLst>
              <a:ext uri="{BEBA8EAE-BF5A-486C-A8C5-ECC9F3942E4B}">
                <a14:imgProps xmlns:a14="http://schemas.microsoft.com/office/drawing/2010/main">
                  <a14:imgLayer r:embed="rId3">
                    <a14:imgEffect>
                      <a14:saturation sat="0"/>
                    </a14:imgEffect>
                  </a14:imgLayer>
                </a14:imgProps>
              </a:ext>
            </a:extLst>
          </a:blip>
          <a:srcRect l="27655" t="11364" b="9928"/>
          <a:stretch>
            <a:fillRect/>
          </a:stretch>
        </p:blipFill>
        <p:spPr>
          <a:xfrm>
            <a:off x="0" y="0"/>
            <a:ext cx="5137899" cy="6858000"/>
          </a:xfrm>
          <a:prstGeom prst="rect">
            <a:avLst/>
          </a:prstGeom>
        </p:spPr>
      </p:pic>
      <p:sp>
        <p:nvSpPr>
          <p:cNvPr id="442" name="TextBox 441">
            <a:extLst>
              <a:ext uri="{FF2B5EF4-FFF2-40B4-BE49-F238E27FC236}">
                <a16:creationId xmlns:a16="http://schemas.microsoft.com/office/drawing/2014/main" id="{6A98AD6D-B9C7-C5A9-F6C3-5A6933F0BF44}"/>
              </a:ext>
            </a:extLst>
          </p:cNvPr>
          <p:cNvSpPr txBox="1"/>
          <p:nvPr userDrawn="1"/>
        </p:nvSpPr>
        <p:spPr>
          <a:xfrm>
            <a:off x="5283482" y="5305170"/>
            <a:ext cx="4802974" cy="369332"/>
          </a:xfrm>
          <a:prstGeom prst="rect">
            <a:avLst/>
          </a:prstGeom>
          <a:noFill/>
        </p:spPr>
        <p:txBody>
          <a:bodyPr wrap="square" rtlCol="0">
            <a:spAutoFit/>
          </a:bodyPr>
          <a:lstStyle/>
          <a:p>
            <a:r>
              <a:rPr lang="en-GB" dirty="0">
                <a:solidFill>
                  <a:schemeClr val="bg1"/>
                </a:solidFill>
                <a:latin typeface="Georgia" panose="02040502050405020303" pitchFamily="18" charset="0"/>
                <a:cs typeface="Arial" panose="020B0604020202020204" pitchFamily="34" charset="0"/>
              </a:rPr>
              <a:t>greatermanchester.ac.uk</a:t>
            </a:r>
            <a:endParaRPr lang="en-US" dirty="0">
              <a:solidFill>
                <a:schemeClr val="bg1"/>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3546474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1524000" y="1122363"/>
            <a:ext cx="9144000" cy="2387600"/>
          </a:xfrm>
        </p:spPr>
        <p:txBody>
          <a:bodyPr anchor="b"/>
          <a:lstStyle>
            <a:lvl1pPr algn="l">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2055697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7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1524000" y="1122363"/>
            <a:ext cx="9144000" cy="2387600"/>
          </a:xfrm>
        </p:spPr>
        <p:txBody>
          <a:bodyPr anchor="b"/>
          <a:lstStyle>
            <a:lvl1pPr algn="l">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sp>
        <p:nvSpPr>
          <p:cNvPr id="7" name="Rectangle 6">
            <a:extLst>
              <a:ext uri="{FF2B5EF4-FFF2-40B4-BE49-F238E27FC236}">
                <a16:creationId xmlns:a16="http://schemas.microsoft.com/office/drawing/2014/main" id="{4125A699-03EF-E259-C8F0-BFDCF4684A99}"/>
              </a:ext>
            </a:extLst>
          </p:cNvPr>
          <p:cNvSpPr/>
          <p:nvPr userDrawn="1"/>
        </p:nvSpPr>
        <p:spPr>
          <a:xfrm>
            <a:off x="9533614" y="5470497"/>
            <a:ext cx="2011680" cy="7633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C3729DEE-0BD2-063B-03A8-7D5656D63D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33614" y="5661328"/>
            <a:ext cx="1708894" cy="510271"/>
          </a:xfrm>
          <a:prstGeom prst="rect">
            <a:avLst/>
          </a:prstGeom>
        </p:spPr>
      </p:pic>
    </p:spTree>
    <p:extLst>
      <p:ext uri="{BB962C8B-B14F-4D97-AF65-F5344CB8AC3E}">
        <p14:creationId xmlns:p14="http://schemas.microsoft.com/office/powerpoint/2010/main" val="1898502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5802464" y="1663810"/>
            <a:ext cx="5616272" cy="1045543"/>
          </a:xfrm>
        </p:spPr>
        <p:txBody>
          <a:bodyPr anchor="b">
            <a:normAutofit/>
          </a:bodyPr>
          <a:lstStyle>
            <a:lvl1pPr algn="l">
              <a:defRPr sz="4800">
                <a:solidFill>
                  <a:schemeClr val="accent6"/>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5802464" y="2920396"/>
            <a:ext cx="5616272" cy="572213"/>
          </a:xfrm>
        </p:spPr>
        <p:txBody>
          <a:bodyPr>
            <a:norm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sp>
        <p:nvSpPr>
          <p:cNvPr id="7" name="Rectangle 6">
            <a:extLst>
              <a:ext uri="{FF2B5EF4-FFF2-40B4-BE49-F238E27FC236}">
                <a16:creationId xmlns:a16="http://schemas.microsoft.com/office/drawing/2014/main" id="{77EEFCD5-3239-47DF-8F78-06434FA5DD50}"/>
              </a:ext>
            </a:extLst>
          </p:cNvPr>
          <p:cNvSpPr/>
          <p:nvPr userDrawn="1"/>
        </p:nvSpPr>
        <p:spPr>
          <a:xfrm>
            <a:off x="9513518" y="5542767"/>
            <a:ext cx="1741118" cy="70772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FC71CE4-5C3E-3454-5CC0-5914B7388CD4}"/>
              </a:ext>
            </a:extLst>
          </p:cNvPr>
          <p:cNvPicPr>
            <a:picLocks noChangeAspect="1"/>
          </p:cNvPicPr>
          <p:nvPr userDrawn="1"/>
        </p:nvPicPr>
        <p:blipFill>
          <a:blip r:embed="rId2"/>
          <a:stretch>
            <a:fillRect/>
          </a:stretch>
        </p:blipFill>
        <p:spPr>
          <a:xfrm>
            <a:off x="9425836" y="5678276"/>
            <a:ext cx="1916482" cy="572212"/>
          </a:xfrm>
          <a:prstGeom prst="rect">
            <a:avLst/>
          </a:prstGeom>
        </p:spPr>
      </p:pic>
      <p:pic>
        <p:nvPicPr>
          <p:cNvPr id="12" name="Picture 11">
            <a:extLst>
              <a:ext uri="{FF2B5EF4-FFF2-40B4-BE49-F238E27FC236}">
                <a16:creationId xmlns:a16="http://schemas.microsoft.com/office/drawing/2014/main" id="{40764321-03B1-5CA3-0891-6946E4C99935}"/>
              </a:ext>
            </a:extLst>
          </p:cNvPr>
          <p:cNvPicPr>
            <a:picLocks noChangeAspect="1"/>
          </p:cNvPicPr>
          <p:nvPr userDrawn="1"/>
        </p:nvPicPr>
        <p:blipFill>
          <a:blip r:embed="rId3"/>
          <a:srcRect l="36261" r="28729"/>
          <a:stretch>
            <a:fillRect/>
          </a:stretch>
        </p:blipFill>
        <p:spPr>
          <a:xfrm>
            <a:off x="0" y="1"/>
            <a:ext cx="4937760" cy="6856530"/>
          </a:xfrm>
          <a:prstGeom prst="rect">
            <a:avLst/>
          </a:prstGeom>
        </p:spPr>
      </p:pic>
    </p:spTree>
    <p:extLst>
      <p:ext uri="{BB962C8B-B14F-4D97-AF65-F5344CB8AC3E}">
        <p14:creationId xmlns:p14="http://schemas.microsoft.com/office/powerpoint/2010/main" val="3023277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5802464" y="1663810"/>
            <a:ext cx="5616272" cy="1045543"/>
          </a:xfrm>
        </p:spPr>
        <p:txBody>
          <a:bodyPr anchor="b">
            <a:normAutofit/>
          </a:bodyPr>
          <a:lstStyle>
            <a:lvl1pPr algn="l">
              <a:defRPr sz="4800">
                <a:solidFill>
                  <a:schemeClr val="tx2"/>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5802464" y="2920396"/>
            <a:ext cx="5616272" cy="572213"/>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pic>
        <p:nvPicPr>
          <p:cNvPr id="12" name="Picture 11">
            <a:extLst>
              <a:ext uri="{FF2B5EF4-FFF2-40B4-BE49-F238E27FC236}">
                <a16:creationId xmlns:a16="http://schemas.microsoft.com/office/drawing/2014/main" id="{40764321-03B1-5CA3-0891-6946E4C99935}"/>
              </a:ext>
            </a:extLst>
          </p:cNvPr>
          <p:cNvPicPr>
            <a:picLocks noChangeAspect="1"/>
          </p:cNvPicPr>
          <p:nvPr userDrawn="1"/>
        </p:nvPicPr>
        <p:blipFill>
          <a:blip r:embed="rId2"/>
          <a:srcRect l="36261" r="28729"/>
          <a:stretch>
            <a:fillRect/>
          </a:stretch>
        </p:blipFill>
        <p:spPr>
          <a:xfrm>
            <a:off x="0" y="1"/>
            <a:ext cx="4937760" cy="6856530"/>
          </a:xfrm>
          <a:prstGeom prst="rect">
            <a:avLst/>
          </a:prstGeom>
        </p:spPr>
      </p:pic>
    </p:spTree>
    <p:extLst>
      <p:ext uri="{BB962C8B-B14F-4D97-AF65-F5344CB8AC3E}">
        <p14:creationId xmlns:p14="http://schemas.microsoft.com/office/powerpoint/2010/main" val="364501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8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5802464" y="1663810"/>
            <a:ext cx="5616272" cy="1045543"/>
          </a:xfrm>
        </p:spPr>
        <p:txBody>
          <a:bodyPr anchor="b">
            <a:normAutofit/>
          </a:bodyPr>
          <a:lstStyle>
            <a:lvl1pPr algn="l">
              <a:defRPr sz="4800">
                <a:solidFill>
                  <a:schemeClr val="accent6"/>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5802464" y="2920396"/>
            <a:ext cx="5616272" cy="572213"/>
          </a:xfrm>
        </p:spPr>
        <p:txBody>
          <a:bodyPr>
            <a:norm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sp>
        <p:nvSpPr>
          <p:cNvPr id="7" name="Rectangle 6">
            <a:extLst>
              <a:ext uri="{FF2B5EF4-FFF2-40B4-BE49-F238E27FC236}">
                <a16:creationId xmlns:a16="http://schemas.microsoft.com/office/drawing/2014/main" id="{77EEFCD5-3239-47DF-8F78-06434FA5DD50}"/>
              </a:ext>
            </a:extLst>
          </p:cNvPr>
          <p:cNvSpPr/>
          <p:nvPr userDrawn="1"/>
        </p:nvSpPr>
        <p:spPr>
          <a:xfrm>
            <a:off x="9513518" y="5542767"/>
            <a:ext cx="1741118" cy="70772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FC71CE4-5C3E-3454-5CC0-5914B7388CD4}"/>
              </a:ext>
            </a:extLst>
          </p:cNvPr>
          <p:cNvPicPr>
            <a:picLocks noChangeAspect="1"/>
          </p:cNvPicPr>
          <p:nvPr userDrawn="1"/>
        </p:nvPicPr>
        <p:blipFill>
          <a:blip r:embed="rId2"/>
          <a:stretch>
            <a:fillRect/>
          </a:stretch>
        </p:blipFill>
        <p:spPr>
          <a:xfrm>
            <a:off x="9425836" y="5678276"/>
            <a:ext cx="1916482" cy="572212"/>
          </a:xfrm>
          <a:prstGeom prst="rect">
            <a:avLst/>
          </a:prstGeom>
        </p:spPr>
      </p:pic>
      <p:pic>
        <p:nvPicPr>
          <p:cNvPr id="12" name="Picture 11">
            <a:extLst>
              <a:ext uri="{FF2B5EF4-FFF2-40B4-BE49-F238E27FC236}">
                <a16:creationId xmlns:a16="http://schemas.microsoft.com/office/drawing/2014/main" id="{40764321-03B1-5CA3-0891-6946E4C99935}"/>
              </a:ext>
            </a:extLst>
          </p:cNvPr>
          <p:cNvPicPr>
            <a:picLocks noChangeAspect="1"/>
          </p:cNvPicPr>
          <p:nvPr userDrawn="1"/>
        </p:nvPicPr>
        <p:blipFill>
          <a:blip r:embed="rId3"/>
          <a:srcRect l="36261" r="28729"/>
          <a:stretch>
            <a:fillRect/>
          </a:stretch>
        </p:blipFill>
        <p:spPr>
          <a:xfrm>
            <a:off x="0" y="1"/>
            <a:ext cx="4937760" cy="6856530"/>
          </a:xfrm>
          <a:prstGeom prst="rect">
            <a:avLst/>
          </a:prstGeom>
        </p:spPr>
      </p:pic>
      <p:pic>
        <p:nvPicPr>
          <p:cNvPr id="10" name="Picture 9">
            <a:extLst>
              <a:ext uri="{FF2B5EF4-FFF2-40B4-BE49-F238E27FC236}">
                <a16:creationId xmlns:a16="http://schemas.microsoft.com/office/drawing/2014/main" id="{EB942018-2881-20EE-7E8D-2DF3205C7D9C}"/>
              </a:ext>
            </a:extLst>
          </p:cNvPr>
          <p:cNvPicPr>
            <a:picLocks noChangeAspect="1"/>
          </p:cNvPicPr>
          <p:nvPr userDrawn="1"/>
        </p:nvPicPr>
        <p:blipFill>
          <a:blip r:embed="rId4"/>
          <a:srcRect l="58246" r="6792"/>
          <a:stretch>
            <a:fillRect/>
          </a:stretch>
        </p:blipFill>
        <p:spPr>
          <a:xfrm>
            <a:off x="1" y="0"/>
            <a:ext cx="4937760" cy="6865949"/>
          </a:xfrm>
          <a:prstGeom prst="rect">
            <a:avLst/>
          </a:prstGeom>
        </p:spPr>
      </p:pic>
    </p:spTree>
    <p:extLst>
      <p:ext uri="{BB962C8B-B14F-4D97-AF65-F5344CB8AC3E}">
        <p14:creationId xmlns:p14="http://schemas.microsoft.com/office/powerpoint/2010/main" val="2736596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838200" y="3893204"/>
            <a:ext cx="5616272" cy="1045543"/>
          </a:xfrm>
        </p:spPr>
        <p:txBody>
          <a:bodyPr anchor="b">
            <a:normAutofit/>
          </a:bodyPr>
          <a:lstStyle>
            <a:lvl1pPr algn="l">
              <a:defRPr sz="4800">
                <a:solidFill>
                  <a:schemeClr val="tx2"/>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838200" y="5149790"/>
            <a:ext cx="5616272" cy="572213"/>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pic>
        <p:nvPicPr>
          <p:cNvPr id="8" name="Picture 7">
            <a:extLst>
              <a:ext uri="{FF2B5EF4-FFF2-40B4-BE49-F238E27FC236}">
                <a16:creationId xmlns:a16="http://schemas.microsoft.com/office/drawing/2014/main" id="{FB11D8A0-D8A4-1477-609E-7CF087EA74F2}"/>
              </a:ext>
            </a:extLst>
          </p:cNvPr>
          <p:cNvPicPr>
            <a:picLocks noChangeAspect="1"/>
          </p:cNvPicPr>
          <p:nvPr userDrawn="1"/>
        </p:nvPicPr>
        <p:blipFill>
          <a:blip r:embed="rId2"/>
          <a:srcRect t="20208" r="10998" b="24066"/>
          <a:stretch>
            <a:fillRect/>
          </a:stretch>
        </p:blipFill>
        <p:spPr>
          <a:xfrm>
            <a:off x="-1" y="0"/>
            <a:ext cx="12192001" cy="3108960"/>
          </a:xfrm>
          <a:prstGeom prst="rect">
            <a:avLst/>
          </a:prstGeom>
        </p:spPr>
      </p:pic>
    </p:spTree>
    <p:extLst>
      <p:ext uri="{BB962C8B-B14F-4D97-AF65-F5344CB8AC3E}">
        <p14:creationId xmlns:p14="http://schemas.microsoft.com/office/powerpoint/2010/main" val="1373663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10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838200" y="3893204"/>
            <a:ext cx="5616272" cy="1045543"/>
          </a:xfrm>
        </p:spPr>
        <p:txBody>
          <a:bodyPr anchor="b">
            <a:normAutofit/>
          </a:bodyPr>
          <a:lstStyle>
            <a:lvl1pPr algn="l">
              <a:defRPr sz="4800">
                <a:solidFill>
                  <a:schemeClr val="tx2"/>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838200" y="5149790"/>
            <a:ext cx="5616272" cy="572213"/>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pic>
        <p:nvPicPr>
          <p:cNvPr id="8" name="Picture 7">
            <a:extLst>
              <a:ext uri="{FF2B5EF4-FFF2-40B4-BE49-F238E27FC236}">
                <a16:creationId xmlns:a16="http://schemas.microsoft.com/office/drawing/2014/main" id="{FB11D8A0-D8A4-1477-609E-7CF087EA74F2}"/>
              </a:ext>
            </a:extLst>
          </p:cNvPr>
          <p:cNvPicPr>
            <a:picLocks noChangeAspect="1"/>
          </p:cNvPicPr>
          <p:nvPr userDrawn="1"/>
        </p:nvPicPr>
        <p:blipFill>
          <a:blip r:embed="rId2"/>
          <a:srcRect t="20208" r="10998" b="24066"/>
          <a:stretch>
            <a:fillRect/>
          </a:stretch>
        </p:blipFill>
        <p:spPr>
          <a:xfrm>
            <a:off x="-1" y="0"/>
            <a:ext cx="12192001" cy="3108960"/>
          </a:xfrm>
          <a:prstGeom prst="rect">
            <a:avLst/>
          </a:prstGeom>
        </p:spPr>
      </p:pic>
    </p:spTree>
    <p:extLst>
      <p:ext uri="{BB962C8B-B14F-4D97-AF65-F5344CB8AC3E}">
        <p14:creationId xmlns:p14="http://schemas.microsoft.com/office/powerpoint/2010/main" val="2632197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9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838200" y="3893204"/>
            <a:ext cx="5616272" cy="1045543"/>
          </a:xfrm>
        </p:spPr>
        <p:txBody>
          <a:bodyPr anchor="b">
            <a:normAutofit/>
          </a:bodyPr>
          <a:lstStyle>
            <a:lvl1pPr algn="l">
              <a:defRPr sz="4800">
                <a:solidFill>
                  <a:schemeClr val="tx2"/>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838200" y="5149790"/>
            <a:ext cx="5616272" cy="572213"/>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pic>
        <p:nvPicPr>
          <p:cNvPr id="8" name="Picture 7">
            <a:extLst>
              <a:ext uri="{FF2B5EF4-FFF2-40B4-BE49-F238E27FC236}">
                <a16:creationId xmlns:a16="http://schemas.microsoft.com/office/drawing/2014/main" id="{FB11D8A0-D8A4-1477-609E-7CF087EA74F2}"/>
              </a:ext>
            </a:extLst>
          </p:cNvPr>
          <p:cNvPicPr>
            <a:picLocks noChangeAspect="1"/>
          </p:cNvPicPr>
          <p:nvPr userDrawn="1"/>
        </p:nvPicPr>
        <p:blipFill>
          <a:blip r:embed="rId2"/>
          <a:srcRect t="20208" r="10998" b="24066"/>
          <a:stretch>
            <a:fillRect/>
          </a:stretch>
        </p:blipFill>
        <p:spPr>
          <a:xfrm>
            <a:off x="-1" y="0"/>
            <a:ext cx="12192001" cy="3108960"/>
          </a:xfrm>
          <a:prstGeom prst="rect">
            <a:avLst/>
          </a:prstGeom>
        </p:spPr>
      </p:pic>
      <p:pic>
        <p:nvPicPr>
          <p:cNvPr id="7" name="Picture 6">
            <a:extLst>
              <a:ext uri="{FF2B5EF4-FFF2-40B4-BE49-F238E27FC236}">
                <a16:creationId xmlns:a16="http://schemas.microsoft.com/office/drawing/2014/main" id="{3A61C234-8F04-A1CF-031F-8C3BE08A9376}"/>
              </a:ext>
            </a:extLst>
          </p:cNvPr>
          <p:cNvPicPr>
            <a:picLocks noChangeAspect="1"/>
          </p:cNvPicPr>
          <p:nvPr userDrawn="1"/>
        </p:nvPicPr>
        <p:blipFill>
          <a:blip r:embed="rId3"/>
          <a:srcRect b="47548"/>
          <a:stretch>
            <a:fillRect/>
          </a:stretch>
        </p:blipFill>
        <p:spPr>
          <a:xfrm>
            <a:off x="-1" y="1"/>
            <a:ext cx="12192000" cy="3108960"/>
          </a:xfrm>
          <a:prstGeom prst="rect">
            <a:avLst/>
          </a:prstGeom>
        </p:spPr>
      </p:pic>
    </p:spTree>
    <p:extLst>
      <p:ext uri="{BB962C8B-B14F-4D97-AF65-F5344CB8AC3E}">
        <p14:creationId xmlns:p14="http://schemas.microsoft.com/office/powerpoint/2010/main" val="1046354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92B1-E915-1AA2-FBA9-13E1053AB2F3}"/>
              </a:ext>
            </a:extLst>
          </p:cNvPr>
          <p:cNvSpPr>
            <a:spLocks noGrp="1"/>
          </p:cNvSpPr>
          <p:nvPr>
            <p:ph type="ctrTitle"/>
          </p:nvPr>
        </p:nvSpPr>
        <p:spPr>
          <a:xfrm>
            <a:off x="838200" y="3969688"/>
            <a:ext cx="5616272" cy="1045543"/>
          </a:xfrm>
        </p:spPr>
        <p:txBody>
          <a:bodyPr anchor="b">
            <a:normAutofit/>
          </a:bodyPr>
          <a:lstStyle>
            <a:lvl1pPr algn="l">
              <a:defRPr sz="4800">
                <a:solidFill>
                  <a:schemeClr val="tx2"/>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CE770C02-D419-631E-EB10-1F259B65B3D2}"/>
              </a:ext>
            </a:extLst>
          </p:cNvPr>
          <p:cNvSpPr>
            <a:spLocks noGrp="1"/>
          </p:cNvSpPr>
          <p:nvPr>
            <p:ph type="subTitle" idx="1"/>
          </p:nvPr>
        </p:nvSpPr>
        <p:spPr>
          <a:xfrm>
            <a:off x="838200" y="5226274"/>
            <a:ext cx="5616272" cy="572213"/>
          </a:xfrm>
        </p:spPr>
        <p:txBody>
          <a:bodyPr>
            <a:norm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C94C9D28-BF5B-B055-EB14-FA69DD51E756}"/>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322DBCB-0CCE-F9D0-3936-51742B093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901EA-1929-72FF-4F93-50B64F14C94A}"/>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195999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48D67-0D47-D154-2D71-48F32439534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3E30E9F-3DE1-1569-B160-24E21AC568E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11B5ED-8836-B1C6-AAE5-8264987C4415}"/>
              </a:ext>
            </a:extLst>
          </p:cNvPr>
          <p:cNvSpPr>
            <a:spLocks noGrp="1"/>
          </p:cNvSpPr>
          <p:nvPr>
            <p:ph type="dt" sz="half" idx="10"/>
          </p:nvPr>
        </p:nvSpPr>
        <p:spPr/>
        <p:txBody>
          <a:bodyPr/>
          <a:lstStyle>
            <a:lvl1pPr>
              <a:defRPr>
                <a:solidFill>
                  <a:schemeClr val="tx2"/>
                </a:solidFill>
              </a:defRPr>
            </a:lvl1pPr>
          </a:lstStyle>
          <a:p>
            <a:fld id="{BB9F4D8D-BF44-ED45-AE31-433282455E82}" type="datetimeFigureOut">
              <a:rPr lang="en-US" smtClean="0"/>
              <a:pPr/>
              <a:t>7/1/2026</a:t>
            </a:fld>
            <a:endParaRPr lang="en-US" dirty="0"/>
          </a:p>
        </p:txBody>
      </p:sp>
      <p:sp>
        <p:nvSpPr>
          <p:cNvPr id="5" name="Footer Placeholder 4">
            <a:extLst>
              <a:ext uri="{FF2B5EF4-FFF2-40B4-BE49-F238E27FC236}">
                <a16:creationId xmlns:a16="http://schemas.microsoft.com/office/drawing/2014/main" id="{C51D34BF-7D10-910C-4441-2F5796AC9347}"/>
              </a:ext>
            </a:extLst>
          </p:cNvPr>
          <p:cNvSpPr>
            <a:spLocks noGrp="1"/>
          </p:cNvSpPr>
          <p:nvPr>
            <p:ph type="ftr" sz="quarter" idx="11"/>
          </p:nvPr>
        </p:nvSpPr>
        <p:spPr/>
        <p:txBody>
          <a:bodyPr/>
          <a:lstStyle>
            <a:lvl1pPr>
              <a:defRPr>
                <a:solidFill>
                  <a:schemeClr val="tx2"/>
                </a:solidFill>
              </a:defRPr>
            </a:lvl1pPr>
          </a:lstStyle>
          <a:p>
            <a:r>
              <a:rPr lang="en-GB"/>
              <a:t>Private and Confidential</a:t>
            </a:r>
            <a:endParaRPr lang="en-US" dirty="0"/>
          </a:p>
        </p:txBody>
      </p:sp>
      <p:sp>
        <p:nvSpPr>
          <p:cNvPr id="6" name="Slide Number Placeholder 5">
            <a:extLst>
              <a:ext uri="{FF2B5EF4-FFF2-40B4-BE49-F238E27FC236}">
                <a16:creationId xmlns:a16="http://schemas.microsoft.com/office/drawing/2014/main" id="{195F4AAA-9E84-AD92-3AE4-6B0DADB0C8FA}"/>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401244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8B60-4CA9-2ED4-D211-65A79EC1B1A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FFFCE93-4454-87C9-FE06-17E791AE1A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7E7BDD1-68CF-1303-0D0C-4D86908E0308}"/>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7DCE8A10-2B79-A57B-CA85-E9EF89685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DC42BC-21AC-9598-53A7-404B0A87CDBE}"/>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1846078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81A87-219B-42D8-9059-776214E758E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5A16110-5568-9623-C252-34FC841936F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66287E3-D4E3-7C43-4997-CB473E91DC4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596135B-62E3-EF98-9F8F-D7BD07D981F3}"/>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6" name="Footer Placeholder 5">
            <a:extLst>
              <a:ext uri="{FF2B5EF4-FFF2-40B4-BE49-F238E27FC236}">
                <a16:creationId xmlns:a16="http://schemas.microsoft.com/office/drawing/2014/main" id="{FFB2589A-5DDE-6AB5-8F36-01129B4671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848FF1-F2C7-8933-01E8-286058C22A3A}"/>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37167903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F431-31E3-AEEF-1549-1313089448A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7395A7A-BA26-2A0B-5B5F-A84D3F5647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FF489B8-DF32-883E-BA34-B82285FCD99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D5CB046-FDAA-D5C8-7E36-A84B115EA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C741655-78F6-C2C7-2788-4CEDFBEFEFA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C527F98-2B70-A79D-0489-F7FF347172D5}"/>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8" name="Footer Placeholder 7">
            <a:extLst>
              <a:ext uri="{FF2B5EF4-FFF2-40B4-BE49-F238E27FC236}">
                <a16:creationId xmlns:a16="http://schemas.microsoft.com/office/drawing/2014/main" id="{B1AD35DC-1D48-C52C-E4EC-B085533891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B5DD5F-F5DF-1D7C-11FC-329928A8D6DD}"/>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2915263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4620-FACD-175D-AEBB-9BB3AD48943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E550E96-DE9C-B39C-0DF9-6BF5D054B7FA}"/>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4" name="Footer Placeholder 3">
            <a:extLst>
              <a:ext uri="{FF2B5EF4-FFF2-40B4-BE49-F238E27FC236}">
                <a16:creationId xmlns:a16="http://schemas.microsoft.com/office/drawing/2014/main" id="{F74A6D35-8E9C-BBA0-DBED-B17C48001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01635-7131-40CF-9033-93EC935680DD}"/>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2696852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C0520C-45B2-EE96-82AC-C55C72E003B9}"/>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3" name="Footer Placeholder 2">
            <a:extLst>
              <a:ext uri="{FF2B5EF4-FFF2-40B4-BE49-F238E27FC236}">
                <a16:creationId xmlns:a16="http://schemas.microsoft.com/office/drawing/2014/main" id="{6CD417FE-8553-D326-C7CE-A9D3D897D1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D63858-C5C1-C774-7233-294143A2CF23}"/>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1520353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3A581-DA71-ACF9-94F8-E100860557D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0A9801B-4E9D-81F7-B565-6B0391E3F8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3498B36-1954-9188-5B8B-6717395763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100AF8A-0082-77D0-AABD-16D31DD75539}"/>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6" name="Footer Placeholder 5">
            <a:extLst>
              <a:ext uri="{FF2B5EF4-FFF2-40B4-BE49-F238E27FC236}">
                <a16:creationId xmlns:a16="http://schemas.microsoft.com/office/drawing/2014/main" id="{1C4B7946-14CC-7AAD-8F31-A082DD55C3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5F340F-0AA8-7C00-5D5F-D5E28D385D84}"/>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42359801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082B2-A252-64F2-DA35-260FFDDDE9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B20D886-5EEE-CB22-87FD-48D99CA7A6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CA7E6F-4B06-E1E2-0F61-E8886CFA8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F9C88D8-5822-CA0E-5493-FB1C47913FA7}"/>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6" name="Footer Placeholder 5">
            <a:extLst>
              <a:ext uri="{FF2B5EF4-FFF2-40B4-BE49-F238E27FC236}">
                <a16:creationId xmlns:a16="http://schemas.microsoft.com/office/drawing/2014/main" id="{A96CE97A-4174-0BBB-AA01-FE60506870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0EB0F-319F-CA36-DFDC-F51E1D361D53}"/>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2263409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59002-2383-F446-7A0D-F126EC83800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3AD96B1-0C81-EA2D-7A33-D205338EE52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2E4D6D-ADC6-9469-2F00-411B4371DB93}"/>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64EFBA00-F1B3-D1AB-0353-9C6A2F3AE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0D68E-E0E1-85C1-56BA-0FA33EE86DA9}"/>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2114810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B61D0F-E815-6F39-8F1C-38955065633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0978DD0-09E1-050E-B86D-295282BD971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4B6135F-A9B0-B06E-EBF2-700B70DE7A8B}"/>
              </a:ext>
            </a:extLst>
          </p:cNvPr>
          <p:cNvSpPr>
            <a:spLocks noGrp="1"/>
          </p:cNvSpPr>
          <p:nvPr>
            <p:ph type="dt" sz="half" idx="10"/>
          </p:nvPr>
        </p:nvSpPr>
        <p:spPr/>
        <p:txBody>
          <a:bodyPr/>
          <a:lstStyle/>
          <a:p>
            <a:fld id="{BB9F4D8D-BF44-ED45-AE31-433282455E82}" type="datetimeFigureOut">
              <a:rPr lang="en-US" smtClean="0"/>
              <a:t>7/1/2026</a:t>
            </a:fld>
            <a:endParaRPr lang="en-US"/>
          </a:p>
        </p:txBody>
      </p:sp>
      <p:sp>
        <p:nvSpPr>
          <p:cNvPr id="5" name="Footer Placeholder 4">
            <a:extLst>
              <a:ext uri="{FF2B5EF4-FFF2-40B4-BE49-F238E27FC236}">
                <a16:creationId xmlns:a16="http://schemas.microsoft.com/office/drawing/2014/main" id="{7DB6B1B1-1DAC-F0E2-2C12-FD62D37EAB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DE4345-F8A8-CE45-F709-325C62E22309}"/>
              </a:ext>
            </a:extLst>
          </p:cNvPr>
          <p:cNvSpPr>
            <a:spLocks noGrp="1"/>
          </p:cNvSpPr>
          <p:nvPr>
            <p:ph type="sldNum" sz="quarter" idx="12"/>
          </p:nvPr>
        </p:nvSpPr>
        <p:spPr/>
        <p:txBody>
          <a:bodyPr/>
          <a:lstStyle/>
          <a:p>
            <a:fld id="{D7819FE5-9D65-4947-AADC-CEE5E67D2246}" type="slidenum">
              <a:rPr lang="en-US" smtClean="0"/>
              <a:t>‹#›</a:t>
            </a:fld>
            <a:endParaRPr lang="en-US"/>
          </a:p>
        </p:txBody>
      </p:sp>
    </p:spTree>
    <p:extLst>
      <p:ext uri="{BB962C8B-B14F-4D97-AF65-F5344CB8AC3E}">
        <p14:creationId xmlns:p14="http://schemas.microsoft.com/office/powerpoint/2010/main" val="23546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2C268-64A0-293E-258A-957A63C3D9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B4BEB40F-57F0-47CE-2F08-C461CDCC95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73D685-18A3-133F-51BF-93DF0D463C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50">
                <a:solidFill>
                  <a:schemeClr val="tx1">
                    <a:tint val="75000"/>
                  </a:schemeClr>
                </a:solidFill>
                <a:latin typeface="Arial" panose="020B0604020202020204" pitchFamily="34" charset="0"/>
              </a:defRPr>
            </a:lvl1pPr>
          </a:lstStyle>
          <a:p>
            <a:fld id="{BB9F4D8D-BF44-ED45-AE31-433282455E82}" type="datetimeFigureOut">
              <a:rPr lang="en-US" smtClean="0"/>
              <a:pPr/>
              <a:t>7/1/2026</a:t>
            </a:fld>
            <a:endParaRPr lang="en-US" dirty="0"/>
          </a:p>
        </p:txBody>
      </p:sp>
      <p:sp>
        <p:nvSpPr>
          <p:cNvPr id="5" name="Footer Placeholder 4">
            <a:extLst>
              <a:ext uri="{FF2B5EF4-FFF2-40B4-BE49-F238E27FC236}">
                <a16:creationId xmlns:a16="http://schemas.microsoft.com/office/drawing/2014/main" id="{2025D7E9-4BFC-6C2F-5AEF-74B7B8D3CC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5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1808073D-1D7C-2A2C-0AB8-B5F509B96B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50">
                <a:solidFill>
                  <a:schemeClr val="tx1">
                    <a:tint val="75000"/>
                  </a:schemeClr>
                </a:solidFill>
                <a:latin typeface="Arial" panose="020B0604020202020204" pitchFamily="34" charset="0"/>
              </a:defRPr>
            </a:lvl1pPr>
          </a:lstStyle>
          <a:p>
            <a:fld id="{D7819FE5-9D65-4947-AADC-CEE5E67D2246}" type="slidenum">
              <a:rPr lang="en-US" smtClean="0"/>
              <a:pPr/>
              <a:t>‹#›</a:t>
            </a:fld>
            <a:endParaRPr lang="en-US" dirty="0"/>
          </a:p>
        </p:txBody>
      </p:sp>
      <p:pic>
        <p:nvPicPr>
          <p:cNvPr id="8" name="Graphic 7">
            <a:extLst>
              <a:ext uri="{FF2B5EF4-FFF2-40B4-BE49-F238E27FC236}">
                <a16:creationId xmlns:a16="http://schemas.microsoft.com/office/drawing/2014/main" id="{8862E4C7-EDEC-B316-6D14-1ECDB583D616}"/>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9677401" y="5676434"/>
            <a:ext cx="1676399" cy="500529"/>
          </a:xfrm>
          <a:prstGeom prst="rect">
            <a:avLst/>
          </a:prstGeom>
        </p:spPr>
      </p:pic>
    </p:spTree>
    <p:extLst>
      <p:ext uri="{BB962C8B-B14F-4D97-AF65-F5344CB8AC3E}">
        <p14:creationId xmlns:p14="http://schemas.microsoft.com/office/powerpoint/2010/main" val="1761117899"/>
      </p:ext>
    </p:extLst>
  </p:cSld>
  <p:clrMap bg1="lt1" tx1="dk1" bg2="lt2" tx2="dk2" accent1="accent1" accent2="accent2" accent3="accent3" accent4="accent4" accent5="accent5" accent6="accent6" hlink="hlink" folHlink="folHlink"/>
  <p:sldLayoutIdLst>
    <p:sldLayoutId id="2147483660" r:id="rId1"/>
    <p:sldLayoutId id="2147483665" r:id="rId2"/>
    <p:sldLayoutId id="2147483649" r:id="rId3"/>
    <p:sldLayoutId id="2147483666" r:id="rId4"/>
    <p:sldLayoutId id="2147483661" r:id="rId5"/>
    <p:sldLayoutId id="2147483669" r:id="rId6"/>
    <p:sldLayoutId id="2147483667" r:id="rId7"/>
    <p:sldLayoutId id="2147483662" r:id="rId8"/>
    <p:sldLayoutId id="2147483670" r:id="rId9"/>
    <p:sldLayoutId id="2147483668" r:id="rId10"/>
    <p:sldLayoutId id="2147483663" r:id="rId11"/>
    <p:sldLayoutId id="2147483650" r:id="rId12"/>
    <p:sldLayoutId id="2147483651" r:id="rId13"/>
    <p:sldLayoutId id="2147483652" r:id="rId14"/>
    <p:sldLayoutId id="2147483653" r:id="rId15"/>
    <p:sldLayoutId id="2147483654" r:id="rId16"/>
    <p:sldLayoutId id="2147483655" r:id="rId17"/>
    <p:sldLayoutId id="2147483656" r:id="rId18"/>
    <p:sldLayoutId id="2147483657" r:id="rId19"/>
    <p:sldLayoutId id="2147483658" r:id="rId20"/>
    <p:sldLayoutId id="2147483659" r:id="rId21"/>
  </p:sldLayoutIdLst>
  <p:txStyles>
    <p:titleStyle>
      <a:lvl1pPr algn="l" defTabSz="914400" rtl="0" eaLnBrk="1" latinLnBrk="0" hangingPunct="1">
        <a:lnSpc>
          <a:spcPct val="90000"/>
        </a:lnSpc>
        <a:spcBef>
          <a:spcPct val="0"/>
        </a:spcBef>
        <a:buNone/>
        <a:defRPr sz="4400" b="1" i="0" kern="1200">
          <a:solidFill>
            <a:schemeClr val="tx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greatermanchester.ac.uk/assets/Uploads/studentpolicy2627/Academic-Regulations/Assessment-Regulations-for-Undergraduate-Programmes-2026-27.pdf"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s://greatermanchester.ac.uk/assets/Uploads/studentpolicy2627/Academic-Misconduct-info/Academic-Misconduct-Regulations-and-Procedures-2026-27.pdf?vid=3" TargetMode="External"/><Relationship Id="rId4" Type="http://schemas.openxmlformats.org/officeDocument/2006/relationships/hyperlink" Target="https://greatermanchester.ac.uk/assets/Uploads/studentpolicy2627/Academic-Regulations/Assessment-Regulations-for-PGT-Programmes-2026-27.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3F7F-2BA8-274A-DD3F-BCE8582637C3}"/>
              </a:ext>
            </a:extLst>
          </p:cNvPr>
          <p:cNvSpPr>
            <a:spLocks noGrp="1"/>
          </p:cNvSpPr>
          <p:nvPr>
            <p:ph type="ctrTitle"/>
          </p:nvPr>
        </p:nvSpPr>
        <p:spPr>
          <a:xfrm>
            <a:off x="838200" y="3893204"/>
            <a:ext cx="9367684" cy="1045543"/>
          </a:xfrm>
        </p:spPr>
        <p:txBody>
          <a:bodyPr>
            <a:normAutofit fontScale="90000"/>
          </a:bodyPr>
          <a:lstStyle/>
          <a:p>
            <a:r>
              <a:rPr lang="en-GB" dirty="0"/>
              <a:t>Module Guide – Block Delivery</a:t>
            </a:r>
            <a:endParaRPr lang="en-US" dirty="0"/>
          </a:p>
        </p:txBody>
      </p:sp>
      <p:sp>
        <p:nvSpPr>
          <p:cNvPr id="3" name="Subtitle 2">
            <a:extLst>
              <a:ext uri="{FF2B5EF4-FFF2-40B4-BE49-F238E27FC236}">
                <a16:creationId xmlns:a16="http://schemas.microsoft.com/office/drawing/2014/main" id="{60615C43-8D83-9A4B-88CA-A8226AD7D04C}"/>
              </a:ext>
            </a:extLst>
          </p:cNvPr>
          <p:cNvSpPr>
            <a:spLocks noGrp="1"/>
          </p:cNvSpPr>
          <p:nvPr>
            <p:ph type="subTitle" idx="1"/>
          </p:nvPr>
        </p:nvSpPr>
        <p:spPr/>
        <p:txBody>
          <a:bodyPr/>
          <a:lstStyle/>
          <a:p>
            <a:r>
              <a:rPr lang="en-US" i="1" dirty="0">
                <a:solidFill>
                  <a:srgbClr val="FF0000"/>
                </a:solidFill>
              </a:rPr>
              <a:t>Please insert module ID and name</a:t>
            </a:r>
          </a:p>
        </p:txBody>
      </p:sp>
    </p:spTree>
    <p:extLst>
      <p:ext uri="{BB962C8B-B14F-4D97-AF65-F5344CB8AC3E}">
        <p14:creationId xmlns:p14="http://schemas.microsoft.com/office/powerpoint/2010/main" val="3008894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18496-868C-4D40-D249-B5B9B63C9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CAAA6-4505-C112-B757-7F1515D7B047}"/>
              </a:ext>
            </a:extLst>
          </p:cNvPr>
          <p:cNvSpPr>
            <a:spLocks noGrp="1"/>
          </p:cNvSpPr>
          <p:nvPr>
            <p:ph type="title"/>
          </p:nvPr>
        </p:nvSpPr>
        <p:spPr/>
        <p:txBody>
          <a:bodyPr/>
          <a:lstStyle/>
          <a:p>
            <a:r>
              <a:rPr lang="en-US" dirty="0" err="1"/>
              <a:t>Colours</a:t>
            </a:r>
            <a:endParaRPr lang="en-US" dirty="0"/>
          </a:p>
        </p:txBody>
      </p:sp>
      <p:sp>
        <p:nvSpPr>
          <p:cNvPr id="3" name="Content Placeholder 2">
            <a:extLst>
              <a:ext uri="{FF2B5EF4-FFF2-40B4-BE49-F238E27FC236}">
                <a16:creationId xmlns:a16="http://schemas.microsoft.com/office/drawing/2014/main" id="{6FCEF432-9DD2-53A6-932B-AD83B0FA99A8}"/>
              </a:ext>
            </a:extLst>
          </p:cNvPr>
          <p:cNvSpPr>
            <a:spLocks noGrp="1"/>
          </p:cNvSpPr>
          <p:nvPr>
            <p:ph idx="1"/>
          </p:nvPr>
        </p:nvSpPr>
        <p:spPr>
          <a:xfrm>
            <a:off x="838200" y="1825625"/>
            <a:ext cx="10515600" cy="457222"/>
          </a:xfrm>
        </p:spPr>
        <p:txBody>
          <a:bodyPr>
            <a:normAutofit lnSpcReduction="10000"/>
          </a:bodyPr>
          <a:lstStyle/>
          <a:p>
            <a:r>
              <a:rPr lang="en-US" dirty="0"/>
              <a:t>Main palette</a:t>
            </a:r>
          </a:p>
        </p:txBody>
      </p:sp>
      <p:sp>
        <p:nvSpPr>
          <p:cNvPr id="4" name="Rectangle 3">
            <a:extLst>
              <a:ext uri="{FF2B5EF4-FFF2-40B4-BE49-F238E27FC236}">
                <a16:creationId xmlns:a16="http://schemas.microsoft.com/office/drawing/2014/main" id="{069E1AD3-9CD7-BCCF-94D7-315DD05A22D4}"/>
              </a:ext>
            </a:extLst>
          </p:cNvPr>
          <p:cNvSpPr/>
          <p:nvPr/>
        </p:nvSpPr>
        <p:spPr>
          <a:xfrm>
            <a:off x="983768" y="2642301"/>
            <a:ext cx="1487739" cy="320985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CA42675-F275-6F24-587E-B9B404E525C1}"/>
              </a:ext>
            </a:extLst>
          </p:cNvPr>
          <p:cNvSpPr txBox="1"/>
          <p:nvPr/>
        </p:nvSpPr>
        <p:spPr>
          <a:xfrm>
            <a:off x="1166648" y="2856712"/>
            <a:ext cx="1759432" cy="261610"/>
          </a:xfrm>
          <a:prstGeom prst="rect">
            <a:avLst/>
          </a:prstGeom>
          <a:noFill/>
        </p:spPr>
        <p:txBody>
          <a:bodyPr wrap="square" rtlCol="0">
            <a:spAutoFit/>
          </a:bodyPr>
          <a:lstStyle/>
          <a:p>
            <a:r>
              <a:rPr lang="en-US" sz="1100" dirty="0">
                <a:solidFill>
                  <a:schemeClr val="bg2"/>
                </a:solidFill>
                <a:latin typeface="Arial" panose="020B0604020202020204" pitchFamily="34" charset="0"/>
              </a:rPr>
              <a:t>Ox Blue</a:t>
            </a:r>
          </a:p>
        </p:txBody>
      </p:sp>
      <p:sp>
        <p:nvSpPr>
          <p:cNvPr id="6" name="Rectangle 5">
            <a:extLst>
              <a:ext uri="{FF2B5EF4-FFF2-40B4-BE49-F238E27FC236}">
                <a16:creationId xmlns:a16="http://schemas.microsoft.com/office/drawing/2014/main" id="{912AF227-DD0B-56B5-1EC2-960526529043}"/>
              </a:ext>
            </a:extLst>
          </p:cNvPr>
          <p:cNvSpPr/>
          <p:nvPr/>
        </p:nvSpPr>
        <p:spPr>
          <a:xfrm>
            <a:off x="2654387" y="2642301"/>
            <a:ext cx="1487739" cy="32098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FB3164-36F5-DABB-EFF9-55BACEB6EB0B}"/>
              </a:ext>
            </a:extLst>
          </p:cNvPr>
          <p:cNvSpPr txBox="1"/>
          <p:nvPr/>
        </p:nvSpPr>
        <p:spPr>
          <a:xfrm>
            <a:off x="2837267" y="2856712"/>
            <a:ext cx="1759432" cy="261610"/>
          </a:xfrm>
          <a:prstGeom prst="rect">
            <a:avLst/>
          </a:prstGeom>
          <a:noFill/>
        </p:spPr>
        <p:txBody>
          <a:bodyPr wrap="square" rtlCol="0">
            <a:spAutoFit/>
          </a:bodyPr>
          <a:lstStyle/>
          <a:p>
            <a:r>
              <a:rPr lang="en-US" sz="1100" dirty="0">
                <a:latin typeface="Arial" panose="020B0604020202020204" pitchFamily="34" charset="0"/>
              </a:rPr>
              <a:t>Electric</a:t>
            </a:r>
          </a:p>
        </p:txBody>
      </p:sp>
      <p:sp>
        <p:nvSpPr>
          <p:cNvPr id="8" name="Rectangle 7">
            <a:extLst>
              <a:ext uri="{FF2B5EF4-FFF2-40B4-BE49-F238E27FC236}">
                <a16:creationId xmlns:a16="http://schemas.microsoft.com/office/drawing/2014/main" id="{2DA37124-6794-14BC-BCFB-110AEFDFB3AC}"/>
              </a:ext>
            </a:extLst>
          </p:cNvPr>
          <p:cNvSpPr/>
          <p:nvPr/>
        </p:nvSpPr>
        <p:spPr>
          <a:xfrm>
            <a:off x="4325006" y="2642301"/>
            <a:ext cx="1487739" cy="320985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0278B02-14B4-DCCF-BBBD-97B182AD3345}"/>
              </a:ext>
            </a:extLst>
          </p:cNvPr>
          <p:cNvSpPr txBox="1"/>
          <p:nvPr/>
        </p:nvSpPr>
        <p:spPr>
          <a:xfrm>
            <a:off x="4507886" y="2856712"/>
            <a:ext cx="895482" cy="261610"/>
          </a:xfrm>
          <a:prstGeom prst="rect">
            <a:avLst/>
          </a:prstGeom>
          <a:noFill/>
        </p:spPr>
        <p:txBody>
          <a:bodyPr wrap="square" rtlCol="0">
            <a:spAutoFit/>
          </a:bodyPr>
          <a:lstStyle/>
          <a:p>
            <a:r>
              <a:rPr lang="en-US" sz="1100" dirty="0">
                <a:solidFill>
                  <a:schemeClr val="accent6"/>
                </a:solidFill>
                <a:latin typeface="Arial" panose="020B0604020202020204" pitchFamily="34" charset="0"/>
              </a:rPr>
              <a:t>Azul</a:t>
            </a:r>
          </a:p>
        </p:txBody>
      </p:sp>
      <p:sp>
        <p:nvSpPr>
          <p:cNvPr id="10" name="Rectangle 9">
            <a:extLst>
              <a:ext uri="{FF2B5EF4-FFF2-40B4-BE49-F238E27FC236}">
                <a16:creationId xmlns:a16="http://schemas.microsoft.com/office/drawing/2014/main" id="{05AA1613-8CD5-F674-AB36-EB12216163AB}"/>
              </a:ext>
            </a:extLst>
          </p:cNvPr>
          <p:cNvSpPr/>
          <p:nvPr/>
        </p:nvSpPr>
        <p:spPr>
          <a:xfrm>
            <a:off x="5995625" y="2642301"/>
            <a:ext cx="1487739" cy="320985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4FB2DD8-F75F-3C1B-5600-150B5047892C}"/>
              </a:ext>
            </a:extLst>
          </p:cNvPr>
          <p:cNvSpPr txBox="1"/>
          <p:nvPr/>
        </p:nvSpPr>
        <p:spPr>
          <a:xfrm>
            <a:off x="6178504" y="2856712"/>
            <a:ext cx="1558159" cy="261610"/>
          </a:xfrm>
          <a:prstGeom prst="rect">
            <a:avLst/>
          </a:prstGeom>
          <a:noFill/>
        </p:spPr>
        <p:txBody>
          <a:bodyPr wrap="square" rtlCol="0">
            <a:spAutoFit/>
          </a:bodyPr>
          <a:lstStyle/>
          <a:p>
            <a:r>
              <a:rPr lang="en-US" sz="1100" dirty="0">
                <a:solidFill>
                  <a:schemeClr val="accent6"/>
                </a:solidFill>
                <a:latin typeface="Arial" panose="020B0604020202020204" pitchFamily="34" charset="0"/>
              </a:rPr>
              <a:t>Cambridge</a:t>
            </a:r>
          </a:p>
        </p:txBody>
      </p:sp>
      <p:sp>
        <p:nvSpPr>
          <p:cNvPr id="12" name="Rectangle 11">
            <a:extLst>
              <a:ext uri="{FF2B5EF4-FFF2-40B4-BE49-F238E27FC236}">
                <a16:creationId xmlns:a16="http://schemas.microsoft.com/office/drawing/2014/main" id="{0C7CF20D-4A56-8FD7-D6DF-9381C91A8302}"/>
              </a:ext>
            </a:extLst>
          </p:cNvPr>
          <p:cNvSpPr/>
          <p:nvPr/>
        </p:nvSpPr>
        <p:spPr>
          <a:xfrm>
            <a:off x="7666243" y="2642301"/>
            <a:ext cx="1487739" cy="32098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7486A36-AEB9-6D73-2A4B-5B63227CD2E7}"/>
              </a:ext>
            </a:extLst>
          </p:cNvPr>
          <p:cNvSpPr txBox="1"/>
          <p:nvPr/>
        </p:nvSpPr>
        <p:spPr>
          <a:xfrm>
            <a:off x="7849122" y="2856712"/>
            <a:ext cx="1558159" cy="261610"/>
          </a:xfrm>
          <a:prstGeom prst="rect">
            <a:avLst/>
          </a:prstGeom>
          <a:noFill/>
        </p:spPr>
        <p:txBody>
          <a:bodyPr wrap="square" rtlCol="0">
            <a:spAutoFit/>
          </a:bodyPr>
          <a:lstStyle/>
          <a:p>
            <a:r>
              <a:rPr lang="en-US" sz="1100" dirty="0">
                <a:latin typeface="Arial" panose="020B0604020202020204" pitchFamily="34" charset="0"/>
              </a:rPr>
              <a:t>Naples</a:t>
            </a:r>
          </a:p>
        </p:txBody>
      </p:sp>
    </p:spTree>
    <p:extLst>
      <p:ext uri="{BB962C8B-B14F-4D97-AF65-F5344CB8AC3E}">
        <p14:creationId xmlns:p14="http://schemas.microsoft.com/office/powerpoint/2010/main" val="329525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4B5C-11A9-8A0E-E510-6B9A137FD5D4}"/>
              </a:ext>
            </a:extLst>
          </p:cNvPr>
          <p:cNvSpPr>
            <a:spLocks noGrp="1"/>
          </p:cNvSpPr>
          <p:nvPr>
            <p:ph type="title"/>
          </p:nvPr>
        </p:nvSpPr>
        <p:spPr/>
        <p:txBody>
          <a:bodyPr/>
          <a:lstStyle/>
          <a:p>
            <a:r>
              <a:rPr lang="en-GB" dirty="0"/>
              <a:t>KEY INFORMATION</a:t>
            </a:r>
          </a:p>
        </p:txBody>
      </p:sp>
      <p:sp>
        <p:nvSpPr>
          <p:cNvPr id="3" name="Content Placeholder 2">
            <a:extLst>
              <a:ext uri="{FF2B5EF4-FFF2-40B4-BE49-F238E27FC236}">
                <a16:creationId xmlns:a16="http://schemas.microsoft.com/office/drawing/2014/main" id="{99936025-0C97-9644-28F5-BADAC2855BAB}"/>
              </a:ext>
            </a:extLst>
          </p:cNvPr>
          <p:cNvSpPr>
            <a:spLocks noGrp="1"/>
          </p:cNvSpPr>
          <p:nvPr>
            <p:ph idx="1"/>
          </p:nvPr>
        </p:nvSpPr>
        <p:spPr/>
        <p:txBody>
          <a:bodyPr/>
          <a:lstStyle/>
          <a:p>
            <a:r>
              <a:rPr lang="en-GB" dirty="0">
                <a:latin typeface="Georgia" panose="02040502050405020303" pitchFamily="18" charset="0"/>
              </a:rPr>
              <a:t>Module tutor:    </a:t>
            </a:r>
            <a:r>
              <a:rPr lang="en-GB" i="1" dirty="0">
                <a:solidFill>
                  <a:srgbClr val="FF0000"/>
                </a:solidFill>
                <a:latin typeface="Georgia" panose="02040502050405020303" pitchFamily="18" charset="0"/>
              </a:rPr>
              <a:t>Please insert name</a:t>
            </a:r>
            <a:endParaRPr lang="en-GB" i="1" dirty="0">
              <a:latin typeface="Georgia" panose="02040502050405020303" pitchFamily="18" charset="0"/>
            </a:endParaRPr>
          </a:p>
          <a:p>
            <a:r>
              <a:rPr lang="en-GB" dirty="0">
                <a:latin typeface="Georgia" panose="02040502050405020303" pitchFamily="18" charset="0"/>
              </a:rPr>
              <a:t>Module tutor email: @greatermanchester.ac.uk</a:t>
            </a:r>
          </a:p>
          <a:p>
            <a:r>
              <a:rPr lang="en-GB" dirty="0">
                <a:latin typeface="Georgia" panose="02040502050405020303" pitchFamily="18" charset="0"/>
              </a:rPr>
              <a:t>Other contact methods:  </a:t>
            </a:r>
            <a:r>
              <a:rPr lang="en-GB" i="1" dirty="0">
                <a:solidFill>
                  <a:srgbClr val="FF0000"/>
                </a:solidFill>
                <a:latin typeface="Georgia" panose="02040502050405020303" pitchFamily="18" charset="0"/>
              </a:rPr>
              <a:t>Microsoft Teams, </a:t>
            </a:r>
            <a:r>
              <a:rPr lang="en-GB" i="1" dirty="0" err="1">
                <a:solidFill>
                  <a:srgbClr val="FF0000"/>
                </a:solidFill>
                <a:latin typeface="Georgia" panose="02040502050405020303" pitchFamily="18" charset="0"/>
              </a:rPr>
              <a:t>a.n.other</a:t>
            </a:r>
            <a:endParaRPr lang="en-GB" i="1" dirty="0">
              <a:solidFill>
                <a:srgbClr val="FF0000"/>
              </a:solidFill>
              <a:latin typeface="Georgia" panose="02040502050405020303" pitchFamily="18" charset="0"/>
            </a:endParaRPr>
          </a:p>
          <a:p>
            <a:r>
              <a:rPr lang="en-GB" dirty="0">
                <a:latin typeface="Georgia" panose="02040502050405020303" pitchFamily="18" charset="0"/>
              </a:rPr>
              <a:t>Availability</a:t>
            </a:r>
          </a:p>
          <a:p>
            <a:endParaRPr lang="en-GB" dirty="0">
              <a:latin typeface="Georgia" panose="02040502050405020303" pitchFamily="18" charset="0"/>
            </a:endParaRPr>
          </a:p>
          <a:p>
            <a:endParaRPr lang="en-GB" dirty="0">
              <a:latin typeface="Georgia" panose="02040502050405020303" pitchFamily="18" charset="0"/>
            </a:endParaRPr>
          </a:p>
          <a:p>
            <a:r>
              <a:rPr lang="en-GB" dirty="0">
                <a:latin typeface="Georgia" panose="02040502050405020303" pitchFamily="18" charset="0"/>
              </a:rPr>
              <a:t>Weblink to module specification –  </a:t>
            </a:r>
            <a:r>
              <a:rPr lang="en-GB" i="1" dirty="0">
                <a:solidFill>
                  <a:srgbClr val="FF0000"/>
                </a:solidFill>
                <a:latin typeface="Georgia" panose="02040502050405020303" pitchFamily="18" charset="0"/>
              </a:rPr>
              <a:t>insert link</a:t>
            </a:r>
            <a:endParaRPr lang="en-GB" i="1" dirty="0">
              <a:latin typeface="Georgia" panose="02040502050405020303" pitchFamily="18" charset="0"/>
            </a:endParaRPr>
          </a:p>
          <a:p>
            <a:r>
              <a:rPr lang="en-GB" dirty="0">
                <a:latin typeface="Georgia" panose="02040502050405020303" pitchFamily="18" charset="0"/>
              </a:rPr>
              <a:t>Weblink to </a:t>
            </a:r>
            <a:r>
              <a:rPr lang="en-GB" dirty="0" err="1">
                <a:latin typeface="Georgia" panose="02040502050405020303" pitchFamily="18" charset="0"/>
              </a:rPr>
              <a:t>moodle</a:t>
            </a:r>
            <a:r>
              <a:rPr lang="en-GB" dirty="0">
                <a:latin typeface="Georgia" panose="02040502050405020303" pitchFamily="18" charset="0"/>
              </a:rPr>
              <a:t> -  </a:t>
            </a:r>
            <a:r>
              <a:rPr lang="en-GB" i="1" dirty="0">
                <a:solidFill>
                  <a:srgbClr val="FF0000"/>
                </a:solidFill>
                <a:latin typeface="Georgia" panose="02040502050405020303" pitchFamily="18" charset="0"/>
              </a:rPr>
              <a:t>insert link</a:t>
            </a:r>
            <a:endParaRPr lang="en-GB" i="1" dirty="0">
              <a:latin typeface="Georgia" panose="02040502050405020303" pitchFamily="18" charset="0"/>
            </a:endParaRPr>
          </a:p>
        </p:txBody>
      </p:sp>
      <p:graphicFrame>
        <p:nvGraphicFramePr>
          <p:cNvPr id="6" name="Table 5">
            <a:extLst>
              <a:ext uri="{FF2B5EF4-FFF2-40B4-BE49-F238E27FC236}">
                <a16:creationId xmlns:a16="http://schemas.microsoft.com/office/drawing/2014/main" id="{2C280EC7-DCA6-3CC6-3EAD-2DB2378BD9DA}"/>
              </a:ext>
            </a:extLst>
          </p:cNvPr>
          <p:cNvGraphicFramePr>
            <a:graphicFrameLocks noGrp="1"/>
          </p:cNvGraphicFramePr>
          <p:nvPr>
            <p:extLst>
              <p:ext uri="{D42A27DB-BD31-4B8C-83A1-F6EECF244321}">
                <p14:modId xmlns:p14="http://schemas.microsoft.com/office/powerpoint/2010/main" val="458491256"/>
              </p:ext>
            </p:extLst>
          </p:nvPr>
        </p:nvGraphicFramePr>
        <p:xfrm>
          <a:off x="1343741" y="3787330"/>
          <a:ext cx="81280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879705666"/>
                    </a:ext>
                  </a:extLst>
                </a:gridCol>
                <a:gridCol w="1625600">
                  <a:extLst>
                    <a:ext uri="{9D8B030D-6E8A-4147-A177-3AD203B41FA5}">
                      <a16:colId xmlns:a16="http://schemas.microsoft.com/office/drawing/2014/main" val="2794149190"/>
                    </a:ext>
                  </a:extLst>
                </a:gridCol>
                <a:gridCol w="1625600">
                  <a:extLst>
                    <a:ext uri="{9D8B030D-6E8A-4147-A177-3AD203B41FA5}">
                      <a16:colId xmlns:a16="http://schemas.microsoft.com/office/drawing/2014/main" val="1788757801"/>
                    </a:ext>
                  </a:extLst>
                </a:gridCol>
                <a:gridCol w="1625600">
                  <a:extLst>
                    <a:ext uri="{9D8B030D-6E8A-4147-A177-3AD203B41FA5}">
                      <a16:colId xmlns:a16="http://schemas.microsoft.com/office/drawing/2014/main" val="1737102140"/>
                    </a:ext>
                  </a:extLst>
                </a:gridCol>
                <a:gridCol w="1625600">
                  <a:extLst>
                    <a:ext uri="{9D8B030D-6E8A-4147-A177-3AD203B41FA5}">
                      <a16:colId xmlns:a16="http://schemas.microsoft.com/office/drawing/2014/main" val="235139617"/>
                    </a:ext>
                  </a:extLst>
                </a:gridCol>
              </a:tblGrid>
              <a:tr h="370840">
                <a:tc>
                  <a:txBody>
                    <a:bodyPr/>
                    <a:lstStyle/>
                    <a:p>
                      <a:r>
                        <a:rPr lang="en-GB" dirty="0"/>
                        <a:t>Monday</a:t>
                      </a:r>
                    </a:p>
                  </a:txBody>
                  <a:tcPr/>
                </a:tc>
                <a:tc>
                  <a:txBody>
                    <a:bodyPr/>
                    <a:lstStyle/>
                    <a:p>
                      <a:r>
                        <a:rPr lang="en-GB" dirty="0"/>
                        <a:t>Tuesday</a:t>
                      </a:r>
                    </a:p>
                  </a:txBody>
                  <a:tcPr/>
                </a:tc>
                <a:tc>
                  <a:txBody>
                    <a:bodyPr/>
                    <a:lstStyle/>
                    <a:p>
                      <a:r>
                        <a:rPr lang="en-GB" dirty="0"/>
                        <a:t>Wednesday</a:t>
                      </a:r>
                    </a:p>
                  </a:txBody>
                  <a:tcPr/>
                </a:tc>
                <a:tc>
                  <a:txBody>
                    <a:bodyPr/>
                    <a:lstStyle/>
                    <a:p>
                      <a:r>
                        <a:rPr lang="en-GB" dirty="0"/>
                        <a:t>Thursday</a:t>
                      </a:r>
                    </a:p>
                  </a:txBody>
                  <a:tcPr/>
                </a:tc>
                <a:tc>
                  <a:txBody>
                    <a:bodyPr/>
                    <a:lstStyle/>
                    <a:p>
                      <a:r>
                        <a:rPr lang="en-GB" dirty="0"/>
                        <a:t>Friday</a:t>
                      </a:r>
                    </a:p>
                  </a:txBody>
                  <a:tcPr/>
                </a:tc>
                <a:extLst>
                  <a:ext uri="{0D108BD9-81ED-4DB2-BD59-A6C34878D82A}">
                    <a16:rowId xmlns:a16="http://schemas.microsoft.com/office/drawing/2014/main" val="3702768683"/>
                  </a:ext>
                </a:extLst>
              </a:tr>
              <a:tr h="370840">
                <a:tc>
                  <a:txBody>
                    <a:bodyPr/>
                    <a:lstStyle/>
                    <a:p>
                      <a:r>
                        <a:rPr lang="en-GB" i="1" dirty="0">
                          <a:solidFill>
                            <a:srgbClr val="FF0000"/>
                          </a:solidFill>
                        </a:rPr>
                        <a:t>9.30 – 10.30</a:t>
                      </a:r>
                    </a:p>
                  </a:txBody>
                  <a:tcPr/>
                </a:tc>
                <a:tc>
                  <a:txBody>
                    <a:bodyPr/>
                    <a:lstStyle/>
                    <a:p>
                      <a:endParaRPr lang="en-GB" i="1" dirty="0">
                        <a:solidFill>
                          <a:srgbClr val="FF0000"/>
                        </a:solidFill>
                      </a:endParaRPr>
                    </a:p>
                  </a:txBody>
                  <a:tcPr/>
                </a:tc>
                <a:tc>
                  <a:txBody>
                    <a:bodyPr/>
                    <a:lstStyle/>
                    <a:p>
                      <a:r>
                        <a:rPr lang="en-GB" i="1" dirty="0">
                          <a:solidFill>
                            <a:srgbClr val="FF0000"/>
                          </a:solidFill>
                        </a:rPr>
                        <a:t>1.00 – 3.00</a:t>
                      </a:r>
                    </a:p>
                  </a:txBody>
                  <a:tcPr/>
                </a:tc>
                <a:tc>
                  <a:txBody>
                    <a:bodyPr/>
                    <a:lstStyle/>
                    <a:p>
                      <a:endParaRPr lang="en-GB" i="1" dirty="0">
                        <a:solidFill>
                          <a:srgbClr val="FF0000"/>
                        </a:solidFill>
                      </a:endParaRPr>
                    </a:p>
                  </a:txBody>
                  <a:tcPr/>
                </a:tc>
                <a:tc>
                  <a:txBody>
                    <a:bodyPr/>
                    <a:lstStyle/>
                    <a:p>
                      <a:endParaRPr lang="en-GB" i="1" dirty="0">
                        <a:solidFill>
                          <a:srgbClr val="FF0000"/>
                        </a:solidFill>
                      </a:endParaRPr>
                    </a:p>
                  </a:txBody>
                  <a:tcPr/>
                </a:tc>
                <a:extLst>
                  <a:ext uri="{0D108BD9-81ED-4DB2-BD59-A6C34878D82A}">
                    <a16:rowId xmlns:a16="http://schemas.microsoft.com/office/drawing/2014/main" val="290353804"/>
                  </a:ext>
                </a:extLst>
              </a:tr>
            </a:tbl>
          </a:graphicData>
        </a:graphic>
      </p:graphicFrame>
    </p:spTree>
    <p:extLst>
      <p:ext uri="{BB962C8B-B14F-4D97-AF65-F5344CB8AC3E}">
        <p14:creationId xmlns:p14="http://schemas.microsoft.com/office/powerpoint/2010/main" val="2860682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3BA6-8F73-5A7E-BD57-E25B1CB86303}"/>
              </a:ext>
            </a:extLst>
          </p:cNvPr>
          <p:cNvSpPr>
            <a:spLocks noGrp="1"/>
          </p:cNvSpPr>
          <p:nvPr>
            <p:ph type="title"/>
          </p:nvPr>
        </p:nvSpPr>
        <p:spPr/>
        <p:txBody>
          <a:bodyPr/>
          <a:lstStyle/>
          <a:p>
            <a:r>
              <a:rPr lang="en-GB" dirty="0"/>
              <a:t>Module Communications</a:t>
            </a:r>
          </a:p>
        </p:txBody>
      </p:sp>
      <p:sp>
        <p:nvSpPr>
          <p:cNvPr id="3" name="Content Placeholder 2">
            <a:extLst>
              <a:ext uri="{FF2B5EF4-FFF2-40B4-BE49-F238E27FC236}">
                <a16:creationId xmlns:a16="http://schemas.microsoft.com/office/drawing/2014/main" id="{196AE9B7-C1AC-A1EC-647D-8F82DDA3DBBF}"/>
              </a:ext>
            </a:extLst>
          </p:cNvPr>
          <p:cNvSpPr>
            <a:spLocks noGrp="1"/>
          </p:cNvSpPr>
          <p:nvPr>
            <p:ph idx="1"/>
          </p:nvPr>
        </p:nvSpPr>
        <p:spPr/>
        <p:txBody>
          <a:bodyPr>
            <a:normAutofit/>
          </a:bodyPr>
          <a:lstStyle/>
          <a:p>
            <a:r>
              <a:rPr lang="en-GB" sz="1400" i="1" dirty="0">
                <a:solidFill>
                  <a:srgbClr val="FF0000"/>
                </a:solidFill>
                <a:latin typeface="Georgia" panose="02040502050405020303" pitchFamily="18" charset="0"/>
              </a:rPr>
              <a:t>Any additional communication methods via Teams, social media etc.</a:t>
            </a:r>
          </a:p>
          <a:p>
            <a:endParaRPr lang="en-GB" dirty="0">
              <a:latin typeface="Georgia" panose="02040502050405020303" pitchFamily="18" charset="0"/>
            </a:endParaRPr>
          </a:p>
          <a:p>
            <a:r>
              <a:rPr lang="en-GB" sz="2400" dirty="0">
                <a:latin typeface="Georgia" panose="02040502050405020303" pitchFamily="18" charset="0"/>
              </a:rPr>
              <a:t>The Module Tutor’s contact details are provided on the key information slide. You must check your University of Greater Manchester email address and the Moodle area dedicated to this module regularly as many module communications are channelled through these media.</a:t>
            </a:r>
          </a:p>
          <a:p>
            <a:r>
              <a:rPr lang="en-GB" sz="2400" dirty="0">
                <a:latin typeface="Georgia" panose="02040502050405020303" pitchFamily="18" charset="0"/>
              </a:rPr>
              <a:t>Your Module Tutor will normally aim to respond to your email messages within 2 full working days of receipt.  However, responses will be longer in holiday periods.</a:t>
            </a:r>
          </a:p>
        </p:txBody>
      </p:sp>
    </p:spTree>
    <p:extLst>
      <p:ext uri="{BB962C8B-B14F-4D97-AF65-F5344CB8AC3E}">
        <p14:creationId xmlns:p14="http://schemas.microsoft.com/office/powerpoint/2010/main" val="3534878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3494-F8B4-4ADE-D882-7E5F569A2945}"/>
              </a:ext>
            </a:extLst>
          </p:cNvPr>
          <p:cNvSpPr>
            <a:spLocks noGrp="1"/>
          </p:cNvSpPr>
          <p:nvPr>
            <p:ph type="title"/>
          </p:nvPr>
        </p:nvSpPr>
        <p:spPr/>
        <p:txBody>
          <a:bodyPr/>
          <a:lstStyle/>
          <a:p>
            <a:r>
              <a:rPr lang="en-GB" dirty="0"/>
              <a:t>Module Description</a:t>
            </a:r>
          </a:p>
        </p:txBody>
      </p:sp>
      <p:sp>
        <p:nvSpPr>
          <p:cNvPr id="3" name="Content Placeholder 2">
            <a:extLst>
              <a:ext uri="{FF2B5EF4-FFF2-40B4-BE49-F238E27FC236}">
                <a16:creationId xmlns:a16="http://schemas.microsoft.com/office/drawing/2014/main" id="{1A70520D-2332-D900-1FE6-743224B0FC2B}"/>
              </a:ext>
            </a:extLst>
          </p:cNvPr>
          <p:cNvSpPr>
            <a:spLocks noGrp="1"/>
          </p:cNvSpPr>
          <p:nvPr>
            <p:ph idx="1"/>
          </p:nvPr>
        </p:nvSpPr>
        <p:spPr/>
        <p:txBody>
          <a:bodyPr/>
          <a:lstStyle/>
          <a:p>
            <a:r>
              <a:rPr lang="en-GB" i="1" dirty="0">
                <a:solidFill>
                  <a:srgbClr val="FF0000"/>
                </a:solidFill>
                <a:latin typeface="Georgia" panose="02040502050405020303" pitchFamily="18" charset="0"/>
              </a:rPr>
              <a:t>Add module outline from module spec:</a:t>
            </a:r>
          </a:p>
          <a:p>
            <a:endParaRPr lang="en-GB" dirty="0">
              <a:latin typeface="Georgia" panose="02040502050405020303" pitchFamily="18" charset="0"/>
            </a:endParaRPr>
          </a:p>
        </p:txBody>
      </p:sp>
    </p:spTree>
    <p:extLst>
      <p:ext uri="{BB962C8B-B14F-4D97-AF65-F5344CB8AC3E}">
        <p14:creationId xmlns:p14="http://schemas.microsoft.com/office/powerpoint/2010/main" val="1954446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CA156-2874-D3CC-E296-7A8300F07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CD4E5-1B9F-58D1-A82C-5496D86F246E}"/>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1F988376-D741-F6E1-AC8D-2A0CB8A33528}"/>
              </a:ext>
            </a:extLst>
          </p:cNvPr>
          <p:cNvSpPr>
            <a:spLocks noGrp="1"/>
          </p:cNvSpPr>
          <p:nvPr>
            <p:ph idx="1"/>
          </p:nvPr>
        </p:nvSpPr>
        <p:spPr/>
        <p:txBody>
          <a:bodyPr/>
          <a:lstStyle/>
          <a:p>
            <a:r>
              <a:rPr lang="en-GB" i="1" dirty="0">
                <a:solidFill>
                  <a:srgbClr val="FF0000"/>
                </a:solidFill>
                <a:latin typeface="Georgia" panose="02040502050405020303" pitchFamily="18" charset="0"/>
              </a:rPr>
              <a:t>Add LOs from module spec:</a:t>
            </a:r>
          </a:p>
          <a:p>
            <a:pPr marL="0" indent="0">
              <a:buNone/>
            </a:pPr>
            <a:endParaRPr lang="en-GB" dirty="0">
              <a:solidFill>
                <a:srgbClr val="FF0000"/>
              </a:solidFill>
              <a:latin typeface="Georgia" panose="02040502050405020303" pitchFamily="18" charset="0"/>
            </a:endParaRPr>
          </a:p>
          <a:p>
            <a:pPr marL="0" indent="0">
              <a:buNone/>
            </a:pPr>
            <a:r>
              <a:rPr lang="en-GB" dirty="0">
                <a:latin typeface="Georgia" panose="02040502050405020303" pitchFamily="18" charset="0"/>
              </a:rPr>
              <a:t>1. </a:t>
            </a:r>
          </a:p>
        </p:txBody>
      </p:sp>
    </p:spTree>
    <p:extLst>
      <p:ext uri="{BB962C8B-B14F-4D97-AF65-F5344CB8AC3E}">
        <p14:creationId xmlns:p14="http://schemas.microsoft.com/office/powerpoint/2010/main" val="1297185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87413-1405-531D-2CB1-A46FC964B7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A2E2C-4998-C890-034F-800CB78E63A6}"/>
              </a:ext>
            </a:extLst>
          </p:cNvPr>
          <p:cNvSpPr>
            <a:spLocks noGrp="1"/>
          </p:cNvSpPr>
          <p:nvPr>
            <p:ph type="title"/>
          </p:nvPr>
        </p:nvSpPr>
        <p:spPr/>
        <p:txBody>
          <a:bodyPr/>
          <a:lstStyle/>
          <a:p>
            <a:r>
              <a:rPr lang="en-GB" dirty="0"/>
              <a:t>Assessment Deadlines</a:t>
            </a:r>
          </a:p>
        </p:txBody>
      </p:sp>
      <p:sp>
        <p:nvSpPr>
          <p:cNvPr id="3" name="Content Placeholder 2">
            <a:extLst>
              <a:ext uri="{FF2B5EF4-FFF2-40B4-BE49-F238E27FC236}">
                <a16:creationId xmlns:a16="http://schemas.microsoft.com/office/drawing/2014/main" id="{EADCCB14-CF50-48CC-B7F0-31D99C5F6029}"/>
              </a:ext>
            </a:extLst>
          </p:cNvPr>
          <p:cNvSpPr>
            <a:spLocks noGrp="1"/>
          </p:cNvSpPr>
          <p:nvPr>
            <p:ph idx="1"/>
          </p:nvPr>
        </p:nvSpPr>
        <p:spPr/>
        <p:txBody>
          <a:bodyPr/>
          <a:lstStyle/>
          <a:p>
            <a:pPr marL="0" indent="0">
              <a:buNone/>
            </a:pPr>
            <a:endParaRPr lang="en-GB" dirty="0">
              <a:solidFill>
                <a:srgbClr val="FF0000"/>
              </a:solidFill>
              <a:latin typeface="Georgia" panose="02040502050405020303" pitchFamily="18" charset="0"/>
            </a:endParaRPr>
          </a:p>
          <a:p>
            <a:pPr marL="0" indent="0">
              <a:buNone/>
            </a:pPr>
            <a:r>
              <a:rPr lang="en-GB" dirty="0">
                <a:latin typeface="Georgia" panose="02040502050405020303" pitchFamily="18" charset="0"/>
              </a:rPr>
              <a:t>1.  </a:t>
            </a:r>
          </a:p>
          <a:p>
            <a:pPr marL="0" indent="0">
              <a:buNone/>
            </a:pPr>
            <a:endParaRPr lang="en-GB" dirty="0">
              <a:latin typeface="Georgia" panose="02040502050405020303" pitchFamily="18" charset="0"/>
            </a:endParaRPr>
          </a:p>
          <a:p>
            <a:pPr marL="0" indent="0">
              <a:buNone/>
            </a:pPr>
            <a:r>
              <a:rPr lang="en-GB" dirty="0">
                <a:latin typeface="Georgia" panose="02040502050405020303" pitchFamily="18" charset="0"/>
              </a:rPr>
              <a:t>2. </a:t>
            </a:r>
          </a:p>
        </p:txBody>
      </p:sp>
    </p:spTree>
    <p:extLst>
      <p:ext uri="{BB962C8B-B14F-4D97-AF65-F5344CB8AC3E}">
        <p14:creationId xmlns:p14="http://schemas.microsoft.com/office/powerpoint/2010/main" val="1152727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C01BD-47FD-AC26-7F74-30AB0A73F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AFF7E-88E1-F98C-11BE-F58AAC9FB685}"/>
              </a:ext>
            </a:extLst>
          </p:cNvPr>
          <p:cNvSpPr>
            <a:spLocks noGrp="1"/>
          </p:cNvSpPr>
          <p:nvPr>
            <p:ph type="title"/>
          </p:nvPr>
        </p:nvSpPr>
        <p:spPr/>
        <p:txBody>
          <a:bodyPr/>
          <a:lstStyle/>
          <a:p>
            <a:r>
              <a:rPr lang="en-GB" dirty="0"/>
              <a:t>Assessment Feedback</a:t>
            </a:r>
          </a:p>
        </p:txBody>
      </p:sp>
      <p:sp>
        <p:nvSpPr>
          <p:cNvPr id="3" name="Content Placeholder 2">
            <a:extLst>
              <a:ext uri="{FF2B5EF4-FFF2-40B4-BE49-F238E27FC236}">
                <a16:creationId xmlns:a16="http://schemas.microsoft.com/office/drawing/2014/main" id="{5806B0F3-0E47-DE8B-CFE3-00309284F09B}"/>
              </a:ext>
            </a:extLst>
          </p:cNvPr>
          <p:cNvSpPr>
            <a:spLocks noGrp="1"/>
          </p:cNvSpPr>
          <p:nvPr>
            <p:ph idx="1"/>
          </p:nvPr>
        </p:nvSpPr>
        <p:spPr/>
        <p:txBody>
          <a:bodyPr>
            <a:normAutofit fontScale="32500" lnSpcReduction="20000"/>
          </a:bodyPr>
          <a:lstStyle/>
          <a:p>
            <a:pPr algn="just">
              <a:lnSpc>
                <a:spcPct val="120000"/>
              </a:lnSpc>
              <a:spcBef>
                <a:spcPts val="0"/>
              </a:spcBef>
            </a:pPr>
            <a:r>
              <a:rPr lang="en-US" sz="5600" spc="-25" dirty="0">
                <a:solidFill>
                  <a:srgbClr val="1B263D"/>
                </a:solidFill>
                <a:latin typeface="Georgia" panose="02040502050405020303" pitchFamily="18" charset="0"/>
                <a:ea typeface="Arial Unicode"/>
                <a:cs typeface="Arial Unicode"/>
                <a:sym typeface="Arial Unicode"/>
              </a:rPr>
              <a:t>Feedback on items of assessment can be formal (such as on a signed feedback form) or informal (such as advice from a tutor in a tutorial). Feedback is therefore not just your grade or the comments written on your feedback form, it is advice you get from your tutor and sometimes your peers about how your work is progressing, how well you have done, what further actions you might take. </a:t>
            </a:r>
          </a:p>
          <a:p>
            <a:pPr algn="just">
              <a:lnSpc>
                <a:spcPct val="120000"/>
              </a:lnSpc>
              <a:spcBef>
                <a:spcPts val="0"/>
              </a:spcBef>
            </a:pPr>
            <a:endParaRPr lang="en-US" sz="5600" spc="-25" dirty="0">
              <a:solidFill>
                <a:srgbClr val="1B263D"/>
              </a:solidFill>
              <a:latin typeface="Georgia" panose="02040502050405020303" pitchFamily="18" charset="0"/>
              <a:ea typeface="Arial Unicode"/>
              <a:cs typeface="Arial Unicode"/>
              <a:sym typeface="Arial Unicode"/>
            </a:endParaRPr>
          </a:p>
          <a:p>
            <a:pPr algn="just">
              <a:lnSpc>
                <a:spcPct val="120000"/>
              </a:lnSpc>
              <a:spcBef>
                <a:spcPts val="0"/>
              </a:spcBef>
            </a:pPr>
            <a:r>
              <a:rPr lang="en-US" sz="5600" spc="-25" dirty="0">
                <a:solidFill>
                  <a:srgbClr val="1B263D"/>
                </a:solidFill>
                <a:latin typeface="Georgia" panose="02040502050405020303" pitchFamily="18" charset="0"/>
                <a:ea typeface="Arial Unicode"/>
                <a:cs typeface="Arial Unicode"/>
                <a:sym typeface="Arial Unicode"/>
              </a:rPr>
              <a:t>We </a:t>
            </a:r>
            <a:r>
              <a:rPr lang="en-US" sz="5600" spc="-25" dirty="0" err="1">
                <a:solidFill>
                  <a:srgbClr val="1B263D"/>
                </a:solidFill>
                <a:latin typeface="Georgia" panose="02040502050405020303" pitchFamily="18" charset="0"/>
                <a:ea typeface="Arial Unicode"/>
                <a:cs typeface="Arial Unicode"/>
                <a:sym typeface="Arial Unicode"/>
              </a:rPr>
              <a:t>recognise</a:t>
            </a:r>
            <a:r>
              <a:rPr lang="en-US" sz="5600" spc="-25" dirty="0">
                <a:solidFill>
                  <a:srgbClr val="1B263D"/>
                </a:solidFill>
                <a:latin typeface="Georgia" panose="02040502050405020303" pitchFamily="18" charset="0"/>
                <a:ea typeface="Arial Unicode"/>
                <a:cs typeface="Arial Unicode"/>
                <a:sym typeface="Arial Unicode"/>
              </a:rPr>
              <a:t> the value of prompt feedback on work submitted. Other than in exceptional circumstances (such as might be caused by staff illness), you can expect your work to be marked and feedback provided not more than 5 working days from the deadline date. However, please note that such feedback will be provisional and not agreed until the Assessment Board has met and may therefore be subject to change.</a:t>
            </a:r>
          </a:p>
          <a:p>
            <a:pPr algn="just">
              <a:lnSpc>
                <a:spcPct val="120000"/>
              </a:lnSpc>
              <a:spcBef>
                <a:spcPts val="0"/>
              </a:spcBef>
            </a:pPr>
            <a:endParaRPr lang="en-US" sz="5600" spc="-25" dirty="0">
              <a:solidFill>
                <a:srgbClr val="1B263D"/>
              </a:solidFill>
              <a:latin typeface="Georgia" panose="02040502050405020303" pitchFamily="18" charset="0"/>
              <a:ea typeface="Arial Unicode"/>
              <a:cs typeface="Arial Unicode"/>
              <a:sym typeface="Arial Unicode"/>
            </a:endParaRPr>
          </a:p>
          <a:p>
            <a:pPr algn="just">
              <a:lnSpc>
                <a:spcPct val="120000"/>
              </a:lnSpc>
              <a:spcBef>
                <a:spcPts val="0"/>
              </a:spcBef>
            </a:pPr>
            <a:r>
              <a:rPr lang="en-US" sz="5600" spc="-25" dirty="0">
                <a:solidFill>
                  <a:srgbClr val="1B263D"/>
                </a:solidFill>
                <a:latin typeface="Georgia" panose="02040502050405020303" pitchFamily="18" charset="0"/>
                <a:ea typeface="Arial Unicode"/>
                <a:cs typeface="Arial Unicode"/>
                <a:sym typeface="Arial Unicode"/>
              </a:rPr>
              <a:t>Please take time to read or listen to your assessment feedback. This can be very useful in determining your strengths and key areas for development, and can therefore help you improve on future grades</a:t>
            </a:r>
            <a:r>
              <a:rPr lang="en-US" sz="3700" spc="-25" dirty="0">
                <a:solidFill>
                  <a:srgbClr val="1B263D"/>
                </a:solidFill>
                <a:latin typeface="Georgia" panose="02040502050405020303" pitchFamily="18" charset="0"/>
                <a:ea typeface="Arial Unicode"/>
                <a:cs typeface="Arial Unicode"/>
                <a:sym typeface="Arial Unicode"/>
              </a:rPr>
              <a:t>.</a:t>
            </a:r>
          </a:p>
          <a:p>
            <a:pPr marL="0" indent="0">
              <a:buNone/>
            </a:pPr>
            <a:endParaRPr lang="en-GB" dirty="0">
              <a:latin typeface="Georgia" panose="02040502050405020303" pitchFamily="18" charset="0"/>
            </a:endParaRPr>
          </a:p>
        </p:txBody>
      </p:sp>
    </p:spTree>
    <p:extLst>
      <p:ext uri="{BB962C8B-B14F-4D97-AF65-F5344CB8AC3E}">
        <p14:creationId xmlns:p14="http://schemas.microsoft.com/office/powerpoint/2010/main" val="2995545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0C389-6F2C-F3D1-BC52-BA9F4D5E3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CBC6C-1A79-D704-C607-B2054F807B36}"/>
              </a:ext>
            </a:extLst>
          </p:cNvPr>
          <p:cNvSpPr>
            <a:spLocks noGrp="1"/>
          </p:cNvSpPr>
          <p:nvPr>
            <p:ph type="title"/>
          </p:nvPr>
        </p:nvSpPr>
        <p:spPr/>
        <p:txBody>
          <a:bodyPr/>
          <a:lstStyle/>
          <a:p>
            <a:r>
              <a:rPr lang="en-GB" dirty="0"/>
              <a:t>Module Calendar</a:t>
            </a:r>
          </a:p>
        </p:txBody>
      </p:sp>
      <p:graphicFrame>
        <p:nvGraphicFramePr>
          <p:cNvPr id="7" name="Content Placeholder 6">
            <a:extLst>
              <a:ext uri="{FF2B5EF4-FFF2-40B4-BE49-F238E27FC236}">
                <a16:creationId xmlns:a16="http://schemas.microsoft.com/office/drawing/2014/main" id="{4305D8F5-F23D-8C69-DB47-C279AF533C9D}"/>
              </a:ext>
            </a:extLst>
          </p:cNvPr>
          <p:cNvGraphicFramePr>
            <a:graphicFrameLocks noGrp="1"/>
          </p:cNvGraphicFramePr>
          <p:nvPr>
            <p:ph idx="1"/>
            <p:extLst>
              <p:ext uri="{D42A27DB-BD31-4B8C-83A1-F6EECF244321}">
                <p14:modId xmlns:p14="http://schemas.microsoft.com/office/powerpoint/2010/main" val="2952045203"/>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64388346"/>
                    </a:ext>
                  </a:extLst>
                </a:gridCol>
                <a:gridCol w="2103120">
                  <a:extLst>
                    <a:ext uri="{9D8B030D-6E8A-4147-A177-3AD203B41FA5}">
                      <a16:colId xmlns:a16="http://schemas.microsoft.com/office/drawing/2014/main" val="2400359348"/>
                    </a:ext>
                  </a:extLst>
                </a:gridCol>
                <a:gridCol w="2103120">
                  <a:extLst>
                    <a:ext uri="{9D8B030D-6E8A-4147-A177-3AD203B41FA5}">
                      <a16:colId xmlns:a16="http://schemas.microsoft.com/office/drawing/2014/main" val="4002297935"/>
                    </a:ext>
                  </a:extLst>
                </a:gridCol>
                <a:gridCol w="2103120">
                  <a:extLst>
                    <a:ext uri="{9D8B030D-6E8A-4147-A177-3AD203B41FA5}">
                      <a16:colId xmlns:a16="http://schemas.microsoft.com/office/drawing/2014/main" val="2808993335"/>
                    </a:ext>
                  </a:extLst>
                </a:gridCol>
                <a:gridCol w="2103120">
                  <a:extLst>
                    <a:ext uri="{9D8B030D-6E8A-4147-A177-3AD203B41FA5}">
                      <a16:colId xmlns:a16="http://schemas.microsoft.com/office/drawing/2014/main" val="42738624"/>
                    </a:ext>
                  </a:extLst>
                </a:gridCol>
              </a:tblGrid>
              <a:tr h="370840">
                <a:tc>
                  <a:txBody>
                    <a:bodyPr/>
                    <a:lstStyle/>
                    <a:p>
                      <a:endParaRPr lang="en-GB"/>
                    </a:p>
                  </a:txBody>
                  <a:tcPr/>
                </a:tc>
                <a:tc>
                  <a:txBody>
                    <a:bodyPr/>
                    <a:lstStyle/>
                    <a:p>
                      <a:r>
                        <a:rPr lang="en-GB" dirty="0"/>
                        <a:t>Lesson 01</a:t>
                      </a:r>
                    </a:p>
                  </a:txBody>
                  <a:tcPr/>
                </a:tc>
                <a:tc>
                  <a:txBody>
                    <a:bodyPr/>
                    <a:lstStyle/>
                    <a:p>
                      <a:r>
                        <a:rPr lang="en-GB" dirty="0"/>
                        <a:t>Lesson 02</a:t>
                      </a:r>
                    </a:p>
                  </a:txBody>
                  <a:tcPr/>
                </a:tc>
                <a:tc>
                  <a:txBody>
                    <a:bodyPr/>
                    <a:lstStyle/>
                    <a:p>
                      <a:r>
                        <a:rPr lang="en-GB" dirty="0"/>
                        <a:t>Lesson 03</a:t>
                      </a:r>
                    </a:p>
                  </a:txBody>
                  <a:tcPr/>
                </a:tc>
                <a:tc>
                  <a:txBody>
                    <a:bodyPr/>
                    <a:lstStyle/>
                    <a:p>
                      <a:r>
                        <a:rPr lang="en-GB" dirty="0"/>
                        <a:t>Lesson 04</a:t>
                      </a:r>
                    </a:p>
                  </a:txBody>
                  <a:tcPr/>
                </a:tc>
                <a:extLst>
                  <a:ext uri="{0D108BD9-81ED-4DB2-BD59-A6C34878D82A}">
                    <a16:rowId xmlns:a16="http://schemas.microsoft.com/office/drawing/2014/main" val="2180996452"/>
                  </a:ext>
                </a:extLst>
              </a:tr>
              <a:tr h="370840">
                <a:tc>
                  <a:txBody>
                    <a:bodyPr/>
                    <a:lstStyle/>
                    <a:p>
                      <a:r>
                        <a:rPr lang="en-GB" dirty="0"/>
                        <a:t>Week 1</a:t>
                      </a:r>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496136181"/>
                  </a:ext>
                </a:extLst>
              </a:tr>
              <a:tr h="370840">
                <a:tc>
                  <a:txBody>
                    <a:bodyPr/>
                    <a:lstStyle/>
                    <a:p>
                      <a:r>
                        <a:rPr lang="en-GB" dirty="0"/>
                        <a:t>Week 2</a:t>
                      </a:r>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386921378"/>
                  </a:ext>
                </a:extLst>
              </a:tr>
              <a:tr h="370840">
                <a:tc>
                  <a:txBody>
                    <a:bodyPr/>
                    <a:lstStyle/>
                    <a:p>
                      <a:r>
                        <a:rPr lang="en-GB" dirty="0"/>
                        <a:t>Week 3</a:t>
                      </a:r>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675245604"/>
                  </a:ext>
                </a:extLst>
              </a:tr>
              <a:tr h="370840">
                <a:tc>
                  <a:txBody>
                    <a:bodyPr/>
                    <a:lstStyle/>
                    <a:p>
                      <a:r>
                        <a:rPr lang="en-GB" dirty="0"/>
                        <a:t>Week 4</a:t>
                      </a:r>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41610153"/>
                  </a:ext>
                </a:extLst>
              </a:tr>
              <a:tr h="370840">
                <a:tc>
                  <a:txBody>
                    <a:bodyPr/>
                    <a:lstStyle/>
                    <a:p>
                      <a:r>
                        <a:rPr lang="en-GB" dirty="0"/>
                        <a:t>Week 5</a:t>
                      </a:r>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3236491140"/>
                  </a:ext>
                </a:extLst>
              </a:tr>
            </a:tbl>
          </a:graphicData>
        </a:graphic>
      </p:graphicFrame>
    </p:spTree>
    <p:extLst>
      <p:ext uri="{BB962C8B-B14F-4D97-AF65-F5344CB8AC3E}">
        <p14:creationId xmlns:p14="http://schemas.microsoft.com/office/powerpoint/2010/main" val="3380148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E44C5-8FC2-7A70-BBEC-3C9AF7164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60E6A-F262-9FFC-B1E6-6347AAFF1CEC}"/>
              </a:ext>
            </a:extLst>
          </p:cNvPr>
          <p:cNvSpPr>
            <a:spLocks noGrp="1"/>
          </p:cNvSpPr>
          <p:nvPr>
            <p:ph type="title"/>
          </p:nvPr>
        </p:nvSpPr>
        <p:spPr/>
        <p:txBody>
          <a:bodyPr/>
          <a:lstStyle/>
          <a:p>
            <a:r>
              <a:rPr lang="en-GB" dirty="0"/>
              <a:t>Assessment Criteria</a:t>
            </a:r>
          </a:p>
        </p:txBody>
      </p:sp>
      <p:sp>
        <p:nvSpPr>
          <p:cNvPr id="3" name="Content Placeholder 2">
            <a:extLst>
              <a:ext uri="{FF2B5EF4-FFF2-40B4-BE49-F238E27FC236}">
                <a16:creationId xmlns:a16="http://schemas.microsoft.com/office/drawing/2014/main" id="{E98E1E0D-A511-C0DA-3489-DAE7BDA9DFF1}"/>
              </a:ext>
            </a:extLst>
          </p:cNvPr>
          <p:cNvSpPr>
            <a:spLocks noGrp="1"/>
          </p:cNvSpPr>
          <p:nvPr>
            <p:ph idx="1"/>
          </p:nvPr>
        </p:nvSpPr>
        <p:spPr/>
        <p:txBody>
          <a:bodyPr>
            <a:normAutofit/>
          </a:bodyPr>
          <a:lstStyle/>
          <a:p>
            <a:pPr marL="0" indent="0">
              <a:buNone/>
            </a:pPr>
            <a:r>
              <a:rPr lang="en-GB" dirty="0">
                <a:latin typeface="Georgia" panose="02040502050405020303" pitchFamily="18" charset="0"/>
              </a:rPr>
              <a:t>This information can be found on the individual assignment (briefs)</a:t>
            </a:r>
          </a:p>
        </p:txBody>
      </p:sp>
    </p:spTree>
    <p:extLst>
      <p:ext uri="{BB962C8B-B14F-4D97-AF65-F5344CB8AC3E}">
        <p14:creationId xmlns:p14="http://schemas.microsoft.com/office/powerpoint/2010/main" val="1310465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8B1B3-6EC4-AB4A-5E49-39CE987E55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DD358-F99E-BC7D-542E-4D25F85BCE1C}"/>
              </a:ext>
            </a:extLst>
          </p:cNvPr>
          <p:cNvSpPr>
            <a:spLocks noGrp="1"/>
          </p:cNvSpPr>
          <p:nvPr>
            <p:ph type="title"/>
          </p:nvPr>
        </p:nvSpPr>
        <p:spPr/>
        <p:txBody>
          <a:bodyPr/>
          <a:lstStyle/>
          <a:p>
            <a:r>
              <a:rPr lang="en-GB" dirty="0"/>
              <a:t>Guidance and Policies</a:t>
            </a:r>
          </a:p>
        </p:txBody>
      </p:sp>
      <p:sp>
        <p:nvSpPr>
          <p:cNvPr id="3" name="Content Placeholder 2">
            <a:extLst>
              <a:ext uri="{FF2B5EF4-FFF2-40B4-BE49-F238E27FC236}">
                <a16:creationId xmlns:a16="http://schemas.microsoft.com/office/drawing/2014/main" id="{659D3625-8E18-85BC-665D-B70054BC24B7}"/>
              </a:ext>
            </a:extLst>
          </p:cNvPr>
          <p:cNvSpPr>
            <a:spLocks noGrp="1"/>
          </p:cNvSpPr>
          <p:nvPr>
            <p:ph idx="1"/>
          </p:nvPr>
        </p:nvSpPr>
        <p:spPr/>
        <p:txBody>
          <a:bodyPr>
            <a:normAutofit/>
          </a:bodyPr>
          <a:lstStyle/>
          <a:p>
            <a:pPr marL="0" indent="0">
              <a:buNone/>
            </a:pPr>
            <a:r>
              <a:rPr lang="en-GB" dirty="0">
                <a:latin typeface="Georgia" panose="02040502050405020303" pitchFamily="18" charset="0"/>
              </a:rPr>
              <a:t>Link to Assessment regulations:</a:t>
            </a:r>
          </a:p>
          <a:p>
            <a:pPr marL="0" indent="0">
              <a:buNone/>
            </a:pPr>
            <a:endParaRPr lang="en-GB" sz="1400" dirty="0">
              <a:solidFill>
                <a:srgbClr val="0D6EBC"/>
              </a:solidFill>
              <a:latin typeface="Georgia" panose="02040502050405020303" pitchFamily="18" charset="0"/>
              <a:hlinkClick r:id="rId3">
                <a:extLst>
                  <a:ext uri="{A12FA001-AC4F-418D-AE19-62706E023703}">
                    <ahyp:hlinkClr xmlns:ahyp="http://schemas.microsoft.com/office/drawing/2018/hyperlinkcolor" val="tx"/>
                  </a:ext>
                </a:extLst>
              </a:hlinkClick>
            </a:endParaRPr>
          </a:p>
          <a:p>
            <a:pPr marL="0" indent="0">
              <a:buNone/>
            </a:pPr>
            <a:r>
              <a:rPr lang="en-GB" sz="1400" i="1" dirty="0">
                <a:solidFill>
                  <a:srgbClr val="FF0000"/>
                </a:solidFill>
                <a:latin typeface="Georgia" panose="02040502050405020303" pitchFamily="18" charset="0"/>
                <a:hlinkClick r:id="rId3">
                  <a:extLst>
                    <a:ext uri="{A12FA001-AC4F-418D-AE19-62706E023703}">
                      <ahyp:hlinkClr xmlns:ahyp="http://schemas.microsoft.com/office/drawing/2018/hyperlinkcolor" val="tx"/>
                    </a:ext>
                  </a:extLst>
                </a:hlinkClick>
              </a:rPr>
              <a:t>Delete as appropriate:</a:t>
            </a:r>
          </a:p>
          <a:p>
            <a:pPr marL="0" indent="0">
              <a:buNone/>
            </a:pPr>
            <a:r>
              <a:rPr lang="en-GB" sz="1400" dirty="0">
                <a:solidFill>
                  <a:srgbClr val="0D6EBC"/>
                </a:solidFill>
                <a:latin typeface="Georgia" panose="02040502050405020303" pitchFamily="18" charset="0"/>
                <a:hlinkClick r:id="rId3">
                  <a:extLst>
                    <a:ext uri="{A12FA001-AC4F-418D-AE19-62706E023703}">
                      <ahyp:hlinkClr xmlns:ahyp="http://schemas.microsoft.com/office/drawing/2018/hyperlinkcolor" val="tx"/>
                    </a:ext>
                  </a:extLst>
                </a:hlinkClick>
              </a:rPr>
              <a:t>https://greatermanchester.ac.uk/assets/Uploads/studentpolicy2627/Academic-Regulations/Assessment-Regulations-for-Undergraduate-Programmes-2026-27.pdf</a:t>
            </a:r>
            <a:endParaRPr lang="en-GB" sz="1400" dirty="0">
              <a:latin typeface="Georgia" panose="02040502050405020303" pitchFamily="18" charset="0"/>
            </a:endParaRPr>
          </a:p>
          <a:p>
            <a:pPr marL="0" indent="0">
              <a:buNone/>
            </a:pPr>
            <a:r>
              <a:rPr lang="en-GB" sz="1400" dirty="0">
                <a:latin typeface="Georgia" panose="02040502050405020303" pitchFamily="18" charset="0"/>
                <a:hlinkClick r:id="rId4"/>
              </a:rPr>
              <a:t>https://greatermanchester.ac.uk/assets/Uploads/studentpolicy2627/Academic-Regulations/Assessment-Regulations-for-PGT-Programmes-2026-27.pdf</a:t>
            </a:r>
            <a:endParaRPr lang="en-GB" sz="1400" dirty="0">
              <a:latin typeface="Georgia" panose="02040502050405020303" pitchFamily="18" charset="0"/>
            </a:endParaRPr>
          </a:p>
          <a:p>
            <a:pPr marL="0" indent="0">
              <a:buNone/>
            </a:pPr>
            <a:endParaRPr lang="en-GB" dirty="0">
              <a:latin typeface="Georgia" panose="02040502050405020303" pitchFamily="18" charset="0"/>
            </a:endParaRPr>
          </a:p>
          <a:p>
            <a:pPr marL="0" indent="0">
              <a:buNone/>
            </a:pPr>
            <a:r>
              <a:rPr lang="en-GB" dirty="0">
                <a:latin typeface="Georgia" panose="02040502050405020303" pitchFamily="18" charset="0"/>
              </a:rPr>
              <a:t>Link to Academic Misconduct regulations:</a:t>
            </a:r>
          </a:p>
          <a:p>
            <a:pPr marL="0" indent="0">
              <a:buNone/>
            </a:pPr>
            <a:r>
              <a:rPr lang="en-GB" sz="1400" dirty="0">
                <a:latin typeface="Georgia" panose="02040502050405020303" pitchFamily="18" charset="0"/>
                <a:hlinkClick r:id="rId5"/>
              </a:rPr>
              <a:t>https://greatermanchester.ac.uk/assets/Uploads/studentpolicy2627/Academic-Misconduct-info/Academic-Misconduct-Regulations-and-Procedures-2026-27.pdf?vid=3</a:t>
            </a:r>
            <a:endParaRPr lang="en-GB" sz="1400" dirty="0">
              <a:latin typeface="Georgia" panose="02040502050405020303" pitchFamily="18" charset="0"/>
            </a:endParaRPr>
          </a:p>
        </p:txBody>
      </p:sp>
    </p:spTree>
    <p:extLst>
      <p:ext uri="{BB962C8B-B14F-4D97-AF65-F5344CB8AC3E}">
        <p14:creationId xmlns:p14="http://schemas.microsoft.com/office/powerpoint/2010/main" val="1795098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9196602"/>
      </p:ext>
    </p:extLst>
  </p:cSld>
  <p:clrMapOvr>
    <a:masterClrMapping/>
  </p:clrMapOvr>
</p:sld>
</file>

<file path=ppt/theme/theme1.xml><?xml version="1.0" encoding="utf-8"?>
<a:theme xmlns:a="http://schemas.openxmlformats.org/drawingml/2006/main" name="Office Theme">
  <a:themeElements>
    <a:clrScheme name="University of Greater Manchester">
      <a:dk1>
        <a:srgbClr val="000000"/>
      </a:dk1>
      <a:lt1>
        <a:srgbClr val="FFFFFF"/>
      </a:lt1>
      <a:dk2>
        <a:srgbClr val="1A263B"/>
      </a:dk2>
      <a:lt2>
        <a:srgbClr val="E7E6E6"/>
      </a:lt2>
      <a:accent1>
        <a:srgbClr val="0D6EBD"/>
      </a:accent1>
      <a:accent2>
        <a:srgbClr val="00E4FB"/>
      </a:accent2>
      <a:accent3>
        <a:srgbClr val="82AC9E"/>
      </a:accent3>
      <a:accent4>
        <a:srgbClr val="EDCC67"/>
      </a:accent4>
      <a:accent5>
        <a:srgbClr val="262527"/>
      </a:accent5>
      <a:accent6>
        <a:srgbClr val="F2F4F4"/>
      </a:accent6>
      <a:hlink>
        <a:srgbClr val="0D6EBC"/>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9D12700F9A1E44840DE903FBB598DE" ma:contentTypeVersion="11" ma:contentTypeDescription="Create a new document." ma:contentTypeScope="" ma:versionID="3143f30989814e767b0c1694f40fd808">
  <xsd:schema xmlns:xsd="http://www.w3.org/2001/XMLSchema" xmlns:xs="http://www.w3.org/2001/XMLSchema" xmlns:p="http://schemas.microsoft.com/office/2006/metadata/properties" xmlns:ns2="6e6b7d42-bda2-44a5-a725-5910da6badcd" xmlns:ns3="c206a48d-71e0-46a2-8c4a-e05bbcb41863" targetNamespace="http://schemas.microsoft.com/office/2006/metadata/properties" ma:root="true" ma:fieldsID="f74b9f945186c0dcc1eb45ffad87ff59" ns2:_="" ns3:_="">
    <xsd:import namespace="6e6b7d42-bda2-44a5-a725-5910da6badcd"/>
    <xsd:import namespace="c206a48d-71e0-46a2-8c4a-e05bbcb418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b7d42-bda2-44a5-a725-5910da6bad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fffbf63-7dae-4706-9ef3-cdf75752fa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206a48d-71e0-46a2-8c4a-e05bbcb4186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da48a3d-65b3-4ce2-aa52-79a99d4bd99d}" ma:internalName="TaxCatchAll" ma:showField="CatchAllData" ma:web="c206a48d-71e0-46a2-8c4a-e05bbcb4186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6b7d42-bda2-44a5-a725-5910da6badcd">
      <Terms xmlns="http://schemas.microsoft.com/office/infopath/2007/PartnerControls"/>
    </lcf76f155ced4ddcb4097134ff3c332f>
    <TaxCatchAll xmlns="c206a48d-71e0-46a2-8c4a-e05bbcb41863" xsi:nil="true"/>
  </documentManagement>
</p:properties>
</file>

<file path=customXml/itemProps1.xml><?xml version="1.0" encoding="utf-8"?>
<ds:datastoreItem xmlns:ds="http://schemas.openxmlformats.org/officeDocument/2006/customXml" ds:itemID="{B41AA7F1-D32D-4E67-A031-14B7647D25A2}"/>
</file>

<file path=customXml/itemProps2.xml><?xml version="1.0" encoding="utf-8"?>
<ds:datastoreItem xmlns:ds="http://schemas.openxmlformats.org/officeDocument/2006/customXml" ds:itemID="{09F5B6E4-7F6E-4ABB-AB91-8F6FD9B95BC6}"/>
</file>

<file path=customXml/itemProps3.xml><?xml version="1.0" encoding="utf-8"?>
<ds:datastoreItem xmlns:ds="http://schemas.openxmlformats.org/officeDocument/2006/customXml" ds:itemID="{E93356D0-2FF5-4EBF-97F3-5A964EAF7062}"/>
</file>

<file path=docProps/app.xml><?xml version="1.0" encoding="utf-8"?>
<Properties xmlns="http://schemas.openxmlformats.org/officeDocument/2006/extended-properties" xmlns:vt="http://schemas.openxmlformats.org/officeDocument/2006/docPropsVTypes">
  <TotalTime>33</TotalTime>
  <Words>491</Words>
  <Application>Microsoft Office PowerPoint</Application>
  <PresentationFormat>Widescreen</PresentationFormat>
  <Paragraphs>69</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Georgia</vt:lpstr>
      <vt:lpstr>Arial</vt:lpstr>
      <vt:lpstr>Aptos</vt:lpstr>
      <vt:lpstr>Office Theme</vt:lpstr>
      <vt:lpstr>Module Guide – Block Delivery</vt:lpstr>
      <vt:lpstr>Colours</vt:lpstr>
      <vt:lpstr>KEY INFORMATION</vt:lpstr>
      <vt:lpstr>Module Communications</vt:lpstr>
      <vt:lpstr>Module Description</vt:lpstr>
      <vt:lpstr>Learning Outcomes</vt:lpstr>
      <vt:lpstr>Assessment Deadlines</vt:lpstr>
      <vt:lpstr>Assessment Feedback</vt:lpstr>
      <vt:lpstr>Module Calendar</vt:lpstr>
      <vt:lpstr>Assessment Criteria</vt:lpstr>
      <vt:lpstr>Guidance and Policies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Hall</dc:creator>
  <cp:lastModifiedBy>Hale, Angela</cp:lastModifiedBy>
  <cp:revision>17</cp:revision>
  <cp:lastPrinted>2026-07-01T09:16:59Z</cp:lastPrinted>
  <dcterms:created xsi:type="dcterms:W3CDTF">2025-06-19T12:09:41Z</dcterms:created>
  <dcterms:modified xsi:type="dcterms:W3CDTF">2026-07-01T09:17:00Z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0x0101008B9D12700F9A1E44840DE903FBB598DE</vt:lpwstr>
  </property>
</Properties>
</file>